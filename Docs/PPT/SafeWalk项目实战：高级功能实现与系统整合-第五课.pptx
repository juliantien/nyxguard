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 id="2147483660" r:id="rId2"/>
  </p:sldMasterIdLst>
  <p:notesMasterIdLst>
    <p:notesMasterId r:id="rId39"/>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52" d="100"/>
          <a:sy n="152" d="100"/>
        </p:scale>
        <p:origin x="604" y="104"/>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notesMaster" Target="notesMasters/notesMaster1.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18.03.2026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欢迎来到SafeWalk项目实战的第五次课程。在本次课程中，我们将深入探讨高级功能的实现与系统整合，包括模拟来电、视频通话、AI后台服务和数据统计，最终完成我们项目的最终交付。希望通过今天的学习，大家能够掌握这些关键技术，打造出更加完善和智能的SafeWalk应用。</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本次课程将分为七个模块，从回顾项目进展开始，逐步深入到高级功能的实现，最后完成项目的整合与部署。希望这个清晰的目录能帮助大家更好地理解课程的整体结构和学习重点。</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在开始今天的内容之前，让我们一起回顾一下项目的进展。我们已经完成了大部分核心功能的开发，现在是时候将这些功能整合起来，并实现一些更高级的特性。本次课程的目标非常明确，希望大家能紧跟节奏，完成最后的冲刺。</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首先，我们进入第一个模块：模拟来电功能的深度实现。我们不仅要确保这个功能能够正常工作，还要从用户体验的角度进行优化，让它变得更加真实和易用。</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在深入实现之前，我们先回顾一下模拟来电功能的需求和技术选型。我们选择Twilio是因为它能提供最真实的体验，但同时也带来了一些挑战，比如稳定性和安全性。希望大家在实现过程中能充分考虑这些因素。</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要集成Twilio API，首先需要完成一些环境准备工作。这包括注册账号、购买电话号码、配置TwiML文件和设置Webhook。这些步骤是后续开发的基础，请大家务必仔细完成。</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完成了环境配置后，我们就可以在Android应用中编写代码来调用Twilio API了。这里提供了一个核心的代码示例，大家可以参考这个示例，实现自己的模拟来电功能。</a:t>
            </a:r>
          </a:p>
          <a:p>
            <a:pPr indent="0" algn="l">
              <a:lnSpc>
                <a:spcPct val="100000"/>
              </a:lnSpc>
            </a:pPr>
            <a:r>
              <a:rPr lang="en-US" sz="1400" b="0" i="0" u="none" strike="noStrike">
                <a:solidFill>
                  <a:srgbClr val="000000"/>
                </a:solidFill>
              </a:rPr>
              <a:t>左侧是使用OkHttp库发送POST请求的核心代码。请注意几个关键参数：</a:t>
            </a:r>
          </a:p>
          <a:p>
            <a:pPr indent="0" algn="l">
              <a:lnSpc>
                <a:spcPct val="100000"/>
              </a:lnSpc>
            </a:pPr>
            <a:r>
              <a:rPr lang="en-US" sz="1400" b="0" i="0" u="none" strike="noStrike">
                <a:solidFill>
                  <a:srgbClr val="000000"/>
                </a:solidFill>
              </a:rPr>
              <a:t>1. From：这是你在Twilio控制台购买的电话号码。</a:t>
            </a:r>
          </a:p>
          <a:p>
            <a:pPr indent="0" algn="l">
              <a:lnSpc>
                <a:spcPct val="100000"/>
              </a:lnSpc>
            </a:pPr>
            <a:r>
              <a:rPr lang="en-US" sz="1400" b="0" i="0" u="none" strike="noStrike">
                <a:solidFill>
                  <a:srgbClr val="000000"/>
                </a:solidFill>
              </a:rPr>
              <a:t>2. To：这是接收来电的用户号码。</a:t>
            </a:r>
          </a:p>
          <a:p>
            <a:pPr indent="0" algn="l">
              <a:lnSpc>
                <a:spcPct val="100000"/>
              </a:lnSpc>
            </a:pPr>
            <a:r>
              <a:rPr lang="en-US" sz="1400" b="0" i="0" u="none" strike="noStrike">
                <a:solidFill>
                  <a:srgbClr val="000000"/>
                </a:solidFill>
              </a:rPr>
              <a:t>3. Url：这是一个返回TwiML指令的URL，Twilio服务器会根据这个URL的内容来控制通话流程。</a:t>
            </a:r>
          </a:p>
          <a:p>
            <a:pPr indent="0" algn="l">
              <a:lnSpc>
                <a:spcPct val="100000"/>
              </a:lnSpc>
            </a:pPr>
            <a:r>
              <a:rPr lang="en-US" sz="1400" b="0" i="0" u="none" strike="noStrike">
                <a:solidFill>
                  <a:srgbClr val="000000"/>
                </a:solidFill>
              </a:rPr>
              <a:t>另外，在实际开发中，一定要做好错误处理，比如网络请求失败、权限不足或者API调用返回错误的情况，这样才能保证应用的健壮性。</a:t>
            </a:r>
          </a:p>
          <a:p>
            <a:pPr indent="0" algn="l">
              <a:lnSpc>
                <a:spcPct val="100000"/>
              </a:lnSpc>
            </a:pPr>
            <a:r>
              <a:rPr lang="en-US" sz="1400" b="0" i="0" u="none" strike="noStrike">
                <a:solidFill>
                  <a:srgbClr val="000000"/>
                </a:solidFill>
              </a:rPr>
              <a:t>接下来，请大家动手编写代码，替换掉示例中的占位符，测试一下是否能成功发起通话。</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一个功能的成功不仅在于它能否实现，更在于用户是否愿意使用它。因此，我们需要从用户体验的角度对模拟来电功能进行优化，让它变得更加真实、便捷和易用。希望这些建议能给大家带来启发。</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开发完成后，充分的测试是确保功能稳定可靠的关键。我们需要从功能、边界条件等多个方面进行测试，并学会排查常见的问题。只有经过严格测试的功能，才能放心地交付给用户使用。</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接下来，我们进入第二个模块：视频通话功能的集成与开发。这个功能将让守护者能够通过视频实时了解用户的处境，提供更直观的安全守护。</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视频通话功能的核心是实现实时的音视频传输。市场上有多种技术方案可供选择，每种方案都有其优缺点。我们需要根据团队的实际情况做出选择。这里我们推荐使用Agora RTC，因为它能帮助我们快速、高效地实现视频通话功能。</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要集成Agora RTC SDK，首先需要完成一些环境准备工作。包括注册账号、创建项目、添加依赖和配置权限。这些步骤是后续开发的基础，请大家务必仔细完成。</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完成了环境配置后，我们就可以在Android应用中编写代码来实现视频通话功能了。这里提供了核心的代码示例，包括初始化引擎、加入频道、设置本地和远程视图等关键步骤。大家可以参考这个示例，实现自己的视频通话功能。</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视频通话功能的用户体验直接关系到用户是否愿意使用它。我们需要从视频质量、操作便捷性、状态反馈等多个方面进行优化，打造一个流畅、易用的视频通话体验。希望这些建议能给大家带来启发。</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视频通话功能对网络和设备性能都有一定的要求，因此充分的测试尤为重要。我们需要在不同的网络环境下进行测试，确保功能的流畅和稳定。同时，也要学会排查常见的问题，保证用户能够获得良好的通话体验。</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接下来，我们进入第三个模块：AI后台服务与API设计。前面我们实现了前端的AI对话界面，现在我们需要构建一个智能的后端服务来支撑它，让AI关怀功能真正“智能”起来。</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一个良好的架构设计是系统稳定和可扩展的基础。这里展示了我们AI后台服务的整体架构，它分为客户端、API网关、AI服务和数据库四个核心组件。</a:t>
            </a:r>
          </a:p>
          <a:p>
            <a:pPr indent="0" algn="l">
              <a:lnSpc>
                <a:spcPct val="100000"/>
              </a:lnSpc>
            </a:pPr>
            <a:r>
              <a:rPr lang="en-US" sz="1400" b="0" i="0" u="none" strike="noStrike">
                <a:solidFill>
                  <a:srgbClr val="000000"/>
                </a:solidFill>
              </a:rPr>
              <a:t>首先是客户端，也就是SafeWalk App，它负责收集用户的消息和上下文信息，并将其发送到后端服务。</a:t>
            </a:r>
          </a:p>
          <a:p>
            <a:pPr indent="0" algn="l">
              <a:lnSpc>
                <a:spcPct val="100000"/>
              </a:lnSpc>
            </a:pPr>
            <a:r>
              <a:rPr lang="en-US" sz="1400" b="0" i="0" u="none" strike="noStrike">
                <a:solidFill>
                  <a:srgbClr val="000000"/>
                </a:solidFill>
              </a:rPr>
              <a:t>所有请求都会经过API网关，它作为统一入口，负责请求的路由、鉴权和限流，保护后端服务的安全。</a:t>
            </a:r>
          </a:p>
          <a:p>
            <a:pPr indent="0" algn="l">
              <a:lnSpc>
                <a:spcPct val="100000"/>
              </a:lnSpc>
            </a:pPr>
            <a:r>
              <a:rPr lang="en-US" sz="1400" b="0" i="0" u="none" strike="noStrike">
                <a:solidFill>
                  <a:srgbClr val="000000"/>
                </a:solidFill>
              </a:rPr>
              <a:t>核心的AI服务层负责接收请求，调用大语言模型生成智能回复。</a:t>
            </a:r>
          </a:p>
          <a:p>
            <a:pPr indent="0" algn="l">
              <a:lnSpc>
                <a:spcPct val="100000"/>
              </a:lnSpc>
            </a:pPr>
            <a:r>
              <a:rPr lang="en-US" sz="1400" b="0" i="0" u="none" strike="noStrike">
                <a:solidFill>
                  <a:srgbClr val="000000"/>
                </a:solidFill>
              </a:rPr>
              <a:t>最后，数据库负责存储用户信息和对话记录，为AI服务提供必要的上下文支持。</a:t>
            </a:r>
          </a:p>
          <a:p>
            <a:pPr indent="0" algn="l">
              <a:lnSpc>
                <a:spcPct val="100000"/>
              </a:lnSpc>
            </a:pPr>
            <a:r>
              <a:rPr lang="en-US" sz="1400" b="0" i="0" u="none" strike="noStrike">
                <a:solidFill>
                  <a:srgbClr val="000000"/>
                </a:solidFill>
              </a:rPr>
              <a:t>理解这个架构，有助于我们更好地进行后续的开发工作。</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API接口是前后端交互的桥梁。我们采用RESTful风格来设计API，这种风格简洁、清晰，易于理解和使用。</a:t>
            </a:r>
          </a:p>
          <a:p>
            <a:pPr indent="0" algn="l">
              <a:lnSpc>
                <a:spcPct val="100000"/>
              </a:lnSpc>
            </a:pPr>
            <a:r>
              <a:rPr lang="en-US" sz="1400" b="0" i="0" u="none" strike="noStrike">
                <a:solidFill>
                  <a:srgbClr val="000000"/>
                </a:solidFill>
              </a:rPr>
              <a:t>左侧展示了发送消息和获取对话记录两个核心接口的设计示例。发送消息使用POST方法，请求体包含用户ID、消息内容和上下文；响应体返回是否成功和AI的回复。获取记录使用GET方法，通过URL参数传递用户ID和分页信息。</a:t>
            </a:r>
          </a:p>
          <a:p>
            <a:pPr indent="0" algn="l">
              <a:lnSpc>
                <a:spcPct val="100000"/>
              </a:lnSpc>
            </a:pPr>
            <a:r>
              <a:rPr lang="en-US" sz="1400" b="0" i="0" u="none" strike="noStrike">
                <a:solidFill>
                  <a:srgbClr val="000000"/>
                </a:solidFill>
              </a:rPr>
              <a:t>右侧总结了RESTful设计的四大原则：使用标准HTTP方法、语义化URL、JSON数据格式以及正确的状态码。</a:t>
            </a:r>
          </a:p>
          <a:p>
            <a:pPr indent="0" algn="l">
              <a:lnSpc>
                <a:spcPct val="100000"/>
              </a:lnSpc>
            </a:pPr>
            <a:r>
              <a:rPr lang="en-US" sz="1400" b="0" i="0" u="none" strike="noStrike">
                <a:solidFill>
                  <a:srgbClr val="000000"/>
                </a:solidFill>
              </a:rPr>
              <a:t>接下来的任务是，请大家根据自己项目的需求，设计所需的API接口。</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我们将使用Node.js和Express框架来构建我们的API服务。首先需要完成环境搭建，包括安装Node.js、初始化项目和安装Express。这些步骤非常基础，但却是后续开发的前提，请大家务必完成。</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环境搭建完成后，我们就可以开始编写API接口代码了。这里展示了如何使用OpenAI SDK调用ChatGPT API，并将其封装成一个POST接口。大家可以参考这个示例，实现自己的AI对话接口。注意要替换掉示例中的API密钥。</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API服务开发完成后，需要将其部署到服务器上才能被用户访问。同时，充分的测试是确保API服务稳定可靠的关键。大家可以选择本地部署进行测试，也可以部署到云平台进行公网访问测试。</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接下来，我们进入第四个模块：数据统计与可视化实现。通过收集和分析用户数据，我们可以更好地了解用户行为，评估产品性能，并为产品的优化提供数据支持。</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在进行数据统计之前，我们需要明确统计的目标和指标。用户行为数据可以帮助我们了解用户如何使用产品，而产品性能数据可以帮助我们评估产品的稳定性和性能。大家需要根据自己项目的实际情况，确定需要统计的数据指标。</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数据收集是数据统计的基础。我们可以通过前端埋点和后端日志两种方式来收集数据。收集到的数据需要存储在合适的数据库中，以便后续的分析和可视化。大家需要根据数据的类型和特点，选择合适的数据收集和存储方案。</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数据可视化是将数据转化为直观图表的过程，有助于我们更好地理解数据。市场上有多种数据可视化工具可供选择，每种工具都有其优缺点。</a:t>
            </a:r>
          </a:p>
          <a:p>
            <a:pPr indent="0" algn="l">
              <a:lnSpc>
                <a:spcPct val="100000"/>
              </a:lnSpc>
            </a:pPr>
            <a:r>
              <a:rPr lang="en-US" sz="1400" b="0" i="0" u="none" strike="noStrike">
                <a:solidFill>
                  <a:srgbClr val="000000"/>
                </a:solidFill>
              </a:rPr>
              <a:t>在前端方面，我们主要对比了ECharts和Chart.js。ECharts功能非常强大，支持各种复杂的图表类型，文档也很完善，非常适合构建复杂美观的页面；而Chart.js则更加轻量，适合对性能要求高的简单图表场景。</a:t>
            </a:r>
          </a:p>
          <a:p>
            <a:pPr indent="0" algn="l">
              <a:lnSpc>
                <a:spcPct val="100000"/>
              </a:lnSpc>
            </a:pPr>
            <a:r>
              <a:rPr lang="en-US" sz="1400" b="0" i="0" u="none" strike="noStrike">
                <a:solidFill>
                  <a:srgbClr val="000000"/>
                </a:solidFill>
              </a:rPr>
              <a:t>在后端方面，Grafana是监控领域的佼佼者，适合实时监控；Metabase则更适合业务人员进行自助式数据分析。</a:t>
            </a:r>
          </a:p>
          <a:p>
            <a:pPr indent="0" algn="l">
              <a:lnSpc>
                <a:spcPct val="100000"/>
              </a:lnSpc>
            </a:pPr>
            <a:r>
              <a:rPr lang="en-US" sz="1400" b="0" i="0" u="none" strike="noStrike">
                <a:solidFill>
                  <a:srgbClr val="000000"/>
                </a:solidFill>
              </a:rPr>
              <a:t>综合考虑，我们推荐大家优先使用ECharts进行前端数据可视化展示，因为它能满足我们大部分的可视化需求。</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要使用ECharts进行数据可视化，首先需要完成环境搭建。这包括引入ECharts库、准备DOM容器和初始化图表实例。这些步骤非常简单，是后续绘制图表的基础。</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环境搭建完成后，我们就可以开始绘制图表了。这里展示了折线图、柱状图和饼图三种常见图表的实现代码示例。</a:t>
            </a:r>
          </a:p>
          <a:p>
            <a:pPr indent="0" algn="l">
              <a:lnSpc>
                <a:spcPct val="100000"/>
              </a:lnSpc>
            </a:pPr>
            <a:r>
              <a:rPr lang="en-US" sz="1400" b="0" i="0" u="none" strike="noStrike">
                <a:solidFill>
                  <a:srgbClr val="000000"/>
                </a:solidFill>
              </a:rPr>
              <a:t>左边的折线图适合展示数据随时间的变化趋势，比如日活跃用户数；中间的柱状图适合对比不同类别的数据大小，比如各功能的使用次数；右边的饼图则适合展示部分占整体的比例，比如用户留存率。</a:t>
            </a:r>
          </a:p>
          <a:p>
            <a:pPr indent="0" algn="l">
              <a:lnSpc>
                <a:spcPct val="100000"/>
              </a:lnSpc>
            </a:pPr>
            <a:r>
              <a:rPr lang="en-US" sz="1400" b="0" i="0" u="none" strike="noStrike">
                <a:solidFill>
                  <a:srgbClr val="000000"/>
                </a:solidFill>
              </a:rPr>
              <a:t>大家可以参考这些示例，根据自己的实际数据，绘制出美观、直观的图表。现在，请大家动手尝试一下，完成底部的行动指令。</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现在，我们已经完成了各个功能模块的开发。接下来，我们需要将这些模块整合到一起，进行全面的测试，并最终部署上线。这是项目开发的最后阶段，也是最关键的阶段。</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项目整合不仅仅是简单地将各个模块拼接在一起，而是要确保它们能够协同工作，为用户提供一个完整、流畅的体验。我们需要从功能模块、前后端和第三方服务三个方面进行整合，制定详细的整合计划，并严格执行。</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全面的测试是确保产品质量的关键。我们需要从单元测试、集成测试、系统测试到用户验收测试，进行层层把关。只有经过严格测试的产品，才能放心地交付给用户使用。</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测试完成后，我们就可以准备将App发布到应用商店了。首先需要生成签名的APK文件，然后准备好应用商店所需的各种资料。这些准备工作直接关系到App能否顺利上架和被用户发现。</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项目部署上线是开发工作的终点，也是运营工作的起点。我们需要将后端服务和App都部署上线，并建立完善的监控和运维机制，确保系统能够稳定、可靠地运行，为用户提供持续的服务。</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课程即将结束，在最后一个模块中，我们将一起回顾本次课程的学习成果，并展望项目的未来发展方向。</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通过本次课程的学习，大家不仅掌握了多项高级技术，更重要的是提升了解决复杂问题的能力和工程实践能力。SafeWalk项目也已经完成了所有核心功能的开发，达到了上线标准。这是大家努力的成果，值得骄傲。</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项目的上线不是结束，而是新的开始。我们可以根据用户反馈和市场需求，持续对产品进行迭代和优化。同时，也可以积极探索商业模式，让项目走得更远。希望大家能继续保持热情，不断创新，让SafeWalk成为真正有价值的产品。</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课程的主要内容已经结束，现在是问答环节。大家有任何问题，都可以提出来，我们一起讨论和解决。</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标题幻灯片" type="title">
  <p:cSld name="TITLE">
    <p:spTree>
      <p:nvGrpSpPr>
        <p:cNvPr id="1" name="Shape 11"/>
        <p:cNvGrpSpPr/>
        <p:nvPr/>
      </p:nvGrpSpPr>
      <p:grpSpPr>
        <a:xfrm>
          <a:off x="0" y="0"/>
          <a:ext cx="0" cy="0"/>
          <a:chOff x="0" y="0"/>
          <a:chExt cx="0" cy="0"/>
        </a:xfrm>
      </p:grpSpPr>
      <p:sp>
        <p:nvSpPr>
          <p:cNvPr id="12" name="Shape 30"/>
          <p:cNvSpPr txBox="1">
            <a:spLocks noGrp="1"/>
          </p:cNvSpPr>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3" name="Shape 31"/>
          <p:cNvSpPr txBox="1">
            <a:spLocks noGrp="1"/>
          </p:cNvSpPr>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a:endParaRPr/>
          </a:p>
        </p:txBody>
      </p:sp>
      <p:sp>
        <p:nvSpPr>
          <p:cNvPr id="14" name="Shape 3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5" name="Shape 3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6" name="Shape 3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标题和内容" type="obj">
  <p:cSld name="OBJECT">
    <p:spTree>
      <p:nvGrpSpPr>
        <p:cNvPr id="1" name="Shape 17"/>
        <p:cNvGrpSpPr/>
        <p:nvPr/>
      </p:nvGrpSpPr>
      <p:grpSpPr>
        <a:xfrm>
          <a:off x="0" y="0"/>
          <a:ext cx="0" cy="0"/>
          <a:chOff x="0" y="0"/>
          <a:chExt cx="0" cy="0"/>
        </a:xfrm>
      </p:grpSpPr>
      <p:sp>
        <p:nvSpPr>
          <p:cNvPr id="18" name="Shape 54"/>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9" name="Shape 55"/>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20" name="Shape 5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1" name="Shape 5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2" name="Shape 5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节标题" type="secHead">
  <p:cSld name="SECTION_HEADER">
    <p:spTree>
      <p:nvGrpSpPr>
        <p:cNvPr id="1" name="Shape 23"/>
        <p:cNvGrpSpPr/>
        <p:nvPr/>
      </p:nvGrpSpPr>
      <p:grpSpPr>
        <a:xfrm>
          <a:off x="0" y="0"/>
          <a:ext cx="0" cy="0"/>
          <a:chOff x="0" y="0"/>
          <a:chExt cx="0" cy="0"/>
        </a:xfrm>
      </p:grpSpPr>
      <p:sp>
        <p:nvSpPr>
          <p:cNvPr id="24" name="Shape 59"/>
          <p:cNvSpPr txBox="1">
            <a:spLocks noGrp="1"/>
          </p:cNvSpPr>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25" name="Shape 60"/>
          <p:cNvSpPr txBox="1">
            <a:spLocks noGrp="1"/>
          </p:cNvSpPr>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a:endParaRPr/>
          </a:p>
        </p:txBody>
      </p:sp>
      <p:sp>
        <p:nvSpPr>
          <p:cNvPr id="26" name="Shape 6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7" name="Shape 6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8" name="Shape 6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两栏内容" type="twoObj">
  <p:cSld name="TWO_OBJECTS">
    <p:spTree>
      <p:nvGrpSpPr>
        <p:cNvPr id="1" name="Shape 29"/>
        <p:cNvGrpSpPr/>
        <p:nvPr/>
      </p:nvGrpSpPr>
      <p:grpSpPr>
        <a:xfrm>
          <a:off x="0" y="0"/>
          <a:ext cx="0" cy="0"/>
          <a:chOff x="0" y="0"/>
          <a:chExt cx="0" cy="0"/>
        </a:xfrm>
      </p:grpSpPr>
      <p:sp>
        <p:nvSpPr>
          <p:cNvPr id="30" name="Shape 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1" name="Shape 10"/>
          <p:cNvSpPr txBox="1">
            <a:spLocks noGrp="1"/>
          </p:cNvSpPr>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2" name="Shape 11"/>
          <p:cNvSpPr txBox="1">
            <a:spLocks noGrp="1"/>
          </p:cNvSpPr>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3" name="Shape 1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4" name="Shape 1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5" name="Shape 1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比较" type="twoTxTwoObj">
  <p:cSld name="TWO_OBJECTS_WITH_TEXT">
    <p:spTree>
      <p:nvGrpSpPr>
        <p:cNvPr id="1" name="Shape 36"/>
        <p:cNvGrpSpPr/>
        <p:nvPr/>
      </p:nvGrpSpPr>
      <p:grpSpPr>
        <a:xfrm>
          <a:off x="0" y="0"/>
          <a:ext cx="0" cy="0"/>
          <a:chOff x="0" y="0"/>
          <a:chExt cx="0" cy="0"/>
        </a:xfrm>
      </p:grpSpPr>
      <p:sp>
        <p:nvSpPr>
          <p:cNvPr id="37" name="Shape 35"/>
          <p:cNvSpPr txBox="1">
            <a:spLocks noGrp="1"/>
          </p:cNvSpPr>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8" name="Shape 36"/>
          <p:cNvSpPr txBox="1">
            <a:spLocks noGrp="1"/>
          </p:cNvSpPr>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39" name="Shape 37"/>
          <p:cNvSpPr txBox="1">
            <a:spLocks noGrp="1"/>
          </p:cNvSpPr>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0" name="Shape 38"/>
          <p:cNvSpPr txBox="1">
            <a:spLocks noGrp="1"/>
          </p:cNvSpPr>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41" name="Shape 39"/>
          <p:cNvSpPr txBox="1">
            <a:spLocks noGrp="1"/>
          </p:cNvSpPr>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2" name="Shape 40"/>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3" name="Shape 41"/>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4" name="Shape 42"/>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仅标题" type="titleOnly">
  <p:cSld name="TITLE_ONLY">
    <p:spTree>
      <p:nvGrpSpPr>
        <p:cNvPr id="1" name="Shape 45"/>
        <p:cNvGrpSpPr/>
        <p:nvPr/>
      </p:nvGrpSpPr>
      <p:grpSpPr>
        <a:xfrm>
          <a:off x="0" y="0"/>
          <a:ext cx="0" cy="0"/>
          <a:chOff x="0" y="0"/>
          <a:chExt cx="0" cy="0"/>
        </a:xfrm>
      </p:grpSpPr>
      <p:sp>
        <p:nvSpPr>
          <p:cNvPr id="46" name="Shape 20"/>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47" name="Shape 2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8" name="Shape 2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9" name="Shape 2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空白" type="blank">
  <p:cSld name="BLANK">
    <p:spTree>
      <p:nvGrpSpPr>
        <p:cNvPr id="1" name="Shape 50"/>
        <p:cNvGrpSpPr/>
        <p:nvPr/>
      </p:nvGrpSpPr>
      <p:grpSpPr>
        <a:xfrm>
          <a:off x="0" y="0"/>
          <a:ext cx="0" cy="0"/>
          <a:chOff x="0" y="0"/>
          <a:chExt cx="0" cy="0"/>
        </a:xfrm>
      </p:grpSpPr>
      <p:sp>
        <p:nvSpPr>
          <p:cNvPr id="51" name="Shape 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2" name="Shape 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3" name="Shape 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内容与标题" type="objTx">
  <p:cSld name="OBJECT_WITH_CAPTION_TEXT">
    <p:spTree>
      <p:nvGrpSpPr>
        <p:cNvPr id="1" name="Shape 54"/>
        <p:cNvGrpSpPr/>
        <p:nvPr/>
      </p:nvGrpSpPr>
      <p:grpSpPr>
        <a:xfrm>
          <a:off x="0" y="0"/>
          <a:ext cx="0" cy="0"/>
          <a:chOff x="0" y="0"/>
          <a:chExt cx="0" cy="0"/>
        </a:xfrm>
      </p:grpSpPr>
      <p:sp>
        <p:nvSpPr>
          <p:cNvPr id="55" name="Shape 43"/>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56" name="Shape 44"/>
          <p:cNvSpPr txBox="1">
            <a:spLocks noGrp="1"/>
          </p:cNvSpPr>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a:endParaRPr/>
          </a:p>
        </p:txBody>
      </p:sp>
      <p:sp>
        <p:nvSpPr>
          <p:cNvPr id="57" name="Shape 45"/>
          <p:cNvSpPr txBox="1">
            <a:spLocks noGrp="1"/>
          </p:cNvSpPr>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58" name="Shape 4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9" name="Shape 4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0" name="Shape 4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图片与标题" type="picTx">
  <p:cSld name="PICTURE_WITH_CAPTION_TEXT">
    <p:spTree>
      <p:nvGrpSpPr>
        <p:cNvPr id="1" name="Shape 61"/>
        <p:cNvGrpSpPr/>
        <p:nvPr/>
      </p:nvGrpSpPr>
      <p:grpSpPr>
        <a:xfrm>
          <a:off x="0" y="0"/>
          <a:ext cx="0" cy="0"/>
          <a:chOff x="0" y="0"/>
          <a:chExt cx="0" cy="0"/>
        </a:xfrm>
      </p:grpSpPr>
      <p:sp>
        <p:nvSpPr>
          <p:cNvPr id="62" name="Shape 24"/>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63" name="Shape 25"/>
          <p:cNvSpPr>
            <a:spLocks noGrp="1"/>
          </p:cNvSpPr>
          <p:nvPr>
            <p:ph type="pic" idx="2"/>
          </p:nvPr>
        </p:nvSpPr>
        <p:spPr>
          <a:xfrm>
            <a:off x="3887391" y="740569"/>
            <a:ext cx="4629150" cy="3655219"/>
          </a:xfrm>
          <a:prstGeom prst="rect">
            <a:avLst/>
          </a:prstGeom>
          <a:noFill/>
          <a:ln>
            <a:noFill/>
          </a:ln>
        </p:spPr>
      </p:sp>
      <p:sp>
        <p:nvSpPr>
          <p:cNvPr id="64" name="Shape 26"/>
          <p:cNvSpPr txBox="1">
            <a:spLocks noGrp="1"/>
          </p:cNvSpPr>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65" name="Shape 2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6" name="Shape 2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7" name="Shape 2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标题和竖排文字" type="vertTx">
  <p:cSld name="VERTICAL_TEXT">
    <p:spTree>
      <p:nvGrpSpPr>
        <p:cNvPr id="1" name="Shape 68"/>
        <p:cNvGrpSpPr/>
        <p:nvPr/>
      </p:nvGrpSpPr>
      <p:grpSpPr>
        <a:xfrm>
          <a:off x="0" y="0"/>
          <a:ext cx="0" cy="0"/>
          <a:chOff x="0" y="0"/>
          <a:chExt cx="0" cy="0"/>
        </a:xfrm>
      </p:grpSpPr>
      <p:sp>
        <p:nvSpPr>
          <p:cNvPr id="69" name="Shape 4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0" name="Shape 50"/>
          <p:cNvSpPr txBox="1">
            <a:spLocks noGrp="1"/>
          </p:cNvSpPr>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1" name="Shape 5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2" name="Shape 5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3" name="Shape 5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竖排标题与文本" type="vertTitleAndTx">
  <p:cSld name="VERTICAL_TITLE_AND_VERTICAL_TEXT">
    <p:spTree>
      <p:nvGrpSpPr>
        <p:cNvPr id="1" name="Shape 74"/>
        <p:cNvGrpSpPr/>
        <p:nvPr/>
      </p:nvGrpSpPr>
      <p:grpSpPr>
        <a:xfrm>
          <a:off x="0" y="0"/>
          <a:ext cx="0" cy="0"/>
          <a:chOff x="0" y="0"/>
          <a:chExt cx="0" cy="0"/>
        </a:xfrm>
      </p:grpSpPr>
      <p:sp>
        <p:nvSpPr>
          <p:cNvPr id="75" name="Shape 15"/>
          <p:cNvSpPr txBox="1">
            <a:spLocks noGrp="1"/>
          </p:cNvSpPr>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6" name="Shape 16"/>
          <p:cNvSpPr txBox="1">
            <a:spLocks noGrp="1"/>
          </p:cNvSpPr>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7" name="Shape 1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8" name="Shape 1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9" name="Shape 1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Shape 1"/>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a:buNone/>
              <a:defRPr sz="3300" b="0" i="0" u="none" strike="noStrike" cap="non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a:endParaRPr/>
          </a:p>
        </p:txBody>
      </p:sp>
      <p:sp>
        <p:nvSpPr>
          <p:cNvPr id="7" name="Shape 2"/>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a:buChar char="•"/>
              <a:defRPr sz="2100" b="0" i="0" u="none" strike="noStrike" cap="none">
                <a:solidFill>
                  <a:schemeClr val="dk1"/>
                </a:solidFill>
                <a:latin typeface="Arial"/>
                <a:ea typeface="Arial"/>
                <a:cs typeface="Arial"/>
                <a:sym typeface="Arial"/>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8" name="Shape 3"/>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9" name="Shape 4"/>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10" name="Shape 5"/>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a:ea typeface="Arial"/>
                <a:cs typeface="Arial"/>
                <a:sym typeface="Arial"/>
              </a:defRPr>
            </a:lvl1pPr>
            <a:lvl2pPr marL="0" marR="0" lvl="1" indent="0" algn="r" rtl="0">
              <a:spcBef>
                <a:spcPts val="0"/>
              </a:spcBef>
              <a:buNone/>
              <a:defRPr sz="900" b="0" i="0" u="none" strike="noStrike" cap="none">
                <a:solidFill>
                  <a:srgbClr val="888888"/>
                </a:solidFill>
                <a:latin typeface="Arial"/>
                <a:ea typeface="Arial"/>
                <a:cs typeface="Arial"/>
                <a:sym typeface="Arial"/>
              </a:defRPr>
            </a:lvl2pPr>
            <a:lvl3pPr marL="0" marR="0" lvl="2" indent="0" algn="r" rtl="0">
              <a:spcBef>
                <a:spcPts val="0"/>
              </a:spcBef>
              <a:buNone/>
              <a:defRPr sz="900" b="0" i="0" u="none" strike="noStrike" cap="none">
                <a:solidFill>
                  <a:srgbClr val="888888"/>
                </a:solidFill>
                <a:latin typeface="Arial"/>
                <a:ea typeface="Arial"/>
                <a:cs typeface="Arial"/>
                <a:sym typeface="Arial"/>
              </a:defRPr>
            </a:lvl3pPr>
            <a:lvl4pPr marL="0" marR="0" lvl="3" indent="0" algn="r" rtl="0">
              <a:spcBef>
                <a:spcPts val="0"/>
              </a:spcBef>
              <a:buNone/>
              <a:defRPr sz="900" b="0" i="0" u="none" strike="noStrike" cap="none">
                <a:solidFill>
                  <a:srgbClr val="888888"/>
                </a:solidFill>
                <a:latin typeface="Arial"/>
                <a:ea typeface="Arial"/>
                <a:cs typeface="Arial"/>
                <a:sym typeface="Arial"/>
              </a:defRPr>
            </a:lvl4pPr>
            <a:lvl5pPr marL="0" marR="0" lvl="4" indent="0" algn="r" rtl="0">
              <a:spcBef>
                <a:spcPts val="0"/>
              </a:spcBef>
              <a:buNone/>
              <a:defRPr sz="900" b="0" i="0" u="none" strike="noStrike" cap="none">
                <a:solidFill>
                  <a:srgbClr val="888888"/>
                </a:solidFill>
                <a:latin typeface="Arial"/>
                <a:ea typeface="Arial"/>
                <a:cs typeface="Arial"/>
                <a:sym typeface="Arial"/>
              </a:defRPr>
            </a:lvl5pPr>
            <a:lvl6pPr marL="0" marR="0" lvl="5" indent="0" algn="r" rtl="0">
              <a:spcBef>
                <a:spcPts val="0"/>
              </a:spcBef>
              <a:buNone/>
              <a:defRPr sz="900" b="0" i="0" u="none" strike="noStrike" cap="none">
                <a:solidFill>
                  <a:srgbClr val="888888"/>
                </a:solidFill>
                <a:latin typeface="Arial"/>
                <a:ea typeface="Arial"/>
                <a:cs typeface="Arial"/>
                <a:sym typeface="Arial"/>
              </a:defRPr>
            </a:lvl6pPr>
            <a:lvl7pPr marL="0" marR="0" lvl="6" indent="0" algn="r" rtl="0">
              <a:spcBef>
                <a:spcPts val="0"/>
              </a:spcBef>
              <a:buNone/>
              <a:defRPr sz="900" b="0" i="0" u="none" strike="noStrike" cap="none">
                <a:solidFill>
                  <a:srgbClr val="888888"/>
                </a:solidFill>
                <a:latin typeface="Arial"/>
                <a:ea typeface="Arial"/>
                <a:cs typeface="Arial"/>
                <a:sym typeface="Arial"/>
              </a:defRPr>
            </a:lvl7pPr>
            <a:lvl8pPr marL="0" marR="0" lvl="7" indent="0" algn="r" rtl="0">
              <a:spcBef>
                <a:spcPts val="0"/>
              </a:spcBef>
              <a:buNone/>
              <a:defRPr sz="900" b="0" i="0" u="none" strike="noStrike" cap="none">
                <a:solidFill>
                  <a:srgbClr val="888888"/>
                </a:solidFill>
                <a:latin typeface="Arial"/>
                <a:ea typeface="Arial"/>
                <a:cs typeface="Arial"/>
                <a:sym typeface="Arial"/>
              </a:defRPr>
            </a:lvl8pPr>
            <a:lvl9pPr marL="0" marR="0" lvl="8" indent="0" algn="r" rtl="0">
              <a:spcBef>
                <a:spcPts val="0"/>
              </a:spcBef>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zh-C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默认主题">
    <p:bg>
      <p:bgPr>
        <a:solidFill>
          <a:srgbClr val="FFFFFF">
            <a:alpha val="100000"/>
          </a:srgbClr>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5748369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2.xml"/><Relationship Id="rId5" Type="http://schemas.openxmlformats.org/officeDocument/2006/relationships/image" Target="../media/image3.sv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9.png"/><Relationship Id="rId13" Type="http://schemas.openxmlformats.org/officeDocument/2006/relationships/image" Target="../media/image14.svg"/><Relationship Id="rId18" Type="http://schemas.openxmlformats.org/officeDocument/2006/relationships/image" Target="../media/image19.png"/><Relationship Id="rId3" Type="http://schemas.openxmlformats.org/officeDocument/2006/relationships/image" Target="../media/image4.jpeg"/><Relationship Id="rId7" Type="http://schemas.openxmlformats.org/officeDocument/2006/relationships/image" Target="../media/image8.svg"/><Relationship Id="rId12" Type="http://schemas.openxmlformats.org/officeDocument/2006/relationships/image" Target="../media/image13.png"/><Relationship Id="rId17" Type="http://schemas.openxmlformats.org/officeDocument/2006/relationships/image" Target="../media/image18.svg"/><Relationship Id="rId2" Type="http://schemas.openxmlformats.org/officeDocument/2006/relationships/notesSlide" Target="../notesSlides/notesSlide2.xml"/><Relationship Id="rId16" Type="http://schemas.openxmlformats.org/officeDocument/2006/relationships/image" Target="../media/image17.png"/><Relationship Id="rId1" Type="http://schemas.openxmlformats.org/officeDocument/2006/relationships/slideLayout" Target="../slideLayouts/slideLayout12.xml"/><Relationship Id="rId6" Type="http://schemas.openxmlformats.org/officeDocument/2006/relationships/image" Target="../media/image7.png"/><Relationship Id="rId11" Type="http://schemas.openxmlformats.org/officeDocument/2006/relationships/image" Target="../media/image12.svg"/><Relationship Id="rId5" Type="http://schemas.openxmlformats.org/officeDocument/2006/relationships/image" Target="../media/image6.svg"/><Relationship Id="rId15" Type="http://schemas.openxmlformats.org/officeDocument/2006/relationships/image" Target="../media/image16.svg"/><Relationship Id="rId10" Type="http://schemas.openxmlformats.org/officeDocument/2006/relationships/image" Target="../media/image11.png"/><Relationship Id="rId19" Type="http://schemas.openxmlformats.org/officeDocument/2006/relationships/image" Target="../media/image20.svg"/><Relationship Id="rId4" Type="http://schemas.openxmlformats.org/officeDocument/2006/relationships/image" Target="../media/image5.png"/><Relationship Id="rId9" Type="http://schemas.openxmlformats.org/officeDocument/2006/relationships/image" Target="../media/image10.svg"/><Relationship Id="rId14" Type="http://schemas.openxmlformats.org/officeDocument/2006/relationships/image" Target="../media/image15.png"/></Relationships>
</file>

<file path=ppt/slides/_rels/slide3.xml.rels><?xml version="1.0" encoding="UTF-8" standalone="yes"?>
<Relationships xmlns="http://schemas.openxmlformats.org/package/2006/relationships"><Relationship Id="rId8" Type="http://schemas.openxmlformats.org/officeDocument/2006/relationships/image" Target="../media/image23.png"/><Relationship Id="rId13" Type="http://schemas.openxmlformats.org/officeDocument/2006/relationships/image" Target="../media/image28.svg"/><Relationship Id="rId3" Type="http://schemas.openxmlformats.org/officeDocument/2006/relationships/image" Target="../media/image4.jpeg"/><Relationship Id="rId7" Type="http://schemas.openxmlformats.org/officeDocument/2006/relationships/image" Target="../media/image22.svg"/><Relationship Id="rId12" Type="http://schemas.openxmlformats.org/officeDocument/2006/relationships/image" Target="../media/image27.png"/><Relationship Id="rId2" Type="http://schemas.openxmlformats.org/officeDocument/2006/relationships/notesSlide" Target="../notesSlides/notesSlide3.xml"/><Relationship Id="rId1" Type="http://schemas.openxmlformats.org/officeDocument/2006/relationships/slideLayout" Target="../slideLayouts/slideLayout12.xml"/><Relationship Id="rId6" Type="http://schemas.openxmlformats.org/officeDocument/2006/relationships/image" Target="../media/image21.png"/><Relationship Id="rId11" Type="http://schemas.openxmlformats.org/officeDocument/2006/relationships/image" Target="../media/image26.svg"/><Relationship Id="rId5" Type="http://schemas.openxmlformats.org/officeDocument/2006/relationships/image" Target="../media/image6.svg"/><Relationship Id="rId10" Type="http://schemas.openxmlformats.org/officeDocument/2006/relationships/image" Target="../media/image25.png"/><Relationship Id="rId4" Type="http://schemas.openxmlformats.org/officeDocument/2006/relationships/image" Target="../media/image5.png"/><Relationship Id="rId9" Type="http://schemas.openxmlformats.org/officeDocument/2006/relationships/image" Target="../media/image24.svg"/></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4.xml"/><Relationship Id="rId1" Type="http://schemas.openxmlformats.org/officeDocument/2006/relationships/slideLayout" Target="../slideLayouts/slideLayout12.xml"/><Relationship Id="rId5" Type="http://schemas.openxmlformats.org/officeDocument/2006/relationships/image" Target="../media/image30.svg"/><Relationship Id="rId4" Type="http://schemas.openxmlformats.org/officeDocument/2006/relationships/image" Target="../media/image29.png"/></Relationships>
</file>

<file path=ppt/slides/_rels/slide5.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image" Target="../media/image4.jpeg"/><Relationship Id="rId7" Type="http://schemas.openxmlformats.org/officeDocument/2006/relationships/image" Target="../media/image34.svg"/><Relationship Id="rId2" Type="http://schemas.openxmlformats.org/officeDocument/2006/relationships/notesSlide" Target="../notesSlides/notesSlide5.xml"/><Relationship Id="rId1" Type="http://schemas.openxmlformats.org/officeDocument/2006/relationships/slideLayout" Target="../slideLayouts/slideLayout12.xml"/><Relationship Id="rId6" Type="http://schemas.openxmlformats.org/officeDocument/2006/relationships/image" Target="../media/image33.png"/><Relationship Id="rId11" Type="http://schemas.openxmlformats.org/officeDocument/2006/relationships/image" Target="../media/image38.svg"/><Relationship Id="rId5" Type="http://schemas.openxmlformats.org/officeDocument/2006/relationships/image" Target="../media/image32.svg"/><Relationship Id="rId10" Type="http://schemas.openxmlformats.org/officeDocument/2006/relationships/image" Target="../media/image37.png"/><Relationship Id="rId4" Type="http://schemas.openxmlformats.org/officeDocument/2006/relationships/image" Target="../media/image31.png"/><Relationship Id="rId9" Type="http://schemas.openxmlformats.org/officeDocument/2006/relationships/image" Target="../media/image36.svg"/></Relationships>
</file>

<file path=ppt/slides/_rels/slide6.xml.rels><?xml version="1.0" encoding="UTF-8" standalone="yes"?>
<Relationships xmlns="http://schemas.openxmlformats.org/package/2006/relationships"><Relationship Id="rId8" Type="http://schemas.openxmlformats.org/officeDocument/2006/relationships/image" Target="../media/image43.png"/><Relationship Id="rId13" Type="http://schemas.openxmlformats.org/officeDocument/2006/relationships/image" Target="../media/image28.svg"/><Relationship Id="rId3" Type="http://schemas.openxmlformats.org/officeDocument/2006/relationships/image" Target="../media/image4.jpeg"/><Relationship Id="rId7" Type="http://schemas.openxmlformats.org/officeDocument/2006/relationships/image" Target="../media/image42.svg"/><Relationship Id="rId12" Type="http://schemas.openxmlformats.org/officeDocument/2006/relationships/image" Target="../media/image27.png"/><Relationship Id="rId2" Type="http://schemas.openxmlformats.org/officeDocument/2006/relationships/notesSlide" Target="../notesSlides/notesSlide6.xml"/><Relationship Id="rId1" Type="http://schemas.openxmlformats.org/officeDocument/2006/relationships/slideLayout" Target="../slideLayouts/slideLayout12.xml"/><Relationship Id="rId6" Type="http://schemas.openxmlformats.org/officeDocument/2006/relationships/image" Target="../media/image41.png"/><Relationship Id="rId11" Type="http://schemas.openxmlformats.org/officeDocument/2006/relationships/image" Target="../media/image46.svg"/><Relationship Id="rId5" Type="http://schemas.openxmlformats.org/officeDocument/2006/relationships/image" Target="../media/image40.svg"/><Relationship Id="rId10" Type="http://schemas.openxmlformats.org/officeDocument/2006/relationships/image" Target="../media/image45.png"/><Relationship Id="rId4" Type="http://schemas.openxmlformats.org/officeDocument/2006/relationships/image" Target="../media/image39.png"/><Relationship Id="rId9" Type="http://schemas.openxmlformats.org/officeDocument/2006/relationships/image" Target="../media/image44.svg"/></Relationships>
</file>

<file path=ppt/slides/_rels/slide7.xml.rels><?xml version="1.0" encoding="UTF-8" standalone="yes"?>
<Relationships xmlns="http://schemas.openxmlformats.org/package/2006/relationships"><Relationship Id="rId8" Type="http://schemas.openxmlformats.org/officeDocument/2006/relationships/image" Target="../media/image49.png"/><Relationship Id="rId13" Type="http://schemas.openxmlformats.org/officeDocument/2006/relationships/image" Target="../media/image54.svg"/><Relationship Id="rId3" Type="http://schemas.openxmlformats.org/officeDocument/2006/relationships/image" Target="../media/image4.jpeg"/><Relationship Id="rId7" Type="http://schemas.openxmlformats.org/officeDocument/2006/relationships/image" Target="../media/image48.svg"/><Relationship Id="rId12" Type="http://schemas.openxmlformats.org/officeDocument/2006/relationships/image" Target="../media/image53.png"/><Relationship Id="rId2" Type="http://schemas.openxmlformats.org/officeDocument/2006/relationships/notesSlide" Target="../notesSlides/notesSlide7.xml"/><Relationship Id="rId1" Type="http://schemas.openxmlformats.org/officeDocument/2006/relationships/slideLayout" Target="../slideLayouts/slideLayout12.xml"/><Relationship Id="rId6" Type="http://schemas.openxmlformats.org/officeDocument/2006/relationships/image" Target="../media/image47.png"/><Relationship Id="rId11" Type="http://schemas.openxmlformats.org/officeDocument/2006/relationships/image" Target="../media/image52.svg"/><Relationship Id="rId5" Type="http://schemas.openxmlformats.org/officeDocument/2006/relationships/image" Target="../media/image42.svg"/><Relationship Id="rId10" Type="http://schemas.openxmlformats.org/officeDocument/2006/relationships/image" Target="../media/image51.png"/><Relationship Id="rId4" Type="http://schemas.openxmlformats.org/officeDocument/2006/relationships/image" Target="../media/image41.png"/><Relationship Id="rId9" Type="http://schemas.openxmlformats.org/officeDocument/2006/relationships/image" Target="../media/image50.svg"/></Relationships>
</file>

<file path=ppt/slides/_rels/slide8.xml.rels><?xml version="1.0" encoding="UTF-8" standalone="yes"?>
<Relationships xmlns="http://schemas.openxmlformats.org/package/2006/relationships"><Relationship Id="rId8" Type="http://schemas.openxmlformats.org/officeDocument/2006/relationships/image" Target="../media/image59.png"/><Relationship Id="rId13" Type="http://schemas.openxmlformats.org/officeDocument/2006/relationships/image" Target="../media/image64.svg"/><Relationship Id="rId3" Type="http://schemas.openxmlformats.org/officeDocument/2006/relationships/image" Target="../media/image4.jpeg"/><Relationship Id="rId7" Type="http://schemas.openxmlformats.org/officeDocument/2006/relationships/image" Target="../media/image58.svg"/><Relationship Id="rId12" Type="http://schemas.openxmlformats.org/officeDocument/2006/relationships/image" Target="../media/image63.png"/><Relationship Id="rId2" Type="http://schemas.openxmlformats.org/officeDocument/2006/relationships/notesSlide" Target="../notesSlides/notesSlide8.xml"/><Relationship Id="rId1" Type="http://schemas.openxmlformats.org/officeDocument/2006/relationships/slideLayout" Target="../slideLayouts/slideLayout12.xml"/><Relationship Id="rId6" Type="http://schemas.openxmlformats.org/officeDocument/2006/relationships/image" Target="../media/image57.png"/><Relationship Id="rId11" Type="http://schemas.openxmlformats.org/officeDocument/2006/relationships/image" Target="../media/image62.svg"/><Relationship Id="rId5" Type="http://schemas.openxmlformats.org/officeDocument/2006/relationships/image" Target="../media/image56.svg"/><Relationship Id="rId10" Type="http://schemas.openxmlformats.org/officeDocument/2006/relationships/image" Target="../media/image61.png"/><Relationship Id="rId4" Type="http://schemas.openxmlformats.org/officeDocument/2006/relationships/image" Target="../media/image55.png"/><Relationship Id="rId9" Type="http://schemas.openxmlformats.org/officeDocument/2006/relationships/image" Target="../media/image60.svg"/></Relationships>
</file>

<file path=ppt/slides/_rels/slide9.xml.rels><?xml version="1.0" encoding="UTF-8" standalone="yes"?>
<Relationships xmlns="http://schemas.openxmlformats.org/package/2006/relationships"><Relationship Id="rId8" Type="http://schemas.openxmlformats.org/officeDocument/2006/relationships/image" Target="../media/image69.png"/><Relationship Id="rId3" Type="http://schemas.openxmlformats.org/officeDocument/2006/relationships/image" Target="../media/image4.jpeg"/><Relationship Id="rId7" Type="http://schemas.openxmlformats.org/officeDocument/2006/relationships/image" Target="../media/image68.svg"/><Relationship Id="rId2" Type="http://schemas.openxmlformats.org/officeDocument/2006/relationships/notesSlide" Target="../notesSlides/notesSlide9.xml"/><Relationship Id="rId1" Type="http://schemas.openxmlformats.org/officeDocument/2006/relationships/slideLayout" Target="../slideLayouts/slideLayout12.xml"/><Relationship Id="rId6" Type="http://schemas.openxmlformats.org/officeDocument/2006/relationships/image" Target="../media/image67.png"/><Relationship Id="rId11" Type="http://schemas.openxmlformats.org/officeDocument/2006/relationships/image" Target="../media/image72.svg"/><Relationship Id="rId5" Type="http://schemas.openxmlformats.org/officeDocument/2006/relationships/image" Target="../media/image66.svg"/><Relationship Id="rId10" Type="http://schemas.openxmlformats.org/officeDocument/2006/relationships/image" Target="../media/image71.png"/><Relationship Id="rId4" Type="http://schemas.openxmlformats.org/officeDocument/2006/relationships/image" Target="../media/image65.png"/><Relationship Id="rId9" Type="http://schemas.openxmlformats.org/officeDocument/2006/relationships/image" Target="../media/image70.svg"/></Relationships>
</file>

<file path=ppt/slides/_rels/slide10.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0.xml"/><Relationship Id="rId1" Type="http://schemas.openxmlformats.org/officeDocument/2006/relationships/slideLayout" Target="../slideLayouts/slideLayout12.xml"/><Relationship Id="rId5" Type="http://schemas.openxmlformats.org/officeDocument/2006/relationships/image" Target="../media/image74.svg"/><Relationship Id="rId4" Type="http://schemas.openxmlformats.org/officeDocument/2006/relationships/image" Target="../media/image73.png"/></Relationships>
</file>

<file path=ppt/slides/_rels/slide11.xml.rels><?xml version="1.0" encoding="UTF-8" standalone="yes"?>
<Relationships xmlns="http://schemas.openxmlformats.org/package/2006/relationships"><Relationship Id="rId3" Type="http://schemas.openxmlformats.org/officeDocument/2006/relationships/image" Target="../media/image4.jpeg"/><Relationship Id="rId7" Type="http://schemas.openxmlformats.org/officeDocument/2006/relationships/image" Target="../media/image76.svg"/><Relationship Id="rId2" Type="http://schemas.openxmlformats.org/officeDocument/2006/relationships/notesSlide" Target="../notesSlides/notesSlide11.xml"/><Relationship Id="rId1" Type="http://schemas.openxmlformats.org/officeDocument/2006/relationships/slideLayout" Target="../slideLayouts/slideLayout12.xml"/><Relationship Id="rId6" Type="http://schemas.openxmlformats.org/officeDocument/2006/relationships/image" Target="../media/image75.png"/><Relationship Id="rId5" Type="http://schemas.openxmlformats.org/officeDocument/2006/relationships/image" Target="../media/image3.svg"/><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8" Type="http://schemas.openxmlformats.org/officeDocument/2006/relationships/image" Target="../media/image53.png"/><Relationship Id="rId13" Type="http://schemas.openxmlformats.org/officeDocument/2006/relationships/image" Target="../media/image80.svg"/><Relationship Id="rId3" Type="http://schemas.openxmlformats.org/officeDocument/2006/relationships/image" Target="../media/image4.jpeg"/><Relationship Id="rId7" Type="http://schemas.openxmlformats.org/officeDocument/2006/relationships/image" Target="../media/image78.svg"/><Relationship Id="rId12" Type="http://schemas.openxmlformats.org/officeDocument/2006/relationships/image" Target="../media/image79.png"/><Relationship Id="rId2" Type="http://schemas.openxmlformats.org/officeDocument/2006/relationships/notesSlide" Target="../notesSlides/notesSlide12.xml"/><Relationship Id="rId1" Type="http://schemas.openxmlformats.org/officeDocument/2006/relationships/slideLayout" Target="../slideLayouts/slideLayout12.xml"/><Relationship Id="rId6" Type="http://schemas.openxmlformats.org/officeDocument/2006/relationships/image" Target="../media/image77.png"/><Relationship Id="rId11" Type="http://schemas.openxmlformats.org/officeDocument/2006/relationships/image" Target="../media/image3.svg"/><Relationship Id="rId5" Type="http://schemas.openxmlformats.org/officeDocument/2006/relationships/image" Target="../media/image40.svg"/><Relationship Id="rId10" Type="http://schemas.openxmlformats.org/officeDocument/2006/relationships/image" Target="../media/image2.png"/><Relationship Id="rId4" Type="http://schemas.openxmlformats.org/officeDocument/2006/relationships/image" Target="../media/image39.png"/><Relationship Id="rId9" Type="http://schemas.openxmlformats.org/officeDocument/2006/relationships/image" Target="../media/image54.svg"/></Relationships>
</file>

<file path=ppt/slides/_rels/slide13.xml.rels><?xml version="1.0" encoding="UTF-8" standalone="yes"?>
<Relationships xmlns="http://schemas.openxmlformats.org/package/2006/relationships"><Relationship Id="rId8" Type="http://schemas.openxmlformats.org/officeDocument/2006/relationships/image" Target="../media/image83.png"/><Relationship Id="rId13" Type="http://schemas.openxmlformats.org/officeDocument/2006/relationships/image" Target="../media/image88.svg"/><Relationship Id="rId3" Type="http://schemas.openxmlformats.org/officeDocument/2006/relationships/image" Target="../media/image4.jpeg"/><Relationship Id="rId7" Type="http://schemas.openxmlformats.org/officeDocument/2006/relationships/image" Target="../media/image82.svg"/><Relationship Id="rId12" Type="http://schemas.openxmlformats.org/officeDocument/2006/relationships/image" Target="../media/image87.png"/><Relationship Id="rId2" Type="http://schemas.openxmlformats.org/officeDocument/2006/relationships/notesSlide" Target="../notesSlides/notesSlide13.xml"/><Relationship Id="rId1" Type="http://schemas.openxmlformats.org/officeDocument/2006/relationships/slideLayout" Target="../slideLayouts/slideLayout12.xml"/><Relationship Id="rId6" Type="http://schemas.openxmlformats.org/officeDocument/2006/relationships/image" Target="../media/image81.png"/><Relationship Id="rId11" Type="http://schemas.openxmlformats.org/officeDocument/2006/relationships/image" Target="../media/image86.svg"/><Relationship Id="rId5" Type="http://schemas.openxmlformats.org/officeDocument/2006/relationships/image" Target="../media/image12.svg"/><Relationship Id="rId15" Type="http://schemas.openxmlformats.org/officeDocument/2006/relationships/image" Target="../media/image72.svg"/><Relationship Id="rId10" Type="http://schemas.openxmlformats.org/officeDocument/2006/relationships/image" Target="../media/image85.png"/><Relationship Id="rId4" Type="http://schemas.openxmlformats.org/officeDocument/2006/relationships/image" Target="../media/image11.png"/><Relationship Id="rId9" Type="http://schemas.openxmlformats.org/officeDocument/2006/relationships/image" Target="../media/image84.svg"/><Relationship Id="rId14" Type="http://schemas.openxmlformats.org/officeDocument/2006/relationships/image" Target="../media/image71.png"/></Relationships>
</file>

<file path=ppt/slides/_rels/slide14.xml.rels><?xml version="1.0" encoding="UTF-8" standalone="yes"?>
<Relationships xmlns="http://schemas.openxmlformats.org/package/2006/relationships"><Relationship Id="rId8" Type="http://schemas.openxmlformats.org/officeDocument/2006/relationships/image" Target="../media/image93.png"/><Relationship Id="rId13" Type="http://schemas.openxmlformats.org/officeDocument/2006/relationships/image" Target="../media/image64.svg"/><Relationship Id="rId3" Type="http://schemas.openxmlformats.org/officeDocument/2006/relationships/image" Target="../media/image4.jpeg"/><Relationship Id="rId7" Type="http://schemas.openxmlformats.org/officeDocument/2006/relationships/image" Target="../media/image92.svg"/><Relationship Id="rId12" Type="http://schemas.openxmlformats.org/officeDocument/2006/relationships/image" Target="../media/image63.png"/><Relationship Id="rId2" Type="http://schemas.openxmlformats.org/officeDocument/2006/relationships/notesSlide" Target="../notesSlides/notesSlide14.xml"/><Relationship Id="rId1" Type="http://schemas.openxmlformats.org/officeDocument/2006/relationships/slideLayout" Target="../slideLayouts/slideLayout12.xml"/><Relationship Id="rId6" Type="http://schemas.openxmlformats.org/officeDocument/2006/relationships/image" Target="../media/image91.png"/><Relationship Id="rId11" Type="http://schemas.openxmlformats.org/officeDocument/2006/relationships/image" Target="../media/image96.svg"/><Relationship Id="rId5" Type="http://schemas.openxmlformats.org/officeDocument/2006/relationships/image" Target="../media/image90.svg"/><Relationship Id="rId10" Type="http://schemas.openxmlformats.org/officeDocument/2006/relationships/image" Target="../media/image95.png"/><Relationship Id="rId4" Type="http://schemas.openxmlformats.org/officeDocument/2006/relationships/image" Target="../media/image89.png"/><Relationship Id="rId9" Type="http://schemas.openxmlformats.org/officeDocument/2006/relationships/image" Target="../media/image94.svg"/></Relationships>
</file>

<file path=ppt/slides/_rels/slide15.xml.rels><?xml version="1.0" encoding="UTF-8" standalone="yes"?>
<Relationships xmlns="http://schemas.openxmlformats.org/package/2006/relationships"><Relationship Id="rId8" Type="http://schemas.openxmlformats.org/officeDocument/2006/relationships/image" Target="../media/image99.png"/><Relationship Id="rId3" Type="http://schemas.openxmlformats.org/officeDocument/2006/relationships/image" Target="../media/image4.jpeg"/><Relationship Id="rId7" Type="http://schemas.openxmlformats.org/officeDocument/2006/relationships/image" Target="../media/image98.svg"/><Relationship Id="rId2" Type="http://schemas.openxmlformats.org/officeDocument/2006/relationships/notesSlide" Target="../notesSlides/notesSlide15.xml"/><Relationship Id="rId1" Type="http://schemas.openxmlformats.org/officeDocument/2006/relationships/slideLayout" Target="../slideLayouts/slideLayout12.xml"/><Relationship Id="rId6" Type="http://schemas.openxmlformats.org/officeDocument/2006/relationships/image" Target="../media/image97.png"/><Relationship Id="rId11" Type="http://schemas.openxmlformats.org/officeDocument/2006/relationships/image" Target="../media/image102.svg"/><Relationship Id="rId5" Type="http://schemas.openxmlformats.org/officeDocument/2006/relationships/image" Target="../media/image86.svg"/><Relationship Id="rId10" Type="http://schemas.openxmlformats.org/officeDocument/2006/relationships/image" Target="../media/image101.png"/><Relationship Id="rId4" Type="http://schemas.openxmlformats.org/officeDocument/2006/relationships/image" Target="../media/image85.png"/><Relationship Id="rId9" Type="http://schemas.openxmlformats.org/officeDocument/2006/relationships/image" Target="../media/image100.svg"/></Relationships>
</file>

<file path=ppt/slides/_rels/slide1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6.xml"/><Relationship Id="rId1" Type="http://schemas.openxmlformats.org/officeDocument/2006/relationships/slideLayout" Target="../slideLayouts/slideLayout12.xml"/><Relationship Id="rId5" Type="http://schemas.openxmlformats.org/officeDocument/2006/relationships/image" Target="../media/image104.svg"/><Relationship Id="rId4" Type="http://schemas.openxmlformats.org/officeDocument/2006/relationships/image" Target="../media/image103.png"/></Relationships>
</file>

<file path=ppt/slides/_rels/slide17.xml.rels><?xml version="1.0" encoding="UTF-8" standalone="yes"?>
<Relationships xmlns="http://schemas.openxmlformats.org/package/2006/relationships"><Relationship Id="rId8" Type="http://schemas.openxmlformats.org/officeDocument/2006/relationships/image" Target="../media/image107.svg"/><Relationship Id="rId3" Type="http://schemas.openxmlformats.org/officeDocument/2006/relationships/image" Target="../media/image4.jpeg"/><Relationship Id="rId7" Type="http://schemas.openxmlformats.org/officeDocument/2006/relationships/image" Target="../media/image106.png"/><Relationship Id="rId12" Type="http://schemas.openxmlformats.org/officeDocument/2006/relationships/image" Target="../media/image111.svg"/><Relationship Id="rId2" Type="http://schemas.openxmlformats.org/officeDocument/2006/relationships/notesSlide" Target="../notesSlides/notesSlide17.xml"/><Relationship Id="rId1" Type="http://schemas.openxmlformats.org/officeDocument/2006/relationships/slideLayout" Target="../slideLayouts/slideLayout12.xml"/><Relationship Id="rId6" Type="http://schemas.openxmlformats.org/officeDocument/2006/relationships/image" Target="../media/image66.svg"/><Relationship Id="rId11" Type="http://schemas.openxmlformats.org/officeDocument/2006/relationships/image" Target="../media/image110.png"/><Relationship Id="rId5" Type="http://schemas.openxmlformats.org/officeDocument/2006/relationships/image" Target="../media/image65.png"/><Relationship Id="rId10" Type="http://schemas.openxmlformats.org/officeDocument/2006/relationships/image" Target="../media/image109.svg"/><Relationship Id="rId4" Type="http://schemas.openxmlformats.org/officeDocument/2006/relationships/image" Target="../media/image105.jpeg"/><Relationship Id="rId9" Type="http://schemas.openxmlformats.org/officeDocument/2006/relationships/image" Target="../media/image108.png"/></Relationships>
</file>

<file path=ppt/slides/_rels/slide18.xml.rels><?xml version="1.0" encoding="UTF-8" standalone="yes"?>
<Relationships xmlns="http://schemas.openxmlformats.org/package/2006/relationships"><Relationship Id="rId8" Type="http://schemas.openxmlformats.org/officeDocument/2006/relationships/image" Target="../media/image116.png"/><Relationship Id="rId13" Type="http://schemas.openxmlformats.org/officeDocument/2006/relationships/image" Target="../media/image119.svg"/><Relationship Id="rId3" Type="http://schemas.openxmlformats.org/officeDocument/2006/relationships/image" Target="../media/image4.jpeg"/><Relationship Id="rId7" Type="http://schemas.openxmlformats.org/officeDocument/2006/relationships/image" Target="../media/image115.svg"/><Relationship Id="rId12" Type="http://schemas.openxmlformats.org/officeDocument/2006/relationships/image" Target="../media/image118.png"/><Relationship Id="rId2" Type="http://schemas.openxmlformats.org/officeDocument/2006/relationships/notesSlide" Target="../notesSlides/notesSlide18.xml"/><Relationship Id="rId1" Type="http://schemas.openxmlformats.org/officeDocument/2006/relationships/slideLayout" Target="../slideLayouts/slideLayout12.xml"/><Relationship Id="rId6" Type="http://schemas.openxmlformats.org/officeDocument/2006/relationships/image" Target="../media/image114.png"/><Relationship Id="rId11" Type="http://schemas.openxmlformats.org/officeDocument/2006/relationships/image" Target="../media/image76.svg"/><Relationship Id="rId5" Type="http://schemas.openxmlformats.org/officeDocument/2006/relationships/image" Target="../media/image113.svg"/><Relationship Id="rId10" Type="http://schemas.openxmlformats.org/officeDocument/2006/relationships/image" Target="../media/image75.png"/><Relationship Id="rId4" Type="http://schemas.openxmlformats.org/officeDocument/2006/relationships/image" Target="../media/image112.png"/><Relationship Id="rId9" Type="http://schemas.openxmlformats.org/officeDocument/2006/relationships/image" Target="../media/image117.svg"/></Relationships>
</file>

<file path=ppt/slides/_rels/slide19.xml.rels><?xml version="1.0" encoding="UTF-8" standalone="yes"?>
<Relationships xmlns="http://schemas.openxmlformats.org/package/2006/relationships"><Relationship Id="rId8" Type="http://schemas.openxmlformats.org/officeDocument/2006/relationships/image" Target="../media/image124.png"/><Relationship Id="rId13" Type="http://schemas.openxmlformats.org/officeDocument/2006/relationships/image" Target="../media/image28.svg"/><Relationship Id="rId3" Type="http://schemas.openxmlformats.org/officeDocument/2006/relationships/image" Target="../media/image4.jpeg"/><Relationship Id="rId7" Type="http://schemas.openxmlformats.org/officeDocument/2006/relationships/image" Target="../media/image123.svg"/><Relationship Id="rId12" Type="http://schemas.openxmlformats.org/officeDocument/2006/relationships/image" Target="../media/image27.png"/><Relationship Id="rId2" Type="http://schemas.openxmlformats.org/officeDocument/2006/relationships/notesSlide" Target="../notesSlides/notesSlide19.xml"/><Relationship Id="rId1" Type="http://schemas.openxmlformats.org/officeDocument/2006/relationships/slideLayout" Target="../slideLayouts/slideLayout12.xml"/><Relationship Id="rId6" Type="http://schemas.openxmlformats.org/officeDocument/2006/relationships/image" Target="../media/image122.png"/><Relationship Id="rId11" Type="http://schemas.openxmlformats.org/officeDocument/2006/relationships/image" Target="../media/image117.svg"/><Relationship Id="rId5" Type="http://schemas.openxmlformats.org/officeDocument/2006/relationships/image" Target="../media/image121.svg"/><Relationship Id="rId10" Type="http://schemas.openxmlformats.org/officeDocument/2006/relationships/image" Target="../media/image116.png"/><Relationship Id="rId4" Type="http://schemas.openxmlformats.org/officeDocument/2006/relationships/image" Target="../media/image120.png"/><Relationship Id="rId9" Type="http://schemas.openxmlformats.org/officeDocument/2006/relationships/image" Target="../media/image125.svg"/></Relationships>
</file>

<file path=ppt/slides/_rels/slide20.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4.jpeg"/><Relationship Id="rId7" Type="http://schemas.openxmlformats.org/officeDocument/2006/relationships/image" Target="../media/image127.svg"/><Relationship Id="rId2" Type="http://schemas.openxmlformats.org/officeDocument/2006/relationships/notesSlide" Target="../notesSlides/notesSlide20.xml"/><Relationship Id="rId1" Type="http://schemas.openxmlformats.org/officeDocument/2006/relationships/slideLayout" Target="../slideLayouts/slideLayout12.xml"/><Relationship Id="rId6" Type="http://schemas.openxmlformats.org/officeDocument/2006/relationships/image" Target="../media/image126.png"/><Relationship Id="rId5" Type="http://schemas.openxmlformats.org/officeDocument/2006/relationships/image" Target="../media/image104.svg"/><Relationship Id="rId4" Type="http://schemas.openxmlformats.org/officeDocument/2006/relationships/image" Target="../media/image103.png"/><Relationship Id="rId9" Type="http://schemas.openxmlformats.org/officeDocument/2006/relationships/image" Target="../media/image28.svg"/></Relationships>
</file>

<file path=ppt/slides/_rels/slide21.xml.rels><?xml version="1.0" encoding="UTF-8" standalone="yes"?>
<Relationships xmlns="http://schemas.openxmlformats.org/package/2006/relationships"><Relationship Id="rId8" Type="http://schemas.openxmlformats.org/officeDocument/2006/relationships/image" Target="../media/image130.png"/><Relationship Id="rId13" Type="http://schemas.openxmlformats.org/officeDocument/2006/relationships/image" Target="../media/image113.svg"/><Relationship Id="rId3" Type="http://schemas.openxmlformats.org/officeDocument/2006/relationships/image" Target="../media/image4.jpeg"/><Relationship Id="rId7" Type="http://schemas.openxmlformats.org/officeDocument/2006/relationships/image" Target="../media/image129.svg"/><Relationship Id="rId12" Type="http://schemas.openxmlformats.org/officeDocument/2006/relationships/image" Target="../media/image112.png"/><Relationship Id="rId17" Type="http://schemas.openxmlformats.org/officeDocument/2006/relationships/image" Target="../media/image135.svg"/><Relationship Id="rId2" Type="http://schemas.openxmlformats.org/officeDocument/2006/relationships/notesSlide" Target="../notesSlides/notesSlide21.xml"/><Relationship Id="rId16" Type="http://schemas.openxmlformats.org/officeDocument/2006/relationships/image" Target="../media/image134.png"/><Relationship Id="rId1" Type="http://schemas.openxmlformats.org/officeDocument/2006/relationships/slideLayout" Target="../slideLayouts/slideLayout12.xml"/><Relationship Id="rId6" Type="http://schemas.openxmlformats.org/officeDocument/2006/relationships/image" Target="../media/image128.png"/><Relationship Id="rId11" Type="http://schemas.openxmlformats.org/officeDocument/2006/relationships/image" Target="../media/image133.svg"/><Relationship Id="rId5" Type="http://schemas.openxmlformats.org/officeDocument/2006/relationships/image" Target="../media/image104.svg"/><Relationship Id="rId15" Type="http://schemas.openxmlformats.org/officeDocument/2006/relationships/image" Target="../media/image50.svg"/><Relationship Id="rId10" Type="http://schemas.openxmlformats.org/officeDocument/2006/relationships/image" Target="../media/image132.png"/><Relationship Id="rId4" Type="http://schemas.openxmlformats.org/officeDocument/2006/relationships/image" Target="../media/image103.png"/><Relationship Id="rId9" Type="http://schemas.openxmlformats.org/officeDocument/2006/relationships/image" Target="../media/image131.svg"/><Relationship Id="rId14" Type="http://schemas.openxmlformats.org/officeDocument/2006/relationships/image" Target="../media/image49.png"/></Relationships>
</file>

<file path=ppt/slides/_rels/slide2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2.xml"/><Relationship Id="rId1" Type="http://schemas.openxmlformats.org/officeDocument/2006/relationships/slideLayout" Target="../slideLayouts/slideLayout12.xml"/><Relationship Id="rId5" Type="http://schemas.openxmlformats.org/officeDocument/2006/relationships/image" Target="../media/image137.svg"/><Relationship Id="rId4" Type="http://schemas.openxmlformats.org/officeDocument/2006/relationships/image" Target="../media/image136.png"/></Relationships>
</file>

<file path=ppt/slides/_rels/slide23.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4.jpeg"/><Relationship Id="rId7" Type="http://schemas.openxmlformats.org/officeDocument/2006/relationships/image" Target="../media/image141.svg"/><Relationship Id="rId2" Type="http://schemas.openxmlformats.org/officeDocument/2006/relationships/notesSlide" Target="../notesSlides/notesSlide23.xml"/><Relationship Id="rId1" Type="http://schemas.openxmlformats.org/officeDocument/2006/relationships/slideLayout" Target="../slideLayouts/slideLayout12.xml"/><Relationship Id="rId6" Type="http://schemas.openxmlformats.org/officeDocument/2006/relationships/image" Target="../media/image140.png"/><Relationship Id="rId5" Type="http://schemas.openxmlformats.org/officeDocument/2006/relationships/image" Target="../media/image139.svg"/><Relationship Id="rId4" Type="http://schemas.openxmlformats.org/officeDocument/2006/relationships/image" Target="../media/image138.png"/><Relationship Id="rId9" Type="http://schemas.openxmlformats.org/officeDocument/2006/relationships/image" Target="../media/image28.svg"/></Relationships>
</file>

<file path=ppt/slides/_rels/slide24.xml.rels><?xml version="1.0" encoding="UTF-8" standalone="yes"?>
<Relationships xmlns="http://schemas.openxmlformats.org/package/2006/relationships"><Relationship Id="rId8" Type="http://schemas.openxmlformats.org/officeDocument/2006/relationships/image" Target="../media/image144.png"/><Relationship Id="rId13" Type="http://schemas.openxmlformats.org/officeDocument/2006/relationships/image" Target="../media/image149.svg"/><Relationship Id="rId3" Type="http://schemas.openxmlformats.org/officeDocument/2006/relationships/image" Target="../media/image4.jpeg"/><Relationship Id="rId7" Type="http://schemas.openxmlformats.org/officeDocument/2006/relationships/image" Target="../media/image6.svg"/><Relationship Id="rId12" Type="http://schemas.openxmlformats.org/officeDocument/2006/relationships/image" Target="../media/image148.png"/><Relationship Id="rId2" Type="http://schemas.openxmlformats.org/officeDocument/2006/relationships/notesSlide" Target="../notesSlides/notesSlide24.xml"/><Relationship Id="rId1" Type="http://schemas.openxmlformats.org/officeDocument/2006/relationships/slideLayout" Target="../slideLayouts/slideLayout12.xml"/><Relationship Id="rId6" Type="http://schemas.openxmlformats.org/officeDocument/2006/relationships/image" Target="../media/image5.png"/><Relationship Id="rId11" Type="http://schemas.openxmlformats.org/officeDocument/2006/relationships/image" Target="../media/image147.svg"/><Relationship Id="rId5" Type="http://schemas.openxmlformats.org/officeDocument/2006/relationships/image" Target="../media/image143.svg"/><Relationship Id="rId15" Type="http://schemas.openxmlformats.org/officeDocument/2006/relationships/image" Target="../media/image28.svg"/><Relationship Id="rId10" Type="http://schemas.openxmlformats.org/officeDocument/2006/relationships/image" Target="../media/image146.png"/><Relationship Id="rId4" Type="http://schemas.openxmlformats.org/officeDocument/2006/relationships/image" Target="../media/image142.png"/><Relationship Id="rId9" Type="http://schemas.openxmlformats.org/officeDocument/2006/relationships/image" Target="../media/image145.svg"/><Relationship Id="rId14" Type="http://schemas.openxmlformats.org/officeDocument/2006/relationships/image" Target="../media/image27.png"/></Relationships>
</file>

<file path=ppt/slides/_rels/slide25.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4.jpeg"/><Relationship Id="rId7" Type="http://schemas.openxmlformats.org/officeDocument/2006/relationships/image" Target="../media/image104.svg"/><Relationship Id="rId2" Type="http://schemas.openxmlformats.org/officeDocument/2006/relationships/notesSlide" Target="../notesSlides/notesSlide25.xml"/><Relationship Id="rId1" Type="http://schemas.openxmlformats.org/officeDocument/2006/relationships/slideLayout" Target="../slideLayouts/slideLayout12.xml"/><Relationship Id="rId6" Type="http://schemas.openxmlformats.org/officeDocument/2006/relationships/image" Target="../media/image103.png"/><Relationship Id="rId11" Type="http://schemas.openxmlformats.org/officeDocument/2006/relationships/image" Target="../media/image153.svg"/><Relationship Id="rId5" Type="http://schemas.openxmlformats.org/officeDocument/2006/relationships/image" Target="../media/image151.svg"/><Relationship Id="rId10" Type="http://schemas.openxmlformats.org/officeDocument/2006/relationships/image" Target="../media/image152.png"/><Relationship Id="rId4" Type="http://schemas.openxmlformats.org/officeDocument/2006/relationships/image" Target="../media/image150.png"/><Relationship Id="rId9" Type="http://schemas.openxmlformats.org/officeDocument/2006/relationships/image" Target="../media/image28.svg"/></Relationships>
</file>

<file path=ppt/slides/_rels/slide26.xml.rels><?xml version="1.0" encoding="UTF-8" standalone="yes"?>
<Relationships xmlns="http://schemas.openxmlformats.org/package/2006/relationships"><Relationship Id="rId8" Type="http://schemas.openxmlformats.org/officeDocument/2006/relationships/image" Target="../media/image150.png"/><Relationship Id="rId3" Type="http://schemas.openxmlformats.org/officeDocument/2006/relationships/image" Target="../media/image4.jpeg"/><Relationship Id="rId7" Type="http://schemas.openxmlformats.org/officeDocument/2006/relationships/image" Target="../media/image157.svg"/><Relationship Id="rId2" Type="http://schemas.openxmlformats.org/officeDocument/2006/relationships/notesSlide" Target="../notesSlides/notesSlide26.xml"/><Relationship Id="rId1" Type="http://schemas.openxmlformats.org/officeDocument/2006/relationships/slideLayout" Target="../slideLayouts/slideLayout12.xml"/><Relationship Id="rId6" Type="http://schemas.openxmlformats.org/officeDocument/2006/relationships/image" Target="../media/image156.png"/><Relationship Id="rId11" Type="http://schemas.openxmlformats.org/officeDocument/2006/relationships/image" Target="../media/image28.svg"/><Relationship Id="rId5" Type="http://schemas.openxmlformats.org/officeDocument/2006/relationships/image" Target="../media/image155.svg"/><Relationship Id="rId10" Type="http://schemas.openxmlformats.org/officeDocument/2006/relationships/image" Target="../media/image27.png"/><Relationship Id="rId4" Type="http://schemas.openxmlformats.org/officeDocument/2006/relationships/image" Target="../media/image154.png"/><Relationship Id="rId9" Type="http://schemas.openxmlformats.org/officeDocument/2006/relationships/image" Target="../media/image151.svg"/></Relationships>
</file>

<file path=ppt/slides/_rels/slide27.xml.rels><?xml version="1.0" encoding="UTF-8" standalone="yes"?>
<Relationships xmlns="http://schemas.openxmlformats.org/package/2006/relationships"><Relationship Id="rId8" Type="http://schemas.openxmlformats.org/officeDocument/2006/relationships/image" Target="../media/image160.png"/><Relationship Id="rId3" Type="http://schemas.openxmlformats.org/officeDocument/2006/relationships/image" Target="../media/image4.jpeg"/><Relationship Id="rId7" Type="http://schemas.openxmlformats.org/officeDocument/2006/relationships/image" Target="../media/image159.svg"/><Relationship Id="rId2" Type="http://schemas.openxmlformats.org/officeDocument/2006/relationships/notesSlide" Target="../notesSlides/notesSlide27.xml"/><Relationship Id="rId1" Type="http://schemas.openxmlformats.org/officeDocument/2006/relationships/slideLayout" Target="../slideLayouts/slideLayout12.xml"/><Relationship Id="rId6" Type="http://schemas.openxmlformats.org/officeDocument/2006/relationships/image" Target="../media/image158.png"/><Relationship Id="rId11" Type="http://schemas.openxmlformats.org/officeDocument/2006/relationships/image" Target="../media/image54.svg"/><Relationship Id="rId5" Type="http://schemas.openxmlformats.org/officeDocument/2006/relationships/image" Target="../media/image151.svg"/><Relationship Id="rId10" Type="http://schemas.openxmlformats.org/officeDocument/2006/relationships/image" Target="../media/image53.png"/><Relationship Id="rId4" Type="http://schemas.openxmlformats.org/officeDocument/2006/relationships/image" Target="../media/image150.png"/><Relationship Id="rId9" Type="http://schemas.openxmlformats.org/officeDocument/2006/relationships/image" Target="../media/image161.svg"/></Relationships>
</file>

<file path=ppt/slides/_rels/slide28.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8.xml"/><Relationship Id="rId1" Type="http://schemas.openxmlformats.org/officeDocument/2006/relationships/slideLayout" Target="../slideLayouts/slideLayout12.xml"/><Relationship Id="rId5" Type="http://schemas.openxmlformats.org/officeDocument/2006/relationships/image" Target="../media/image88.svg"/><Relationship Id="rId4" Type="http://schemas.openxmlformats.org/officeDocument/2006/relationships/image" Target="../media/image87.png"/></Relationships>
</file>

<file path=ppt/slides/_rels/slide29.xml.rels><?xml version="1.0" encoding="UTF-8" standalone="yes"?>
<Relationships xmlns="http://schemas.openxmlformats.org/package/2006/relationships"><Relationship Id="rId8" Type="http://schemas.openxmlformats.org/officeDocument/2006/relationships/image" Target="../media/image87.png"/><Relationship Id="rId3" Type="http://schemas.openxmlformats.org/officeDocument/2006/relationships/image" Target="../media/image4.jpeg"/><Relationship Id="rId7" Type="http://schemas.openxmlformats.org/officeDocument/2006/relationships/image" Target="../media/image155.svg"/><Relationship Id="rId2" Type="http://schemas.openxmlformats.org/officeDocument/2006/relationships/notesSlide" Target="../notesSlides/notesSlide29.xml"/><Relationship Id="rId1" Type="http://schemas.openxmlformats.org/officeDocument/2006/relationships/slideLayout" Target="../slideLayouts/slideLayout12.xml"/><Relationship Id="rId6" Type="http://schemas.openxmlformats.org/officeDocument/2006/relationships/image" Target="../media/image154.png"/><Relationship Id="rId11" Type="http://schemas.openxmlformats.org/officeDocument/2006/relationships/image" Target="../media/image165.svg"/><Relationship Id="rId5" Type="http://schemas.openxmlformats.org/officeDocument/2006/relationships/image" Target="../media/image163.svg"/><Relationship Id="rId10" Type="http://schemas.openxmlformats.org/officeDocument/2006/relationships/image" Target="../media/image164.png"/><Relationship Id="rId4" Type="http://schemas.openxmlformats.org/officeDocument/2006/relationships/image" Target="../media/image162.png"/><Relationship Id="rId9" Type="http://schemas.openxmlformats.org/officeDocument/2006/relationships/image" Target="../media/image88.svg"/></Relationships>
</file>

<file path=ppt/slides/_rels/slide30.xml.rels><?xml version="1.0" encoding="UTF-8" standalone="yes"?>
<Relationships xmlns="http://schemas.openxmlformats.org/package/2006/relationships"><Relationship Id="rId8" Type="http://schemas.openxmlformats.org/officeDocument/2006/relationships/image" Target="../media/image140.png"/><Relationship Id="rId13" Type="http://schemas.openxmlformats.org/officeDocument/2006/relationships/image" Target="../media/image171.svg"/><Relationship Id="rId3" Type="http://schemas.openxmlformats.org/officeDocument/2006/relationships/image" Target="../media/image4.jpeg"/><Relationship Id="rId7" Type="http://schemas.openxmlformats.org/officeDocument/2006/relationships/image" Target="../media/image167.svg"/><Relationship Id="rId12" Type="http://schemas.openxmlformats.org/officeDocument/2006/relationships/image" Target="../media/image170.png"/><Relationship Id="rId2" Type="http://schemas.openxmlformats.org/officeDocument/2006/relationships/notesSlide" Target="../notesSlides/notesSlide30.xml"/><Relationship Id="rId1" Type="http://schemas.openxmlformats.org/officeDocument/2006/relationships/slideLayout" Target="../slideLayouts/slideLayout12.xml"/><Relationship Id="rId6" Type="http://schemas.openxmlformats.org/officeDocument/2006/relationships/image" Target="../media/image166.png"/><Relationship Id="rId11" Type="http://schemas.openxmlformats.org/officeDocument/2006/relationships/image" Target="../media/image169.svg"/><Relationship Id="rId5" Type="http://schemas.openxmlformats.org/officeDocument/2006/relationships/image" Target="../media/image12.svg"/><Relationship Id="rId10" Type="http://schemas.openxmlformats.org/officeDocument/2006/relationships/image" Target="../media/image168.png"/><Relationship Id="rId4" Type="http://schemas.openxmlformats.org/officeDocument/2006/relationships/image" Target="../media/image11.png"/><Relationship Id="rId9" Type="http://schemas.openxmlformats.org/officeDocument/2006/relationships/image" Target="../media/image141.svg"/></Relationships>
</file>

<file path=ppt/slides/_rels/slide31.xml.rels><?xml version="1.0" encoding="UTF-8" standalone="yes"?>
<Relationships xmlns="http://schemas.openxmlformats.org/package/2006/relationships"><Relationship Id="rId8" Type="http://schemas.openxmlformats.org/officeDocument/2006/relationships/image" Target="../media/image174.png"/><Relationship Id="rId3" Type="http://schemas.openxmlformats.org/officeDocument/2006/relationships/image" Target="../media/image4.jpeg"/><Relationship Id="rId7" Type="http://schemas.openxmlformats.org/officeDocument/2006/relationships/image" Target="../media/image173.svg"/><Relationship Id="rId2" Type="http://schemas.openxmlformats.org/officeDocument/2006/relationships/notesSlide" Target="../notesSlides/notesSlide31.xml"/><Relationship Id="rId1" Type="http://schemas.openxmlformats.org/officeDocument/2006/relationships/slideLayout" Target="../slideLayouts/slideLayout12.xml"/><Relationship Id="rId6" Type="http://schemas.openxmlformats.org/officeDocument/2006/relationships/image" Target="../media/image172.png"/><Relationship Id="rId11" Type="http://schemas.openxmlformats.org/officeDocument/2006/relationships/image" Target="../media/image28.svg"/><Relationship Id="rId5" Type="http://schemas.openxmlformats.org/officeDocument/2006/relationships/image" Target="../media/image54.svg"/><Relationship Id="rId10" Type="http://schemas.openxmlformats.org/officeDocument/2006/relationships/image" Target="../media/image27.png"/><Relationship Id="rId4" Type="http://schemas.openxmlformats.org/officeDocument/2006/relationships/image" Target="../media/image53.png"/><Relationship Id="rId9" Type="http://schemas.openxmlformats.org/officeDocument/2006/relationships/image" Target="../media/image175.svg"/></Relationships>
</file>

<file path=ppt/slides/_rels/slide32.xml.rels><?xml version="1.0" encoding="UTF-8" standalone="yes"?>
<Relationships xmlns="http://schemas.openxmlformats.org/package/2006/relationships"><Relationship Id="rId8" Type="http://schemas.openxmlformats.org/officeDocument/2006/relationships/image" Target="../media/image178.png"/><Relationship Id="rId3" Type="http://schemas.openxmlformats.org/officeDocument/2006/relationships/image" Target="../media/image4.jpeg"/><Relationship Id="rId7" Type="http://schemas.openxmlformats.org/officeDocument/2006/relationships/image" Target="../media/image177.svg"/><Relationship Id="rId2" Type="http://schemas.openxmlformats.org/officeDocument/2006/relationships/notesSlide" Target="../notesSlides/notesSlide32.xml"/><Relationship Id="rId1" Type="http://schemas.openxmlformats.org/officeDocument/2006/relationships/slideLayout" Target="../slideLayouts/slideLayout12.xml"/><Relationship Id="rId6" Type="http://schemas.openxmlformats.org/officeDocument/2006/relationships/image" Target="../media/image176.png"/><Relationship Id="rId11" Type="http://schemas.openxmlformats.org/officeDocument/2006/relationships/image" Target="../media/image28.svg"/><Relationship Id="rId5" Type="http://schemas.openxmlformats.org/officeDocument/2006/relationships/image" Target="../media/image104.svg"/><Relationship Id="rId10" Type="http://schemas.openxmlformats.org/officeDocument/2006/relationships/image" Target="../media/image27.png"/><Relationship Id="rId4" Type="http://schemas.openxmlformats.org/officeDocument/2006/relationships/image" Target="../media/image103.png"/><Relationship Id="rId9" Type="http://schemas.openxmlformats.org/officeDocument/2006/relationships/image" Target="../media/image179.svg"/></Relationships>
</file>

<file path=ppt/slides/_rels/slide3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33.xml"/><Relationship Id="rId1" Type="http://schemas.openxmlformats.org/officeDocument/2006/relationships/slideLayout" Target="../slideLayouts/slideLayout12.xml"/><Relationship Id="rId5" Type="http://schemas.openxmlformats.org/officeDocument/2006/relationships/image" Target="../media/image163.svg"/><Relationship Id="rId4" Type="http://schemas.openxmlformats.org/officeDocument/2006/relationships/image" Target="../media/image162.png"/></Relationships>
</file>

<file path=ppt/slides/_rels/slide34.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4.jpeg"/><Relationship Id="rId7" Type="http://schemas.openxmlformats.org/officeDocument/2006/relationships/image" Target="../media/image183.svg"/><Relationship Id="rId2" Type="http://schemas.openxmlformats.org/officeDocument/2006/relationships/notesSlide" Target="../notesSlides/notesSlide34.xml"/><Relationship Id="rId1" Type="http://schemas.openxmlformats.org/officeDocument/2006/relationships/slideLayout" Target="../slideLayouts/slideLayout12.xml"/><Relationship Id="rId6" Type="http://schemas.openxmlformats.org/officeDocument/2006/relationships/image" Target="../media/image182.png"/><Relationship Id="rId11" Type="http://schemas.openxmlformats.org/officeDocument/2006/relationships/image" Target="../media/image185.svg"/><Relationship Id="rId5" Type="http://schemas.openxmlformats.org/officeDocument/2006/relationships/image" Target="../media/image181.svg"/><Relationship Id="rId10" Type="http://schemas.openxmlformats.org/officeDocument/2006/relationships/image" Target="../media/image184.png"/><Relationship Id="rId4" Type="http://schemas.openxmlformats.org/officeDocument/2006/relationships/image" Target="../media/image180.png"/><Relationship Id="rId9" Type="http://schemas.openxmlformats.org/officeDocument/2006/relationships/image" Target="../media/image16.svg"/></Relationships>
</file>

<file path=ppt/slides/_rels/slide35.xml.rels><?xml version="1.0" encoding="UTF-8" standalone="yes"?>
<Relationships xmlns="http://schemas.openxmlformats.org/package/2006/relationships"><Relationship Id="rId8" Type="http://schemas.openxmlformats.org/officeDocument/2006/relationships/image" Target="../media/image188.png"/><Relationship Id="rId13" Type="http://schemas.openxmlformats.org/officeDocument/2006/relationships/image" Target="../media/image193.svg"/><Relationship Id="rId3" Type="http://schemas.openxmlformats.org/officeDocument/2006/relationships/image" Target="../media/image4.jpeg"/><Relationship Id="rId7" Type="http://schemas.openxmlformats.org/officeDocument/2006/relationships/image" Target="../media/image48.svg"/><Relationship Id="rId12" Type="http://schemas.openxmlformats.org/officeDocument/2006/relationships/image" Target="../media/image192.png"/><Relationship Id="rId2" Type="http://schemas.openxmlformats.org/officeDocument/2006/relationships/notesSlide" Target="../notesSlides/notesSlide35.xml"/><Relationship Id="rId1" Type="http://schemas.openxmlformats.org/officeDocument/2006/relationships/slideLayout" Target="../slideLayouts/slideLayout12.xml"/><Relationship Id="rId6" Type="http://schemas.openxmlformats.org/officeDocument/2006/relationships/image" Target="../media/image47.png"/><Relationship Id="rId11" Type="http://schemas.openxmlformats.org/officeDocument/2006/relationships/image" Target="../media/image191.svg"/><Relationship Id="rId5" Type="http://schemas.openxmlformats.org/officeDocument/2006/relationships/image" Target="../media/image187.svg"/><Relationship Id="rId10" Type="http://schemas.openxmlformats.org/officeDocument/2006/relationships/image" Target="../media/image190.png"/><Relationship Id="rId4" Type="http://schemas.openxmlformats.org/officeDocument/2006/relationships/image" Target="../media/image186.png"/><Relationship Id="rId9" Type="http://schemas.openxmlformats.org/officeDocument/2006/relationships/image" Target="../media/image189.svg"/></Relationships>
</file>

<file path=ppt/slides/_rels/slide3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36.xml"/><Relationship Id="rId1" Type="http://schemas.openxmlformats.org/officeDocument/2006/relationships/slideLayout" Target="../slideLayouts/slideLayout12.xml"/><Relationship Id="rId5" Type="http://schemas.openxmlformats.org/officeDocument/2006/relationships/image" Target="../media/image195.svg"/><Relationship Id="rId4" Type="http://schemas.openxmlformats.org/officeDocument/2006/relationships/image" Target="../media/image194.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A1428">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0A1428">
              <a:alpha val="70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0" y="0"/>
            <a:ext cx="12192000" cy="50800"/>
          </a:xfrm>
          <a:prstGeom prst="roundRect">
            <a:avLst>
              <a:gd name="adj" fmla="val 0"/>
            </a:avLst>
          </a:prstGeom>
          <a:gradFill rotWithShape="1">
            <a:gsLst>
              <a:gs pos="0">
                <a:srgbClr val="00BFFF">
                  <a:alpha val="100000"/>
                </a:srgbClr>
              </a:gs>
              <a:gs pos="100000">
                <a:srgbClr val="E6E6FA">
                  <a:alpha val="100000"/>
                </a:srgbClr>
              </a:gs>
            </a:gsLst>
            <a:lin ang="0"/>
          </a:gradFill>
          <a:ln w="25400" cap="flat" cmpd="sng">
            <a:no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381000" y="2032000"/>
            <a:ext cx="11430000" cy="762000"/>
          </a:xfrm>
          <a:prstGeom prst="rect">
            <a:avLst/>
          </a:prstGeom>
          <a:noFill/>
          <a:ln w="12700" cap="flat" cmpd="sng">
            <a:noFill/>
            <a:prstDash val="solid"/>
            <a:round/>
          </a:ln>
        </p:spPr>
        <p:txBody>
          <a:bodyPr vert="horz" wrap="none" lIns="0" tIns="0" rIns="0" bIns="0" rtlCol="0" anchor="ctr" anchorCtr="0"/>
          <a:lstStyle/>
          <a:p>
            <a:pPr indent="0" algn="ctr">
              <a:lnSpc>
                <a:spcPct val="125000"/>
              </a:lnSpc>
              <a:defRPr/>
            </a:pPr>
            <a:r>
              <a:rPr lang="en-US" sz="3600" b="1" i="0" u="none" strike="noStrike">
                <a:solidFill>
                  <a:srgbClr val="FFFFFF"/>
                </a:solidFill>
                <a:latin typeface="Noto Sans SC"/>
                <a:ea typeface="Noto Sans SC"/>
                <a:cs typeface="Noto Sans SC"/>
                <a:sym typeface="Noto Sans SC"/>
              </a:rPr>
              <a:t>SafeWalk项目实战：高级功能实现与系统整合</a:t>
            </a:r>
            <a:endParaRPr lang="en-US" sz="1100"/>
          </a:p>
        </p:txBody>
      </p:sp>
      <p:sp>
        <p:nvSpPr>
          <p:cNvPr id="6" name="AutoShape 6"/>
          <p:cNvSpPr/>
          <p:nvPr/>
        </p:nvSpPr>
        <p:spPr>
          <a:xfrm>
            <a:off x="381000" y="2921000"/>
            <a:ext cx="11430000" cy="508000"/>
          </a:xfrm>
          <a:prstGeom prst="rect">
            <a:avLst/>
          </a:prstGeom>
          <a:noFill/>
          <a:ln w="12700" cap="flat" cmpd="sng">
            <a:noFill/>
            <a:prstDash val="solid"/>
            <a:round/>
          </a:ln>
        </p:spPr>
        <p:txBody>
          <a:bodyPr vert="horz" wrap="none" lIns="0" tIns="0" rIns="0" bIns="0" rtlCol="0" anchor="ctr" anchorCtr="0"/>
          <a:lstStyle/>
          <a:p>
            <a:pPr indent="0" algn="ctr">
              <a:lnSpc>
                <a:spcPct val="125000"/>
              </a:lnSpc>
              <a:defRPr/>
            </a:pPr>
            <a:r>
              <a:rPr lang="en-US" sz="2000" b="0" i="0" u="none" strike="noStrike">
                <a:solidFill>
                  <a:srgbClr val="E6E6FA"/>
                </a:solidFill>
                <a:latin typeface="Noto Sans SC"/>
                <a:ea typeface="Noto Sans SC"/>
                <a:cs typeface="Noto Sans SC"/>
                <a:sym typeface="Noto Sans SC"/>
              </a:rPr>
              <a:t>Technovation Girls 第五次课程（3月20日）</a:t>
            </a:r>
            <a:endParaRPr lang="en-US" sz="1100"/>
          </a:p>
        </p:txBody>
      </p:sp>
      <p:cxnSp>
        <p:nvCxnSpPr>
          <p:cNvPr id="7" name="Connector 7"/>
          <p:cNvCxnSpPr/>
          <p:nvPr/>
        </p:nvCxnSpPr>
        <p:spPr>
          <a:xfrm rot="-34376">
            <a:off x="5461032" y="3549650"/>
            <a:ext cx="1270000" cy="12700"/>
          </a:xfrm>
          <a:prstGeom prst="line">
            <a:avLst/>
          </a:prstGeom>
          <a:solidFill>
            <a:srgbClr val="DEE0E3">
              <a:alpha val="100000"/>
            </a:srgbClr>
          </a:solidFill>
          <a:ln w="25400" cap="flat" cmpd="sng">
            <a:solidFill>
              <a:srgbClr val="00BFFF">
                <a:alpha val="100000"/>
              </a:srgbClr>
            </a:solidFill>
            <a:prstDash val="solid"/>
            <a:round/>
            <a:headEnd type="none" w="lg" len="lg"/>
            <a:tailEnd type="none" w="lg" len="lg"/>
          </a:ln>
        </p:spPr>
      </p:cxnSp>
      <p:sp>
        <p:nvSpPr>
          <p:cNvPr id="8" name="AutoShape 8"/>
          <p:cNvSpPr/>
          <p:nvPr/>
        </p:nvSpPr>
        <p:spPr>
          <a:xfrm>
            <a:off x="381000" y="3810000"/>
            <a:ext cx="11430000" cy="381000"/>
          </a:xfrm>
          <a:prstGeom prst="rect">
            <a:avLst/>
          </a:prstGeom>
          <a:noFill/>
          <a:ln w="12700" cap="flat" cmpd="sng">
            <a:noFill/>
            <a:prstDash val="solid"/>
            <a:round/>
          </a:ln>
        </p:spPr>
        <p:txBody>
          <a:bodyPr vert="horz" wrap="none" lIns="0" tIns="0" rIns="0" bIns="0" rtlCol="0" anchor="ctr" anchorCtr="0"/>
          <a:lstStyle/>
          <a:p>
            <a:pPr indent="0" algn="ctr">
              <a:lnSpc>
                <a:spcPct val="125000"/>
              </a:lnSpc>
              <a:defRPr/>
            </a:pPr>
            <a:r>
              <a:rPr lang="en-US" sz="1600" b="0" i="0" u="none" strike="noStrike">
                <a:solidFill>
                  <a:srgbClr val="FFFFFF">
                    <a:alpha val="80000"/>
                  </a:srgbClr>
                </a:solidFill>
                <a:latin typeface="Noto Sans SC"/>
                <a:ea typeface="Noto Sans SC"/>
                <a:cs typeface="Noto Sans SC"/>
                <a:sym typeface="Noto Sans SC"/>
              </a:rPr>
              <a:t>讲师：田老师</a:t>
            </a:r>
            <a:endParaRPr lang="en-US" sz="1100"/>
          </a:p>
        </p:txBody>
      </p:sp>
      <p:sp>
        <p:nvSpPr>
          <p:cNvPr id="9" name="AutoShape 9"/>
          <p:cNvSpPr/>
          <p:nvPr/>
        </p:nvSpPr>
        <p:spPr>
          <a:xfrm>
            <a:off x="0" y="6807200"/>
            <a:ext cx="12192000" cy="50800"/>
          </a:xfrm>
          <a:prstGeom prst="roundRect">
            <a:avLst>
              <a:gd name="adj" fmla="val 0"/>
            </a:avLst>
          </a:prstGeom>
          <a:gradFill rotWithShape="1">
            <a:gsLst>
              <a:gs pos="0">
                <a:srgbClr val="E6E6FA">
                  <a:alpha val="100000"/>
                </a:srgbClr>
              </a:gs>
              <a:gs pos="100000">
                <a:srgbClr val="00BFFF">
                  <a:alpha val="100000"/>
                </a:srgbClr>
              </a:gs>
            </a:gsLst>
            <a:lin ang="0"/>
          </a:gradFill>
          <a:ln w="25400" cap="flat" cmpd="sng">
            <a:noFill/>
            <a:prstDash val="solid"/>
            <a:round/>
          </a:ln>
        </p:spPr>
        <p:txBody>
          <a:bodyPr vert="horz" wrap="square" lIns="63500" tIns="63500" rIns="63500" bIns="63500" rtlCol="0" anchor="ctr"/>
          <a:lstStyle/>
          <a:p>
            <a:pPr algn="ctr">
              <a:defRPr/>
            </a:pPr>
            <a:endParaRPr/>
          </a:p>
        </p:txBody>
      </p:sp>
      <p:pic>
        <p:nvPicPr>
          <p:cNvPr id="10" name="Picture 10"/>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892800" y="1397000"/>
            <a:ext cx="406400" cy="4064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A192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0A192F">
              <a:alpha val="85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762000" y="508000"/>
            <a:ext cx="20066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00BFFF"/>
                </a:solidFill>
                <a:latin typeface="Noto Sans SC"/>
                <a:ea typeface="Noto Sans SC"/>
                <a:cs typeface="Noto Sans SC"/>
                <a:sym typeface="Noto Sans SC"/>
              </a:rPr>
              <a:t>课程目录</a:t>
            </a:r>
            <a:endParaRPr lang="en-US" sz="1100"/>
          </a:p>
        </p:txBody>
      </p:sp>
      <p:sp>
        <p:nvSpPr>
          <p:cNvPr id="5" name="AutoShape 5"/>
          <p:cNvSpPr/>
          <p:nvPr/>
        </p:nvSpPr>
        <p:spPr>
          <a:xfrm>
            <a:off x="762000" y="1397000"/>
            <a:ext cx="5080000" cy="1016000"/>
          </a:xfrm>
          <a:prstGeom prst="roundRect">
            <a:avLst>
              <a:gd name="adj" fmla="val 12500"/>
            </a:avLst>
          </a:prstGeom>
          <a:solidFill>
            <a:srgbClr val="FFFFFF">
              <a:alpha val="8000"/>
            </a:srgbClr>
          </a:solidFill>
          <a:ln w="12700" cap="flat" cmpd="sng">
            <a:solidFill>
              <a:srgbClr val="00BFFF">
                <a:alpha val="30000"/>
              </a:srgbClr>
            </a:solidFill>
            <a:prstDash val="solid"/>
            <a:round/>
          </a:ln>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52500" y="1701800"/>
            <a:ext cx="406400" cy="406400"/>
          </a:xfrm>
          <a:prstGeom prst="rect">
            <a:avLst/>
          </a:prstGeom>
        </p:spPr>
      </p:pic>
      <p:sp>
        <p:nvSpPr>
          <p:cNvPr id="7" name="AutoShape 7"/>
          <p:cNvSpPr/>
          <p:nvPr/>
        </p:nvSpPr>
        <p:spPr>
          <a:xfrm>
            <a:off x="1460500" y="1524000"/>
            <a:ext cx="4191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Noto Sans SC"/>
                <a:ea typeface="Noto Sans SC"/>
                <a:cs typeface="Noto Sans SC"/>
                <a:sym typeface="Noto Sans SC"/>
              </a:rPr>
              <a:t>课程回顾与项目进展</a:t>
            </a:r>
            <a:endParaRPr lang="en-US" sz="1100"/>
          </a:p>
        </p:txBody>
      </p:sp>
      <p:sp>
        <p:nvSpPr>
          <p:cNvPr id="8" name="AutoShape 8"/>
          <p:cNvSpPr/>
          <p:nvPr/>
        </p:nvSpPr>
        <p:spPr>
          <a:xfrm>
            <a:off x="1460500" y="1879600"/>
            <a:ext cx="4191000" cy="457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FFFFFF">
                    <a:alpha val="70196"/>
                  </a:srgbClr>
                </a:solidFill>
                <a:latin typeface="Noto Sans SC"/>
                <a:ea typeface="Noto Sans SC"/>
                <a:cs typeface="Noto Sans SC"/>
                <a:sym typeface="Noto Sans SC"/>
              </a:rPr>
              <a:t>回顾前序课程内容，明确当前项目状态与核心目标。</a:t>
            </a:r>
            <a:endParaRPr lang="en-US" sz="1100"/>
          </a:p>
        </p:txBody>
      </p:sp>
      <p:sp>
        <p:nvSpPr>
          <p:cNvPr id="9" name="AutoShape 9"/>
          <p:cNvSpPr/>
          <p:nvPr/>
        </p:nvSpPr>
        <p:spPr>
          <a:xfrm>
            <a:off x="762000" y="2540000"/>
            <a:ext cx="5080000" cy="1016000"/>
          </a:xfrm>
          <a:prstGeom prst="roundRect">
            <a:avLst>
              <a:gd name="adj" fmla="val 12500"/>
            </a:avLst>
          </a:prstGeom>
          <a:solidFill>
            <a:srgbClr val="FFFFFF">
              <a:alpha val="8000"/>
            </a:srgbClr>
          </a:solidFill>
          <a:ln w="12700" cap="flat" cmpd="sng">
            <a:solidFill>
              <a:srgbClr val="00BFFF">
                <a:alpha val="30000"/>
              </a:srgbClr>
            </a:solidFill>
            <a:prstDash val="solid"/>
            <a:round/>
          </a:ln>
        </p:spPr>
        <p:txBody>
          <a:bodyPr vert="horz" wrap="square" lIns="63500" tIns="63500" rIns="63500" bIns="63500" rtlCol="0" anchor="ctr"/>
          <a:lstStyle/>
          <a:p>
            <a:pPr algn="ctr">
              <a:defRPr/>
            </a:pPr>
            <a:endParaRPr/>
          </a:p>
        </p:txBody>
      </p:sp>
      <p:pic>
        <p:nvPicPr>
          <p:cNvPr id="10" name="Picture 10"/>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52500" y="2844800"/>
            <a:ext cx="406400" cy="406400"/>
          </a:xfrm>
          <a:prstGeom prst="rect">
            <a:avLst/>
          </a:prstGeom>
        </p:spPr>
      </p:pic>
      <p:sp>
        <p:nvSpPr>
          <p:cNvPr id="11" name="AutoShape 11"/>
          <p:cNvSpPr/>
          <p:nvPr/>
        </p:nvSpPr>
        <p:spPr>
          <a:xfrm>
            <a:off x="1460500" y="2667000"/>
            <a:ext cx="4191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Noto Sans SC"/>
                <a:ea typeface="Noto Sans SC"/>
                <a:cs typeface="Noto Sans SC"/>
                <a:sym typeface="Noto Sans SC"/>
              </a:rPr>
              <a:t>模拟来电功能深度实现</a:t>
            </a:r>
            <a:endParaRPr lang="en-US" sz="1100"/>
          </a:p>
        </p:txBody>
      </p:sp>
      <p:sp>
        <p:nvSpPr>
          <p:cNvPr id="12" name="AutoShape 12"/>
          <p:cNvSpPr/>
          <p:nvPr/>
        </p:nvSpPr>
        <p:spPr>
          <a:xfrm>
            <a:off x="1460500" y="3022600"/>
            <a:ext cx="4191000" cy="457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FFFFFF">
                    <a:alpha val="70196"/>
                  </a:srgbClr>
                </a:solidFill>
                <a:latin typeface="Noto Sans SC"/>
                <a:ea typeface="Noto Sans SC"/>
                <a:cs typeface="Noto Sans SC"/>
                <a:sym typeface="Noto Sans SC"/>
              </a:rPr>
              <a:t>深入讲解模拟来电功能的技术实现和用户体验优化细节。</a:t>
            </a:r>
            <a:endParaRPr lang="en-US" sz="1100"/>
          </a:p>
        </p:txBody>
      </p:sp>
      <p:sp>
        <p:nvSpPr>
          <p:cNvPr id="13" name="AutoShape 13"/>
          <p:cNvSpPr/>
          <p:nvPr/>
        </p:nvSpPr>
        <p:spPr>
          <a:xfrm>
            <a:off x="762000" y="3683000"/>
            <a:ext cx="5080000" cy="1016000"/>
          </a:xfrm>
          <a:prstGeom prst="roundRect">
            <a:avLst>
              <a:gd name="adj" fmla="val 12500"/>
            </a:avLst>
          </a:prstGeom>
          <a:solidFill>
            <a:srgbClr val="FFFFFF">
              <a:alpha val="8000"/>
            </a:srgbClr>
          </a:solidFill>
          <a:ln w="12700" cap="flat" cmpd="sng">
            <a:solidFill>
              <a:srgbClr val="00BFFF">
                <a:alpha val="30000"/>
              </a:srgbClr>
            </a:solidFill>
            <a:prstDash val="solid"/>
            <a:round/>
          </a:ln>
        </p:spPr>
        <p:txBody>
          <a:bodyPr vert="horz" wrap="square" lIns="63500" tIns="63500" rIns="63500" bIns="63500" rtlCol="0" anchor="ctr"/>
          <a:lstStyle/>
          <a:p>
            <a:pPr algn="ctr">
              <a:defRPr/>
            </a:pPr>
            <a:endParaRPr/>
          </a:p>
        </p:txBody>
      </p:sp>
      <p:pic>
        <p:nvPicPr>
          <p:cNvPr id="14" name="Picture 14"/>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952500" y="3987800"/>
            <a:ext cx="406400" cy="406400"/>
          </a:xfrm>
          <a:prstGeom prst="rect">
            <a:avLst/>
          </a:prstGeom>
        </p:spPr>
      </p:pic>
      <p:sp>
        <p:nvSpPr>
          <p:cNvPr id="15" name="AutoShape 15"/>
          <p:cNvSpPr/>
          <p:nvPr/>
        </p:nvSpPr>
        <p:spPr>
          <a:xfrm>
            <a:off x="1460500" y="3810000"/>
            <a:ext cx="4191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Noto Sans SC"/>
                <a:ea typeface="Noto Sans SC"/>
                <a:cs typeface="Noto Sans SC"/>
                <a:sym typeface="Noto Sans SC"/>
              </a:rPr>
              <a:t>视频通话功能集成与开发</a:t>
            </a:r>
            <a:endParaRPr lang="en-US" sz="1100"/>
          </a:p>
        </p:txBody>
      </p:sp>
      <p:sp>
        <p:nvSpPr>
          <p:cNvPr id="16" name="AutoShape 16"/>
          <p:cNvSpPr/>
          <p:nvPr/>
        </p:nvSpPr>
        <p:spPr>
          <a:xfrm>
            <a:off x="1460500" y="4165600"/>
            <a:ext cx="4191000" cy="457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FFFFFF">
                    <a:alpha val="70196"/>
                  </a:srgbClr>
                </a:solidFill>
                <a:latin typeface="Noto Sans SC"/>
                <a:ea typeface="Noto Sans SC"/>
                <a:cs typeface="Noto Sans SC"/>
                <a:sym typeface="Noto Sans SC"/>
              </a:rPr>
              <a:t>学习如何集成视频通话功能，实现守护者与用户的实时连接。</a:t>
            </a:r>
            <a:endParaRPr lang="en-US" sz="1100"/>
          </a:p>
        </p:txBody>
      </p:sp>
      <p:sp>
        <p:nvSpPr>
          <p:cNvPr id="17" name="AutoShape 17"/>
          <p:cNvSpPr/>
          <p:nvPr/>
        </p:nvSpPr>
        <p:spPr>
          <a:xfrm>
            <a:off x="762000" y="4826000"/>
            <a:ext cx="5080000" cy="1016000"/>
          </a:xfrm>
          <a:prstGeom prst="roundRect">
            <a:avLst>
              <a:gd name="adj" fmla="val 12500"/>
            </a:avLst>
          </a:prstGeom>
          <a:solidFill>
            <a:srgbClr val="FFFFFF">
              <a:alpha val="8000"/>
            </a:srgbClr>
          </a:solidFill>
          <a:ln w="12700" cap="flat" cmpd="sng">
            <a:solidFill>
              <a:srgbClr val="00BFFF">
                <a:alpha val="30000"/>
              </a:srgbClr>
            </a:solidFill>
            <a:prstDash val="solid"/>
            <a:round/>
          </a:ln>
        </p:spPr>
        <p:txBody>
          <a:bodyPr vert="horz" wrap="square" lIns="63500" tIns="63500" rIns="63500" bIns="63500" rtlCol="0" anchor="ctr"/>
          <a:lstStyle/>
          <a:p>
            <a:pPr algn="ctr">
              <a:defRPr/>
            </a:pPr>
            <a:endParaRPr/>
          </a:p>
        </p:txBody>
      </p:sp>
      <p:pic>
        <p:nvPicPr>
          <p:cNvPr id="18" name="Picture 18"/>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952500" y="5130800"/>
            <a:ext cx="406400" cy="406400"/>
          </a:xfrm>
          <a:prstGeom prst="rect">
            <a:avLst/>
          </a:prstGeom>
        </p:spPr>
      </p:pic>
      <p:sp>
        <p:nvSpPr>
          <p:cNvPr id="19" name="AutoShape 19"/>
          <p:cNvSpPr/>
          <p:nvPr/>
        </p:nvSpPr>
        <p:spPr>
          <a:xfrm>
            <a:off x="1460500" y="4953000"/>
            <a:ext cx="4191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Noto Sans SC"/>
                <a:ea typeface="Noto Sans SC"/>
                <a:cs typeface="Noto Sans SC"/>
                <a:sym typeface="Noto Sans SC"/>
              </a:rPr>
              <a:t>AI后台服务与API设计</a:t>
            </a:r>
            <a:endParaRPr lang="en-US" sz="1100"/>
          </a:p>
        </p:txBody>
      </p:sp>
      <p:sp>
        <p:nvSpPr>
          <p:cNvPr id="20" name="AutoShape 20"/>
          <p:cNvSpPr/>
          <p:nvPr/>
        </p:nvSpPr>
        <p:spPr>
          <a:xfrm>
            <a:off x="1460500" y="5308600"/>
            <a:ext cx="4191000" cy="457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FFFFFF">
                    <a:alpha val="70196"/>
                  </a:srgbClr>
                </a:solidFill>
                <a:latin typeface="Noto Sans SC"/>
                <a:ea typeface="Noto Sans SC"/>
                <a:cs typeface="Noto Sans SC"/>
                <a:sym typeface="Noto Sans SC"/>
              </a:rPr>
              <a:t>构建智能的后端服务，支撑AI关怀功能的高效运行。</a:t>
            </a:r>
            <a:endParaRPr lang="en-US" sz="1100"/>
          </a:p>
        </p:txBody>
      </p:sp>
      <p:sp>
        <p:nvSpPr>
          <p:cNvPr id="21" name="AutoShape 21"/>
          <p:cNvSpPr/>
          <p:nvPr/>
        </p:nvSpPr>
        <p:spPr>
          <a:xfrm>
            <a:off x="6350000" y="1397000"/>
            <a:ext cx="5080000" cy="1016000"/>
          </a:xfrm>
          <a:prstGeom prst="roundRect">
            <a:avLst>
              <a:gd name="adj" fmla="val 12500"/>
            </a:avLst>
          </a:prstGeom>
          <a:solidFill>
            <a:srgbClr val="FFFFFF">
              <a:alpha val="8000"/>
            </a:srgbClr>
          </a:solidFill>
          <a:ln w="12700" cap="flat" cmpd="sng">
            <a:solidFill>
              <a:srgbClr val="00BFFF">
                <a:alpha val="30000"/>
              </a:srgbClr>
            </a:solidFill>
            <a:prstDash val="solid"/>
            <a:round/>
          </a:ln>
        </p:spPr>
        <p:txBody>
          <a:bodyPr vert="horz" wrap="square" lIns="63500" tIns="63500" rIns="63500" bIns="63500" rtlCol="0" anchor="ctr"/>
          <a:lstStyle/>
          <a:p>
            <a:pPr algn="ctr">
              <a:defRPr/>
            </a:pPr>
            <a:endParaRPr/>
          </a:p>
        </p:txBody>
      </p:sp>
      <p:pic>
        <p:nvPicPr>
          <p:cNvPr id="22" name="Picture 22"/>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6540500" y="1701800"/>
            <a:ext cx="406400" cy="406400"/>
          </a:xfrm>
          <a:prstGeom prst="rect">
            <a:avLst/>
          </a:prstGeom>
        </p:spPr>
      </p:pic>
      <p:sp>
        <p:nvSpPr>
          <p:cNvPr id="23" name="AutoShape 23"/>
          <p:cNvSpPr/>
          <p:nvPr/>
        </p:nvSpPr>
        <p:spPr>
          <a:xfrm>
            <a:off x="7048500" y="1524000"/>
            <a:ext cx="4191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Noto Sans SC"/>
                <a:ea typeface="Noto Sans SC"/>
                <a:cs typeface="Noto Sans SC"/>
                <a:sym typeface="Noto Sans SC"/>
              </a:rPr>
              <a:t>数据统计与可视化实现</a:t>
            </a:r>
            <a:endParaRPr lang="en-US" sz="1100"/>
          </a:p>
        </p:txBody>
      </p:sp>
      <p:sp>
        <p:nvSpPr>
          <p:cNvPr id="24" name="AutoShape 24"/>
          <p:cNvSpPr/>
          <p:nvPr/>
        </p:nvSpPr>
        <p:spPr>
          <a:xfrm>
            <a:off x="7048500" y="1879600"/>
            <a:ext cx="4191000" cy="457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FFFFFF">
                    <a:alpha val="70196"/>
                  </a:srgbClr>
                </a:solidFill>
                <a:latin typeface="Noto Sans SC"/>
                <a:ea typeface="Noto Sans SC"/>
                <a:cs typeface="Noto Sans SC"/>
                <a:sym typeface="Noto Sans SC"/>
              </a:rPr>
              <a:t>收集并分析用户数据，通过图表展示产品性能和用户行为。</a:t>
            </a:r>
            <a:endParaRPr lang="en-US" sz="1100"/>
          </a:p>
        </p:txBody>
      </p:sp>
      <p:sp>
        <p:nvSpPr>
          <p:cNvPr id="25" name="AutoShape 25"/>
          <p:cNvSpPr/>
          <p:nvPr/>
        </p:nvSpPr>
        <p:spPr>
          <a:xfrm>
            <a:off x="6350000" y="2540000"/>
            <a:ext cx="5080000" cy="1016000"/>
          </a:xfrm>
          <a:prstGeom prst="roundRect">
            <a:avLst>
              <a:gd name="adj" fmla="val 12500"/>
            </a:avLst>
          </a:prstGeom>
          <a:solidFill>
            <a:srgbClr val="FFFFFF">
              <a:alpha val="8000"/>
            </a:srgbClr>
          </a:solidFill>
          <a:ln w="12700" cap="flat" cmpd="sng">
            <a:solidFill>
              <a:srgbClr val="00BFFF">
                <a:alpha val="30000"/>
              </a:srgbClr>
            </a:solidFill>
            <a:prstDash val="solid"/>
            <a:round/>
          </a:ln>
        </p:spPr>
        <p:txBody>
          <a:bodyPr vert="horz" wrap="square" lIns="63500" tIns="63500" rIns="63500" bIns="63500" rtlCol="0" anchor="ctr"/>
          <a:lstStyle/>
          <a:p>
            <a:pPr algn="ctr">
              <a:defRPr/>
            </a:pPr>
            <a:endParaRPr/>
          </a:p>
        </p:txBody>
      </p:sp>
      <p:pic>
        <p:nvPicPr>
          <p:cNvPr id="26" name="Picture 26"/>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6540500" y="2844800"/>
            <a:ext cx="406400" cy="406400"/>
          </a:xfrm>
          <a:prstGeom prst="rect">
            <a:avLst/>
          </a:prstGeom>
        </p:spPr>
      </p:pic>
      <p:sp>
        <p:nvSpPr>
          <p:cNvPr id="27" name="AutoShape 27"/>
          <p:cNvSpPr/>
          <p:nvPr/>
        </p:nvSpPr>
        <p:spPr>
          <a:xfrm>
            <a:off x="7048500" y="2667000"/>
            <a:ext cx="4191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Noto Sans SC"/>
                <a:ea typeface="Noto Sans SC"/>
                <a:cs typeface="Noto Sans SC"/>
                <a:sym typeface="Noto Sans SC"/>
              </a:rPr>
              <a:t>项目整合、测试与部署</a:t>
            </a:r>
            <a:endParaRPr lang="en-US" sz="1100"/>
          </a:p>
        </p:txBody>
      </p:sp>
      <p:sp>
        <p:nvSpPr>
          <p:cNvPr id="28" name="AutoShape 28"/>
          <p:cNvSpPr/>
          <p:nvPr/>
        </p:nvSpPr>
        <p:spPr>
          <a:xfrm>
            <a:off x="7048500" y="3022600"/>
            <a:ext cx="4191000" cy="457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FFFFFF">
                    <a:alpha val="70196"/>
                  </a:srgbClr>
                </a:solidFill>
                <a:latin typeface="Noto Sans SC"/>
                <a:ea typeface="Noto Sans SC"/>
                <a:cs typeface="Noto Sans SC"/>
                <a:sym typeface="Noto Sans SC"/>
              </a:rPr>
              <a:t>将所有功能整合，完成最终的产品交付和上线部署流程。</a:t>
            </a:r>
            <a:endParaRPr lang="en-US" sz="1100"/>
          </a:p>
        </p:txBody>
      </p:sp>
      <p:sp>
        <p:nvSpPr>
          <p:cNvPr id="29" name="AutoShape 29"/>
          <p:cNvSpPr/>
          <p:nvPr/>
        </p:nvSpPr>
        <p:spPr>
          <a:xfrm>
            <a:off x="6350000" y="3683000"/>
            <a:ext cx="5080000" cy="1016000"/>
          </a:xfrm>
          <a:prstGeom prst="roundRect">
            <a:avLst>
              <a:gd name="adj" fmla="val 12500"/>
            </a:avLst>
          </a:prstGeom>
          <a:solidFill>
            <a:srgbClr val="FFFFFF">
              <a:alpha val="8000"/>
            </a:srgbClr>
          </a:solidFill>
          <a:ln w="12700" cap="flat" cmpd="sng">
            <a:solidFill>
              <a:srgbClr val="00BFFF">
                <a:alpha val="30000"/>
              </a:srgbClr>
            </a:solidFill>
            <a:prstDash val="solid"/>
            <a:round/>
          </a:ln>
        </p:spPr>
        <p:txBody>
          <a:bodyPr vert="horz" wrap="square" lIns="63500" tIns="63500" rIns="63500" bIns="63500" rtlCol="0" anchor="ctr"/>
          <a:lstStyle/>
          <a:p>
            <a:pPr algn="ctr">
              <a:defRPr/>
            </a:pPr>
            <a:endParaRPr/>
          </a:p>
        </p:txBody>
      </p:sp>
      <p:pic>
        <p:nvPicPr>
          <p:cNvPr id="30" name="Picture 30"/>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6540500" y="3987800"/>
            <a:ext cx="406400" cy="406400"/>
          </a:xfrm>
          <a:prstGeom prst="rect">
            <a:avLst/>
          </a:prstGeom>
        </p:spPr>
      </p:pic>
      <p:sp>
        <p:nvSpPr>
          <p:cNvPr id="31" name="AutoShape 31"/>
          <p:cNvSpPr/>
          <p:nvPr/>
        </p:nvSpPr>
        <p:spPr>
          <a:xfrm>
            <a:off x="7048500" y="3810000"/>
            <a:ext cx="4191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Noto Sans SC"/>
                <a:ea typeface="Noto Sans SC"/>
                <a:cs typeface="Noto Sans SC"/>
                <a:sym typeface="Noto Sans SC"/>
              </a:rPr>
              <a:t>课程总结与未来展望</a:t>
            </a:r>
            <a:endParaRPr lang="en-US" sz="1100"/>
          </a:p>
        </p:txBody>
      </p:sp>
      <p:sp>
        <p:nvSpPr>
          <p:cNvPr id="32" name="AutoShape 32"/>
          <p:cNvSpPr/>
          <p:nvPr/>
        </p:nvSpPr>
        <p:spPr>
          <a:xfrm>
            <a:off x="7048500" y="4165600"/>
            <a:ext cx="4191000" cy="457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FFFFFF">
                    <a:alpha val="70196"/>
                  </a:srgbClr>
                </a:solidFill>
                <a:latin typeface="Noto Sans SC"/>
                <a:ea typeface="Noto Sans SC"/>
                <a:cs typeface="Noto Sans SC"/>
                <a:sym typeface="Noto Sans SC"/>
              </a:rPr>
              <a:t>总结学习成果，探讨项目未来发展方向与优化空间。</a:t>
            </a:r>
            <a:endParaRPr lang="en-US" sz="1100"/>
          </a:p>
        </p:txBody>
      </p:sp>
      <p:sp>
        <p:nvSpPr>
          <p:cNvPr id="33" name="AutoShape 33"/>
          <p:cNvSpPr/>
          <p:nvPr/>
        </p:nvSpPr>
        <p:spPr>
          <a:xfrm>
            <a:off x="6350000" y="4826000"/>
            <a:ext cx="5080000" cy="1016000"/>
          </a:xfrm>
          <a:prstGeom prst="roundRect">
            <a:avLst>
              <a:gd name="adj" fmla="val 12500"/>
            </a:avLst>
          </a:prstGeom>
          <a:solidFill>
            <a:srgbClr val="00BFFF">
              <a:alpha val="10000"/>
            </a:srgbClr>
          </a:solidFill>
          <a:ln w="12700" cap="flat" cmpd="sng">
            <a:solidFill>
              <a:srgbClr val="00BFFF">
                <a:alpha val="50000"/>
              </a:srgbClr>
            </a:solidFill>
            <a:prstDash val="dash"/>
            <a:round/>
          </a:ln>
        </p:spPr>
        <p:txBody>
          <a:bodyPr vert="horz" wrap="square" lIns="63500" tIns="63500" rIns="63500" bIns="63500" rtlCol="0" anchor="ctr"/>
          <a:lstStyle/>
          <a:p>
            <a:pPr algn="ctr">
              <a:defRPr/>
            </a:pPr>
            <a:endParaRPr/>
          </a:p>
        </p:txBody>
      </p:sp>
      <p:pic>
        <p:nvPicPr>
          <p:cNvPr id="34" name="Picture 34"/>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6540500" y="5130800"/>
            <a:ext cx="406400" cy="406400"/>
          </a:xfrm>
          <a:prstGeom prst="rect">
            <a:avLst/>
          </a:prstGeom>
        </p:spPr>
      </p:pic>
      <p:sp>
        <p:nvSpPr>
          <p:cNvPr id="35" name="AutoShape 35"/>
          <p:cNvSpPr/>
          <p:nvPr/>
        </p:nvSpPr>
        <p:spPr>
          <a:xfrm>
            <a:off x="7048500" y="4953000"/>
            <a:ext cx="4191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Noto Sans SC"/>
                <a:ea typeface="Noto Sans SC"/>
                <a:cs typeface="Noto Sans SC"/>
                <a:sym typeface="Noto Sans SC"/>
              </a:rPr>
              <a:t>持续学习与进阶</a:t>
            </a:r>
            <a:endParaRPr lang="en-US" sz="1100"/>
          </a:p>
        </p:txBody>
      </p:sp>
      <p:sp>
        <p:nvSpPr>
          <p:cNvPr id="36" name="AutoShape 36"/>
          <p:cNvSpPr/>
          <p:nvPr/>
        </p:nvSpPr>
        <p:spPr>
          <a:xfrm>
            <a:off x="7048500" y="5308600"/>
            <a:ext cx="4191000" cy="457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FFFFFF">
                    <a:alpha val="70196"/>
                  </a:srgbClr>
                </a:solidFill>
                <a:latin typeface="Noto Sans SC"/>
                <a:ea typeface="Noto Sans SC"/>
                <a:cs typeface="Noto Sans SC"/>
                <a:sym typeface="Noto Sans SC"/>
              </a:rPr>
              <a:t>保持技术敏感度，探索更多AI与通信结合的可能性。</a:t>
            </a:r>
            <a:endParaRPr lang="en-US" sz="11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A1428">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0A1428">
              <a:alpha val="85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762000" y="508000"/>
            <a:ext cx="5029200" cy="5842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00BFFF"/>
                </a:solidFill>
                <a:latin typeface="Noto Sans SC"/>
                <a:ea typeface="Noto Sans SC"/>
                <a:cs typeface="Noto Sans SC"/>
                <a:sym typeface="Noto Sans SC"/>
              </a:rPr>
              <a:t>课程回顾与项目进展</a:t>
            </a:r>
            <a:endParaRPr lang="en-US" sz="1100"/>
          </a:p>
        </p:txBody>
      </p:sp>
      <p:sp>
        <p:nvSpPr>
          <p:cNvPr id="5" name="AutoShape 5"/>
          <p:cNvSpPr/>
          <p:nvPr/>
        </p:nvSpPr>
        <p:spPr>
          <a:xfrm>
            <a:off x="762000" y="1397000"/>
            <a:ext cx="5080000" cy="1651000"/>
          </a:xfrm>
          <a:prstGeom prst="roundRect">
            <a:avLst>
              <a:gd name="adj" fmla="val 7692"/>
            </a:avLst>
          </a:prstGeom>
          <a:solidFill>
            <a:srgbClr val="FFFFFF">
              <a:alpha val="8000"/>
            </a:srgbClr>
          </a:solidFill>
          <a:ln w="12700" cap="flat" cmpd="sng">
            <a:solidFill>
              <a:srgbClr val="00BFFF">
                <a:alpha val="30000"/>
              </a:srgbClr>
            </a:solidFill>
            <a:prstDash val="solid"/>
            <a:round/>
          </a:ln>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1587500"/>
            <a:ext cx="304800" cy="304800"/>
          </a:xfrm>
          <a:prstGeom prst="rect">
            <a:avLst/>
          </a:prstGeom>
        </p:spPr>
      </p:pic>
      <p:sp>
        <p:nvSpPr>
          <p:cNvPr id="7" name="AutoShape 7"/>
          <p:cNvSpPr/>
          <p:nvPr/>
        </p:nvSpPr>
        <p:spPr>
          <a:xfrm>
            <a:off x="1460500" y="1549400"/>
            <a:ext cx="4191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Noto Sans SC"/>
                <a:ea typeface="Noto Sans SC"/>
                <a:cs typeface="Noto Sans SC"/>
                <a:sym typeface="Noto Sans SC"/>
              </a:rPr>
              <a:t>课程回顾</a:t>
            </a:r>
            <a:endParaRPr lang="en-US" sz="1100"/>
          </a:p>
        </p:txBody>
      </p:sp>
      <p:sp>
        <p:nvSpPr>
          <p:cNvPr id="8" name="AutoShape 8"/>
          <p:cNvSpPr/>
          <p:nvPr/>
        </p:nvSpPr>
        <p:spPr>
          <a:xfrm>
            <a:off x="1016000" y="1968500"/>
            <a:ext cx="4572000" cy="889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400" b="0" i="0" u="none" strike="noStrike">
                <a:solidFill>
                  <a:srgbClr val="FFFFFF">
                    <a:alpha val="80000"/>
                  </a:srgbClr>
                </a:solidFill>
                <a:latin typeface="Noto Sans SC"/>
                <a:ea typeface="Noto Sans SC"/>
                <a:cs typeface="Noto Sans SC"/>
                <a:sym typeface="Noto Sans SC"/>
              </a:rPr>
              <a:t>前四次课程完成了需求分析、功能设计及Sprint 1（步行模式）和Sprint 2（乘车模式与AI关怀）开发，核心安全守护功能已具备。</a:t>
            </a:r>
            <a:endParaRPr lang="en-US" sz="1100"/>
          </a:p>
        </p:txBody>
      </p:sp>
      <p:sp>
        <p:nvSpPr>
          <p:cNvPr id="9" name="AutoShape 9"/>
          <p:cNvSpPr/>
          <p:nvPr/>
        </p:nvSpPr>
        <p:spPr>
          <a:xfrm>
            <a:off x="762000" y="3238500"/>
            <a:ext cx="5080000" cy="1651000"/>
          </a:xfrm>
          <a:prstGeom prst="roundRect">
            <a:avLst>
              <a:gd name="adj" fmla="val 7692"/>
            </a:avLst>
          </a:prstGeom>
          <a:solidFill>
            <a:srgbClr val="FFFFFF">
              <a:alpha val="8000"/>
            </a:srgbClr>
          </a:solidFill>
          <a:ln w="12700" cap="flat" cmpd="sng">
            <a:solidFill>
              <a:srgbClr val="FFB6C1">
                <a:alpha val="30000"/>
              </a:srgbClr>
            </a:solidFill>
            <a:prstDash val="solid"/>
            <a:round/>
          </a:ln>
        </p:spPr>
        <p:txBody>
          <a:bodyPr vert="horz" wrap="square" lIns="63500" tIns="63500" rIns="63500" bIns="63500" rtlCol="0" anchor="ctr"/>
          <a:lstStyle/>
          <a:p>
            <a:pPr algn="ctr">
              <a:defRPr/>
            </a:pPr>
            <a:endParaRPr/>
          </a:p>
        </p:txBody>
      </p:sp>
      <p:pic>
        <p:nvPicPr>
          <p:cNvPr id="10" name="Picture 10"/>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016000" y="3429000"/>
            <a:ext cx="304800" cy="304800"/>
          </a:xfrm>
          <a:prstGeom prst="rect">
            <a:avLst/>
          </a:prstGeom>
        </p:spPr>
      </p:pic>
      <p:sp>
        <p:nvSpPr>
          <p:cNvPr id="11" name="AutoShape 11"/>
          <p:cNvSpPr/>
          <p:nvPr/>
        </p:nvSpPr>
        <p:spPr>
          <a:xfrm>
            <a:off x="1460500" y="3390900"/>
            <a:ext cx="4191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Noto Sans SC"/>
                <a:ea typeface="Noto Sans SC"/>
                <a:cs typeface="Noto Sans SC"/>
                <a:sym typeface="Noto Sans SC"/>
              </a:rPr>
              <a:t>当前进展</a:t>
            </a:r>
            <a:endParaRPr lang="en-US" sz="1100"/>
          </a:p>
        </p:txBody>
      </p:sp>
      <p:sp>
        <p:nvSpPr>
          <p:cNvPr id="12" name="AutoShape 12"/>
          <p:cNvSpPr/>
          <p:nvPr/>
        </p:nvSpPr>
        <p:spPr>
          <a:xfrm>
            <a:off x="1016000" y="3810000"/>
            <a:ext cx="4572000" cy="889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400" b="0" i="0" u="none" strike="noStrike">
                <a:solidFill>
                  <a:srgbClr val="FFFFFF">
                    <a:alpha val="80000"/>
                  </a:srgbClr>
                </a:solidFill>
                <a:latin typeface="Noto Sans SC"/>
                <a:ea typeface="Noto Sans SC"/>
                <a:cs typeface="Noto Sans SC"/>
                <a:sym typeface="Noto Sans SC"/>
              </a:rPr>
              <a:t>项目进入收尾阶段，聚焦高级功能实现与系统整合，涵盖模拟来电、视频通话、AI后台服务及数据统计模块。</a:t>
            </a:r>
            <a:endParaRPr lang="en-US" sz="1100"/>
          </a:p>
        </p:txBody>
      </p:sp>
      <p:sp>
        <p:nvSpPr>
          <p:cNvPr id="13" name="AutoShape 13"/>
          <p:cNvSpPr/>
          <p:nvPr/>
        </p:nvSpPr>
        <p:spPr>
          <a:xfrm>
            <a:off x="6350000" y="1397000"/>
            <a:ext cx="5080000" cy="3492500"/>
          </a:xfrm>
          <a:prstGeom prst="roundRect">
            <a:avLst>
              <a:gd name="adj" fmla="val 3636"/>
            </a:avLst>
          </a:prstGeom>
          <a:solidFill>
            <a:srgbClr val="FFFFFF">
              <a:alpha val="8000"/>
            </a:srgbClr>
          </a:solidFill>
          <a:ln w="12700" cap="flat" cmpd="sng">
            <a:solidFill>
              <a:srgbClr val="E6E6FA">
                <a:alpha val="30000"/>
              </a:srgbClr>
            </a:solidFill>
            <a:prstDash val="solid"/>
            <a:round/>
          </a:ln>
        </p:spPr>
        <p:txBody>
          <a:bodyPr vert="horz" wrap="square" lIns="63500" tIns="63500" rIns="63500" bIns="63500" rtlCol="0" anchor="ctr"/>
          <a:lstStyle/>
          <a:p>
            <a:pPr algn="ctr">
              <a:defRPr/>
            </a:pPr>
            <a:endParaRPr/>
          </a:p>
        </p:txBody>
      </p:sp>
      <p:pic>
        <p:nvPicPr>
          <p:cNvPr id="14" name="Picture 14"/>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6604000" y="1587500"/>
            <a:ext cx="304800" cy="304800"/>
          </a:xfrm>
          <a:prstGeom prst="rect">
            <a:avLst/>
          </a:prstGeom>
        </p:spPr>
      </p:pic>
      <p:sp>
        <p:nvSpPr>
          <p:cNvPr id="15" name="AutoShape 15"/>
          <p:cNvSpPr/>
          <p:nvPr/>
        </p:nvSpPr>
        <p:spPr>
          <a:xfrm>
            <a:off x="7048500" y="1549400"/>
            <a:ext cx="4191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Noto Sans SC"/>
                <a:ea typeface="Noto Sans SC"/>
                <a:cs typeface="Noto Sans SC"/>
                <a:sym typeface="Noto Sans SC"/>
              </a:rPr>
              <a:t>本次课程目标</a:t>
            </a:r>
            <a:endParaRPr lang="en-US" sz="1100"/>
          </a:p>
        </p:txBody>
      </p:sp>
      <p:pic>
        <p:nvPicPr>
          <p:cNvPr id="16" name="Picture 16"/>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6667500" y="2095500"/>
            <a:ext cx="203200" cy="203200"/>
          </a:xfrm>
          <a:prstGeom prst="rect">
            <a:avLst/>
          </a:prstGeom>
        </p:spPr>
      </p:pic>
      <p:sp>
        <p:nvSpPr>
          <p:cNvPr id="17" name="AutoShape 17"/>
          <p:cNvSpPr/>
          <p:nvPr/>
        </p:nvSpPr>
        <p:spPr>
          <a:xfrm>
            <a:off x="6921500" y="2032000"/>
            <a:ext cx="4445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FFFFFF">
                    <a:alpha val="90196"/>
                  </a:srgbClr>
                </a:solidFill>
                <a:latin typeface="Noto Sans SC"/>
                <a:ea typeface="Noto Sans SC"/>
                <a:cs typeface="Noto Sans SC"/>
                <a:sym typeface="Noto Sans SC"/>
              </a:rPr>
              <a:t>掌握模拟来电和视频通话功能的深度实现方法</a:t>
            </a:r>
            <a:endParaRPr lang="en-US" sz="1100"/>
          </a:p>
        </p:txBody>
      </p:sp>
      <p:pic>
        <p:nvPicPr>
          <p:cNvPr id="18" name="Picture 18"/>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6667500" y="2540000"/>
            <a:ext cx="203200" cy="203200"/>
          </a:xfrm>
          <a:prstGeom prst="rect">
            <a:avLst/>
          </a:prstGeom>
        </p:spPr>
      </p:pic>
      <p:sp>
        <p:nvSpPr>
          <p:cNvPr id="19" name="AutoShape 19"/>
          <p:cNvSpPr/>
          <p:nvPr/>
        </p:nvSpPr>
        <p:spPr>
          <a:xfrm>
            <a:off x="6921500" y="2476500"/>
            <a:ext cx="4445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FFFFFF">
                    <a:alpha val="90196"/>
                  </a:srgbClr>
                </a:solidFill>
                <a:latin typeface="Noto Sans SC"/>
                <a:ea typeface="Noto Sans SC"/>
                <a:cs typeface="Noto Sans SC"/>
                <a:sym typeface="Noto Sans SC"/>
              </a:rPr>
              <a:t>学习如何设计和构建AI后台服务及API接口</a:t>
            </a:r>
            <a:endParaRPr lang="en-US" sz="1100"/>
          </a:p>
        </p:txBody>
      </p:sp>
      <p:pic>
        <p:nvPicPr>
          <p:cNvPr id="20" name="Picture 20"/>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6667500" y="2984500"/>
            <a:ext cx="203200" cy="203200"/>
          </a:xfrm>
          <a:prstGeom prst="rect">
            <a:avLst/>
          </a:prstGeom>
        </p:spPr>
      </p:pic>
      <p:sp>
        <p:nvSpPr>
          <p:cNvPr id="21" name="AutoShape 21"/>
          <p:cNvSpPr/>
          <p:nvPr/>
        </p:nvSpPr>
        <p:spPr>
          <a:xfrm>
            <a:off x="6921500" y="2921000"/>
            <a:ext cx="4445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FFFFFF">
                    <a:alpha val="90196"/>
                  </a:srgbClr>
                </a:solidFill>
                <a:latin typeface="Noto Sans SC"/>
                <a:ea typeface="Noto Sans SC"/>
                <a:cs typeface="Noto Sans SC"/>
                <a:sym typeface="Noto Sans SC"/>
              </a:rPr>
              <a:t>实现数据统计与可视化，洞察用户行为</a:t>
            </a:r>
            <a:endParaRPr lang="en-US" sz="1100"/>
          </a:p>
        </p:txBody>
      </p:sp>
      <p:pic>
        <p:nvPicPr>
          <p:cNvPr id="22" name="Picture 22"/>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6667500" y="3429000"/>
            <a:ext cx="203200" cy="203200"/>
          </a:xfrm>
          <a:prstGeom prst="rect">
            <a:avLst/>
          </a:prstGeom>
        </p:spPr>
      </p:pic>
      <p:sp>
        <p:nvSpPr>
          <p:cNvPr id="23" name="AutoShape 23"/>
          <p:cNvSpPr/>
          <p:nvPr/>
        </p:nvSpPr>
        <p:spPr>
          <a:xfrm>
            <a:off x="6921500" y="3365500"/>
            <a:ext cx="4445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FFFFFF">
                    <a:alpha val="90196"/>
                  </a:srgbClr>
                </a:solidFill>
                <a:latin typeface="Noto Sans SC"/>
                <a:ea typeface="Noto Sans SC"/>
                <a:cs typeface="Noto Sans SC"/>
                <a:sym typeface="Noto Sans SC"/>
              </a:rPr>
              <a:t>完成项目的最终整合、测试与部署</a:t>
            </a:r>
            <a:endParaRPr lang="en-US" sz="1100"/>
          </a:p>
        </p:txBody>
      </p:sp>
      <p:sp>
        <p:nvSpPr>
          <p:cNvPr id="24" name="AutoShape 24"/>
          <p:cNvSpPr/>
          <p:nvPr/>
        </p:nvSpPr>
        <p:spPr>
          <a:xfrm>
            <a:off x="762000" y="5334000"/>
            <a:ext cx="10668000" cy="762000"/>
          </a:xfrm>
          <a:prstGeom prst="roundRect">
            <a:avLst>
              <a:gd name="adj" fmla="val 16666"/>
            </a:avLst>
          </a:prstGeom>
          <a:gradFill rotWithShape="1">
            <a:gsLst>
              <a:gs pos="0">
                <a:srgbClr val="00BFFF">
                  <a:alpha val="20000"/>
                </a:srgbClr>
              </a:gs>
              <a:gs pos="100000">
                <a:srgbClr val="FFB6C1">
                  <a:alpha val="20000"/>
                </a:srgbClr>
              </a:gs>
            </a:gsLst>
            <a:lin ang="0"/>
          </a:gradFill>
          <a:ln w="12700" cap="flat" cmpd="sng">
            <a:solidFill>
              <a:srgbClr val="FFFFFF">
                <a:alpha val="20000"/>
              </a:srgbClr>
            </a:solidFill>
            <a:prstDash val="solid"/>
            <a:round/>
          </a:ln>
        </p:spPr>
        <p:txBody>
          <a:bodyPr vert="horz" wrap="square" lIns="63500" tIns="63500" rIns="63500" bIns="63500" rtlCol="0" anchor="ctr"/>
          <a:lstStyle/>
          <a:p>
            <a:pPr algn="ctr">
              <a:defRPr/>
            </a:pPr>
            <a:endParaRPr/>
          </a:p>
        </p:txBody>
      </p:sp>
      <p:pic>
        <p:nvPicPr>
          <p:cNvPr id="25" name="Picture 25"/>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1016000" y="5562600"/>
            <a:ext cx="304800" cy="304800"/>
          </a:xfrm>
          <a:prstGeom prst="rect">
            <a:avLst/>
          </a:prstGeom>
        </p:spPr>
      </p:pic>
      <p:sp>
        <p:nvSpPr>
          <p:cNvPr id="26" name="AutoShape 26"/>
          <p:cNvSpPr/>
          <p:nvPr/>
        </p:nvSpPr>
        <p:spPr>
          <a:xfrm>
            <a:off x="1460500" y="5461000"/>
            <a:ext cx="9906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a:solidFill>
                  <a:srgbClr val="FFFFFF"/>
                </a:solidFill>
                <a:latin typeface="Noto Sans SC"/>
                <a:ea typeface="Noto Sans SC"/>
                <a:cs typeface="Noto Sans SC"/>
                <a:sym typeface="Noto Sans SC"/>
              </a:rPr>
              <a:t>行动指令：</a:t>
            </a:r>
            <a:r>
              <a:rPr lang="en-US" sz="1500" b="0" i="0" u="none" strike="noStrike">
                <a:solidFill>
                  <a:srgbClr val="FFFFFF">
                    <a:alpha val="90196"/>
                  </a:srgbClr>
                </a:solidFill>
                <a:latin typeface="Noto Sans SC"/>
                <a:ea typeface="Noto Sans SC"/>
                <a:cs typeface="Noto Sans SC"/>
                <a:sym typeface="Noto Sans SC"/>
              </a:rPr>
              <a:t>请大家回顾一下自己团队的项目进展，对照课程目标，明确在本次课程中需要完成的具体任务。</a:t>
            </a:r>
            <a:endParaRPr lang="en-US" sz="11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A192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0A192F">
              <a:alpha val="70000"/>
            </a:srgbClr>
          </a:solidFill>
          <a:ln w="25400" cap="flat" cmpd="sng">
            <a:noFill/>
            <a:prstDash val="solid"/>
            <a:round/>
          </a:ln>
        </p:spPr>
        <p:txBody>
          <a:bodyPr vert="horz" wrap="square" lIns="63500" tIns="63500" rIns="63500" bIns="63500" rtlCol="0" anchor="ctr"/>
          <a:lstStyle/>
          <a:p>
            <a:pPr algn="ctr">
              <a:defRPr/>
            </a:pPr>
            <a:endParaRPr/>
          </a:p>
        </p:txBody>
      </p:sp>
      <p:pic>
        <p:nvPicPr>
          <p:cNvPr id="4" name="Picture 4"/>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791200" y="1651000"/>
            <a:ext cx="609600" cy="609600"/>
          </a:xfrm>
          <a:prstGeom prst="rect">
            <a:avLst/>
          </a:prstGeom>
          <a:effectLst>
            <a:outerShdw blurRad="127000" dir="2700000" algn="tl" rotWithShape="0">
              <a:srgbClr val="00BFFF">
                <a:alpha val="50000"/>
              </a:srgbClr>
            </a:outerShdw>
          </a:effectLst>
        </p:spPr>
      </p:pic>
      <p:sp>
        <p:nvSpPr>
          <p:cNvPr id="5" name="AutoShape 5"/>
          <p:cNvSpPr/>
          <p:nvPr/>
        </p:nvSpPr>
        <p:spPr>
          <a:xfrm>
            <a:off x="508000" y="2413000"/>
            <a:ext cx="11176000" cy="635000"/>
          </a:xfrm>
          <a:prstGeom prst="rect">
            <a:avLst/>
          </a:prstGeom>
          <a:noFill/>
          <a:ln w="12700" cap="flat" cmpd="sng">
            <a:noFill/>
            <a:prstDash val="solid"/>
            <a:round/>
          </a:ln>
        </p:spPr>
        <p:txBody>
          <a:bodyPr vert="horz" wrap="none" lIns="0" tIns="0" rIns="0" bIns="0" rtlCol="0" anchor="ctr" anchorCtr="0"/>
          <a:lstStyle/>
          <a:p>
            <a:pPr indent="0" algn="ctr">
              <a:lnSpc>
                <a:spcPct val="125000"/>
              </a:lnSpc>
              <a:defRPr/>
            </a:pPr>
            <a:r>
              <a:rPr lang="en-US" sz="3600" b="1" i="0" u="none" strike="noStrike">
                <a:solidFill>
                  <a:srgbClr val="FFFFFF"/>
                </a:solidFill>
                <a:latin typeface="Noto Sans SC"/>
                <a:ea typeface="Noto Sans SC"/>
                <a:cs typeface="Noto Sans SC"/>
                <a:sym typeface="Noto Sans SC"/>
              </a:rPr>
              <a:t>模块一：模拟来电功能深度实现</a:t>
            </a:r>
            <a:endParaRPr lang="en-US" sz="1100"/>
          </a:p>
        </p:txBody>
      </p:sp>
      <p:sp>
        <p:nvSpPr>
          <p:cNvPr id="6" name="AutoShape 6"/>
          <p:cNvSpPr/>
          <p:nvPr/>
        </p:nvSpPr>
        <p:spPr>
          <a:xfrm>
            <a:off x="5715000" y="3175000"/>
            <a:ext cx="762000" cy="50800"/>
          </a:xfrm>
          <a:prstGeom prst="roundRect">
            <a:avLst>
              <a:gd name="adj" fmla="val 0"/>
            </a:avLst>
          </a:prstGeom>
          <a:gradFill rotWithShape="1">
            <a:gsLst>
              <a:gs pos="0">
                <a:srgbClr val="00BFFF">
                  <a:alpha val="100000"/>
                </a:srgbClr>
              </a:gs>
              <a:gs pos="100000">
                <a:srgbClr val="E6E6FA">
                  <a:alpha val="100000"/>
                </a:srgbClr>
              </a:gs>
            </a:gsLst>
            <a:lin ang="0"/>
          </a:gradFill>
          <a:ln w="25400" cap="flat" cmpd="sng">
            <a:noFill/>
            <a:prstDash val="solid"/>
            <a:round/>
          </a:ln>
        </p:spPr>
        <p:txBody>
          <a:bodyPr vert="horz" wrap="square" lIns="63500" tIns="63500" rIns="63500" bIns="63500" rtlCol="0" anchor="ctr"/>
          <a:lstStyle/>
          <a:p>
            <a:pPr algn="ctr">
              <a:defRPr/>
            </a:pPr>
            <a:endParaRPr/>
          </a:p>
        </p:txBody>
      </p:sp>
      <p:sp>
        <p:nvSpPr>
          <p:cNvPr id="7" name="AutoShape 7"/>
          <p:cNvSpPr/>
          <p:nvPr/>
        </p:nvSpPr>
        <p:spPr>
          <a:xfrm>
            <a:off x="508000" y="3429000"/>
            <a:ext cx="11176000" cy="381000"/>
          </a:xfrm>
          <a:prstGeom prst="rect">
            <a:avLst/>
          </a:prstGeom>
          <a:noFill/>
          <a:ln w="12700" cap="flat" cmpd="sng">
            <a:noFill/>
            <a:prstDash val="solid"/>
            <a:round/>
          </a:ln>
        </p:spPr>
        <p:txBody>
          <a:bodyPr vert="horz" wrap="none" lIns="0" tIns="0" rIns="0" bIns="0" rtlCol="0" anchor="ctr" anchorCtr="0"/>
          <a:lstStyle/>
          <a:p>
            <a:pPr indent="0" algn="ctr">
              <a:lnSpc>
                <a:spcPct val="125000"/>
              </a:lnSpc>
              <a:defRPr/>
            </a:pPr>
            <a:r>
              <a:rPr lang="en-US" sz="2000" b="0" i="0" u="none" strike="noStrike">
                <a:solidFill>
                  <a:srgbClr val="E6E6FA"/>
                </a:solidFill>
                <a:latin typeface="Noto Sans SC"/>
                <a:ea typeface="Noto Sans SC"/>
                <a:cs typeface="Noto Sans SC"/>
                <a:sym typeface="Noto Sans SC"/>
              </a:rPr>
              <a:t>从功能实现到用户体验优化</a:t>
            </a:r>
            <a:endParaRPr lang="en-US" sz="1100"/>
          </a:p>
        </p:txBody>
      </p:sp>
      <p:sp>
        <p:nvSpPr>
          <p:cNvPr id="8" name="AutoShape 8"/>
          <p:cNvSpPr/>
          <p:nvPr/>
        </p:nvSpPr>
        <p:spPr>
          <a:xfrm>
            <a:off x="5334000" y="4445000"/>
            <a:ext cx="1524000" cy="406400"/>
          </a:xfrm>
          <a:prstGeom prst="roundRect">
            <a:avLst>
              <a:gd name="adj" fmla="val 50000"/>
            </a:avLst>
          </a:prstGeom>
          <a:solidFill>
            <a:srgbClr val="00BFFF">
              <a:alpha val="15000"/>
            </a:srgbClr>
          </a:solidFill>
          <a:ln w="12700" cap="flat" cmpd="sng">
            <a:solidFill>
              <a:srgbClr val="00BFFF">
                <a:alpha val="100000"/>
              </a:srgbClr>
            </a:solidFill>
            <a:prstDash val="solid"/>
            <a:round/>
          </a:ln>
        </p:spPr>
        <p:txBody>
          <a:bodyPr vert="horz" wrap="square" lIns="0" tIns="0" rIns="0" bIns="0" rtlCol="0" anchor="ctr" anchorCtr="0"/>
          <a:lstStyle/>
          <a:p>
            <a:pPr indent="0" algn="ctr">
              <a:lnSpc>
                <a:spcPct val="125000"/>
              </a:lnSpc>
              <a:defRPr/>
            </a:pPr>
            <a:r>
              <a:rPr lang="en-US" sz="1400" b="0" i="0" u="none" strike="noStrike">
                <a:solidFill>
                  <a:srgbClr val="FFFFFF"/>
                </a:solidFill>
                <a:latin typeface="Noto Sans SC"/>
                <a:ea typeface="Noto Sans SC"/>
                <a:cs typeface="Noto Sans SC"/>
                <a:sym typeface="Noto Sans SC"/>
              </a:rPr>
              <a:t>核心模块</a:t>
            </a:r>
            <a:endParaRPr lang="en-US" sz="11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00000">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0A1428">
              <a:alpha val="75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762000" y="508000"/>
            <a:ext cx="70358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00BFFF"/>
                </a:solidFill>
                <a:latin typeface="Noto Sans SC"/>
                <a:ea typeface="Noto Sans SC"/>
                <a:cs typeface="Noto Sans SC"/>
                <a:sym typeface="Noto Sans SC"/>
              </a:rPr>
              <a:t>需求分析与技术选型回顾</a:t>
            </a:r>
            <a:endParaRPr lang="en-US" sz="1100"/>
          </a:p>
        </p:txBody>
      </p:sp>
      <p:sp>
        <p:nvSpPr>
          <p:cNvPr id="5" name="AutoShape 5"/>
          <p:cNvSpPr/>
          <p:nvPr/>
        </p:nvSpPr>
        <p:spPr>
          <a:xfrm>
            <a:off x="762000" y="1397000"/>
            <a:ext cx="10668000" cy="1143000"/>
          </a:xfrm>
          <a:prstGeom prst="roundRect">
            <a:avLst>
              <a:gd name="adj" fmla="val 11111"/>
            </a:avLst>
          </a:prstGeom>
          <a:solidFill>
            <a:srgbClr val="FFB6C1">
              <a:alpha val="10000"/>
            </a:srgbClr>
          </a:solidFill>
          <a:ln w="12700" cap="flat" cmpd="sng">
            <a:solidFill>
              <a:srgbClr val="FFB6C1">
                <a:alpha val="40000"/>
              </a:srgbClr>
            </a:solidFill>
            <a:prstDash val="solid"/>
            <a:round/>
          </a:ln>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1714500"/>
            <a:ext cx="508000" cy="508000"/>
          </a:xfrm>
          <a:prstGeom prst="rect">
            <a:avLst/>
          </a:prstGeom>
        </p:spPr>
      </p:pic>
      <p:sp>
        <p:nvSpPr>
          <p:cNvPr id="7" name="AutoShape 7"/>
          <p:cNvSpPr/>
          <p:nvPr/>
        </p:nvSpPr>
        <p:spPr>
          <a:xfrm>
            <a:off x="1651000" y="1524000"/>
            <a:ext cx="9398000" cy="889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B6C1"/>
                </a:solidFill>
                <a:latin typeface="Noto Sans SC"/>
                <a:ea typeface="Noto Sans SC"/>
                <a:cs typeface="Noto Sans SC"/>
                <a:sym typeface="Noto Sans SC"/>
              </a:rPr>
              <a:t>核心需求：</a:t>
            </a:r>
            <a:r>
              <a:rPr lang="en-US" sz="1600" b="0" i="0" u="none" strike="noStrike">
                <a:solidFill>
                  <a:srgbClr val="FFFFFF"/>
                </a:solidFill>
                <a:latin typeface="Noto Sans SC"/>
                <a:ea typeface="Noto Sans SC"/>
                <a:cs typeface="Noto Sans SC"/>
                <a:sym typeface="Noto Sans SC"/>
              </a:rPr>
              <a:t>在用户感到不安或遇到危险时，提供一个自然、有效的脱困借口，帮助用户安全离开现场。</a:t>
            </a:r>
            <a:endParaRPr lang="en-US" sz="1100"/>
          </a:p>
        </p:txBody>
      </p:sp>
      <p:sp>
        <p:nvSpPr>
          <p:cNvPr id="8" name="AutoShape 8"/>
          <p:cNvSpPr/>
          <p:nvPr/>
        </p:nvSpPr>
        <p:spPr>
          <a:xfrm>
            <a:off x="762000" y="2794000"/>
            <a:ext cx="5207000" cy="1905000"/>
          </a:xfrm>
          <a:prstGeom prst="roundRect">
            <a:avLst>
              <a:gd name="adj" fmla="val 6666"/>
            </a:avLst>
          </a:prstGeom>
          <a:solidFill>
            <a:srgbClr val="00BFFF">
              <a:alpha val="10000"/>
            </a:srgbClr>
          </a:solidFill>
          <a:ln w="12700" cap="flat" cmpd="sng">
            <a:solidFill>
              <a:srgbClr val="00BFFF">
                <a:alpha val="40000"/>
              </a:srgbClr>
            </a:solidFill>
            <a:prstDash val="solid"/>
            <a:round/>
          </a:ln>
        </p:spPr>
        <p:txBody>
          <a:bodyPr vert="horz" wrap="square" lIns="63500" tIns="63500" rIns="63500" bIns="63500" rtlCol="0" anchor="ctr"/>
          <a:lstStyle/>
          <a:p>
            <a:pPr algn="ctr">
              <a:defRPr/>
            </a:pPr>
            <a:endParaRPr/>
          </a:p>
        </p:txBody>
      </p:sp>
      <p:pic>
        <p:nvPicPr>
          <p:cNvPr id="9" name="Picture 9"/>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016000" y="2984500"/>
            <a:ext cx="406400" cy="406400"/>
          </a:xfrm>
          <a:prstGeom prst="rect">
            <a:avLst/>
          </a:prstGeom>
        </p:spPr>
      </p:pic>
      <p:sp>
        <p:nvSpPr>
          <p:cNvPr id="10" name="AutoShape 10"/>
          <p:cNvSpPr/>
          <p:nvPr/>
        </p:nvSpPr>
        <p:spPr>
          <a:xfrm>
            <a:off x="1524000" y="2946400"/>
            <a:ext cx="4191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BFFF"/>
                </a:solidFill>
                <a:latin typeface="Noto Sans SC"/>
                <a:ea typeface="Noto Sans SC"/>
                <a:cs typeface="Noto Sans SC"/>
                <a:sym typeface="Noto Sans SC"/>
              </a:rPr>
              <a:t>Twilio API 优势</a:t>
            </a:r>
            <a:endParaRPr lang="en-US" sz="1100"/>
          </a:p>
        </p:txBody>
      </p:sp>
      <p:sp>
        <p:nvSpPr>
          <p:cNvPr id="11" name="AutoShape 11"/>
          <p:cNvSpPr/>
          <p:nvPr/>
        </p:nvSpPr>
        <p:spPr>
          <a:xfrm>
            <a:off x="1016000" y="3429000"/>
            <a:ext cx="4699000" cy="1143000"/>
          </a:xfrm>
          <a:prstGeom prst="rect">
            <a:avLst/>
          </a:prstGeom>
          <a:noFill/>
          <a:ln w="12700" cap="flat" cmpd="sng">
            <a:noFill/>
            <a:prstDash val="solid"/>
            <a:round/>
          </a:ln>
        </p:spPr>
        <p:txBody>
          <a:bodyPr vert="horz" wrap="square" lIns="0" tIns="0" rIns="0" bIns="0" rtlCol="0" anchor="ctr" anchorCtr="0"/>
          <a:lstStyle/>
          <a:p>
            <a:pPr marL="177800" indent="-177800" algn="l">
              <a:lnSpc>
                <a:spcPct val="125000"/>
              </a:lnSpc>
              <a:buClr>
                <a:srgbClr val="E6E6E6"/>
              </a:buClr>
              <a:buChar char="•"/>
              <a:defRPr/>
            </a:pPr>
            <a:r>
              <a:rPr lang="en-US" sz="1400" b="0" i="0" u="none" strike="noStrike">
                <a:solidFill>
                  <a:srgbClr val="E6E6E6"/>
                </a:solidFill>
                <a:latin typeface="Noto Sans SC"/>
                <a:ea typeface="Noto Sans SC"/>
                <a:cs typeface="Noto Sans SC"/>
                <a:sym typeface="Noto Sans SC"/>
              </a:rPr>
              <a:t>实现真实来电，具备高可信度</a:t>
            </a:r>
            <a:endParaRPr lang="en-US" sz="1100"/>
          </a:p>
          <a:p>
            <a:pPr marL="177800" indent="-177800" algn="l">
              <a:lnSpc>
                <a:spcPct val="125000"/>
              </a:lnSpc>
              <a:buClr>
                <a:srgbClr val="E6E6E6"/>
              </a:buClr>
              <a:buChar char="•"/>
            </a:pPr>
            <a:r>
              <a:rPr lang="en-US" sz="1400" b="0" i="0" u="none" strike="noStrike">
                <a:solidFill>
                  <a:srgbClr val="E6E6E6"/>
                </a:solidFill>
                <a:latin typeface="Noto Sans SC"/>
                <a:ea typeface="Noto Sans SC"/>
                <a:cs typeface="Noto Sans SC"/>
                <a:sym typeface="Noto Sans SC"/>
              </a:rPr>
              <a:t>支持自定义来电显示号码和名称，增强真实感</a:t>
            </a:r>
          </a:p>
          <a:p>
            <a:pPr marL="177800" indent="-177800" algn="l">
              <a:lnSpc>
                <a:spcPct val="125000"/>
              </a:lnSpc>
              <a:buClr>
                <a:srgbClr val="E6E6E6"/>
              </a:buClr>
              <a:buChar char="•"/>
            </a:pPr>
            <a:r>
              <a:rPr lang="en-US" sz="1400" b="0" i="0" u="none" strike="noStrike">
                <a:solidFill>
                  <a:srgbClr val="E6E6E6"/>
                </a:solidFill>
                <a:latin typeface="Noto Sans SC"/>
                <a:ea typeface="Noto Sans SC"/>
                <a:cs typeface="Noto Sans SC"/>
                <a:sym typeface="Noto Sans SC"/>
              </a:rPr>
              <a:t>可播放自定义语音，模拟真实通话场景</a:t>
            </a:r>
          </a:p>
        </p:txBody>
      </p:sp>
      <p:sp>
        <p:nvSpPr>
          <p:cNvPr id="12" name="AutoShape 12"/>
          <p:cNvSpPr/>
          <p:nvPr/>
        </p:nvSpPr>
        <p:spPr>
          <a:xfrm>
            <a:off x="6223000" y="2794000"/>
            <a:ext cx="5207000" cy="1905000"/>
          </a:xfrm>
          <a:prstGeom prst="roundRect">
            <a:avLst>
              <a:gd name="adj" fmla="val 6666"/>
            </a:avLst>
          </a:prstGeom>
          <a:solidFill>
            <a:srgbClr val="E6E6FA">
              <a:alpha val="10000"/>
            </a:srgbClr>
          </a:solidFill>
          <a:ln w="12700" cap="flat" cmpd="sng">
            <a:solidFill>
              <a:srgbClr val="E6E6FA">
                <a:alpha val="40000"/>
              </a:srgbClr>
            </a:solidFill>
            <a:prstDash val="solid"/>
            <a:round/>
          </a:ln>
        </p:spPr>
        <p:txBody>
          <a:bodyPr vert="horz" wrap="square" lIns="63500" tIns="63500" rIns="63500" bIns="63500" rtlCol="0" anchor="ctr"/>
          <a:lstStyle/>
          <a:p>
            <a:pPr algn="ctr">
              <a:defRPr/>
            </a:pPr>
            <a:endParaRPr/>
          </a:p>
        </p:txBody>
      </p:sp>
      <p:pic>
        <p:nvPicPr>
          <p:cNvPr id="13" name="Picture 13"/>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6477000" y="2984500"/>
            <a:ext cx="406400" cy="406400"/>
          </a:xfrm>
          <a:prstGeom prst="rect">
            <a:avLst/>
          </a:prstGeom>
        </p:spPr>
      </p:pic>
      <p:sp>
        <p:nvSpPr>
          <p:cNvPr id="14" name="AutoShape 14"/>
          <p:cNvSpPr/>
          <p:nvPr/>
        </p:nvSpPr>
        <p:spPr>
          <a:xfrm>
            <a:off x="6985000" y="2946400"/>
            <a:ext cx="4191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E6E6FA"/>
                </a:solidFill>
                <a:latin typeface="Noto Sans SC"/>
                <a:ea typeface="Noto Sans SC"/>
                <a:cs typeface="Noto Sans SC"/>
                <a:sym typeface="Noto Sans SC"/>
              </a:rPr>
              <a:t>面临挑战</a:t>
            </a:r>
            <a:endParaRPr lang="en-US" sz="1100"/>
          </a:p>
        </p:txBody>
      </p:sp>
      <p:sp>
        <p:nvSpPr>
          <p:cNvPr id="15" name="AutoShape 15"/>
          <p:cNvSpPr/>
          <p:nvPr/>
        </p:nvSpPr>
        <p:spPr>
          <a:xfrm>
            <a:off x="6477000" y="3429000"/>
            <a:ext cx="4699000" cy="1143000"/>
          </a:xfrm>
          <a:prstGeom prst="rect">
            <a:avLst/>
          </a:prstGeom>
          <a:noFill/>
          <a:ln w="12700" cap="flat" cmpd="sng">
            <a:noFill/>
            <a:prstDash val="solid"/>
            <a:round/>
          </a:ln>
        </p:spPr>
        <p:txBody>
          <a:bodyPr vert="horz" wrap="square" lIns="0" tIns="0" rIns="0" bIns="0" rtlCol="0" anchor="ctr" anchorCtr="0"/>
          <a:lstStyle/>
          <a:p>
            <a:pPr marL="177800" indent="-177800" algn="l">
              <a:lnSpc>
                <a:spcPct val="125000"/>
              </a:lnSpc>
              <a:buClr>
                <a:srgbClr val="E6E6E6"/>
              </a:buClr>
              <a:buChar char="•"/>
              <a:defRPr/>
            </a:pPr>
            <a:r>
              <a:rPr lang="en-US" sz="1400" b="0" i="0" u="none" strike="noStrike">
                <a:solidFill>
                  <a:srgbClr val="E6E6E6"/>
                </a:solidFill>
                <a:latin typeface="Noto Sans SC"/>
                <a:ea typeface="Noto Sans SC"/>
                <a:cs typeface="Noto Sans SC"/>
                <a:sym typeface="Noto Sans SC"/>
              </a:rPr>
              <a:t>需处理网络异常、API调用失败等稳定性问题</a:t>
            </a:r>
            <a:endParaRPr lang="en-US" sz="1100"/>
          </a:p>
          <a:p>
            <a:pPr marL="177800" indent="-177800" algn="l">
              <a:lnSpc>
                <a:spcPct val="125000"/>
              </a:lnSpc>
              <a:buClr>
                <a:srgbClr val="E6E6E6"/>
              </a:buClr>
              <a:buChar char="•"/>
            </a:pPr>
            <a:r>
              <a:rPr lang="en-US" sz="1400" b="0" i="0" u="none" strike="noStrike">
                <a:solidFill>
                  <a:srgbClr val="E6E6E6"/>
                </a:solidFill>
                <a:latin typeface="Noto Sans SC"/>
                <a:ea typeface="Noto Sans SC"/>
                <a:cs typeface="Noto Sans SC"/>
                <a:sym typeface="Noto Sans SC"/>
              </a:rPr>
              <a:t>需重点考虑用户隐私和数据安全合规性</a:t>
            </a:r>
          </a:p>
          <a:p>
            <a:pPr marL="177800" indent="-177800" algn="l">
              <a:lnSpc>
                <a:spcPct val="125000"/>
              </a:lnSpc>
              <a:buClr>
                <a:srgbClr val="E6E6E6"/>
              </a:buClr>
              <a:buChar char="•"/>
            </a:pPr>
            <a:r>
              <a:rPr lang="en-US" sz="1400" b="0" i="0" u="none" strike="noStrike">
                <a:solidFill>
                  <a:srgbClr val="E6E6E6"/>
                </a:solidFill>
                <a:latin typeface="Noto Sans SC"/>
                <a:ea typeface="Noto Sans SC"/>
                <a:cs typeface="Noto Sans SC"/>
                <a:sym typeface="Noto Sans SC"/>
              </a:rPr>
              <a:t>需确保异常情况下的友好降级体验</a:t>
            </a:r>
          </a:p>
        </p:txBody>
      </p:sp>
      <p:sp>
        <p:nvSpPr>
          <p:cNvPr id="16" name="AutoShape 16"/>
          <p:cNvSpPr/>
          <p:nvPr/>
        </p:nvSpPr>
        <p:spPr>
          <a:xfrm>
            <a:off x="762000" y="4953000"/>
            <a:ext cx="10668000" cy="1016000"/>
          </a:xfrm>
          <a:prstGeom prst="roundRect">
            <a:avLst>
              <a:gd name="adj" fmla="val 12500"/>
            </a:avLst>
          </a:prstGeom>
          <a:solidFill>
            <a:srgbClr val="FFFFFF">
              <a:alpha val="10000"/>
            </a:srgbClr>
          </a:solidFill>
          <a:ln w="12700" cap="flat" cmpd="sng">
            <a:solidFill>
              <a:srgbClr val="FFFFFF">
                <a:alpha val="30000"/>
              </a:srgbClr>
            </a:solidFill>
            <a:prstDash val="solid"/>
            <a:round/>
          </a:ln>
        </p:spPr>
        <p:txBody>
          <a:bodyPr vert="horz" wrap="square" lIns="63500" tIns="63500" rIns="63500" bIns="63500" rtlCol="0" anchor="ctr"/>
          <a:lstStyle/>
          <a:p>
            <a:pPr algn="ctr">
              <a:defRPr/>
            </a:pPr>
            <a:endParaRPr/>
          </a:p>
        </p:txBody>
      </p:sp>
      <p:pic>
        <p:nvPicPr>
          <p:cNvPr id="17" name="Picture 17"/>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016000" y="5232400"/>
            <a:ext cx="457200" cy="457200"/>
          </a:xfrm>
          <a:prstGeom prst="rect">
            <a:avLst/>
          </a:prstGeom>
        </p:spPr>
      </p:pic>
      <p:sp>
        <p:nvSpPr>
          <p:cNvPr id="18" name="AutoShape 18"/>
          <p:cNvSpPr/>
          <p:nvPr/>
        </p:nvSpPr>
        <p:spPr>
          <a:xfrm>
            <a:off x="1651000" y="5080000"/>
            <a:ext cx="9398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Noto Sans SC"/>
                <a:ea typeface="Noto Sans SC"/>
                <a:cs typeface="Noto Sans SC"/>
                <a:sym typeface="Noto Sans SC"/>
              </a:rPr>
              <a:t>行动指令：</a:t>
            </a:r>
            <a:r>
              <a:rPr lang="en-US" sz="1600" b="0" i="0" u="none" strike="noStrike">
                <a:solidFill>
                  <a:srgbClr val="E6E6E6"/>
                </a:solidFill>
                <a:latin typeface="Noto Sans SC"/>
                <a:ea typeface="Noto Sans SC"/>
                <a:cs typeface="Noto Sans SC"/>
                <a:sym typeface="Noto Sans SC"/>
              </a:rPr>
              <a:t>请大家确认一下自己团队选择的技术方案是否符合项目需求，并思考可能遇到的挑战。</a:t>
            </a:r>
            <a:endParaRPr lang="en-US" sz="11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A192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0A192F">
              <a:alpha val="85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762000" y="508000"/>
            <a:ext cx="106680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00BFFF"/>
                </a:solidFill>
                <a:latin typeface="Noto Sans SC"/>
                <a:ea typeface="Noto Sans SC"/>
                <a:cs typeface="Noto Sans SC"/>
                <a:sym typeface="Noto Sans SC"/>
              </a:rPr>
              <a:t>Twilio API 集成详解（一）：环境准备与配置</a:t>
            </a:r>
            <a:endParaRPr lang="en-US" sz="1100"/>
          </a:p>
        </p:txBody>
      </p:sp>
      <p:sp>
        <p:nvSpPr>
          <p:cNvPr id="5" name="AutoShape 5"/>
          <p:cNvSpPr/>
          <p:nvPr/>
        </p:nvSpPr>
        <p:spPr>
          <a:xfrm>
            <a:off x="762000" y="1397000"/>
            <a:ext cx="5143500" cy="1524000"/>
          </a:xfrm>
          <a:prstGeom prst="roundRect">
            <a:avLst>
              <a:gd name="adj" fmla="val 8333"/>
            </a:avLst>
          </a:prstGeom>
          <a:solidFill>
            <a:srgbClr val="FFFFFF">
              <a:alpha val="8000"/>
            </a:srgbClr>
          </a:solidFill>
          <a:ln w="12700" cap="flat" cmpd="sng">
            <a:solidFill>
              <a:srgbClr val="00BFFF">
                <a:alpha val="30000"/>
              </a:srgbClr>
            </a:solidFill>
            <a:prstDash val="solid"/>
            <a:round/>
          </a:ln>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1587500"/>
            <a:ext cx="406400" cy="406400"/>
          </a:xfrm>
          <a:prstGeom prst="rect">
            <a:avLst/>
          </a:prstGeom>
        </p:spPr>
      </p:pic>
      <p:sp>
        <p:nvSpPr>
          <p:cNvPr id="7" name="AutoShape 7"/>
          <p:cNvSpPr/>
          <p:nvPr/>
        </p:nvSpPr>
        <p:spPr>
          <a:xfrm>
            <a:off x="1524000" y="1549400"/>
            <a:ext cx="4191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BFFF"/>
                </a:solidFill>
                <a:latin typeface="Noto Sans SC"/>
                <a:ea typeface="Noto Sans SC"/>
                <a:cs typeface="Noto Sans SC"/>
                <a:sym typeface="Noto Sans SC"/>
              </a:rPr>
              <a:t>1. 注册 Twilio 账号</a:t>
            </a:r>
            <a:endParaRPr lang="en-US" sz="1100"/>
          </a:p>
        </p:txBody>
      </p:sp>
      <p:sp>
        <p:nvSpPr>
          <p:cNvPr id="8" name="AutoShape 8"/>
          <p:cNvSpPr/>
          <p:nvPr/>
        </p:nvSpPr>
        <p:spPr>
          <a:xfrm>
            <a:off x="1524000" y="1968500"/>
            <a:ext cx="4191000" cy="762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400" b="0" i="0" u="none" strike="noStrike">
                <a:solidFill>
                  <a:srgbClr val="FFFFFF"/>
                </a:solidFill>
                <a:latin typeface="Noto Sans SC"/>
                <a:ea typeface="Noto Sans SC"/>
                <a:cs typeface="Noto Sans SC"/>
                <a:sym typeface="Noto Sans SC"/>
              </a:rPr>
              <a:t>访问官网注册免费账号，获取 Account SID 和 Auth Token，这是调用 API 的核心凭证。</a:t>
            </a:r>
            <a:endParaRPr lang="en-US" sz="1100"/>
          </a:p>
        </p:txBody>
      </p:sp>
      <p:sp>
        <p:nvSpPr>
          <p:cNvPr id="9" name="AutoShape 9"/>
          <p:cNvSpPr/>
          <p:nvPr/>
        </p:nvSpPr>
        <p:spPr>
          <a:xfrm>
            <a:off x="6286500" y="1397000"/>
            <a:ext cx="5143500" cy="1524000"/>
          </a:xfrm>
          <a:prstGeom prst="roundRect">
            <a:avLst>
              <a:gd name="adj" fmla="val 8333"/>
            </a:avLst>
          </a:prstGeom>
          <a:solidFill>
            <a:srgbClr val="FFFFFF">
              <a:alpha val="8000"/>
            </a:srgbClr>
          </a:solidFill>
          <a:ln w="12700" cap="flat" cmpd="sng">
            <a:solidFill>
              <a:srgbClr val="FFB6C1">
                <a:alpha val="30000"/>
              </a:srgbClr>
            </a:solidFill>
            <a:prstDash val="solid"/>
            <a:round/>
          </a:ln>
        </p:spPr>
        <p:txBody>
          <a:bodyPr vert="horz" wrap="square" lIns="63500" tIns="63500" rIns="63500" bIns="63500" rtlCol="0" anchor="ctr"/>
          <a:lstStyle/>
          <a:p>
            <a:pPr algn="ctr">
              <a:defRPr/>
            </a:pPr>
            <a:endParaRPr/>
          </a:p>
        </p:txBody>
      </p:sp>
      <p:pic>
        <p:nvPicPr>
          <p:cNvPr id="10" name="Picture 10"/>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540500" y="1587500"/>
            <a:ext cx="406400" cy="406400"/>
          </a:xfrm>
          <a:prstGeom prst="rect">
            <a:avLst/>
          </a:prstGeom>
        </p:spPr>
      </p:pic>
      <p:sp>
        <p:nvSpPr>
          <p:cNvPr id="11" name="AutoShape 11"/>
          <p:cNvSpPr/>
          <p:nvPr/>
        </p:nvSpPr>
        <p:spPr>
          <a:xfrm>
            <a:off x="7048500" y="1549400"/>
            <a:ext cx="4191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B6C1"/>
                </a:solidFill>
                <a:latin typeface="Noto Sans SC"/>
                <a:ea typeface="Noto Sans SC"/>
                <a:cs typeface="Noto Sans SC"/>
                <a:sym typeface="Noto Sans SC"/>
              </a:rPr>
              <a:t>2. 创建 Twilio 电话号码</a:t>
            </a:r>
            <a:endParaRPr lang="en-US" sz="1100"/>
          </a:p>
        </p:txBody>
      </p:sp>
      <p:sp>
        <p:nvSpPr>
          <p:cNvPr id="12" name="AutoShape 12"/>
          <p:cNvSpPr/>
          <p:nvPr/>
        </p:nvSpPr>
        <p:spPr>
          <a:xfrm>
            <a:off x="7048500" y="1968500"/>
            <a:ext cx="4191000" cy="762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400" b="0" i="0" u="none" strike="noStrike">
                <a:solidFill>
                  <a:srgbClr val="FFFFFF"/>
                </a:solidFill>
                <a:latin typeface="Noto Sans SC"/>
                <a:ea typeface="Noto Sans SC"/>
                <a:cs typeface="Noto Sans SC"/>
                <a:sym typeface="Noto Sans SC"/>
              </a:rPr>
              <a:t>在控制台“Phone Numbers”页面购买号码，该号码将作为来电显示号码使用。</a:t>
            </a:r>
            <a:endParaRPr lang="en-US" sz="1100"/>
          </a:p>
        </p:txBody>
      </p:sp>
      <p:sp>
        <p:nvSpPr>
          <p:cNvPr id="13" name="AutoShape 13"/>
          <p:cNvSpPr/>
          <p:nvPr/>
        </p:nvSpPr>
        <p:spPr>
          <a:xfrm>
            <a:off x="762000" y="3111500"/>
            <a:ext cx="5143500" cy="1524000"/>
          </a:xfrm>
          <a:prstGeom prst="roundRect">
            <a:avLst>
              <a:gd name="adj" fmla="val 8333"/>
            </a:avLst>
          </a:prstGeom>
          <a:solidFill>
            <a:srgbClr val="FFFFFF">
              <a:alpha val="8000"/>
            </a:srgbClr>
          </a:solidFill>
          <a:ln w="12700" cap="flat" cmpd="sng">
            <a:solidFill>
              <a:srgbClr val="E6E6FA">
                <a:alpha val="30000"/>
              </a:srgbClr>
            </a:solidFill>
            <a:prstDash val="solid"/>
            <a:round/>
          </a:ln>
        </p:spPr>
        <p:txBody>
          <a:bodyPr vert="horz" wrap="square" lIns="63500" tIns="63500" rIns="63500" bIns="63500" rtlCol="0" anchor="ctr"/>
          <a:lstStyle/>
          <a:p>
            <a:pPr algn="ctr">
              <a:defRPr/>
            </a:pPr>
            <a:endParaRPr/>
          </a:p>
        </p:txBody>
      </p:sp>
      <p:pic>
        <p:nvPicPr>
          <p:cNvPr id="14" name="Picture 14"/>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016000" y="3302000"/>
            <a:ext cx="406400" cy="406400"/>
          </a:xfrm>
          <a:prstGeom prst="rect">
            <a:avLst/>
          </a:prstGeom>
        </p:spPr>
      </p:pic>
      <p:sp>
        <p:nvSpPr>
          <p:cNvPr id="15" name="AutoShape 15"/>
          <p:cNvSpPr/>
          <p:nvPr/>
        </p:nvSpPr>
        <p:spPr>
          <a:xfrm>
            <a:off x="1524000" y="3263900"/>
            <a:ext cx="4191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E6E6FA"/>
                </a:solidFill>
                <a:latin typeface="Noto Sans SC"/>
                <a:ea typeface="Noto Sans SC"/>
                <a:cs typeface="Noto Sans SC"/>
                <a:sym typeface="Noto Sans SC"/>
              </a:rPr>
              <a:t>3. 配置 TwiML 标记语言</a:t>
            </a:r>
            <a:endParaRPr lang="en-US" sz="1100"/>
          </a:p>
        </p:txBody>
      </p:sp>
      <p:sp>
        <p:nvSpPr>
          <p:cNvPr id="16" name="AutoShape 16"/>
          <p:cNvSpPr/>
          <p:nvPr/>
        </p:nvSpPr>
        <p:spPr>
          <a:xfrm>
            <a:off x="1524000" y="3683000"/>
            <a:ext cx="4191000" cy="762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400" b="0" i="0" u="none" strike="noStrike">
                <a:solidFill>
                  <a:srgbClr val="FFFFFF"/>
                </a:solidFill>
                <a:latin typeface="Noto Sans SC"/>
                <a:ea typeface="Noto Sans SC"/>
                <a:cs typeface="Noto Sans SC"/>
                <a:sym typeface="Noto Sans SC"/>
              </a:rPr>
              <a:t>创建 XML 文件定义通话行为，例如使用 &lt;Say&gt; 标签设置接通时播放的语音内容。</a:t>
            </a:r>
            <a:endParaRPr lang="en-US" sz="1100"/>
          </a:p>
        </p:txBody>
      </p:sp>
      <p:sp>
        <p:nvSpPr>
          <p:cNvPr id="17" name="AutoShape 17"/>
          <p:cNvSpPr/>
          <p:nvPr/>
        </p:nvSpPr>
        <p:spPr>
          <a:xfrm>
            <a:off x="6286500" y="3111500"/>
            <a:ext cx="5143500" cy="1524000"/>
          </a:xfrm>
          <a:prstGeom prst="roundRect">
            <a:avLst>
              <a:gd name="adj" fmla="val 8333"/>
            </a:avLst>
          </a:prstGeom>
          <a:solidFill>
            <a:srgbClr val="FFFFFF">
              <a:alpha val="8000"/>
            </a:srgbClr>
          </a:solidFill>
          <a:ln w="12700" cap="flat" cmpd="sng">
            <a:solidFill>
              <a:srgbClr val="00BFFF">
                <a:alpha val="30000"/>
              </a:srgbClr>
            </a:solidFill>
            <a:prstDash val="solid"/>
            <a:round/>
          </a:ln>
        </p:spPr>
        <p:txBody>
          <a:bodyPr vert="horz" wrap="square" lIns="63500" tIns="63500" rIns="63500" bIns="63500" rtlCol="0" anchor="ctr"/>
          <a:lstStyle/>
          <a:p>
            <a:pPr algn="ctr">
              <a:defRPr/>
            </a:pPr>
            <a:endParaRPr/>
          </a:p>
        </p:txBody>
      </p:sp>
      <p:pic>
        <p:nvPicPr>
          <p:cNvPr id="18" name="Picture 18"/>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6540500" y="3302000"/>
            <a:ext cx="406400" cy="406400"/>
          </a:xfrm>
          <a:prstGeom prst="rect">
            <a:avLst/>
          </a:prstGeom>
        </p:spPr>
      </p:pic>
      <p:sp>
        <p:nvSpPr>
          <p:cNvPr id="19" name="AutoShape 19"/>
          <p:cNvSpPr/>
          <p:nvPr/>
        </p:nvSpPr>
        <p:spPr>
          <a:xfrm>
            <a:off x="7048500" y="3263900"/>
            <a:ext cx="4191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BFFF"/>
                </a:solidFill>
                <a:latin typeface="Noto Sans SC"/>
                <a:ea typeface="Noto Sans SC"/>
                <a:cs typeface="Noto Sans SC"/>
                <a:sym typeface="Noto Sans SC"/>
              </a:rPr>
              <a:t>4. 设置 Webhook 回调</a:t>
            </a:r>
            <a:endParaRPr lang="en-US" sz="1100"/>
          </a:p>
        </p:txBody>
      </p:sp>
      <p:sp>
        <p:nvSpPr>
          <p:cNvPr id="20" name="AutoShape 20"/>
          <p:cNvSpPr/>
          <p:nvPr/>
        </p:nvSpPr>
        <p:spPr>
          <a:xfrm>
            <a:off x="7048500" y="3683000"/>
            <a:ext cx="4191000" cy="762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400" b="0" i="0" u="none" strike="noStrike">
                <a:solidFill>
                  <a:srgbClr val="FFFFFF"/>
                </a:solidFill>
                <a:latin typeface="Noto Sans SC"/>
                <a:ea typeface="Noto Sans SC"/>
                <a:cs typeface="Noto Sans SC"/>
                <a:sym typeface="Noto Sans SC"/>
              </a:rPr>
              <a:t>将 TwiML 文件部署至公网服务器，获取 URL 并配置到号码的“A Call Comes In”事件中。</a:t>
            </a:r>
            <a:endParaRPr lang="en-US" sz="1100"/>
          </a:p>
        </p:txBody>
      </p:sp>
      <p:sp>
        <p:nvSpPr>
          <p:cNvPr id="21" name="AutoShape 21"/>
          <p:cNvSpPr/>
          <p:nvPr/>
        </p:nvSpPr>
        <p:spPr>
          <a:xfrm>
            <a:off x="762000" y="4953000"/>
            <a:ext cx="10668000" cy="762000"/>
          </a:xfrm>
          <a:prstGeom prst="roundRect">
            <a:avLst>
              <a:gd name="adj" fmla="val 16666"/>
            </a:avLst>
          </a:prstGeom>
          <a:solidFill>
            <a:srgbClr val="00BFFF">
              <a:alpha val="15000"/>
            </a:srgbClr>
          </a:solidFill>
          <a:ln w="12700" cap="flat" cmpd="sng">
            <a:solidFill>
              <a:srgbClr val="00BFFF">
                <a:alpha val="100000"/>
              </a:srgbClr>
            </a:solidFill>
            <a:prstDash val="dash"/>
            <a:round/>
          </a:ln>
        </p:spPr>
        <p:txBody>
          <a:bodyPr vert="horz" wrap="square" lIns="63500" tIns="63500" rIns="63500" bIns="63500" rtlCol="0" anchor="ctr"/>
          <a:lstStyle/>
          <a:p>
            <a:pPr algn="ctr">
              <a:defRPr/>
            </a:pPr>
            <a:endParaRPr/>
          </a:p>
        </p:txBody>
      </p:sp>
      <p:pic>
        <p:nvPicPr>
          <p:cNvPr id="22" name="Picture 22"/>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1016000" y="5181600"/>
            <a:ext cx="304800" cy="304800"/>
          </a:xfrm>
          <a:prstGeom prst="rect">
            <a:avLst/>
          </a:prstGeom>
        </p:spPr>
      </p:pic>
      <p:sp>
        <p:nvSpPr>
          <p:cNvPr id="23" name="AutoShape 23"/>
          <p:cNvSpPr/>
          <p:nvPr/>
        </p:nvSpPr>
        <p:spPr>
          <a:xfrm>
            <a:off x="1460500" y="5080000"/>
            <a:ext cx="9652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Noto Sans SC"/>
                <a:ea typeface="Noto Sans SC"/>
                <a:cs typeface="Noto Sans SC"/>
                <a:sym typeface="Noto Sans SC"/>
              </a:rPr>
              <a:t>行动指令：</a:t>
            </a:r>
            <a:r>
              <a:rPr lang="en-US" sz="1600" b="0" i="0" u="none" strike="noStrike">
                <a:solidFill>
                  <a:srgbClr val="E6E6FA"/>
                </a:solidFill>
                <a:latin typeface="Noto Sans SC"/>
                <a:ea typeface="Noto Sans SC"/>
                <a:cs typeface="Noto Sans SC"/>
                <a:sym typeface="Noto Sans SC"/>
              </a:rPr>
              <a:t>请大家按照上述步骤完成 Twilio 账号注册、电话号码购买及 TwiML 文件配置，为后续开发做好准备。</a:t>
            </a:r>
            <a:endParaRPr lang="en-US" sz="11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A192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0A192F">
              <a:alpha val="85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762000" y="508000"/>
            <a:ext cx="106680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00BFFF"/>
                </a:solidFill>
                <a:latin typeface="Noto Sans SC"/>
                <a:ea typeface="Noto Sans SC"/>
                <a:cs typeface="Noto Sans SC"/>
                <a:sym typeface="Noto Sans SC"/>
              </a:rPr>
              <a:t>Twilio API 集成详解（二）：代码实现（Android）</a:t>
            </a:r>
            <a:endParaRPr lang="en-US" sz="1100"/>
          </a:p>
        </p:txBody>
      </p:sp>
      <p:sp>
        <p:nvSpPr>
          <p:cNvPr id="5" name="AutoShape 5"/>
          <p:cNvSpPr/>
          <p:nvPr/>
        </p:nvSpPr>
        <p:spPr>
          <a:xfrm>
            <a:off x="762000" y="1397000"/>
            <a:ext cx="5334000" cy="3048000"/>
          </a:xfrm>
          <a:prstGeom prst="roundRect">
            <a:avLst>
              <a:gd name="adj" fmla="val 4166"/>
            </a:avLst>
          </a:prstGeom>
          <a:solidFill>
            <a:srgbClr val="000000">
              <a:alpha val="60000"/>
            </a:srgbClr>
          </a:solidFill>
          <a:ln w="12700" cap="flat" cmpd="sng">
            <a:solidFill>
              <a:srgbClr val="00BFFF">
                <a:alpha val="100000"/>
              </a:srgbClr>
            </a:solid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889000" y="1524000"/>
            <a:ext cx="5080000" cy="2794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200" b="0" i="0" u="none" strike="noStrike">
                <a:solidFill>
                  <a:srgbClr val="FFB6C1"/>
                </a:solidFill>
                <a:latin typeface="Consolas"/>
                <a:ea typeface="Consolas"/>
                <a:cs typeface="Consolas"/>
                <a:sym typeface="Consolas"/>
              </a:rPr>
              <a:t>OkHttpClient</a:t>
            </a:r>
            <a:r>
              <a:rPr lang="en-US" sz="1200" b="0" i="0" u="none" strike="noStrike">
                <a:solidFill>
                  <a:srgbClr val="E6E6FA"/>
                </a:solidFill>
                <a:latin typeface="Consolas"/>
                <a:ea typeface="Consolas"/>
                <a:cs typeface="Consolas"/>
                <a:sym typeface="Consolas"/>
              </a:rPr>
              <a:t>client =</a:t>
            </a:r>
            <a:r>
              <a:rPr lang="en-US" sz="1200" b="0" i="0" u="none" strike="noStrike">
                <a:solidFill>
                  <a:srgbClr val="FFB6C1"/>
                </a:solidFill>
                <a:latin typeface="Consolas"/>
                <a:ea typeface="Consolas"/>
                <a:cs typeface="Consolas"/>
                <a:sym typeface="Consolas"/>
              </a:rPr>
              <a:t>newOkHttpClient</a:t>
            </a:r>
            <a:r>
              <a:rPr lang="en-US" sz="1200" b="0" i="0" u="none" strike="noStrike">
                <a:solidFill>
                  <a:srgbClr val="E6E6FA"/>
                </a:solidFill>
                <a:latin typeface="Consolas"/>
                <a:ea typeface="Consolas"/>
                <a:cs typeface="Consolas"/>
                <a:sym typeface="Consolas"/>
              </a:rPr>
              <a:t>();</a:t>
            </a:r>
            <a:endParaRPr lang="en-US" sz="1100"/>
          </a:p>
          <a:p>
            <a:pPr indent="0" algn="l">
              <a:lnSpc>
                <a:spcPct val="100000"/>
              </a:lnSpc>
            </a:pPr>
            <a:r>
              <a:rPr lang="en-US" sz="1200" b="0" i="0" u="none" strike="noStrike">
                <a:solidFill>
                  <a:srgbClr val="FFB6C1"/>
                </a:solidFill>
                <a:latin typeface="Consolas"/>
                <a:ea typeface="Consolas"/>
                <a:cs typeface="Consolas"/>
                <a:sym typeface="Consolas"/>
              </a:rPr>
              <a:t>MediaType</a:t>
            </a:r>
            <a:r>
              <a:rPr lang="en-US" sz="1200" b="0" i="0" u="none" strike="noStrike">
                <a:solidFill>
                  <a:srgbClr val="E6E6FA"/>
                </a:solidFill>
                <a:latin typeface="Consolas"/>
                <a:ea typeface="Consolas"/>
                <a:cs typeface="Consolas"/>
                <a:sym typeface="Consolas"/>
              </a:rPr>
              <a:t>mediaType =</a:t>
            </a:r>
            <a:r>
              <a:rPr lang="en-US" sz="1200" b="0" i="0" u="none" strike="noStrike">
                <a:solidFill>
                  <a:srgbClr val="FFB6C1"/>
                </a:solidFill>
                <a:latin typeface="Consolas"/>
                <a:ea typeface="Consolas"/>
                <a:cs typeface="Consolas"/>
                <a:sym typeface="Consolas"/>
              </a:rPr>
              <a:t>MediaType</a:t>
            </a:r>
            <a:r>
              <a:rPr lang="en-US" sz="1200" b="0" i="0" u="none" strike="noStrike">
                <a:solidFill>
                  <a:srgbClr val="E6E6FA"/>
                </a:solidFill>
                <a:latin typeface="Consolas"/>
                <a:ea typeface="Consolas"/>
                <a:cs typeface="Consolas"/>
                <a:sym typeface="Consolas"/>
              </a:rPr>
              <a:t>.parse(</a:t>
            </a:r>
            <a:r>
              <a:rPr lang="en-US" sz="1200" b="0" i="0" u="none" strike="noStrike">
                <a:solidFill>
                  <a:srgbClr val="00BFFF"/>
                </a:solidFill>
                <a:latin typeface="Consolas"/>
                <a:ea typeface="Consolas"/>
                <a:cs typeface="Consolas"/>
                <a:sym typeface="Consolas"/>
              </a:rPr>
              <a:t>"application/x-www-form-urlencoded"</a:t>
            </a:r>
            <a:r>
              <a:rPr lang="en-US" sz="1200" b="0" i="0" u="none" strike="noStrike">
                <a:solidFill>
                  <a:srgbClr val="E6E6FA"/>
                </a:solidFill>
                <a:latin typeface="Consolas"/>
                <a:ea typeface="Consolas"/>
                <a:cs typeface="Consolas"/>
                <a:sym typeface="Consolas"/>
              </a:rPr>
              <a:t>);</a:t>
            </a:r>
          </a:p>
          <a:p>
            <a:pPr indent="0" algn="l">
              <a:lnSpc>
                <a:spcPct val="100000"/>
              </a:lnSpc>
            </a:pPr>
            <a:r>
              <a:rPr lang="en-US" sz="1200" b="0" i="0" u="none" strike="noStrike">
                <a:solidFill>
                  <a:srgbClr val="FFB6C1"/>
                </a:solidFill>
                <a:latin typeface="Consolas"/>
                <a:ea typeface="Consolas"/>
                <a:cs typeface="Consolas"/>
                <a:sym typeface="Consolas"/>
              </a:rPr>
              <a:t>RequestBody</a:t>
            </a:r>
            <a:r>
              <a:rPr lang="en-US" sz="1200" b="0" i="0" u="none" strike="noStrike">
                <a:solidFill>
                  <a:srgbClr val="E6E6FA"/>
                </a:solidFill>
                <a:latin typeface="Consolas"/>
                <a:ea typeface="Consolas"/>
                <a:cs typeface="Consolas"/>
                <a:sym typeface="Consolas"/>
              </a:rPr>
              <a:t>body =</a:t>
            </a:r>
            <a:r>
              <a:rPr lang="en-US" sz="1200" b="0" i="0" u="none" strike="noStrike">
                <a:solidFill>
                  <a:srgbClr val="FFB6C1"/>
                </a:solidFill>
                <a:latin typeface="Consolas"/>
                <a:ea typeface="Consolas"/>
                <a:cs typeface="Consolas"/>
                <a:sym typeface="Consolas"/>
              </a:rPr>
              <a:t>RequestBody</a:t>
            </a:r>
            <a:r>
              <a:rPr lang="en-US" sz="1200" b="0" i="0" u="none" strike="noStrike">
                <a:solidFill>
                  <a:srgbClr val="E6E6FA"/>
                </a:solidFill>
                <a:latin typeface="Consolas"/>
                <a:ea typeface="Consolas"/>
                <a:cs typeface="Consolas"/>
                <a:sym typeface="Consolas"/>
              </a:rPr>
              <a:t>.create(mediaType,</a:t>
            </a:r>
          </a:p>
          <a:p>
            <a:pPr indent="0" algn="l">
              <a:lnSpc>
                <a:spcPct val="100000"/>
              </a:lnSpc>
            </a:pPr>
            <a:r>
              <a:rPr lang="en-US" sz="1200" b="0" i="0" u="none" strike="noStrike">
                <a:solidFill>
                  <a:srgbClr val="00BFFF"/>
                </a:solidFill>
                <a:latin typeface="Consolas"/>
                <a:ea typeface="Consolas"/>
                <a:cs typeface="Consolas"/>
                <a:sym typeface="Consolas"/>
              </a:rPr>
              <a:t>"From=你的Twilio号码&amp;To=用户手机号&amp;Url=TwiML_URL"</a:t>
            </a:r>
            <a:r>
              <a:rPr lang="en-US" sz="1200" b="0" i="0" u="none" strike="noStrike">
                <a:solidFill>
                  <a:srgbClr val="E6E6FA"/>
                </a:solidFill>
                <a:latin typeface="Consolas"/>
                <a:ea typeface="Consolas"/>
                <a:cs typeface="Consolas"/>
                <a:sym typeface="Consolas"/>
              </a:rPr>
              <a:t>);</a:t>
            </a:r>
          </a:p>
          <a:p>
            <a:pPr indent="0" algn="l">
              <a:lnSpc>
                <a:spcPct val="100000"/>
              </a:lnSpc>
            </a:pPr>
            <a:r>
              <a:rPr lang="en-US" sz="1200" b="0" i="0" u="none" strike="noStrike">
                <a:solidFill>
                  <a:srgbClr val="FFB6C1"/>
                </a:solidFill>
                <a:latin typeface="Consolas"/>
                <a:ea typeface="Consolas"/>
                <a:cs typeface="Consolas"/>
                <a:sym typeface="Consolas"/>
              </a:rPr>
              <a:t>Request</a:t>
            </a:r>
            <a:r>
              <a:rPr lang="en-US" sz="1200" b="0" i="0" u="none" strike="noStrike">
                <a:solidFill>
                  <a:srgbClr val="E6E6FA"/>
                </a:solidFill>
                <a:latin typeface="Consolas"/>
                <a:ea typeface="Consolas"/>
                <a:cs typeface="Consolas"/>
                <a:sym typeface="Consolas"/>
              </a:rPr>
              <a:t>request =</a:t>
            </a:r>
            <a:r>
              <a:rPr lang="en-US" sz="1200" b="0" i="0" u="none" strike="noStrike">
                <a:solidFill>
                  <a:srgbClr val="FFB6C1"/>
                </a:solidFill>
                <a:latin typeface="Consolas"/>
                <a:ea typeface="Consolas"/>
                <a:cs typeface="Consolas"/>
                <a:sym typeface="Consolas"/>
              </a:rPr>
              <a:t>newRequest</a:t>
            </a:r>
            <a:r>
              <a:rPr lang="en-US" sz="1200" b="0" i="0" u="none" strike="noStrike">
                <a:solidFill>
                  <a:srgbClr val="E6E6FA"/>
                </a:solidFill>
                <a:latin typeface="Consolas"/>
                <a:ea typeface="Consolas"/>
                <a:cs typeface="Consolas"/>
                <a:sym typeface="Consolas"/>
              </a:rPr>
              <a:t>.Builder()</a:t>
            </a:r>
          </a:p>
          <a:p>
            <a:pPr indent="0" algn="l">
              <a:lnSpc>
                <a:spcPct val="100000"/>
              </a:lnSpc>
            </a:pPr>
            <a:r>
              <a:rPr lang="en-US" sz="1200" b="0" i="0" u="none" strike="noStrike">
                <a:solidFill>
                  <a:srgbClr val="E6E6FA"/>
                </a:solidFill>
                <a:latin typeface="Consolas"/>
                <a:ea typeface="Consolas"/>
                <a:cs typeface="Consolas"/>
                <a:sym typeface="Consolas"/>
              </a:rPr>
              <a:t>.url(</a:t>
            </a:r>
            <a:r>
              <a:rPr lang="en-US" sz="1200" b="0" i="0" u="none" strike="noStrike">
                <a:solidFill>
                  <a:srgbClr val="00BFFF"/>
                </a:solidFill>
                <a:latin typeface="Consolas"/>
                <a:ea typeface="Consolas"/>
                <a:cs typeface="Consolas"/>
                <a:sym typeface="Consolas"/>
              </a:rPr>
              <a:t>"https://api.twilio.com/2010-04-01/Accounts/ACCOUNT_SID/Calls.json"</a:t>
            </a:r>
            <a:r>
              <a:rPr lang="en-US" sz="1200" b="0" i="0" u="none" strike="noStrike">
                <a:solidFill>
                  <a:srgbClr val="E6E6FA"/>
                </a:solidFill>
                <a:latin typeface="Consolas"/>
                <a:ea typeface="Consolas"/>
                <a:cs typeface="Consolas"/>
                <a:sym typeface="Consolas"/>
              </a:rPr>
              <a:t>)</a:t>
            </a:r>
          </a:p>
          <a:p>
            <a:pPr indent="0" algn="l">
              <a:lnSpc>
                <a:spcPct val="100000"/>
              </a:lnSpc>
            </a:pPr>
            <a:r>
              <a:rPr lang="en-US" sz="1200" b="0" i="0" u="none" strike="noStrike">
                <a:solidFill>
                  <a:srgbClr val="E6E6FA"/>
                </a:solidFill>
                <a:latin typeface="Consolas"/>
                <a:ea typeface="Consolas"/>
                <a:cs typeface="Consolas"/>
                <a:sym typeface="Consolas"/>
              </a:rPr>
              <a:t>.post(body)</a:t>
            </a:r>
          </a:p>
          <a:p>
            <a:pPr indent="0" algn="l">
              <a:lnSpc>
                <a:spcPct val="100000"/>
              </a:lnSpc>
            </a:pPr>
            <a:r>
              <a:rPr lang="en-US" sz="1200" b="0" i="0" u="none" strike="noStrike">
                <a:solidFill>
                  <a:srgbClr val="E6E6FA"/>
                </a:solidFill>
                <a:latin typeface="Consolas"/>
                <a:ea typeface="Consolas"/>
                <a:cs typeface="Consolas"/>
                <a:sym typeface="Consolas"/>
              </a:rPr>
              <a:t>.addHeader(</a:t>
            </a:r>
            <a:r>
              <a:rPr lang="en-US" sz="1200" b="0" i="0" u="none" strike="noStrike">
                <a:solidFill>
                  <a:srgbClr val="00BFFF"/>
                </a:solidFill>
                <a:latin typeface="Consolas"/>
                <a:ea typeface="Consolas"/>
                <a:cs typeface="Consolas"/>
                <a:sym typeface="Consolas"/>
              </a:rPr>
              <a:t>"Authorization"</a:t>
            </a:r>
            <a:r>
              <a:rPr lang="en-US" sz="1200" b="0" i="0" u="none" strike="noStrike">
                <a:solidFill>
                  <a:srgbClr val="E6E6FA"/>
                </a:solidFill>
                <a:latin typeface="Consolas"/>
                <a:ea typeface="Consolas"/>
                <a:cs typeface="Consolas"/>
                <a:sym typeface="Consolas"/>
              </a:rPr>
              <a:t>,</a:t>
            </a:r>
            <a:r>
              <a:rPr lang="en-US" sz="1200" b="0" i="0" u="none" strike="noStrike">
                <a:solidFill>
                  <a:srgbClr val="00BFFF"/>
                </a:solidFill>
                <a:latin typeface="Consolas"/>
                <a:ea typeface="Consolas"/>
                <a:cs typeface="Consolas"/>
                <a:sym typeface="Consolas"/>
              </a:rPr>
              <a:t>"Basic "</a:t>
            </a:r>
            <a:r>
              <a:rPr lang="en-US" sz="1200" b="0" i="0" u="none" strike="noStrike">
                <a:solidFill>
                  <a:srgbClr val="E6E6FA"/>
                </a:solidFill>
                <a:latin typeface="Consolas"/>
                <a:ea typeface="Consolas"/>
                <a:cs typeface="Consolas"/>
                <a:sym typeface="Consolas"/>
              </a:rPr>
              <a:t>+ auth)</a:t>
            </a:r>
          </a:p>
          <a:p>
            <a:pPr indent="0" algn="l">
              <a:lnSpc>
                <a:spcPct val="100000"/>
              </a:lnSpc>
            </a:pPr>
            <a:r>
              <a:rPr lang="en-US" sz="1200" b="0" i="0" u="none" strike="noStrike">
                <a:solidFill>
                  <a:srgbClr val="E6E6FA"/>
                </a:solidFill>
                <a:latin typeface="Consolas"/>
                <a:ea typeface="Consolas"/>
                <a:cs typeface="Consolas"/>
                <a:sym typeface="Consolas"/>
              </a:rPr>
              <a:t>.build();</a:t>
            </a:r>
          </a:p>
          <a:p>
            <a:pPr indent="0" algn="l">
              <a:lnSpc>
                <a:spcPct val="100000"/>
              </a:lnSpc>
            </a:pPr>
            <a:r>
              <a:rPr lang="en-US" sz="1200" b="0" i="0" u="none" strike="noStrike">
                <a:solidFill>
                  <a:srgbClr val="FFB6C1"/>
                </a:solidFill>
                <a:latin typeface="Consolas"/>
                <a:ea typeface="Consolas"/>
                <a:cs typeface="Consolas"/>
                <a:sym typeface="Consolas"/>
              </a:rPr>
              <a:t>Response</a:t>
            </a:r>
            <a:r>
              <a:rPr lang="en-US" sz="1200" b="0" i="0" u="none" strike="noStrike">
                <a:solidFill>
                  <a:srgbClr val="E6E6FA"/>
                </a:solidFill>
                <a:latin typeface="Consolas"/>
                <a:ea typeface="Consolas"/>
                <a:cs typeface="Consolas"/>
                <a:sym typeface="Consolas"/>
              </a:rPr>
              <a:t>response = client.newCall(request).execute();</a:t>
            </a:r>
          </a:p>
        </p:txBody>
      </p:sp>
      <p:sp>
        <p:nvSpPr>
          <p:cNvPr id="7" name="AutoShape 7"/>
          <p:cNvSpPr/>
          <p:nvPr/>
        </p:nvSpPr>
        <p:spPr>
          <a:xfrm>
            <a:off x="6604000" y="1397000"/>
            <a:ext cx="482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BFFF"/>
                </a:solidFill>
                <a:latin typeface="Noto Sans SC"/>
                <a:ea typeface="Noto Sans SC"/>
                <a:cs typeface="Noto Sans SC"/>
                <a:sym typeface="Noto Sans SC"/>
              </a:rPr>
              <a:t>关键参数说明</a:t>
            </a:r>
            <a:endParaRPr lang="en-US" sz="1100"/>
          </a:p>
        </p:txBody>
      </p:sp>
      <p:pic>
        <p:nvPicPr>
          <p:cNvPr id="8" name="Picture 8"/>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604000" y="1905000"/>
            <a:ext cx="304800" cy="304800"/>
          </a:xfrm>
          <a:prstGeom prst="rect">
            <a:avLst/>
          </a:prstGeom>
        </p:spPr>
      </p:pic>
      <p:sp>
        <p:nvSpPr>
          <p:cNvPr id="9" name="AutoShape 9"/>
          <p:cNvSpPr/>
          <p:nvPr/>
        </p:nvSpPr>
        <p:spPr>
          <a:xfrm>
            <a:off x="6985000" y="1841500"/>
            <a:ext cx="4445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FFFFFF"/>
                </a:solidFill>
                <a:latin typeface="Noto Sans SC"/>
                <a:ea typeface="Noto Sans SC"/>
                <a:cs typeface="Noto Sans SC"/>
                <a:sym typeface="Noto Sans SC"/>
              </a:rPr>
              <a:t>From：</a:t>
            </a:r>
            <a:r>
              <a:rPr lang="en-US" sz="1400" b="0" i="0" u="none" strike="noStrike">
                <a:solidFill>
                  <a:srgbClr val="E6E6FA"/>
                </a:solidFill>
                <a:latin typeface="Noto Sans SC"/>
                <a:ea typeface="Noto Sans SC"/>
                <a:cs typeface="Noto Sans SC"/>
                <a:sym typeface="Noto Sans SC"/>
              </a:rPr>
              <a:t>你在Twilio购买的电话号码（需包含国家码）。</a:t>
            </a:r>
            <a:endParaRPr lang="en-US" sz="1100"/>
          </a:p>
        </p:txBody>
      </p:sp>
      <p:pic>
        <p:nvPicPr>
          <p:cNvPr id="10" name="Picture 10"/>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604000" y="2476500"/>
            <a:ext cx="304800" cy="304800"/>
          </a:xfrm>
          <a:prstGeom prst="rect">
            <a:avLst/>
          </a:prstGeom>
        </p:spPr>
      </p:pic>
      <p:sp>
        <p:nvSpPr>
          <p:cNvPr id="11" name="AutoShape 11"/>
          <p:cNvSpPr/>
          <p:nvPr/>
        </p:nvSpPr>
        <p:spPr>
          <a:xfrm>
            <a:off x="6985000" y="2413000"/>
            <a:ext cx="4445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FFFFFF"/>
                </a:solidFill>
                <a:latin typeface="Noto Sans SC"/>
                <a:ea typeface="Noto Sans SC"/>
                <a:cs typeface="Noto Sans SC"/>
                <a:sym typeface="Noto Sans SC"/>
              </a:rPr>
              <a:t>To：</a:t>
            </a:r>
            <a:r>
              <a:rPr lang="en-US" sz="1400" b="0" i="0" u="none" strike="noStrike">
                <a:solidFill>
                  <a:srgbClr val="E6E6FA"/>
                </a:solidFill>
                <a:latin typeface="Noto Sans SC"/>
                <a:ea typeface="Noto Sans SC"/>
                <a:cs typeface="Noto Sans SC"/>
                <a:sym typeface="Noto Sans SC"/>
              </a:rPr>
              <a:t>需要接收来电的用户手机号码（需包含国家码）。</a:t>
            </a:r>
            <a:endParaRPr lang="en-US" sz="1100"/>
          </a:p>
        </p:txBody>
      </p:sp>
      <p:pic>
        <p:nvPicPr>
          <p:cNvPr id="12" name="Picture 12"/>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6604000" y="3048000"/>
            <a:ext cx="304800" cy="304800"/>
          </a:xfrm>
          <a:prstGeom prst="rect">
            <a:avLst/>
          </a:prstGeom>
        </p:spPr>
      </p:pic>
      <p:sp>
        <p:nvSpPr>
          <p:cNvPr id="13" name="AutoShape 13"/>
          <p:cNvSpPr/>
          <p:nvPr/>
        </p:nvSpPr>
        <p:spPr>
          <a:xfrm>
            <a:off x="6985000" y="2984500"/>
            <a:ext cx="4445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FFFFFF"/>
                </a:solidFill>
                <a:latin typeface="Noto Sans SC"/>
                <a:ea typeface="Noto Sans SC"/>
                <a:cs typeface="Noto Sans SC"/>
                <a:sym typeface="Noto Sans SC"/>
              </a:rPr>
              <a:t>Url：</a:t>
            </a:r>
            <a:r>
              <a:rPr lang="en-US" sz="1400" b="0" i="0" u="none" strike="noStrike">
                <a:solidFill>
                  <a:srgbClr val="E6E6FA"/>
                </a:solidFill>
                <a:latin typeface="Noto Sans SC"/>
                <a:ea typeface="Noto Sans SC"/>
                <a:cs typeface="Noto Sans SC"/>
                <a:sym typeface="Noto Sans SC"/>
              </a:rPr>
              <a:t>TwiML文件的公网访问URL，定义通话逻辑。</a:t>
            </a:r>
            <a:endParaRPr lang="en-US" sz="1100"/>
          </a:p>
        </p:txBody>
      </p:sp>
      <p:sp>
        <p:nvSpPr>
          <p:cNvPr id="14" name="AutoShape 14"/>
          <p:cNvSpPr/>
          <p:nvPr/>
        </p:nvSpPr>
        <p:spPr>
          <a:xfrm>
            <a:off x="6604000" y="3683000"/>
            <a:ext cx="4826000" cy="762000"/>
          </a:xfrm>
          <a:prstGeom prst="roundRect">
            <a:avLst>
              <a:gd name="adj" fmla="val 16666"/>
            </a:avLst>
          </a:prstGeom>
          <a:solidFill>
            <a:srgbClr val="FFB6C1">
              <a:alpha val="10000"/>
            </a:srgbClr>
          </a:solidFill>
          <a:ln w="12700" cap="flat" cmpd="sng">
            <a:solidFill>
              <a:srgbClr val="FFB6C1">
                <a:alpha val="30000"/>
              </a:srgbClr>
            </a:solidFill>
            <a:prstDash val="solid"/>
            <a:round/>
          </a:ln>
        </p:spPr>
        <p:txBody>
          <a:bodyPr vert="horz" wrap="square" lIns="63500" tIns="63500" rIns="63500" bIns="63500" rtlCol="0" anchor="ctr"/>
          <a:lstStyle/>
          <a:p>
            <a:pPr algn="ctr">
              <a:defRPr/>
            </a:pPr>
            <a:endParaRPr/>
          </a:p>
        </p:txBody>
      </p:sp>
      <p:pic>
        <p:nvPicPr>
          <p:cNvPr id="15" name="Picture 15"/>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6731000" y="3911600"/>
            <a:ext cx="304800" cy="304800"/>
          </a:xfrm>
          <a:prstGeom prst="rect">
            <a:avLst/>
          </a:prstGeom>
        </p:spPr>
      </p:pic>
      <p:sp>
        <p:nvSpPr>
          <p:cNvPr id="16" name="AutoShape 16"/>
          <p:cNvSpPr/>
          <p:nvPr/>
        </p:nvSpPr>
        <p:spPr>
          <a:xfrm>
            <a:off x="7112000" y="3810000"/>
            <a:ext cx="4191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FFB6C1"/>
                </a:solidFill>
                <a:latin typeface="Noto Sans SC"/>
                <a:ea typeface="Noto Sans SC"/>
                <a:cs typeface="Noto Sans SC"/>
                <a:sym typeface="Noto Sans SC"/>
              </a:rPr>
              <a:t>错误处理：</a:t>
            </a:r>
            <a:r>
              <a:rPr lang="en-US" sz="1400" b="0" i="0" u="none" strike="noStrike">
                <a:solidFill>
                  <a:srgbClr val="E6E6FA"/>
                </a:solidFill>
                <a:latin typeface="Noto Sans SC"/>
                <a:ea typeface="Noto Sans SC"/>
                <a:cs typeface="Noto Sans SC"/>
                <a:sym typeface="Noto Sans SC"/>
              </a:rPr>
              <a:t>务必处理网络异常、API鉴权失败及返回错误码，确保应用稳定性。</a:t>
            </a:r>
            <a:endParaRPr lang="en-US" sz="1100"/>
          </a:p>
        </p:txBody>
      </p:sp>
      <p:sp>
        <p:nvSpPr>
          <p:cNvPr id="17" name="AutoShape 17"/>
          <p:cNvSpPr/>
          <p:nvPr/>
        </p:nvSpPr>
        <p:spPr>
          <a:xfrm>
            <a:off x="762000" y="4826000"/>
            <a:ext cx="10668000" cy="762000"/>
          </a:xfrm>
          <a:prstGeom prst="roundRect">
            <a:avLst>
              <a:gd name="adj" fmla="val 16666"/>
            </a:avLst>
          </a:prstGeom>
          <a:solidFill>
            <a:srgbClr val="00BFFF">
              <a:alpha val="15000"/>
            </a:srgbClr>
          </a:solidFill>
          <a:ln w="12700" cap="flat" cmpd="sng">
            <a:solidFill>
              <a:srgbClr val="00BFFF">
                <a:alpha val="100000"/>
              </a:srgbClr>
            </a:solidFill>
            <a:prstDash val="solid"/>
            <a:round/>
          </a:ln>
        </p:spPr>
        <p:txBody>
          <a:bodyPr vert="horz" wrap="square" lIns="63500" tIns="63500" rIns="63500" bIns="63500" rtlCol="0" anchor="ctr"/>
          <a:lstStyle/>
          <a:p>
            <a:pPr algn="ctr">
              <a:defRPr/>
            </a:pPr>
            <a:endParaRPr/>
          </a:p>
        </p:txBody>
      </p:sp>
      <p:pic>
        <p:nvPicPr>
          <p:cNvPr id="18" name="Picture 18"/>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1016000" y="5003800"/>
            <a:ext cx="406400" cy="406400"/>
          </a:xfrm>
          <a:prstGeom prst="rect">
            <a:avLst/>
          </a:prstGeom>
        </p:spPr>
      </p:pic>
      <p:sp>
        <p:nvSpPr>
          <p:cNvPr id="19" name="AutoShape 19"/>
          <p:cNvSpPr/>
          <p:nvPr/>
        </p:nvSpPr>
        <p:spPr>
          <a:xfrm>
            <a:off x="1524000" y="4953000"/>
            <a:ext cx="9652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Noto Sans SC"/>
                <a:ea typeface="Noto Sans SC"/>
                <a:cs typeface="Noto Sans SC"/>
                <a:sym typeface="Noto Sans SC"/>
              </a:rPr>
              <a:t>行动指令：</a:t>
            </a:r>
            <a:r>
              <a:rPr lang="en-US" sz="1600" b="0" i="0" u="none" strike="noStrike">
                <a:solidFill>
                  <a:srgbClr val="E6E6FA"/>
                </a:solidFill>
                <a:latin typeface="Noto Sans SC"/>
                <a:ea typeface="Noto Sans SC"/>
                <a:cs typeface="Noto Sans SC"/>
                <a:sym typeface="Noto Sans SC"/>
              </a:rPr>
              <a:t>请参考左侧代码示例，替换占位符（Account SID, Token, 号码等），编写并测试你的Android代码，实现模拟来电功能。</a:t>
            </a:r>
            <a:endParaRPr lang="en-US" sz="11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00000">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0A1428">
              <a:alpha val="85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762000" y="508000"/>
            <a:ext cx="70358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00BFFF"/>
                </a:solidFill>
                <a:latin typeface="Noto Sans SC"/>
                <a:ea typeface="Noto Sans SC"/>
                <a:cs typeface="Noto Sans SC"/>
                <a:sym typeface="Noto Sans SC"/>
              </a:rPr>
              <a:t>用户体验优化：让模拟更真实</a:t>
            </a:r>
            <a:endParaRPr lang="en-US" sz="1100"/>
          </a:p>
        </p:txBody>
      </p:sp>
      <p:sp>
        <p:nvSpPr>
          <p:cNvPr id="5" name="AutoShape 5"/>
          <p:cNvSpPr/>
          <p:nvPr/>
        </p:nvSpPr>
        <p:spPr>
          <a:xfrm>
            <a:off x="762000" y="1397000"/>
            <a:ext cx="5143500" cy="1397000"/>
          </a:xfrm>
          <a:prstGeom prst="roundRect">
            <a:avLst>
              <a:gd name="adj" fmla="val 9090"/>
            </a:avLst>
          </a:prstGeom>
          <a:solidFill>
            <a:srgbClr val="FFFFFF">
              <a:alpha val="8000"/>
            </a:srgbClr>
          </a:solidFill>
          <a:ln w="12700" cap="flat" cmpd="sng">
            <a:solidFill>
              <a:srgbClr val="00BFFF">
                <a:alpha val="30000"/>
              </a:srgbClr>
            </a:solidFill>
            <a:prstDash val="solid"/>
            <a:round/>
          </a:ln>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1587500"/>
            <a:ext cx="406400" cy="406400"/>
          </a:xfrm>
          <a:prstGeom prst="rect">
            <a:avLst/>
          </a:prstGeom>
        </p:spPr>
      </p:pic>
      <p:sp>
        <p:nvSpPr>
          <p:cNvPr id="7" name="AutoShape 7"/>
          <p:cNvSpPr/>
          <p:nvPr/>
        </p:nvSpPr>
        <p:spPr>
          <a:xfrm>
            <a:off x="1524000" y="1549400"/>
            <a:ext cx="4191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Noto Sans SC"/>
                <a:ea typeface="Noto Sans SC"/>
                <a:cs typeface="Noto Sans SC"/>
                <a:sym typeface="Noto Sans SC"/>
              </a:rPr>
              <a:t>来电显示优化</a:t>
            </a:r>
            <a:endParaRPr lang="en-US" sz="1100"/>
          </a:p>
        </p:txBody>
      </p:sp>
      <p:sp>
        <p:nvSpPr>
          <p:cNvPr id="8" name="AutoShape 8"/>
          <p:cNvSpPr/>
          <p:nvPr/>
        </p:nvSpPr>
        <p:spPr>
          <a:xfrm>
            <a:off x="1524000" y="1930400"/>
            <a:ext cx="4191000" cy="635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300" b="0" i="0" u="none" strike="noStrike">
                <a:solidFill>
                  <a:srgbClr val="E6E6FA"/>
                </a:solidFill>
                <a:latin typeface="Noto Sans SC"/>
                <a:ea typeface="Noto Sans SC"/>
                <a:cs typeface="Noto Sans SC"/>
                <a:sym typeface="Noto Sans SC"/>
              </a:rPr>
              <a:t>允许用户自定义来电名称（如“妈妈”、“同事”），增加场景代入感与真实度。</a:t>
            </a:r>
            <a:endParaRPr lang="en-US" sz="1100"/>
          </a:p>
        </p:txBody>
      </p:sp>
      <p:sp>
        <p:nvSpPr>
          <p:cNvPr id="9" name="AutoShape 9"/>
          <p:cNvSpPr/>
          <p:nvPr/>
        </p:nvSpPr>
        <p:spPr>
          <a:xfrm>
            <a:off x="6286500" y="1397000"/>
            <a:ext cx="5143500" cy="1397000"/>
          </a:xfrm>
          <a:prstGeom prst="roundRect">
            <a:avLst>
              <a:gd name="adj" fmla="val 9090"/>
            </a:avLst>
          </a:prstGeom>
          <a:solidFill>
            <a:srgbClr val="FFFFFF">
              <a:alpha val="8000"/>
            </a:srgbClr>
          </a:solidFill>
          <a:ln w="12700" cap="flat" cmpd="sng">
            <a:solidFill>
              <a:srgbClr val="FFB6C1">
                <a:alpha val="30000"/>
              </a:srgbClr>
            </a:solidFill>
            <a:prstDash val="solid"/>
            <a:round/>
          </a:ln>
        </p:spPr>
        <p:txBody>
          <a:bodyPr vert="horz" wrap="square" lIns="63500" tIns="63500" rIns="63500" bIns="63500" rtlCol="0" anchor="ctr"/>
          <a:lstStyle/>
          <a:p>
            <a:pPr algn="ctr">
              <a:defRPr/>
            </a:pPr>
            <a:endParaRPr/>
          </a:p>
        </p:txBody>
      </p:sp>
      <p:pic>
        <p:nvPicPr>
          <p:cNvPr id="10" name="Picture 10"/>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540500" y="1587500"/>
            <a:ext cx="406400" cy="406400"/>
          </a:xfrm>
          <a:prstGeom prst="rect">
            <a:avLst/>
          </a:prstGeom>
        </p:spPr>
      </p:pic>
      <p:sp>
        <p:nvSpPr>
          <p:cNvPr id="11" name="AutoShape 11"/>
          <p:cNvSpPr/>
          <p:nvPr/>
        </p:nvSpPr>
        <p:spPr>
          <a:xfrm>
            <a:off x="7048500" y="1549400"/>
            <a:ext cx="4191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Noto Sans SC"/>
                <a:ea typeface="Noto Sans SC"/>
                <a:cs typeface="Noto Sans SC"/>
                <a:sym typeface="Noto Sans SC"/>
              </a:rPr>
              <a:t>语音内容个性化</a:t>
            </a:r>
            <a:endParaRPr lang="en-US" sz="1100"/>
          </a:p>
        </p:txBody>
      </p:sp>
      <p:sp>
        <p:nvSpPr>
          <p:cNvPr id="12" name="AutoShape 12"/>
          <p:cNvSpPr/>
          <p:nvPr/>
        </p:nvSpPr>
        <p:spPr>
          <a:xfrm>
            <a:off x="7048500" y="1930400"/>
            <a:ext cx="4191000" cy="635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300" b="0" i="0" u="none" strike="noStrike">
                <a:solidFill>
                  <a:srgbClr val="E6E6FA"/>
                </a:solidFill>
                <a:latin typeface="Noto Sans SC"/>
                <a:ea typeface="Noto Sans SC"/>
                <a:cs typeface="Noto Sans SC"/>
                <a:sym typeface="Noto Sans SC"/>
              </a:rPr>
              <a:t>提供预设语音包（家人/工作），并支持用户录制自定义语音，增强互动体验。</a:t>
            </a:r>
            <a:endParaRPr lang="en-US" sz="1100"/>
          </a:p>
        </p:txBody>
      </p:sp>
      <p:sp>
        <p:nvSpPr>
          <p:cNvPr id="13" name="AutoShape 13"/>
          <p:cNvSpPr/>
          <p:nvPr/>
        </p:nvSpPr>
        <p:spPr>
          <a:xfrm>
            <a:off x="762000" y="3048000"/>
            <a:ext cx="5143500" cy="1397000"/>
          </a:xfrm>
          <a:prstGeom prst="roundRect">
            <a:avLst>
              <a:gd name="adj" fmla="val 9090"/>
            </a:avLst>
          </a:prstGeom>
          <a:solidFill>
            <a:srgbClr val="FFFFFF">
              <a:alpha val="8000"/>
            </a:srgbClr>
          </a:solidFill>
          <a:ln w="12700" cap="flat" cmpd="sng">
            <a:solidFill>
              <a:srgbClr val="E6E6FA">
                <a:alpha val="30000"/>
              </a:srgbClr>
            </a:solidFill>
            <a:prstDash val="solid"/>
            <a:round/>
          </a:ln>
        </p:spPr>
        <p:txBody>
          <a:bodyPr vert="horz" wrap="square" lIns="63500" tIns="63500" rIns="63500" bIns="63500" rtlCol="0" anchor="ctr"/>
          <a:lstStyle/>
          <a:p>
            <a:pPr algn="ctr">
              <a:defRPr/>
            </a:pPr>
            <a:endParaRPr/>
          </a:p>
        </p:txBody>
      </p:sp>
      <p:pic>
        <p:nvPicPr>
          <p:cNvPr id="14" name="Picture 14"/>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016000" y="3238500"/>
            <a:ext cx="406400" cy="406400"/>
          </a:xfrm>
          <a:prstGeom prst="rect">
            <a:avLst/>
          </a:prstGeom>
        </p:spPr>
      </p:pic>
      <p:sp>
        <p:nvSpPr>
          <p:cNvPr id="15" name="AutoShape 15"/>
          <p:cNvSpPr/>
          <p:nvPr/>
        </p:nvSpPr>
        <p:spPr>
          <a:xfrm>
            <a:off x="1524000" y="3200400"/>
            <a:ext cx="4191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Noto Sans SC"/>
                <a:ea typeface="Noto Sans SC"/>
                <a:cs typeface="Noto Sans SC"/>
                <a:sym typeface="Noto Sans SC"/>
              </a:rPr>
              <a:t>一键触发机制</a:t>
            </a:r>
            <a:endParaRPr lang="en-US" sz="1100"/>
          </a:p>
        </p:txBody>
      </p:sp>
      <p:sp>
        <p:nvSpPr>
          <p:cNvPr id="16" name="AutoShape 16"/>
          <p:cNvSpPr/>
          <p:nvPr/>
        </p:nvSpPr>
        <p:spPr>
          <a:xfrm>
            <a:off x="1524000" y="3581400"/>
            <a:ext cx="4191000" cy="635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300" b="0" i="0" u="none" strike="noStrike">
                <a:solidFill>
                  <a:srgbClr val="E6E6FA"/>
                </a:solidFill>
                <a:latin typeface="Noto Sans SC"/>
                <a:ea typeface="Noto Sans SC"/>
                <a:cs typeface="Noto Sans SC"/>
                <a:sym typeface="Noto Sans SC"/>
              </a:rPr>
              <a:t>在主界面或锁屏设计醒目悬浮按钮，实现快速触发，简化紧急情况下的操作流程。</a:t>
            </a:r>
            <a:endParaRPr lang="en-US" sz="1100"/>
          </a:p>
        </p:txBody>
      </p:sp>
      <p:sp>
        <p:nvSpPr>
          <p:cNvPr id="17" name="AutoShape 17"/>
          <p:cNvSpPr/>
          <p:nvPr/>
        </p:nvSpPr>
        <p:spPr>
          <a:xfrm>
            <a:off x="6286500" y="3048000"/>
            <a:ext cx="5143500" cy="1397000"/>
          </a:xfrm>
          <a:prstGeom prst="roundRect">
            <a:avLst>
              <a:gd name="adj" fmla="val 9090"/>
            </a:avLst>
          </a:prstGeom>
          <a:solidFill>
            <a:srgbClr val="FFFFFF">
              <a:alpha val="8000"/>
            </a:srgbClr>
          </a:solidFill>
          <a:ln w="12700" cap="flat" cmpd="sng">
            <a:solidFill>
              <a:srgbClr val="00BFFF">
                <a:alpha val="30000"/>
              </a:srgbClr>
            </a:solidFill>
            <a:prstDash val="solid"/>
            <a:round/>
          </a:ln>
        </p:spPr>
        <p:txBody>
          <a:bodyPr vert="horz" wrap="square" lIns="63500" tIns="63500" rIns="63500" bIns="63500" rtlCol="0" anchor="ctr"/>
          <a:lstStyle/>
          <a:p>
            <a:pPr algn="ctr">
              <a:defRPr/>
            </a:pPr>
            <a:endParaRPr/>
          </a:p>
        </p:txBody>
      </p:sp>
      <p:pic>
        <p:nvPicPr>
          <p:cNvPr id="18" name="Picture 18"/>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6540500" y="3238500"/>
            <a:ext cx="406400" cy="406400"/>
          </a:xfrm>
          <a:prstGeom prst="rect">
            <a:avLst/>
          </a:prstGeom>
        </p:spPr>
      </p:pic>
      <p:sp>
        <p:nvSpPr>
          <p:cNvPr id="19" name="AutoShape 19"/>
          <p:cNvSpPr/>
          <p:nvPr/>
        </p:nvSpPr>
        <p:spPr>
          <a:xfrm>
            <a:off x="7048500" y="3200400"/>
            <a:ext cx="4191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Noto Sans SC"/>
                <a:ea typeface="Noto Sans SC"/>
                <a:cs typeface="Noto Sans SC"/>
                <a:sym typeface="Noto Sans SC"/>
              </a:rPr>
              <a:t>震动与音效反馈</a:t>
            </a:r>
            <a:endParaRPr lang="en-US" sz="1100"/>
          </a:p>
        </p:txBody>
      </p:sp>
      <p:sp>
        <p:nvSpPr>
          <p:cNvPr id="20" name="AutoShape 20"/>
          <p:cNvSpPr/>
          <p:nvPr/>
        </p:nvSpPr>
        <p:spPr>
          <a:xfrm>
            <a:off x="7048500" y="3581400"/>
            <a:ext cx="4191000" cy="635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300" b="0" i="0" u="none" strike="noStrike">
                <a:solidFill>
                  <a:srgbClr val="E6E6FA"/>
                </a:solidFill>
                <a:latin typeface="Noto Sans SC"/>
                <a:ea typeface="Noto Sans SC"/>
                <a:cs typeface="Noto Sans SC"/>
                <a:sym typeface="Noto Sans SC"/>
              </a:rPr>
              <a:t>模拟真实来电的震动强度与铃声效果，确保用户及周围环境能清晰感知到来电状态。</a:t>
            </a:r>
            <a:endParaRPr lang="en-US" sz="1100"/>
          </a:p>
        </p:txBody>
      </p:sp>
      <p:sp>
        <p:nvSpPr>
          <p:cNvPr id="21" name="AutoShape 21"/>
          <p:cNvSpPr/>
          <p:nvPr/>
        </p:nvSpPr>
        <p:spPr>
          <a:xfrm>
            <a:off x="762000" y="4826000"/>
            <a:ext cx="10668000" cy="762000"/>
          </a:xfrm>
          <a:prstGeom prst="roundRect">
            <a:avLst>
              <a:gd name="adj" fmla="val 16666"/>
            </a:avLst>
          </a:prstGeom>
          <a:solidFill>
            <a:srgbClr val="00BFFF">
              <a:alpha val="15000"/>
            </a:srgbClr>
          </a:solidFill>
          <a:ln w="12700" cap="flat" cmpd="sng">
            <a:solidFill>
              <a:srgbClr val="00BFFF">
                <a:alpha val="50000"/>
              </a:srgbClr>
            </a:solidFill>
            <a:prstDash val="dash"/>
            <a:round/>
          </a:ln>
        </p:spPr>
        <p:txBody>
          <a:bodyPr vert="horz" wrap="square" lIns="63500" tIns="63500" rIns="63500" bIns="63500" rtlCol="0" anchor="ctr"/>
          <a:lstStyle/>
          <a:p>
            <a:pPr algn="ctr">
              <a:defRPr/>
            </a:pPr>
            <a:endParaRPr/>
          </a:p>
        </p:txBody>
      </p:sp>
      <p:pic>
        <p:nvPicPr>
          <p:cNvPr id="22" name="Picture 22"/>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1016000" y="5054600"/>
            <a:ext cx="304800" cy="304800"/>
          </a:xfrm>
          <a:prstGeom prst="rect">
            <a:avLst/>
          </a:prstGeom>
        </p:spPr>
      </p:pic>
      <p:sp>
        <p:nvSpPr>
          <p:cNvPr id="23" name="AutoShape 23"/>
          <p:cNvSpPr/>
          <p:nvPr/>
        </p:nvSpPr>
        <p:spPr>
          <a:xfrm>
            <a:off x="1460500" y="5016500"/>
            <a:ext cx="990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Noto Sans SC"/>
                <a:ea typeface="Noto Sans SC"/>
                <a:cs typeface="Noto Sans SC"/>
                <a:sym typeface="Noto Sans SC"/>
              </a:rPr>
              <a:t>思考：除了这些建议，还有哪些方式可以提升模拟来电功能的用户体验？</a:t>
            </a:r>
            <a:endParaRPr lang="en-US" sz="11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A192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0A192F">
              <a:alpha val="85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762000" y="508000"/>
            <a:ext cx="70485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00BFFF"/>
                </a:solidFill>
                <a:latin typeface="Noto Sans SC"/>
                <a:ea typeface="Noto Sans SC"/>
                <a:cs typeface="Noto Sans SC"/>
                <a:sym typeface="Noto Sans SC"/>
              </a:rPr>
              <a:t>测试与调试：确保功能稳定可靠</a:t>
            </a:r>
            <a:endParaRPr lang="en-US" sz="1100"/>
          </a:p>
        </p:txBody>
      </p:sp>
      <p:sp>
        <p:nvSpPr>
          <p:cNvPr id="5" name="AutoShape 5"/>
          <p:cNvSpPr/>
          <p:nvPr/>
        </p:nvSpPr>
        <p:spPr>
          <a:xfrm>
            <a:off x="762000" y="1397000"/>
            <a:ext cx="3302000" cy="2667000"/>
          </a:xfrm>
          <a:prstGeom prst="roundRect">
            <a:avLst>
              <a:gd name="adj" fmla="val 4761"/>
            </a:avLst>
          </a:prstGeom>
          <a:solidFill>
            <a:srgbClr val="FFFFFF">
              <a:alpha val="8000"/>
            </a:srgbClr>
          </a:solidFill>
          <a:ln w="12700" cap="flat" cmpd="sng">
            <a:solidFill>
              <a:srgbClr val="00BFFF">
                <a:alpha val="30000"/>
              </a:srgbClr>
            </a:solidFill>
            <a:prstDash val="solid"/>
            <a:round/>
          </a:ln>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1587500"/>
            <a:ext cx="406400" cy="406400"/>
          </a:xfrm>
          <a:prstGeom prst="rect">
            <a:avLst/>
          </a:prstGeom>
        </p:spPr>
      </p:pic>
      <p:sp>
        <p:nvSpPr>
          <p:cNvPr id="7" name="AutoShape 7"/>
          <p:cNvSpPr/>
          <p:nvPr/>
        </p:nvSpPr>
        <p:spPr>
          <a:xfrm>
            <a:off x="1524000" y="1549400"/>
            <a:ext cx="228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0BFFF"/>
                </a:solidFill>
                <a:latin typeface="Noto Sans SC"/>
                <a:ea typeface="Noto Sans SC"/>
                <a:cs typeface="Noto Sans SC"/>
                <a:sym typeface="Noto Sans SC"/>
              </a:rPr>
              <a:t>功能测试</a:t>
            </a:r>
            <a:endParaRPr lang="en-US" sz="1100"/>
          </a:p>
        </p:txBody>
      </p:sp>
      <p:sp>
        <p:nvSpPr>
          <p:cNvPr id="8" name="AutoShape 8"/>
          <p:cNvSpPr/>
          <p:nvPr/>
        </p:nvSpPr>
        <p:spPr>
          <a:xfrm>
            <a:off x="952500" y="2032000"/>
            <a:ext cx="2921000" cy="1651000"/>
          </a:xfrm>
          <a:prstGeom prst="rect">
            <a:avLst/>
          </a:prstGeom>
          <a:noFill/>
          <a:ln w="12700" cap="flat" cmpd="sng">
            <a:noFill/>
            <a:prstDash val="solid"/>
            <a:round/>
          </a:ln>
        </p:spPr>
        <p:txBody>
          <a:bodyPr vert="horz" wrap="square" lIns="0" tIns="0" rIns="0" bIns="0" rtlCol="0" anchor="ctr" anchorCtr="0"/>
          <a:lstStyle/>
          <a:p>
            <a:pPr marL="177800" indent="-177800" algn="l">
              <a:lnSpc>
                <a:spcPct val="108333"/>
              </a:lnSpc>
              <a:buClr>
                <a:srgbClr val="FFFFFF"/>
              </a:buClr>
              <a:buChar char="•"/>
              <a:defRPr/>
            </a:pPr>
            <a:r>
              <a:rPr lang="en-US" sz="1400" b="0" i="0" u="none" strike="noStrike">
                <a:solidFill>
                  <a:srgbClr val="FFFFFF"/>
                </a:solidFill>
                <a:latin typeface="Noto Sans SC"/>
                <a:ea typeface="Noto Sans SC"/>
                <a:cs typeface="Noto Sans SC"/>
                <a:sym typeface="Noto Sans SC"/>
              </a:rPr>
              <a:t>多网络环境（WiFi/4G/5G）下测试发起成功率与通话质量。</a:t>
            </a:r>
            <a:endParaRPr lang="en-US" sz="1100"/>
          </a:p>
          <a:p>
            <a:pPr marL="177800" indent="-177800" algn="l">
              <a:lnSpc>
                <a:spcPct val="108333"/>
              </a:lnSpc>
              <a:buClr>
                <a:srgbClr val="FFFFFF"/>
              </a:buClr>
              <a:buChar char="•"/>
            </a:pPr>
            <a:r>
              <a:rPr lang="en-US" sz="1400" b="0" i="0" u="none" strike="noStrike">
                <a:solidFill>
                  <a:srgbClr val="FFFFFF"/>
                </a:solidFill>
                <a:latin typeface="Noto Sans SC"/>
                <a:ea typeface="Noto Sans SC"/>
                <a:cs typeface="Noto Sans SC"/>
                <a:sym typeface="Noto Sans SC"/>
              </a:rPr>
              <a:t>验证来电显示名称和语音内容是否正确显示与播放。</a:t>
            </a:r>
          </a:p>
        </p:txBody>
      </p:sp>
      <p:sp>
        <p:nvSpPr>
          <p:cNvPr id="9" name="AutoShape 9"/>
          <p:cNvSpPr/>
          <p:nvPr/>
        </p:nvSpPr>
        <p:spPr>
          <a:xfrm>
            <a:off x="4445000" y="1397000"/>
            <a:ext cx="3302000" cy="2667000"/>
          </a:xfrm>
          <a:prstGeom prst="roundRect">
            <a:avLst>
              <a:gd name="adj" fmla="val 4761"/>
            </a:avLst>
          </a:prstGeom>
          <a:solidFill>
            <a:srgbClr val="FFFFFF">
              <a:alpha val="8000"/>
            </a:srgbClr>
          </a:solidFill>
          <a:ln w="12700" cap="flat" cmpd="sng">
            <a:solidFill>
              <a:srgbClr val="00BFFF">
                <a:alpha val="30000"/>
              </a:srgbClr>
            </a:solidFill>
            <a:prstDash val="solid"/>
            <a:round/>
          </a:ln>
        </p:spPr>
        <p:txBody>
          <a:bodyPr vert="horz" wrap="square" lIns="63500" tIns="63500" rIns="63500" bIns="63500" rtlCol="0" anchor="ctr"/>
          <a:lstStyle/>
          <a:p>
            <a:pPr algn="ctr">
              <a:defRPr/>
            </a:pPr>
            <a:endParaRPr/>
          </a:p>
        </p:txBody>
      </p:sp>
      <p:pic>
        <p:nvPicPr>
          <p:cNvPr id="10" name="Picture 10"/>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699000" y="1587500"/>
            <a:ext cx="406400" cy="406400"/>
          </a:xfrm>
          <a:prstGeom prst="rect">
            <a:avLst/>
          </a:prstGeom>
        </p:spPr>
      </p:pic>
      <p:sp>
        <p:nvSpPr>
          <p:cNvPr id="11" name="AutoShape 11"/>
          <p:cNvSpPr/>
          <p:nvPr/>
        </p:nvSpPr>
        <p:spPr>
          <a:xfrm>
            <a:off x="5207000" y="1549400"/>
            <a:ext cx="228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0BFFF"/>
                </a:solidFill>
                <a:latin typeface="Noto Sans SC"/>
                <a:ea typeface="Noto Sans SC"/>
                <a:cs typeface="Noto Sans SC"/>
                <a:sym typeface="Noto Sans SC"/>
              </a:rPr>
              <a:t>边界测试</a:t>
            </a:r>
            <a:endParaRPr lang="en-US" sz="1100"/>
          </a:p>
        </p:txBody>
      </p:sp>
      <p:sp>
        <p:nvSpPr>
          <p:cNvPr id="12" name="AutoShape 12"/>
          <p:cNvSpPr/>
          <p:nvPr/>
        </p:nvSpPr>
        <p:spPr>
          <a:xfrm>
            <a:off x="4635500" y="2032000"/>
            <a:ext cx="2921000" cy="1651000"/>
          </a:xfrm>
          <a:prstGeom prst="rect">
            <a:avLst/>
          </a:prstGeom>
          <a:noFill/>
          <a:ln w="12700" cap="flat" cmpd="sng">
            <a:noFill/>
            <a:prstDash val="solid"/>
            <a:round/>
          </a:ln>
        </p:spPr>
        <p:txBody>
          <a:bodyPr vert="horz" wrap="square" lIns="0" tIns="0" rIns="0" bIns="0" rtlCol="0" anchor="ctr" anchorCtr="0"/>
          <a:lstStyle/>
          <a:p>
            <a:pPr marL="177800" indent="-177800" algn="l">
              <a:lnSpc>
                <a:spcPct val="108333"/>
              </a:lnSpc>
              <a:buClr>
                <a:srgbClr val="FFFFFF"/>
              </a:buClr>
              <a:buChar char="•"/>
              <a:defRPr/>
            </a:pPr>
            <a:r>
              <a:rPr lang="en-US" sz="1400" b="0" i="0" u="none" strike="noStrike">
                <a:solidFill>
                  <a:srgbClr val="FFFFFF"/>
                </a:solidFill>
                <a:latin typeface="Noto Sans SC"/>
                <a:ea typeface="Noto Sans SC"/>
                <a:cs typeface="Noto Sans SC"/>
                <a:sym typeface="Noto Sans SC"/>
              </a:rPr>
              <a:t>手机号为空或格式错误时，检查APP是否给出友好提示。</a:t>
            </a:r>
            <a:endParaRPr lang="en-US" sz="1100"/>
          </a:p>
          <a:p>
            <a:pPr marL="177800" indent="-177800" algn="l">
              <a:lnSpc>
                <a:spcPct val="108333"/>
              </a:lnSpc>
              <a:buClr>
                <a:srgbClr val="FFFFFF"/>
              </a:buClr>
              <a:buChar char="•"/>
            </a:pPr>
            <a:r>
              <a:rPr lang="en-US" sz="1400" b="0" i="0" u="none" strike="noStrike">
                <a:solidFill>
                  <a:srgbClr val="FFFFFF"/>
                </a:solidFill>
                <a:latin typeface="Noto Sans SC"/>
                <a:ea typeface="Noto Sans SC"/>
                <a:cs typeface="Noto Sans SC"/>
                <a:sym typeface="Noto Sans SC"/>
              </a:rPr>
              <a:t>测试TwiML文件URL无效或不可访问时的容错处理。</a:t>
            </a:r>
          </a:p>
        </p:txBody>
      </p:sp>
      <p:sp>
        <p:nvSpPr>
          <p:cNvPr id="13" name="AutoShape 13"/>
          <p:cNvSpPr/>
          <p:nvPr/>
        </p:nvSpPr>
        <p:spPr>
          <a:xfrm>
            <a:off x="8128000" y="1397000"/>
            <a:ext cx="3302000" cy="2667000"/>
          </a:xfrm>
          <a:prstGeom prst="roundRect">
            <a:avLst>
              <a:gd name="adj" fmla="val 4761"/>
            </a:avLst>
          </a:prstGeom>
          <a:solidFill>
            <a:srgbClr val="FFFFFF">
              <a:alpha val="8000"/>
            </a:srgbClr>
          </a:solidFill>
          <a:ln w="12700" cap="flat" cmpd="sng">
            <a:solidFill>
              <a:srgbClr val="00BFFF">
                <a:alpha val="30000"/>
              </a:srgbClr>
            </a:solidFill>
            <a:prstDash val="solid"/>
            <a:round/>
          </a:ln>
        </p:spPr>
        <p:txBody>
          <a:bodyPr vert="horz" wrap="square" lIns="63500" tIns="63500" rIns="63500" bIns="63500" rtlCol="0" anchor="ctr"/>
          <a:lstStyle/>
          <a:p>
            <a:pPr algn="ctr">
              <a:defRPr/>
            </a:pPr>
            <a:endParaRPr/>
          </a:p>
        </p:txBody>
      </p:sp>
      <p:pic>
        <p:nvPicPr>
          <p:cNvPr id="14" name="Picture 14"/>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8382000" y="1587500"/>
            <a:ext cx="406400" cy="406400"/>
          </a:xfrm>
          <a:prstGeom prst="rect">
            <a:avLst/>
          </a:prstGeom>
        </p:spPr>
      </p:pic>
      <p:sp>
        <p:nvSpPr>
          <p:cNvPr id="15" name="AutoShape 15"/>
          <p:cNvSpPr/>
          <p:nvPr/>
        </p:nvSpPr>
        <p:spPr>
          <a:xfrm>
            <a:off x="8890000" y="1549400"/>
            <a:ext cx="228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0BFFF"/>
                </a:solidFill>
                <a:latin typeface="Noto Sans SC"/>
                <a:ea typeface="Noto Sans SC"/>
                <a:cs typeface="Noto Sans SC"/>
                <a:sym typeface="Noto Sans SC"/>
              </a:rPr>
              <a:t>问题排查</a:t>
            </a:r>
            <a:endParaRPr lang="en-US" sz="1100"/>
          </a:p>
        </p:txBody>
      </p:sp>
      <p:sp>
        <p:nvSpPr>
          <p:cNvPr id="16" name="AutoShape 16"/>
          <p:cNvSpPr/>
          <p:nvPr/>
        </p:nvSpPr>
        <p:spPr>
          <a:xfrm>
            <a:off x="8318500" y="2032000"/>
            <a:ext cx="2921000" cy="1651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400" b="1" i="0" u="none" strike="noStrike">
                <a:solidFill>
                  <a:srgbClr val="E6E6FA"/>
                </a:solidFill>
                <a:latin typeface="Noto Sans SC"/>
                <a:ea typeface="Noto Sans SC"/>
                <a:cs typeface="Noto Sans SC"/>
                <a:sym typeface="Noto Sans SC"/>
              </a:rPr>
              <a:t>通话无法发起：</a:t>
            </a:r>
            <a:endParaRPr lang="en-US" sz="1100"/>
          </a:p>
          <a:p>
            <a:pPr indent="0" algn="l">
              <a:lnSpc>
                <a:spcPct val="100000"/>
              </a:lnSpc>
            </a:pPr>
            <a:r>
              <a:rPr lang="en-US" sz="1200" b="0" i="0" u="none" strike="noStrike">
                <a:solidFill>
                  <a:srgbClr val="FFFFFF"/>
                </a:solidFill>
                <a:latin typeface="Noto Sans SC"/>
                <a:ea typeface="Noto Sans SC"/>
                <a:cs typeface="Noto Sans SC"/>
                <a:sym typeface="Noto Sans SC"/>
              </a:rPr>
              <a:t>检查SID、Token、号码及网络连接；确认TwiML URL有效性。</a:t>
            </a:r>
          </a:p>
          <a:p>
            <a:pPr indent="0" algn="l">
              <a:lnSpc>
                <a:spcPct val="100000"/>
              </a:lnSpc>
            </a:pPr>
            <a:r>
              <a:rPr lang="en-US" sz="1400" b="1" i="0" u="none" strike="noStrike">
                <a:solidFill>
                  <a:srgbClr val="E6E6FA"/>
                </a:solidFill>
                <a:latin typeface="Noto Sans SC"/>
                <a:ea typeface="Noto Sans SC"/>
                <a:cs typeface="Noto Sans SC"/>
                <a:sym typeface="Noto Sans SC"/>
              </a:rPr>
              <a:t>语音无法播放：</a:t>
            </a:r>
          </a:p>
          <a:p>
            <a:pPr indent="0" algn="l">
              <a:lnSpc>
                <a:spcPct val="100000"/>
              </a:lnSpc>
            </a:pPr>
            <a:r>
              <a:rPr lang="en-US" sz="1200" b="0" i="0" u="none" strike="noStrike">
                <a:solidFill>
                  <a:srgbClr val="FFFFFF"/>
                </a:solidFill>
                <a:latin typeface="Noto Sans SC"/>
                <a:ea typeface="Noto Sans SC"/>
                <a:cs typeface="Noto Sans SC"/>
                <a:sym typeface="Noto Sans SC"/>
              </a:rPr>
              <a:t>检查TwiML文件格式及语音内容是否符合Twilio规范。</a:t>
            </a:r>
          </a:p>
        </p:txBody>
      </p:sp>
      <p:sp>
        <p:nvSpPr>
          <p:cNvPr id="17" name="AutoShape 17"/>
          <p:cNvSpPr/>
          <p:nvPr/>
        </p:nvSpPr>
        <p:spPr>
          <a:xfrm>
            <a:off x="762000" y="4318000"/>
            <a:ext cx="10668000" cy="1143000"/>
          </a:xfrm>
          <a:prstGeom prst="roundRect">
            <a:avLst>
              <a:gd name="adj" fmla="val 11111"/>
            </a:avLst>
          </a:prstGeom>
          <a:solidFill>
            <a:srgbClr val="00BFFF">
              <a:alpha val="15000"/>
            </a:srgbClr>
          </a:solidFill>
          <a:ln w="12700" cap="flat" cmpd="sng">
            <a:solidFill>
              <a:srgbClr val="00BFFF">
                <a:alpha val="50000"/>
              </a:srgbClr>
            </a:solidFill>
            <a:prstDash val="dash"/>
            <a:round/>
          </a:ln>
        </p:spPr>
        <p:txBody>
          <a:bodyPr vert="horz" wrap="square" lIns="63500" tIns="63500" rIns="63500" bIns="63500" rtlCol="0" anchor="ctr"/>
          <a:lstStyle/>
          <a:p>
            <a:pPr algn="ctr">
              <a:defRPr/>
            </a:pPr>
            <a:endParaRPr/>
          </a:p>
        </p:txBody>
      </p:sp>
      <p:pic>
        <p:nvPicPr>
          <p:cNvPr id="18" name="Picture 18"/>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016000" y="4660900"/>
            <a:ext cx="457200" cy="457200"/>
          </a:xfrm>
          <a:prstGeom prst="rect">
            <a:avLst/>
          </a:prstGeom>
        </p:spPr>
      </p:pic>
      <p:sp>
        <p:nvSpPr>
          <p:cNvPr id="19" name="AutoShape 19"/>
          <p:cNvSpPr/>
          <p:nvPr/>
        </p:nvSpPr>
        <p:spPr>
          <a:xfrm>
            <a:off x="1587500" y="4445000"/>
            <a:ext cx="9652000" cy="889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Noto Sans SC"/>
                <a:ea typeface="Noto Sans SC"/>
                <a:cs typeface="Noto Sans SC"/>
                <a:sym typeface="Noto Sans SC"/>
              </a:rPr>
              <a:t>行动指令：</a:t>
            </a:r>
            <a:endParaRPr lang="en-US" sz="1100"/>
          </a:p>
          <a:p>
            <a:pPr indent="0" algn="l">
              <a:lnSpc>
                <a:spcPct val="125000"/>
              </a:lnSpc>
            </a:pPr>
            <a:r>
              <a:rPr lang="en-US" sz="1600" b="0" i="0" u="none" strike="noStrike">
                <a:solidFill>
                  <a:srgbClr val="E6E6FA"/>
                </a:solidFill>
                <a:latin typeface="Noto Sans SC"/>
                <a:ea typeface="Noto Sans SC"/>
                <a:cs typeface="Noto Sans SC"/>
                <a:sym typeface="Noto Sans SC"/>
              </a:rPr>
              <a:t>请大家对自己团队实现的模拟来电功能进行全面的测试，并详细记录遇到的问题和解决方案。</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A192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0A192F">
              <a:alpha val="70000"/>
            </a:srgbClr>
          </a:solidFill>
          <a:ln w="25400" cap="flat" cmpd="sng">
            <a:noFill/>
            <a:prstDash val="solid"/>
            <a:round/>
          </a:ln>
        </p:spPr>
        <p:txBody>
          <a:bodyPr vert="horz" wrap="square" lIns="63500" tIns="63500" rIns="63500" bIns="63500" rtlCol="0" anchor="ctr"/>
          <a:lstStyle/>
          <a:p>
            <a:pPr algn="ctr">
              <a:defRPr/>
            </a:pPr>
            <a:endParaRPr/>
          </a:p>
        </p:txBody>
      </p:sp>
      <p:pic>
        <p:nvPicPr>
          <p:cNvPr id="4" name="Picture 4"/>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791200" y="1778000"/>
            <a:ext cx="609600" cy="609600"/>
          </a:xfrm>
          <a:prstGeom prst="rect">
            <a:avLst/>
          </a:prstGeom>
          <a:effectLst>
            <a:outerShdw blurRad="127000" dir="2700000" algn="tl" rotWithShape="0">
              <a:srgbClr val="00BFFF">
                <a:alpha val="50000"/>
              </a:srgbClr>
            </a:outerShdw>
          </a:effectLst>
        </p:spPr>
      </p:pic>
      <p:sp>
        <p:nvSpPr>
          <p:cNvPr id="5" name="AutoShape 5"/>
          <p:cNvSpPr/>
          <p:nvPr/>
        </p:nvSpPr>
        <p:spPr>
          <a:xfrm>
            <a:off x="508000" y="2540000"/>
            <a:ext cx="11176000" cy="635000"/>
          </a:xfrm>
          <a:prstGeom prst="rect">
            <a:avLst/>
          </a:prstGeom>
          <a:noFill/>
          <a:ln w="12700" cap="flat" cmpd="sng">
            <a:noFill/>
            <a:prstDash val="solid"/>
            <a:round/>
          </a:ln>
        </p:spPr>
        <p:txBody>
          <a:bodyPr vert="horz" wrap="none" lIns="0" tIns="0" rIns="0" bIns="0" rtlCol="0" anchor="ctr" anchorCtr="0"/>
          <a:lstStyle/>
          <a:p>
            <a:pPr indent="0" algn="ctr">
              <a:lnSpc>
                <a:spcPct val="125000"/>
              </a:lnSpc>
              <a:defRPr/>
            </a:pPr>
            <a:r>
              <a:rPr lang="en-US" sz="3200" b="1" i="0" u="none" strike="noStrike">
                <a:solidFill>
                  <a:srgbClr val="FFFFFF"/>
                </a:solidFill>
                <a:latin typeface="Noto Sans SC"/>
                <a:ea typeface="Noto Sans SC"/>
                <a:cs typeface="Noto Sans SC"/>
                <a:sym typeface="Noto Sans SC"/>
              </a:rPr>
              <a:t>模块二：视频通话功能集成与开发</a:t>
            </a:r>
            <a:endParaRPr lang="en-US" sz="1100"/>
          </a:p>
        </p:txBody>
      </p:sp>
      <p:cxnSp>
        <p:nvCxnSpPr>
          <p:cNvPr id="6" name="Connector 6"/>
          <p:cNvCxnSpPr/>
          <p:nvPr/>
        </p:nvCxnSpPr>
        <p:spPr>
          <a:xfrm rot="-34376">
            <a:off x="5461032" y="3295650"/>
            <a:ext cx="1270000" cy="12700"/>
          </a:xfrm>
          <a:prstGeom prst="line">
            <a:avLst/>
          </a:prstGeom>
          <a:solidFill>
            <a:srgbClr val="DEE0E3">
              <a:alpha val="100000"/>
            </a:srgbClr>
          </a:solidFill>
          <a:ln w="25400" cap="flat" cmpd="sng">
            <a:solidFill>
              <a:srgbClr val="00BFFF">
                <a:alpha val="100000"/>
              </a:srgbClr>
            </a:solidFill>
            <a:prstDash val="solid"/>
            <a:round/>
            <a:headEnd type="none" w="lg" len="lg"/>
            <a:tailEnd type="none" w="lg" len="lg"/>
          </a:ln>
        </p:spPr>
      </p:cxnSp>
      <p:sp>
        <p:nvSpPr>
          <p:cNvPr id="7" name="AutoShape 7"/>
          <p:cNvSpPr/>
          <p:nvPr/>
        </p:nvSpPr>
        <p:spPr>
          <a:xfrm>
            <a:off x="508000" y="3556000"/>
            <a:ext cx="11176000" cy="508000"/>
          </a:xfrm>
          <a:prstGeom prst="rect">
            <a:avLst/>
          </a:prstGeom>
          <a:noFill/>
          <a:ln w="12700" cap="flat" cmpd="sng">
            <a:noFill/>
            <a:prstDash val="solid"/>
            <a:round/>
          </a:ln>
        </p:spPr>
        <p:txBody>
          <a:bodyPr vert="horz" wrap="none" lIns="0" tIns="0" rIns="0" bIns="0" rtlCol="0" anchor="ctr" anchorCtr="0"/>
          <a:lstStyle/>
          <a:p>
            <a:pPr indent="0" algn="ctr">
              <a:lnSpc>
                <a:spcPct val="125000"/>
              </a:lnSpc>
              <a:defRPr/>
            </a:pPr>
            <a:r>
              <a:rPr lang="en-US" sz="2000" b="0" i="0" u="none" strike="noStrike">
                <a:solidFill>
                  <a:srgbClr val="E6E6FA"/>
                </a:solidFill>
                <a:latin typeface="Noto Sans SC"/>
                <a:ea typeface="Noto Sans SC"/>
                <a:cs typeface="Noto Sans SC"/>
                <a:sym typeface="Noto Sans SC"/>
              </a:rPr>
              <a:t>实现守护者与用户的实时视频连接</a:t>
            </a:r>
            <a:endParaRPr lang="en-US" sz="1100"/>
          </a:p>
        </p:txBody>
      </p:sp>
      <p:sp>
        <p:nvSpPr>
          <p:cNvPr id="8" name="AutoShape 8"/>
          <p:cNvSpPr/>
          <p:nvPr/>
        </p:nvSpPr>
        <p:spPr>
          <a:xfrm>
            <a:off x="0" y="6807200"/>
            <a:ext cx="12192000" cy="50800"/>
          </a:xfrm>
          <a:prstGeom prst="roundRect">
            <a:avLst>
              <a:gd name="adj" fmla="val 0"/>
            </a:avLst>
          </a:prstGeom>
          <a:gradFill rotWithShape="1">
            <a:gsLst>
              <a:gs pos="0">
                <a:srgbClr val="00BFFF">
                  <a:alpha val="0"/>
                </a:srgbClr>
              </a:gs>
              <a:gs pos="50000">
                <a:srgbClr val="00BFFF">
                  <a:alpha val="100000"/>
                </a:srgbClr>
              </a:gs>
              <a:gs pos="100000">
                <a:srgbClr val="00BFFF">
                  <a:alpha val="0"/>
                </a:srgbClr>
              </a:gs>
            </a:gsLst>
            <a:lin ang="0"/>
          </a:gradFill>
          <a:ln w="25400" cap="flat" cmpd="sng">
            <a:noFill/>
            <a:prstDash val="solid"/>
            <a:round/>
          </a:ln>
        </p:spPr>
        <p:txBody>
          <a:bodyPr vert="horz" wrap="square" lIns="63500" tIns="63500" rIns="63500" bIns="63500" rtlCol="0" anchor="ctr"/>
          <a:lstStyle/>
          <a:p>
            <a:pPr algn="ctr">
              <a:defRPr/>
            </a:pP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A1428">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0F172A">
              <a:alpha val="85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762000" y="508000"/>
            <a:ext cx="106680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00BFFF"/>
                </a:solidFill>
                <a:latin typeface="Noto Sans SC"/>
                <a:ea typeface="Noto Sans SC"/>
                <a:cs typeface="Noto Sans SC"/>
                <a:sym typeface="Noto Sans SC"/>
              </a:rPr>
              <a:t>需求分析与技术选型</a:t>
            </a:r>
            <a:endParaRPr lang="en-US" sz="1100"/>
          </a:p>
        </p:txBody>
      </p:sp>
      <p:sp>
        <p:nvSpPr>
          <p:cNvPr id="5" name="AutoShape 5"/>
          <p:cNvSpPr/>
          <p:nvPr/>
        </p:nvSpPr>
        <p:spPr>
          <a:xfrm>
            <a:off x="762000" y="1270000"/>
            <a:ext cx="10668000" cy="762000"/>
          </a:xfrm>
          <a:prstGeom prst="roundRect">
            <a:avLst>
              <a:gd name="adj" fmla="val 16666"/>
            </a:avLst>
          </a:prstGeom>
          <a:solidFill>
            <a:srgbClr val="00BFFF">
              <a:alpha val="15000"/>
            </a:srgbClr>
          </a:solidFill>
          <a:ln w="12700" cap="flat" cmpd="sng">
            <a:solidFill>
              <a:srgbClr val="00BFFF">
                <a:alpha val="30000"/>
              </a:srgbClr>
            </a:solidFill>
            <a:prstDash val="solid"/>
            <a:round/>
          </a:ln>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52500" y="1447800"/>
            <a:ext cx="406400" cy="406400"/>
          </a:xfrm>
          <a:prstGeom prst="rect">
            <a:avLst/>
          </a:prstGeom>
        </p:spPr>
      </p:pic>
      <p:sp>
        <p:nvSpPr>
          <p:cNvPr id="7" name="AutoShape 7"/>
          <p:cNvSpPr/>
          <p:nvPr/>
        </p:nvSpPr>
        <p:spPr>
          <a:xfrm>
            <a:off x="1524000" y="1397000"/>
            <a:ext cx="9652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Noto Sans SC"/>
                <a:ea typeface="Noto Sans SC"/>
                <a:cs typeface="Noto Sans SC"/>
                <a:sym typeface="Noto Sans SC"/>
              </a:rPr>
              <a:t>核心需求：</a:t>
            </a:r>
            <a:r>
              <a:rPr lang="en-US" sz="1600" b="0" i="0" u="none" strike="noStrike">
                <a:solidFill>
                  <a:srgbClr val="E6E6FA"/>
                </a:solidFill>
                <a:latin typeface="Noto Sans SC"/>
                <a:ea typeface="Noto Sans SC"/>
                <a:cs typeface="Noto Sans SC"/>
                <a:sym typeface="Noto Sans SC"/>
              </a:rPr>
              <a:t>紧急情况下一键发起视频通话，让守护者实时查看环境，提供有效帮助。</a:t>
            </a:r>
            <a:endParaRPr lang="en-US" sz="1100"/>
          </a:p>
        </p:txBody>
      </p:sp>
      <p:graphicFrame>
        <p:nvGraphicFramePr>
          <p:cNvPr id="8" name="Table 8"/>
          <p:cNvGraphicFramePr>
            <a:graphicFrameLocks noGrp="1"/>
          </p:cNvGraphicFramePr>
          <p:nvPr/>
        </p:nvGraphicFramePr>
        <p:xfrm>
          <a:off x="762000" y="2222500"/>
          <a:ext cx="10668000" cy="2362200"/>
        </p:xfrm>
        <a:graphic>
          <a:graphicData uri="http://schemas.openxmlformats.org/drawingml/2006/table">
            <a:tbl>
              <a:tblPr>
                <a:effectLst/>
              </a:tblPr>
              <a:tblGrid>
                <a:gridCol w="1778000">
                  <a:extLst>
                    <a:ext uri="{9D8B030D-6E8A-4147-A177-3AD203B41FA5}">
                      <a16:colId xmlns:a16="http://schemas.microsoft.com/office/drawing/2014/main" val="20000"/>
                    </a:ext>
                  </a:extLst>
                </a:gridCol>
                <a:gridCol w="2921000">
                  <a:extLst>
                    <a:ext uri="{9D8B030D-6E8A-4147-A177-3AD203B41FA5}">
                      <a16:colId xmlns:a16="http://schemas.microsoft.com/office/drawing/2014/main" val="20001"/>
                    </a:ext>
                  </a:extLst>
                </a:gridCol>
                <a:gridCol w="2921000">
                  <a:extLst>
                    <a:ext uri="{9D8B030D-6E8A-4147-A177-3AD203B41FA5}">
                      <a16:colId xmlns:a16="http://schemas.microsoft.com/office/drawing/2014/main" val="20002"/>
                    </a:ext>
                  </a:extLst>
                </a:gridCol>
                <a:gridCol w="3048000">
                  <a:extLst>
                    <a:ext uri="{9D8B030D-6E8A-4147-A177-3AD203B41FA5}">
                      <a16:colId xmlns:a16="http://schemas.microsoft.com/office/drawing/2014/main" val="20003"/>
                    </a:ext>
                  </a:extLst>
                </a:gridCol>
              </a:tblGrid>
              <a:tr h="457200">
                <a:tc>
                  <a:txBody>
                    <a:bodyPr/>
                    <a:lstStyle/>
                    <a:p>
                      <a:pPr indent="0" algn="ctr">
                        <a:lnSpc>
                          <a:spcPct val="100000"/>
                        </a:lnSpc>
                        <a:defRPr/>
                      </a:pPr>
                      <a:r>
                        <a:rPr lang="en-US" sz="1400" b="1" i="0" u="none" strike="noStrike">
                          <a:solidFill>
                            <a:srgbClr val="FFFFFF"/>
                          </a:solidFill>
                          <a:latin typeface="Noto Sans SC"/>
                          <a:ea typeface="Noto Sans SC"/>
                          <a:cs typeface="Noto Sans SC"/>
                          <a:sym typeface="Noto Sans SC"/>
                        </a:rPr>
                        <a:t>技术方案</a:t>
                      </a:r>
                      <a:endParaRPr lang="en-US" sz="1100"/>
                    </a:p>
                  </a:txBody>
                  <a:tcPr marL="101600" marR="101600" marT="101600" marB="101600" anchor="ctr">
                    <a:lnL>
                      <a:noFill/>
                    </a:lnL>
                    <a:lnR>
                      <a:noFill/>
                    </a:lnR>
                    <a:lnT>
                      <a:noFill/>
                    </a:lnT>
                    <a:lnB>
                      <a:noFill/>
                    </a:lnB>
                    <a:solidFill>
                      <a:srgbClr val="00BFFF">
                        <a:alpha val="30000"/>
                      </a:srgbClr>
                    </a:solidFill>
                  </a:tcPr>
                </a:tc>
                <a:tc>
                  <a:txBody>
                    <a:bodyPr/>
                    <a:lstStyle/>
                    <a:p>
                      <a:pPr indent="0" algn="ctr">
                        <a:lnSpc>
                          <a:spcPct val="100000"/>
                        </a:lnSpc>
                        <a:defRPr/>
                      </a:pPr>
                      <a:r>
                        <a:rPr lang="en-US" sz="1400" b="1" i="0" u="none" strike="noStrike">
                          <a:solidFill>
                            <a:srgbClr val="FFFFFF"/>
                          </a:solidFill>
                          <a:latin typeface="Noto Sans SC"/>
                          <a:ea typeface="Noto Sans SC"/>
                          <a:cs typeface="Noto Sans SC"/>
                          <a:sym typeface="Noto Sans SC"/>
                        </a:rPr>
                        <a:t>优点</a:t>
                      </a:r>
                      <a:endParaRPr lang="en-US" sz="1100"/>
                    </a:p>
                  </a:txBody>
                  <a:tcPr marL="101600" marR="101600" marT="101600" marB="101600" anchor="ctr">
                    <a:lnL>
                      <a:noFill/>
                    </a:lnL>
                    <a:lnR>
                      <a:noFill/>
                    </a:lnR>
                    <a:lnT>
                      <a:noFill/>
                    </a:lnT>
                    <a:lnB>
                      <a:noFill/>
                    </a:lnB>
                    <a:solidFill>
                      <a:srgbClr val="00BFFF">
                        <a:alpha val="30000"/>
                      </a:srgbClr>
                    </a:solidFill>
                  </a:tcPr>
                </a:tc>
                <a:tc>
                  <a:txBody>
                    <a:bodyPr/>
                    <a:lstStyle/>
                    <a:p>
                      <a:pPr indent="0" algn="ctr">
                        <a:lnSpc>
                          <a:spcPct val="100000"/>
                        </a:lnSpc>
                        <a:defRPr/>
                      </a:pPr>
                      <a:r>
                        <a:rPr lang="en-US" sz="1400" b="1" i="0" u="none" strike="noStrike">
                          <a:solidFill>
                            <a:srgbClr val="FFFFFF"/>
                          </a:solidFill>
                          <a:latin typeface="Noto Sans SC"/>
                          <a:ea typeface="Noto Sans SC"/>
                          <a:cs typeface="Noto Sans SC"/>
                          <a:sym typeface="Noto Sans SC"/>
                        </a:rPr>
                        <a:t>缺点</a:t>
                      </a:r>
                      <a:endParaRPr lang="en-US" sz="1100"/>
                    </a:p>
                  </a:txBody>
                  <a:tcPr marL="101600" marR="101600" marT="101600" marB="101600" anchor="ctr">
                    <a:lnL>
                      <a:noFill/>
                    </a:lnL>
                    <a:lnR>
                      <a:noFill/>
                    </a:lnR>
                    <a:lnT>
                      <a:noFill/>
                    </a:lnT>
                    <a:lnB>
                      <a:noFill/>
                    </a:lnB>
                    <a:solidFill>
                      <a:srgbClr val="00BFFF">
                        <a:alpha val="30000"/>
                      </a:srgbClr>
                    </a:solidFill>
                  </a:tcPr>
                </a:tc>
                <a:tc>
                  <a:txBody>
                    <a:bodyPr/>
                    <a:lstStyle/>
                    <a:p>
                      <a:pPr indent="0" algn="ctr">
                        <a:lnSpc>
                          <a:spcPct val="100000"/>
                        </a:lnSpc>
                        <a:defRPr/>
                      </a:pPr>
                      <a:r>
                        <a:rPr lang="en-US" sz="1400" b="1" i="0" u="none" strike="noStrike">
                          <a:solidFill>
                            <a:srgbClr val="FFFFFF"/>
                          </a:solidFill>
                          <a:latin typeface="Noto Sans SC"/>
                          <a:ea typeface="Noto Sans SC"/>
                          <a:cs typeface="Noto Sans SC"/>
                          <a:sym typeface="Noto Sans SC"/>
                        </a:rPr>
                        <a:t>适用场景</a:t>
                      </a:r>
                      <a:endParaRPr lang="en-US" sz="1100"/>
                    </a:p>
                  </a:txBody>
                  <a:tcPr marL="101600" marR="101600" marT="101600" marB="101600" anchor="ctr">
                    <a:lnL>
                      <a:noFill/>
                    </a:lnL>
                    <a:lnR>
                      <a:noFill/>
                    </a:lnR>
                    <a:lnT>
                      <a:noFill/>
                    </a:lnT>
                    <a:lnB>
                      <a:noFill/>
                    </a:lnB>
                    <a:solidFill>
                      <a:srgbClr val="00BFFF">
                        <a:alpha val="30000"/>
                      </a:srgbClr>
                    </a:solidFill>
                  </a:tcPr>
                </a:tc>
                <a:extLst>
                  <a:ext uri="{0D108BD9-81ED-4DB2-BD59-A6C34878D82A}">
                    <a16:rowId xmlns:a16="http://schemas.microsoft.com/office/drawing/2014/main" val="10000"/>
                  </a:ext>
                </a:extLst>
              </a:tr>
              <a:tr h="635000">
                <a:tc>
                  <a:txBody>
                    <a:bodyPr/>
                    <a:lstStyle/>
                    <a:p>
                      <a:pPr indent="0" algn="ctr">
                        <a:lnSpc>
                          <a:spcPct val="100000"/>
                        </a:lnSpc>
                        <a:defRPr/>
                      </a:pPr>
                      <a:r>
                        <a:rPr lang="en-US" sz="1400" b="1" i="0" u="none" strike="noStrike">
                          <a:solidFill>
                            <a:srgbClr val="FFB6C1"/>
                          </a:solidFill>
                          <a:latin typeface="Noto Sans SC"/>
                          <a:ea typeface="Noto Sans SC"/>
                          <a:cs typeface="Noto Sans SC"/>
                          <a:sym typeface="Noto Sans SC"/>
                        </a:rPr>
                        <a:t>WebRTC</a:t>
                      </a:r>
                      <a:endParaRPr lang="en-US" sz="1100"/>
                    </a:p>
                  </a:txBody>
                  <a:tcPr marL="101600" marR="101600" marT="101600" marB="101600" anchor="ctr">
                    <a:lnL>
                      <a:noFill/>
                    </a:lnL>
                    <a:lnR>
                      <a:noFill/>
                    </a:lnR>
                    <a:lnT>
                      <a:noFill/>
                    </a:lnT>
                    <a:lnB>
                      <a:noFill/>
                    </a:lnB>
                    <a:solidFill>
                      <a:srgbClr val="FFFFFF">
                        <a:alpha val="5000"/>
                      </a:srgbClr>
                    </a:solidFill>
                  </a:tcPr>
                </a:tc>
                <a:tc>
                  <a:txBody>
                    <a:bodyPr/>
                    <a:lstStyle/>
                    <a:p>
                      <a:pPr indent="0" algn="ctr">
                        <a:lnSpc>
                          <a:spcPct val="100000"/>
                        </a:lnSpc>
                        <a:defRPr/>
                      </a:pPr>
                      <a:r>
                        <a:rPr lang="en-US" sz="1200" b="0" i="0" u="none" strike="noStrike">
                          <a:solidFill>
                            <a:srgbClr val="DCDCDC"/>
                          </a:solidFill>
                          <a:latin typeface="Noto Sans SC"/>
                          <a:ea typeface="Noto Sans SC"/>
                          <a:cs typeface="Noto Sans SC"/>
                          <a:sym typeface="Noto Sans SC"/>
                        </a:rPr>
                        <a:t>开源免费，实时性好，无需中间服务器</a:t>
                      </a:r>
                      <a:endParaRPr lang="en-US" sz="1100"/>
                    </a:p>
                  </a:txBody>
                  <a:tcPr marL="101600" marR="101600" marT="101600" marB="101600" anchor="ctr">
                    <a:lnL>
                      <a:noFill/>
                    </a:lnL>
                    <a:lnR>
                      <a:noFill/>
                    </a:lnR>
                    <a:lnT>
                      <a:noFill/>
                    </a:lnT>
                    <a:lnB>
                      <a:noFill/>
                    </a:lnB>
                    <a:solidFill>
                      <a:srgbClr val="FFFFFF">
                        <a:alpha val="5000"/>
                      </a:srgbClr>
                    </a:solidFill>
                  </a:tcPr>
                </a:tc>
                <a:tc>
                  <a:txBody>
                    <a:bodyPr/>
                    <a:lstStyle/>
                    <a:p>
                      <a:pPr indent="0" algn="ctr">
                        <a:lnSpc>
                          <a:spcPct val="100000"/>
                        </a:lnSpc>
                        <a:defRPr/>
                      </a:pPr>
                      <a:r>
                        <a:rPr lang="en-US" sz="1200" b="0" i="0" u="none" strike="noStrike">
                          <a:solidFill>
                            <a:srgbClr val="DCDCDC"/>
                          </a:solidFill>
                          <a:latin typeface="Noto Sans SC"/>
                          <a:ea typeface="Noto Sans SC"/>
                          <a:cs typeface="Noto Sans SC"/>
                          <a:sym typeface="Noto Sans SC"/>
                        </a:rPr>
                        <a:t>开发复杂度高，需处理NAT穿透等问题</a:t>
                      </a:r>
                      <a:endParaRPr lang="en-US" sz="1100"/>
                    </a:p>
                  </a:txBody>
                  <a:tcPr marL="101600" marR="101600" marT="101600" marB="101600" anchor="ctr">
                    <a:lnL>
                      <a:noFill/>
                    </a:lnL>
                    <a:lnR>
                      <a:noFill/>
                    </a:lnR>
                    <a:lnT>
                      <a:noFill/>
                    </a:lnT>
                    <a:lnB>
                      <a:noFill/>
                    </a:lnB>
                    <a:solidFill>
                      <a:srgbClr val="FFFFFF">
                        <a:alpha val="5000"/>
                      </a:srgbClr>
                    </a:solidFill>
                  </a:tcPr>
                </a:tc>
                <a:tc>
                  <a:txBody>
                    <a:bodyPr/>
                    <a:lstStyle/>
                    <a:p>
                      <a:pPr indent="0" algn="ctr">
                        <a:lnSpc>
                          <a:spcPct val="100000"/>
                        </a:lnSpc>
                        <a:defRPr/>
                      </a:pPr>
                      <a:r>
                        <a:rPr lang="en-US" sz="1200" b="0" i="0" u="none" strike="noStrike">
                          <a:solidFill>
                            <a:srgbClr val="DCDCDC"/>
                          </a:solidFill>
                          <a:latin typeface="Noto Sans SC"/>
                          <a:ea typeface="Noto Sans SC"/>
                          <a:cs typeface="Noto Sans SC"/>
                          <a:sym typeface="Noto Sans SC"/>
                        </a:rPr>
                        <a:t>技术能力强，追求高度定制化的团队</a:t>
                      </a:r>
                      <a:endParaRPr lang="en-US" sz="1100"/>
                    </a:p>
                  </a:txBody>
                  <a:tcPr marL="101600" marR="101600" marT="101600" marB="101600" anchor="ctr">
                    <a:lnL>
                      <a:noFill/>
                    </a:lnL>
                    <a:lnR>
                      <a:noFill/>
                    </a:lnR>
                    <a:lnT>
                      <a:noFill/>
                    </a:lnT>
                    <a:lnB>
                      <a:noFill/>
                    </a:lnB>
                    <a:solidFill>
                      <a:srgbClr val="FFFFFF">
                        <a:alpha val="5000"/>
                      </a:srgbClr>
                    </a:solidFill>
                  </a:tcPr>
                </a:tc>
                <a:extLst>
                  <a:ext uri="{0D108BD9-81ED-4DB2-BD59-A6C34878D82A}">
                    <a16:rowId xmlns:a16="http://schemas.microsoft.com/office/drawing/2014/main" val="10001"/>
                  </a:ext>
                </a:extLst>
              </a:tr>
              <a:tr h="635000">
                <a:tc>
                  <a:txBody>
                    <a:bodyPr/>
                    <a:lstStyle/>
                    <a:p>
                      <a:pPr indent="0" algn="ctr">
                        <a:lnSpc>
                          <a:spcPct val="100000"/>
                        </a:lnSpc>
                        <a:defRPr/>
                      </a:pPr>
                      <a:r>
                        <a:rPr lang="en-US" sz="1400" b="1" i="0" u="none" strike="noStrike">
                          <a:solidFill>
                            <a:srgbClr val="00BFFF"/>
                          </a:solidFill>
                          <a:latin typeface="Noto Sans SC"/>
                          <a:ea typeface="Noto Sans SC"/>
                          <a:cs typeface="Noto Sans SC"/>
                          <a:sym typeface="Noto Sans SC"/>
                        </a:rPr>
                        <a:t>Agora RTC</a:t>
                      </a:r>
                      <a:endParaRPr lang="en-US" sz="1100"/>
                    </a:p>
                  </a:txBody>
                  <a:tcPr marL="101600" marR="101600" marT="101600" marB="101600" anchor="ctr">
                    <a:lnL>
                      <a:noFill/>
                    </a:lnL>
                    <a:lnR>
                      <a:noFill/>
                    </a:lnR>
                    <a:lnT>
                      <a:noFill/>
                    </a:lnT>
                    <a:lnB>
                      <a:noFill/>
                    </a:lnB>
                    <a:solidFill>
                      <a:srgbClr val="00BFFF">
                        <a:alpha val="10000"/>
                      </a:srgbClr>
                    </a:solidFill>
                  </a:tcPr>
                </a:tc>
                <a:tc>
                  <a:txBody>
                    <a:bodyPr/>
                    <a:lstStyle/>
                    <a:p>
                      <a:pPr indent="0" algn="ctr">
                        <a:lnSpc>
                          <a:spcPct val="100000"/>
                        </a:lnSpc>
                        <a:defRPr/>
                      </a:pPr>
                      <a:r>
                        <a:rPr lang="en-US" sz="1200" b="0" i="0" u="none" strike="noStrike">
                          <a:solidFill>
                            <a:srgbClr val="DCDCDC"/>
                          </a:solidFill>
                          <a:latin typeface="Noto Sans SC"/>
                          <a:ea typeface="Noto Sans SC"/>
                          <a:cs typeface="Noto Sans SC"/>
                          <a:sym typeface="Noto Sans SC"/>
                        </a:rPr>
                        <a:t>第三方SDK，集成简单，文档支持完善</a:t>
                      </a:r>
                      <a:endParaRPr lang="en-US" sz="1100"/>
                    </a:p>
                  </a:txBody>
                  <a:tcPr marL="101600" marR="101600" marT="101600" marB="101600" anchor="ctr">
                    <a:lnL>
                      <a:noFill/>
                    </a:lnL>
                    <a:lnR>
                      <a:noFill/>
                    </a:lnR>
                    <a:lnT>
                      <a:noFill/>
                    </a:lnT>
                    <a:lnB>
                      <a:noFill/>
                    </a:lnB>
                    <a:solidFill>
                      <a:srgbClr val="00BFFF">
                        <a:alpha val="10000"/>
                      </a:srgbClr>
                    </a:solidFill>
                  </a:tcPr>
                </a:tc>
                <a:tc>
                  <a:txBody>
                    <a:bodyPr/>
                    <a:lstStyle/>
                    <a:p>
                      <a:pPr indent="0" algn="ctr">
                        <a:lnSpc>
                          <a:spcPct val="100000"/>
                        </a:lnSpc>
                        <a:defRPr/>
                      </a:pPr>
                      <a:r>
                        <a:rPr lang="en-US" sz="1200" b="0" i="0" u="none" strike="noStrike">
                          <a:solidFill>
                            <a:srgbClr val="DCDCDC"/>
                          </a:solidFill>
                          <a:latin typeface="Noto Sans SC"/>
                          <a:ea typeface="Noto Sans SC"/>
                          <a:cs typeface="Noto Sans SC"/>
                          <a:sym typeface="Noto Sans SC"/>
                        </a:rPr>
                        <a:t>需要付费，有一定学习成本</a:t>
                      </a:r>
                      <a:endParaRPr lang="en-US" sz="1100"/>
                    </a:p>
                  </a:txBody>
                  <a:tcPr marL="101600" marR="101600" marT="101600" marB="101600" anchor="ctr">
                    <a:lnL>
                      <a:noFill/>
                    </a:lnL>
                    <a:lnR>
                      <a:noFill/>
                    </a:lnR>
                    <a:lnT>
                      <a:noFill/>
                    </a:lnT>
                    <a:lnB>
                      <a:noFill/>
                    </a:lnB>
                    <a:solidFill>
                      <a:srgbClr val="00BFFF">
                        <a:alpha val="10000"/>
                      </a:srgbClr>
                    </a:solidFill>
                  </a:tcPr>
                </a:tc>
                <a:tc>
                  <a:txBody>
                    <a:bodyPr/>
                    <a:lstStyle/>
                    <a:p>
                      <a:pPr indent="0" algn="ctr">
                        <a:lnSpc>
                          <a:spcPct val="100000"/>
                        </a:lnSpc>
                        <a:defRPr/>
                      </a:pPr>
                      <a:r>
                        <a:rPr lang="en-US" sz="1200" b="0" i="0" u="none" strike="noStrike">
                          <a:solidFill>
                            <a:srgbClr val="DCDCDC"/>
                          </a:solidFill>
                          <a:latin typeface="Noto Sans SC"/>
                          <a:ea typeface="Noto Sans SC"/>
                          <a:cs typeface="Noto Sans SC"/>
                          <a:sym typeface="Noto Sans SC"/>
                        </a:rPr>
                        <a:t>追求开发效率，希望快速实现功能的团队</a:t>
                      </a:r>
                      <a:endParaRPr lang="en-US" sz="1100"/>
                    </a:p>
                  </a:txBody>
                  <a:tcPr marL="101600" marR="101600" marT="101600" marB="101600" anchor="ctr">
                    <a:lnL>
                      <a:noFill/>
                    </a:lnL>
                    <a:lnR>
                      <a:noFill/>
                    </a:lnR>
                    <a:lnT>
                      <a:noFill/>
                    </a:lnT>
                    <a:lnB>
                      <a:noFill/>
                    </a:lnB>
                    <a:solidFill>
                      <a:srgbClr val="00BFFF">
                        <a:alpha val="10000"/>
                      </a:srgbClr>
                    </a:solidFill>
                  </a:tcPr>
                </a:tc>
                <a:extLst>
                  <a:ext uri="{0D108BD9-81ED-4DB2-BD59-A6C34878D82A}">
                    <a16:rowId xmlns:a16="http://schemas.microsoft.com/office/drawing/2014/main" val="10002"/>
                  </a:ext>
                </a:extLst>
              </a:tr>
              <a:tr h="635000">
                <a:tc>
                  <a:txBody>
                    <a:bodyPr/>
                    <a:lstStyle/>
                    <a:p>
                      <a:pPr indent="0" algn="ctr">
                        <a:lnSpc>
                          <a:spcPct val="100000"/>
                        </a:lnSpc>
                        <a:defRPr/>
                      </a:pPr>
                      <a:r>
                        <a:rPr lang="en-US" sz="1400" b="1" i="0" u="none" strike="noStrike">
                          <a:solidFill>
                            <a:srgbClr val="FFB6C1"/>
                          </a:solidFill>
                          <a:latin typeface="Noto Sans SC"/>
                          <a:ea typeface="Noto Sans SC"/>
                          <a:cs typeface="Noto Sans SC"/>
                          <a:sym typeface="Noto Sans SC"/>
                        </a:rPr>
                        <a:t>Firebase</a:t>
                      </a:r>
                      <a:endParaRPr lang="en-US" sz="1100"/>
                    </a:p>
                  </a:txBody>
                  <a:tcPr marL="101600" marR="101600" marT="101600" marB="101600" anchor="ctr">
                    <a:lnL>
                      <a:noFill/>
                    </a:lnL>
                    <a:lnR>
                      <a:noFill/>
                    </a:lnR>
                    <a:lnT>
                      <a:noFill/>
                    </a:lnT>
                    <a:lnB>
                      <a:noFill/>
                    </a:lnB>
                    <a:solidFill>
                      <a:srgbClr val="FFFFFF">
                        <a:alpha val="5000"/>
                      </a:srgbClr>
                    </a:solidFill>
                  </a:tcPr>
                </a:tc>
                <a:tc>
                  <a:txBody>
                    <a:bodyPr/>
                    <a:lstStyle/>
                    <a:p>
                      <a:pPr indent="0" algn="ctr">
                        <a:lnSpc>
                          <a:spcPct val="100000"/>
                        </a:lnSpc>
                        <a:defRPr/>
                      </a:pPr>
                      <a:r>
                        <a:rPr lang="en-US" sz="1200" b="0" i="0" u="none" strike="noStrike">
                          <a:solidFill>
                            <a:srgbClr val="DCDCDC"/>
                          </a:solidFill>
                          <a:latin typeface="Noto Sans SC"/>
                          <a:ea typeface="Noto Sans SC"/>
                          <a:cs typeface="Noto Sans SC"/>
                          <a:sym typeface="Noto Sans SC"/>
                        </a:rPr>
                        <a:t>与Firebase生态深度集成，适合已有项目</a:t>
                      </a:r>
                      <a:endParaRPr lang="en-US" sz="1100"/>
                    </a:p>
                  </a:txBody>
                  <a:tcPr marL="101600" marR="101600" marT="101600" marB="101600" anchor="ctr">
                    <a:lnL>
                      <a:noFill/>
                    </a:lnL>
                    <a:lnR>
                      <a:noFill/>
                    </a:lnR>
                    <a:lnT>
                      <a:noFill/>
                    </a:lnT>
                    <a:lnB>
                      <a:noFill/>
                    </a:lnB>
                    <a:solidFill>
                      <a:srgbClr val="FFFFFF">
                        <a:alpha val="5000"/>
                      </a:srgbClr>
                    </a:solidFill>
                  </a:tcPr>
                </a:tc>
                <a:tc>
                  <a:txBody>
                    <a:bodyPr/>
                    <a:lstStyle/>
                    <a:p>
                      <a:pPr indent="0" algn="ctr">
                        <a:lnSpc>
                          <a:spcPct val="100000"/>
                        </a:lnSpc>
                        <a:defRPr/>
                      </a:pPr>
                      <a:r>
                        <a:rPr lang="en-US" sz="1200" b="0" i="0" u="none" strike="noStrike">
                          <a:solidFill>
                            <a:srgbClr val="DCDCDC"/>
                          </a:solidFill>
                          <a:latin typeface="Noto Sans SC"/>
                          <a:ea typeface="Noto Sans SC"/>
                          <a:cs typeface="Noto Sans SC"/>
                          <a:sym typeface="Noto Sans SC"/>
                        </a:rPr>
                        <a:t>功能相对基础，定制化程度较低</a:t>
                      </a:r>
                      <a:endParaRPr lang="en-US" sz="1100"/>
                    </a:p>
                  </a:txBody>
                  <a:tcPr marL="101600" marR="101600" marT="101600" marB="101600" anchor="ctr">
                    <a:lnL>
                      <a:noFill/>
                    </a:lnL>
                    <a:lnR>
                      <a:noFill/>
                    </a:lnR>
                    <a:lnT>
                      <a:noFill/>
                    </a:lnT>
                    <a:lnB>
                      <a:noFill/>
                    </a:lnB>
                    <a:solidFill>
                      <a:srgbClr val="FFFFFF">
                        <a:alpha val="5000"/>
                      </a:srgbClr>
                    </a:solidFill>
                  </a:tcPr>
                </a:tc>
                <a:tc>
                  <a:txBody>
                    <a:bodyPr/>
                    <a:lstStyle/>
                    <a:p>
                      <a:pPr indent="0" algn="ctr">
                        <a:lnSpc>
                          <a:spcPct val="100000"/>
                        </a:lnSpc>
                        <a:defRPr/>
                      </a:pPr>
                      <a:r>
                        <a:rPr lang="en-US" sz="1200" b="0" i="0" u="none" strike="noStrike">
                          <a:solidFill>
                            <a:srgbClr val="DCDCDC"/>
                          </a:solidFill>
                          <a:latin typeface="Noto Sans SC"/>
                          <a:ea typeface="Noto Sans SC"/>
                          <a:cs typeface="Noto Sans SC"/>
                          <a:sym typeface="Noto Sans SC"/>
                        </a:rPr>
                        <a:t>使用Firebase作为后端服务的团队</a:t>
                      </a:r>
                      <a:endParaRPr lang="en-US" sz="1100"/>
                    </a:p>
                  </a:txBody>
                  <a:tcPr marL="101600" marR="101600" marT="101600" marB="101600" anchor="ctr">
                    <a:lnL>
                      <a:noFill/>
                    </a:lnL>
                    <a:lnR>
                      <a:noFill/>
                    </a:lnR>
                    <a:lnT>
                      <a:noFill/>
                    </a:lnT>
                    <a:lnB>
                      <a:noFill/>
                    </a:lnB>
                    <a:solidFill>
                      <a:srgbClr val="FFFFFF">
                        <a:alpha val="5000"/>
                      </a:srgbClr>
                    </a:solidFill>
                  </a:tcPr>
                </a:tc>
                <a:extLst>
                  <a:ext uri="{0D108BD9-81ED-4DB2-BD59-A6C34878D82A}">
                    <a16:rowId xmlns:a16="http://schemas.microsoft.com/office/drawing/2014/main" val="10003"/>
                  </a:ext>
                </a:extLst>
              </a:tr>
            </a:tbl>
          </a:graphicData>
        </a:graphic>
      </p:graphicFrame>
      <p:sp>
        <p:nvSpPr>
          <p:cNvPr id="9" name="AutoShape 9"/>
          <p:cNvSpPr/>
          <p:nvPr/>
        </p:nvSpPr>
        <p:spPr>
          <a:xfrm>
            <a:off x="762000" y="4889500"/>
            <a:ext cx="10668000" cy="635000"/>
          </a:xfrm>
          <a:prstGeom prst="roundRect">
            <a:avLst>
              <a:gd name="adj" fmla="val 20000"/>
            </a:avLst>
          </a:prstGeom>
          <a:solidFill>
            <a:srgbClr val="FFB6C1">
              <a:alpha val="15000"/>
            </a:srgbClr>
          </a:solidFill>
          <a:ln w="12700" cap="flat" cmpd="sng">
            <a:solidFill>
              <a:srgbClr val="FFB6C1">
                <a:alpha val="100000"/>
              </a:srgbClr>
            </a:solidFill>
            <a:prstDash val="solid"/>
            <a:round/>
          </a:ln>
        </p:spPr>
        <p:txBody>
          <a:bodyPr vert="horz" wrap="square" lIns="63500" tIns="63500" rIns="63500" bIns="63500" rtlCol="0" anchor="ctr"/>
          <a:lstStyle/>
          <a:p>
            <a:pPr algn="ctr">
              <a:defRPr/>
            </a:pPr>
            <a:endParaRPr/>
          </a:p>
        </p:txBody>
      </p:sp>
      <p:pic>
        <p:nvPicPr>
          <p:cNvPr id="10" name="Picture 10"/>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52500" y="5029200"/>
            <a:ext cx="355600" cy="355600"/>
          </a:xfrm>
          <a:prstGeom prst="rect">
            <a:avLst/>
          </a:prstGeom>
        </p:spPr>
      </p:pic>
      <p:sp>
        <p:nvSpPr>
          <p:cNvPr id="11" name="AutoShape 11"/>
          <p:cNvSpPr/>
          <p:nvPr/>
        </p:nvSpPr>
        <p:spPr>
          <a:xfrm>
            <a:off x="1460500" y="5016500"/>
            <a:ext cx="9652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B6C1"/>
                </a:solidFill>
                <a:latin typeface="Noto Sans SC"/>
                <a:ea typeface="Noto Sans SC"/>
                <a:cs typeface="Noto Sans SC"/>
                <a:sym typeface="Noto Sans SC"/>
              </a:rPr>
              <a:t>最终选择：</a:t>
            </a:r>
            <a:r>
              <a:rPr lang="en-US" sz="1600" b="0" i="0" u="none" strike="noStrike">
                <a:solidFill>
                  <a:srgbClr val="FFFFFF"/>
                </a:solidFill>
                <a:latin typeface="Noto Sans SC"/>
                <a:ea typeface="Noto Sans SC"/>
                <a:cs typeface="Noto Sans SC"/>
                <a:sym typeface="Noto Sans SC"/>
              </a:rPr>
              <a:t>综合考虑开发效率和功能需求，推荐使用</a:t>
            </a:r>
            <a:r>
              <a:rPr lang="en-US" sz="1600" b="1" i="0" u="none" strike="noStrike">
                <a:solidFill>
                  <a:srgbClr val="FFB6C1"/>
                </a:solidFill>
                <a:latin typeface="Noto Sans SC"/>
                <a:ea typeface="Noto Sans SC"/>
                <a:cs typeface="Noto Sans SC"/>
                <a:sym typeface="Noto Sans SC"/>
              </a:rPr>
              <a:t>Agora RTC SDK</a:t>
            </a:r>
            <a:endParaRPr lang="en-US" sz="1100"/>
          </a:p>
        </p:txBody>
      </p:sp>
      <p:sp>
        <p:nvSpPr>
          <p:cNvPr id="12" name="AutoShape 12"/>
          <p:cNvSpPr/>
          <p:nvPr/>
        </p:nvSpPr>
        <p:spPr>
          <a:xfrm>
            <a:off x="762000" y="5715000"/>
            <a:ext cx="10668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400" b="0" i="1" u="none" strike="noStrike">
                <a:solidFill>
                  <a:srgbClr val="E6E6FA"/>
                </a:solidFill>
                <a:latin typeface="Noto Sans SC"/>
                <a:ea typeface="Noto Sans SC"/>
                <a:cs typeface="Noto Sans SC"/>
                <a:sym typeface="Noto Sans SC"/>
              </a:rPr>
              <a:t>行动指令：请根据团队技术能力和项目需求，选择合适的视频通话技术方案。</a:t>
            </a:r>
            <a:endParaRPr lang="en-US" sz="11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00000">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0A192F">
              <a:alpha val="85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762000" y="508000"/>
            <a:ext cx="106680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00BFFF"/>
                </a:solidFill>
                <a:latin typeface="Noto Sans SC"/>
                <a:ea typeface="Noto Sans SC"/>
                <a:cs typeface="Noto Sans SC"/>
                <a:sym typeface="Noto Sans SC"/>
              </a:rPr>
              <a:t>Agora RTC SDK 集成详解（一）：环境准备</a:t>
            </a:r>
            <a:endParaRPr lang="en-US" sz="1100"/>
          </a:p>
        </p:txBody>
      </p:sp>
      <p:sp>
        <p:nvSpPr>
          <p:cNvPr id="5" name="AutoShape 5"/>
          <p:cNvSpPr/>
          <p:nvPr/>
        </p:nvSpPr>
        <p:spPr>
          <a:xfrm>
            <a:off x="762000" y="1397000"/>
            <a:ext cx="5143500" cy="1270000"/>
          </a:xfrm>
          <a:prstGeom prst="roundRect">
            <a:avLst>
              <a:gd name="adj" fmla="val 10000"/>
            </a:avLst>
          </a:prstGeom>
          <a:solidFill>
            <a:srgbClr val="FFFFFF">
              <a:alpha val="8000"/>
            </a:srgbClr>
          </a:solidFill>
          <a:ln w="12700" cap="flat" cmpd="sng">
            <a:solidFill>
              <a:srgbClr val="00BFFF">
                <a:alpha val="30000"/>
              </a:srgbClr>
            </a:solidFill>
            <a:prstDash val="solid"/>
            <a:round/>
          </a:ln>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1587500"/>
            <a:ext cx="406400" cy="406400"/>
          </a:xfrm>
          <a:prstGeom prst="rect">
            <a:avLst/>
          </a:prstGeom>
        </p:spPr>
      </p:pic>
      <p:sp>
        <p:nvSpPr>
          <p:cNvPr id="7" name="AutoShape 7"/>
          <p:cNvSpPr/>
          <p:nvPr/>
        </p:nvSpPr>
        <p:spPr>
          <a:xfrm>
            <a:off x="1524000" y="1549400"/>
            <a:ext cx="4191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Noto Sans SC"/>
                <a:ea typeface="Noto Sans SC"/>
                <a:cs typeface="Noto Sans SC"/>
                <a:sym typeface="Noto Sans SC"/>
              </a:rPr>
              <a:t>1. 注册 Agora 账号</a:t>
            </a:r>
            <a:endParaRPr lang="en-US" sz="1100"/>
          </a:p>
        </p:txBody>
      </p:sp>
      <p:sp>
        <p:nvSpPr>
          <p:cNvPr id="8" name="AutoShape 8"/>
          <p:cNvSpPr/>
          <p:nvPr/>
        </p:nvSpPr>
        <p:spPr>
          <a:xfrm>
            <a:off x="1524000" y="1930400"/>
            <a:ext cx="4191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FFFFFF">
                    <a:alpha val="80000"/>
                  </a:srgbClr>
                </a:solidFill>
                <a:latin typeface="Noto Sans SC"/>
                <a:ea typeface="Noto Sans SC"/>
                <a:cs typeface="Noto Sans SC"/>
                <a:sym typeface="Noto Sans SC"/>
              </a:rPr>
              <a:t>访问 Agora 官网 (agora.io)，注册开发者账号，这是开发的第一步。</a:t>
            </a:r>
            <a:endParaRPr lang="en-US" sz="1100"/>
          </a:p>
        </p:txBody>
      </p:sp>
      <p:sp>
        <p:nvSpPr>
          <p:cNvPr id="9" name="AutoShape 9"/>
          <p:cNvSpPr/>
          <p:nvPr/>
        </p:nvSpPr>
        <p:spPr>
          <a:xfrm>
            <a:off x="6286500" y="1397000"/>
            <a:ext cx="5143500" cy="1270000"/>
          </a:xfrm>
          <a:prstGeom prst="roundRect">
            <a:avLst>
              <a:gd name="adj" fmla="val 10000"/>
            </a:avLst>
          </a:prstGeom>
          <a:solidFill>
            <a:srgbClr val="FFFFFF">
              <a:alpha val="8000"/>
            </a:srgbClr>
          </a:solidFill>
          <a:ln w="12700" cap="flat" cmpd="sng">
            <a:solidFill>
              <a:srgbClr val="00BFFF">
                <a:alpha val="30000"/>
              </a:srgbClr>
            </a:solidFill>
            <a:prstDash val="solid"/>
            <a:round/>
          </a:ln>
        </p:spPr>
        <p:txBody>
          <a:bodyPr vert="horz" wrap="square" lIns="63500" tIns="63500" rIns="63500" bIns="63500" rtlCol="0" anchor="ctr"/>
          <a:lstStyle/>
          <a:p>
            <a:pPr algn="ctr">
              <a:defRPr/>
            </a:pPr>
            <a:endParaRPr/>
          </a:p>
        </p:txBody>
      </p:sp>
      <p:pic>
        <p:nvPicPr>
          <p:cNvPr id="10" name="Picture 10"/>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540500" y="1587500"/>
            <a:ext cx="406400" cy="406400"/>
          </a:xfrm>
          <a:prstGeom prst="rect">
            <a:avLst/>
          </a:prstGeom>
        </p:spPr>
      </p:pic>
      <p:sp>
        <p:nvSpPr>
          <p:cNvPr id="11" name="AutoShape 11"/>
          <p:cNvSpPr/>
          <p:nvPr/>
        </p:nvSpPr>
        <p:spPr>
          <a:xfrm>
            <a:off x="7048500" y="1549400"/>
            <a:ext cx="4191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Noto Sans SC"/>
                <a:ea typeface="Noto Sans SC"/>
                <a:cs typeface="Noto Sans SC"/>
                <a:sym typeface="Noto Sans SC"/>
              </a:rPr>
              <a:t>2. 创建项目获取 App ID</a:t>
            </a:r>
            <a:endParaRPr lang="en-US" sz="1100"/>
          </a:p>
        </p:txBody>
      </p:sp>
      <p:sp>
        <p:nvSpPr>
          <p:cNvPr id="12" name="AutoShape 12"/>
          <p:cNvSpPr/>
          <p:nvPr/>
        </p:nvSpPr>
        <p:spPr>
          <a:xfrm>
            <a:off x="7048500" y="1930400"/>
            <a:ext cx="4191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FFFFFF">
                    <a:alpha val="80000"/>
                  </a:srgbClr>
                </a:solidFill>
                <a:latin typeface="Noto Sans SC"/>
                <a:ea typeface="Noto Sans SC"/>
                <a:cs typeface="Noto Sans SC"/>
                <a:sym typeface="Noto Sans SC"/>
              </a:rPr>
              <a:t>在控制台创建新项目，获取唯一的 App ID，这是 SDK 集成的核心凭证。</a:t>
            </a:r>
            <a:endParaRPr lang="en-US" sz="1100"/>
          </a:p>
        </p:txBody>
      </p:sp>
      <p:sp>
        <p:nvSpPr>
          <p:cNvPr id="13" name="AutoShape 13"/>
          <p:cNvSpPr/>
          <p:nvPr/>
        </p:nvSpPr>
        <p:spPr>
          <a:xfrm>
            <a:off x="762000" y="2921000"/>
            <a:ext cx="5143500" cy="1524000"/>
          </a:xfrm>
          <a:prstGeom prst="roundRect">
            <a:avLst>
              <a:gd name="adj" fmla="val 8333"/>
            </a:avLst>
          </a:prstGeom>
          <a:solidFill>
            <a:srgbClr val="FFFFFF">
              <a:alpha val="8000"/>
            </a:srgbClr>
          </a:solidFill>
          <a:ln w="12700" cap="flat" cmpd="sng">
            <a:solidFill>
              <a:srgbClr val="00BFFF">
                <a:alpha val="30000"/>
              </a:srgbClr>
            </a:solidFill>
            <a:prstDash val="solid"/>
            <a:round/>
          </a:ln>
        </p:spPr>
        <p:txBody>
          <a:bodyPr vert="horz" wrap="square" lIns="63500" tIns="63500" rIns="63500" bIns="63500" rtlCol="0" anchor="ctr"/>
          <a:lstStyle/>
          <a:p>
            <a:pPr algn="ctr">
              <a:defRPr/>
            </a:pPr>
            <a:endParaRPr/>
          </a:p>
        </p:txBody>
      </p:sp>
      <p:pic>
        <p:nvPicPr>
          <p:cNvPr id="14" name="Picture 14"/>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016000" y="3111500"/>
            <a:ext cx="406400" cy="406400"/>
          </a:xfrm>
          <a:prstGeom prst="rect">
            <a:avLst/>
          </a:prstGeom>
        </p:spPr>
      </p:pic>
      <p:sp>
        <p:nvSpPr>
          <p:cNvPr id="15" name="AutoShape 15"/>
          <p:cNvSpPr/>
          <p:nvPr/>
        </p:nvSpPr>
        <p:spPr>
          <a:xfrm>
            <a:off x="1524000" y="3073400"/>
            <a:ext cx="4191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Noto Sans SC"/>
                <a:ea typeface="Noto Sans SC"/>
                <a:cs typeface="Noto Sans SC"/>
                <a:sym typeface="Noto Sans SC"/>
              </a:rPr>
              <a:t>3. 集成 SDK 依赖</a:t>
            </a:r>
            <a:endParaRPr lang="en-US" sz="1100"/>
          </a:p>
        </p:txBody>
      </p:sp>
      <p:sp>
        <p:nvSpPr>
          <p:cNvPr id="16" name="AutoShape 16"/>
          <p:cNvSpPr/>
          <p:nvPr/>
        </p:nvSpPr>
        <p:spPr>
          <a:xfrm>
            <a:off x="1524000" y="3492500"/>
            <a:ext cx="4064000" cy="508000"/>
          </a:xfrm>
          <a:prstGeom prst="roundRect">
            <a:avLst>
              <a:gd name="adj" fmla="val 12500"/>
            </a:avLst>
          </a:prstGeom>
          <a:solidFill>
            <a:srgbClr val="000000">
              <a:alpha val="40000"/>
            </a:srgbClr>
          </a:solidFill>
          <a:ln w="25400" cap="flat" cmpd="sng">
            <a:noFill/>
            <a:prstDash val="solid"/>
            <a:round/>
          </a:ln>
        </p:spPr>
        <p:txBody>
          <a:bodyPr vert="horz" wrap="square" lIns="0" tIns="0" rIns="0" bIns="0" rtlCol="0" anchor="ctr" anchorCtr="0"/>
          <a:lstStyle/>
          <a:p>
            <a:pPr indent="0" algn="ctr">
              <a:lnSpc>
                <a:spcPct val="125000"/>
              </a:lnSpc>
              <a:defRPr/>
            </a:pPr>
            <a:r>
              <a:rPr lang="en-US" sz="1200" b="0" i="0" u="none" strike="noStrike">
                <a:solidFill>
                  <a:srgbClr val="E6E6FA"/>
                </a:solidFill>
                <a:latin typeface="Noto Sans SC"/>
                <a:ea typeface="Noto Sans SC"/>
                <a:cs typeface="Noto Sans SC"/>
                <a:sym typeface="Noto Sans SC"/>
              </a:rPr>
              <a:t>dependencies { implementation 'io.agora.rtc:full-sdk:4.0.0' }</a:t>
            </a:r>
            <a:endParaRPr lang="en-US" sz="1100"/>
          </a:p>
        </p:txBody>
      </p:sp>
      <p:sp>
        <p:nvSpPr>
          <p:cNvPr id="17" name="AutoShape 17"/>
          <p:cNvSpPr/>
          <p:nvPr/>
        </p:nvSpPr>
        <p:spPr>
          <a:xfrm>
            <a:off x="6286500" y="2921000"/>
            <a:ext cx="5143500" cy="1524000"/>
          </a:xfrm>
          <a:prstGeom prst="roundRect">
            <a:avLst>
              <a:gd name="adj" fmla="val 8333"/>
            </a:avLst>
          </a:prstGeom>
          <a:solidFill>
            <a:srgbClr val="FFFFFF">
              <a:alpha val="8000"/>
            </a:srgbClr>
          </a:solidFill>
          <a:ln w="12700" cap="flat" cmpd="sng">
            <a:solidFill>
              <a:srgbClr val="00BFFF">
                <a:alpha val="30000"/>
              </a:srgbClr>
            </a:solidFill>
            <a:prstDash val="solid"/>
            <a:round/>
          </a:ln>
        </p:spPr>
        <p:txBody>
          <a:bodyPr vert="horz" wrap="square" lIns="63500" tIns="63500" rIns="63500" bIns="63500" rtlCol="0" anchor="ctr"/>
          <a:lstStyle/>
          <a:p>
            <a:pPr algn="ctr">
              <a:defRPr/>
            </a:pPr>
            <a:endParaRPr/>
          </a:p>
        </p:txBody>
      </p:sp>
      <p:pic>
        <p:nvPicPr>
          <p:cNvPr id="18" name="Picture 18"/>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6540500" y="3111500"/>
            <a:ext cx="406400" cy="406400"/>
          </a:xfrm>
          <a:prstGeom prst="rect">
            <a:avLst/>
          </a:prstGeom>
        </p:spPr>
      </p:pic>
      <p:sp>
        <p:nvSpPr>
          <p:cNvPr id="19" name="AutoShape 19"/>
          <p:cNvSpPr/>
          <p:nvPr/>
        </p:nvSpPr>
        <p:spPr>
          <a:xfrm>
            <a:off x="7048500" y="3073400"/>
            <a:ext cx="4191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Noto Sans SC"/>
                <a:ea typeface="Noto Sans SC"/>
                <a:cs typeface="Noto Sans SC"/>
                <a:sym typeface="Noto Sans SC"/>
              </a:rPr>
              <a:t>4. 配置必要权限</a:t>
            </a:r>
            <a:endParaRPr lang="en-US" sz="1100"/>
          </a:p>
        </p:txBody>
      </p:sp>
      <p:sp>
        <p:nvSpPr>
          <p:cNvPr id="20" name="AutoShape 20"/>
          <p:cNvSpPr/>
          <p:nvPr/>
        </p:nvSpPr>
        <p:spPr>
          <a:xfrm>
            <a:off x="7048500" y="3492500"/>
            <a:ext cx="4064000" cy="508000"/>
          </a:xfrm>
          <a:prstGeom prst="roundRect">
            <a:avLst>
              <a:gd name="adj" fmla="val 12500"/>
            </a:avLst>
          </a:prstGeom>
          <a:solidFill>
            <a:srgbClr val="000000">
              <a:alpha val="40000"/>
            </a:srgbClr>
          </a:solidFill>
          <a:ln w="25400" cap="flat" cmpd="sng">
            <a:noFill/>
            <a:prstDash val="solid"/>
            <a:round/>
          </a:ln>
        </p:spPr>
        <p:txBody>
          <a:bodyPr vert="horz" wrap="square" lIns="0" tIns="0" rIns="0" bIns="0" rtlCol="0" anchor="ctr" anchorCtr="0"/>
          <a:lstStyle/>
          <a:p>
            <a:pPr indent="0" algn="ctr">
              <a:lnSpc>
                <a:spcPct val="125000"/>
              </a:lnSpc>
              <a:defRPr/>
            </a:pPr>
            <a:r>
              <a:rPr lang="en-US" sz="1200" b="0" i="0" u="none" strike="noStrike">
                <a:solidFill>
                  <a:srgbClr val="E6E6FA"/>
                </a:solidFill>
                <a:latin typeface="Noto Sans SC"/>
                <a:ea typeface="Noto Sans SC"/>
                <a:cs typeface="Noto Sans SC"/>
                <a:sym typeface="Noto Sans SC"/>
              </a:rPr>
              <a:t>&lt;uses-permission android:name="android.permission.CAMERA" /&gt; &lt;uses-permission android:name="android.permission.RECORD_AUDIO" /&gt;</a:t>
            </a:r>
            <a:endParaRPr lang="en-US" sz="1100"/>
          </a:p>
        </p:txBody>
      </p:sp>
      <p:sp>
        <p:nvSpPr>
          <p:cNvPr id="21" name="AutoShape 21"/>
          <p:cNvSpPr/>
          <p:nvPr/>
        </p:nvSpPr>
        <p:spPr>
          <a:xfrm>
            <a:off x="762000" y="4826000"/>
            <a:ext cx="10668000" cy="762000"/>
          </a:xfrm>
          <a:prstGeom prst="roundRect">
            <a:avLst>
              <a:gd name="adj" fmla="val 16666"/>
            </a:avLst>
          </a:prstGeom>
          <a:solidFill>
            <a:srgbClr val="FFB6C1">
              <a:alpha val="15000"/>
            </a:srgbClr>
          </a:solidFill>
          <a:ln w="12700" cap="flat" cmpd="sng">
            <a:solidFill>
              <a:srgbClr val="FFB6C1">
                <a:alpha val="50000"/>
              </a:srgbClr>
            </a:solidFill>
            <a:prstDash val="solid"/>
            <a:round/>
          </a:ln>
        </p:spPr>
        <p:txBody>
          <a:bodyPr vert="horz" wrap="square" lIns="63500" tIns="63500" rIns="63500" bIns="63500" rtlCol="0" anchor="ctr"/>
          <a:lstStyle/>
          <a:p>
            <a:pPr algn="ctr">
              <a:defRPr/>
            </a:pPr>
            <a:endParaRPr/>
          </a:p>
        </p:txBody>
      </p:sp>
      <p:pic>
        <p:nvPicPr>
          <p:cNvPr id="22" name="Picture 22"/>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1016000" y="5054600"/>
            <a:ext cx="304800" cy="304800"/>
          </a:xfrm>
          <a:prstGeom prst="rect">
            <a:avLst/>
          </a:prstGeom>
        </p:spPr>
      </p:pic>
      <p:sp>
        <p:nvSpPr>
          <p:cNvPr id="23" name="AutoShape 23"/>
          <p:cNvSpPr/>
          <p:nvPr/>
        </p:nvSpPr>
        <p:spPr>
          <a:xfrm>
            <a:off x="1397000" y="4953000"/>
            <a:ext cx="9906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Noto Sans SC"/>
                <a:ea typeface="Noto Sans SC"/>
                <a:cs typeface="Noto Sans SC"/>
                <a:sym typeface="Noto Sans SC"/>
              </a:rPr>
              <a:t>行动指令：</a:t>
            </a:r>
            <a:r>
              <a:rPr lang="en-US" sz="1600" b="0" i="0" u="none" strike="noStrike">
                <a:solidFill>
                  <a:srgbClr val="FFFFFF">
                    <a:alpha val="90196"/>
                  </a:srgbClr>
                </a:solidFill>
                <a:latin typeface="Noto Sans SC"/>
                <a:ea typeface="Noto Sans SC"/>
                <a:cs typeface="Noto Sans SC"/>
                <a:sym typeface="Noto Sans SC"/>
              </a:rPr>
              <a:t>请大家按照上述步骤完成 Agora 账号注册、项目创建，并在 Android 项目中完成 SDK 集成与权限配置。</a:t>
            </a:r>
            <a:endParaRPr lang="en-US" sz="11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A1428">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0A1428">
              <a:alpha val="85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762000" y="381000"/>
            <a:ext cx="106680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00BFFF"/>
                </a:solidFill>
                <a:latin typeface="Noto Sans SC"/>
                <a:ea typeface="Noto Sans SC"/>
                <a:cs typeface="Noto Sans SC"/>
                <a:sym typeface="Noto Sans SC"/>
              </a:rPr>
              <a:t>Agora RTC SDK 集成详解（二）：核心代码实现</a:t>
            </a:r>
            <a:endParaRPr lang="en-US" sz="1100"/>
          </a:p>
        </p:txBody>
      </p:sp>
      <p:sp>
        <p:nvSpPr>
          <p:cNvPr id="5" name="AutoShape 5"/>
          <p:cNvSpPr/>
          <p:nvPr/>
        </p:nvSpPr>
        <p:spPr>
          <a:xfrm>
            <a:off x="762000" y="1270000"/>
            <a:ext cx="5207000" cy="1079500"/>
          </a:xfrm>
          <a:prstGeom prst="roundRect">
            <a:avLst>
              <a:gd name="adj" fmla="val 11764"/>
            </a:avLst>
          </a:prstGeom>
          <a:solidFill>
            <a:srgbClr val="FFFFFF">
              <a:alpha val="8000"/>
            </a:srgbClr>
          </a:solidFill>
          <a:ln w="12700" cap="flat" cmpd="sng">
            <a:solidFill>
              <a:srgbClr val="00BFFF">
                <a:alpha val="30000"/>
              </a:srgbClr>
            </a:solidFill>
            <a:prstDash val="solid"/>
            <a:round/>
          </a:ln>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52500" y="1397000"/>
            <a:ext cx="304800" cy="304800"/>
          </a:xfrm>
          <a:prstGeom prst="rect">
            <a:avLst/>
          </a:prstGeom>
        </p:spPr>
      </p:pic>
      <p:sp>
        <p:nvSpPr>
          <p:cNvPr id="7" name="AutoShape 7"/>
          <p:cNvSpPr/>
          <p:nvPr/>
        </p:nvSpPr>
        <p:spPr>
          <a:xfrm>
            <a:off x="1333500" y="1371600"/>
            <a:ext cx="4445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B6C1"/>
                </a:solidFill>
                <a:latin typeface="Noto Sans SC"/>
                <a:ea typeface="Noto Sans SC"/>
                <a:cs typeface="Noto Sans SC"/>
                <a:sym typeface="Noto Sans SC"/>
              </a:rPr>
              <a:t>初始化 RTC 引擎</a:t>
            </a:r>
            <a:endParaRPr lang="en-US" sz="1100"/>
          </a:p>
        </p:txBody>
      </p:sp>
      <p:sp>
        <p:nvSpPr>
          <p:cNvPr id="8" name="AutoShape 8"/>
          <p:cNvSpPr/>
          <p:nvPr/>
        </p:nvSpPr>
        <p:spPr>
          <a:xfrm>
            <a:off x="952500" y="1714500"/>
            <a:ext cx="4826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E6E6FA"/>
                </a:solidFill>
                <a:latin typeface="Roboto Mono"/>
                <a:ea typeface="Roboto Mono"/>
                <a:cs typeface="Roboto Mono"/>
                <a:sym typeface="Roboto Mono"/>
              </a:rPr>
              <a:t>RtcEngine mRtcEngine = RtcEngine.create(context, "App ID", mRtcEventHandler);</a:t>
            </a:r>
            <a:endParaRPr lang="en-US" sz="1100"/>
          </a:p>
        </p:txBody>
      </p:sp>
      <p:sp>
        <p:nvSpPr>
          <p:cNvPr id="9" name="AutoShape 9"/>
          <p:cNvSpPr/>
          <p:nvPr/>
        </p:nvSpPr>
        <p:spPr>
          <a:xfrm>
            <a:off x="762000" y="2476500"/>
            <a:ext cx="5207000" cy="1079500"/>
          </a:xfrm>
          <a:prstGeom prst="roundRect">
            <a:avLst>
              <a:gd name="adj" fmla="val 11764"/>
            </a:avLst>
          </a:prstGeom>
          <a:solidFill>
            <a:srgbClr val="FFFFFF">
              <a:alpha val="8000"/>
            </a:srgbClr>
          </a:solidFill>
          <a:ln w="12700" cap="flat" cmpd="sng">
            <a:solidFill>
              <a:srgbClr val="00BFFF">
                <a:alpha val="30000"/>
              </a:srgbClr>
            </a:solidFill>
            <a:prstDash val="solid"/>
            <a:round/>
          </a:ln>
        </p:spPr>
        <p:txBody>
          <a:bodyPr vert="horz" wrap="square" lIns="63500" tIns="63500" rIns="63500" bIns="63500" rtlCol="0" anchor="ctr"/>
          <a:lstStyle/>
          <a:p>
            <a:pPr algn="ctr">
              <a:defRPr/>
            </a:pPr>
            <a:endParaRPr/>
          </a:p>
        </p:txBody>
      </p:sp>
      <p:pic>
        <p:nvPicPr>
          <p:cNvPr id="10" name="Picture 10"/>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52500" y="2603500"/>
            <a:ext cx="304800" cy="304800"/>
          </a:xfrm>
          <a:prstGeom prst="rect">
            <a:avLst/>
          </a:prstGeom>
        </p:spPr>
      </p:pic>
      <p:sp>
        <p:nvSpPr>
          <p:cNvPr id="11" name="AutoShape 11"/>
          <p:cNvSpPr/>
          <p:nvPr/>
        </p:nvSpPr>
        <p:spPr>
          <a:xfrm>
            <a:off x="1333500" y="2578100"/>
            <a:ext cx="4445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B6C1"/>
                </a:solidFill>
                <a:latin typeface="Noto Sans SC"/>
                <a:ea typeface="Noto Sans SC"/>
                <a:cs typeface="Noto Sans SC"/>
                <a:sym typeface="Noto Sans SC"/>
              </a:rPr>
              <a:t>加入频道</a:t>
            </a:r>
            <a:endParaRPr lang="en-US" sz="1100"/>
          </a:p>
        </p:txBody>
      </p:sp>
      <p:sp>
        <p:nvSpPr>
          <p:cNvPr id="12" name="AutoShape 12"/>
          <p:cNvSpPr/>
          <p:nvPr/>
        </p:nvSpPr>
        <p:spPr>
          <a:xfrm>
            <a:off x="952500" y="2921000"/>
            <a:ext cx="4826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E6E6FA"/>
                </a:solidFill>
                <a:latin typeface="Roboto Mono"/>
                <a:ea typeface="Roboto Mono"/>
                <a:cs typeface="Roboto Mono"/>
                <a:sym typeface="Roboto Mono"/>
              </a:rPr>
              <a:t>mRtcEngine.joinChannel(null, "频道名", null, 0);</a:t>
            </a:r>
            <a:endParaRPr lang="en-US" sz="1100"/>
          </a:p>
        </p:txBody>
      </p:sp>
      <p:sp>
        <p:nvSpPr>
          <p:cNvPr id="13" name="AutoShape 13"/>
          <p:cNvSpPr/>
          <p:nvPr/>
        </p:nvSpPr>
        <p:spPr>
          <a:xfrm>
            <a:off x="762000" y="3683000"/>
            <a:ext cx="5207000" cy="1079500"/>
          </a:xfrm>
          <a:prstGeom prst="roundRect">
            <a:avLst>
              <a:gd name="adj" fmla="val 11764"/>
            </a:avLst>
          </a:prstGeom>
          <a:solidFill>
            <a:srgbClr val="FFFFFF">
              <a:alpha val="8000"/>
            </a:srgbClr>
          </a:solidFill>
          <a:ln w="12700" cap="flat" cmpd="sng">
            <a:solidFill>
              <a:srgbClr val="00BFFF">
                <a:alpha val="30000"/>
              </a:srgbClr>
            </a:solidFill>
            <a:prstDash val="solid"/>
            <a:round/>
          </a:ln>
        </p:spPr>
        <p:txBody>
          <a:bodyPr vert="horz" wrap="square" lIns="63500" tIns="63500" rIns="63500" bIns="63500" rtlCol="0" anchor="ctr"/>
          <a:lstStyle/>
          <a:p>
            <a:pPr algn="ctr">
              <a:defRPr/>
            </a:pPr>
            <a:endParaRPr/>
          </a:p>
        </p:txBody>
      </p:sp>
      <p:pic>
        <p:nvPicPr>
          <p:cNvPr id="14" name="Picture 14"/>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952500" y="3810000"/>
            <a:ext cx="304800" cy="304800"/>
          </a:xfrm>
          <a:prstGeom prst="rect">
            <a:avLst/>
          </a:prstGeom>
        </p:spPr>
      </p:pic>
      <p:sp>
        <p:nvSpPr>
          <p:cNvPr id="15" name="AutoShape 15"/>
          <p:cNvSpPr/>
          <p:nvPr/>
        </p:nvSpPr>
        <p:spPr>
          <a:xfrm>
            <a:off x="1333500" y="3784600"/>
            <a:ext cx="4445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B6C1"/>
                </a:solidFill>
                <a:latin typeface="Noto Sans SC"/>
                <a:ea typeface="Noto Sans SC"/>
                <a:cs typeface="Noto Sans SC"/>
                <a:sym typeface="Noto Sans SC"/>
              </a:rPr>
              <a:t>设置本地视图</a:t>
            </a:r>
            <a:endParaRPr lang="en-US" sz="1100"/>
          </a:p>
        </p:txBody>
      </p:sp>
      <p:sp>
        <p:nvSpPr>
          <p:cNvPr id="16" name="AutoShape 16"/>
          <p:cNvSpPr/>
          <p:nvPr/>
        </p:nvSpPr>
        <p:spPr>
          <a:xfrm>
            <a:off x="952500" y="4127500"/>
            <a:ext cx="4826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E6E6FA"/>
                </a:solidFill>
                <a:latin typeface="Roboto Mono"/>
                <a:ea typeface="Roboto Mono"/>
                <a:cs typeface="Roboto Mono"/>
                <a:sym typeface="Roboto Mono"/>
              </a:rPr>
              <a:t>SurfaceView sv = RtcEngine.CreateRendererView(context);</a:t>
            </a:r>
            <a:br>
              <a:rPr lang="en-US" sz="1200" b="0" i="0" u="none" strike="noStrike">
                <a:solidFill>
                  <a:srgbClr val="E6E6FA"/>
                </a:solidFill>
                <a:latin typeface="Roboto Mono"/>
                <a:ea typeface="Roboto Mono"/>
                <a:cs typeface="Roboto Mono"/>
                <a:sym typeface="Roboto Mono"/>
              </a:rPr>
            </a:br>
            <a:r>
              <a:rPr lang="en-US" sz="1200" b="0" i="0" u="none" strike="noStrike">
                <a:solidFill>
                  <a:srgbClr val="E6E6FA"/>
                </a:solidFill>
                <a:latin typeface="Roboto Mono"/>
                <a:ea typeface="Roboto Mono"/>
                <a:cs typeface="Roboto Mono"/>
                <a:sym typeface="Roboto Mono"/>
              </a:rPr>
              <a:t>mRtcEngine.setupLocalVideo(new VideoCanvas(sv, ..., 0)); mRtcEngine.startPreview();</a:t>
            </a:r>
            <a:endParaRPr lang="en-US" sz="1100"/>
          </a:p>
        </p:txBody>
      </p:sp>
      <p:sp>
        <p:nvSpPr>
          <p:cNvPr id="17" name="AutoShape 17"/>
          <p:cNvSpPr/>
          <p:nvPr/>
        </p:nvSpPr>
        <p:spPr>
          <a:xfrm>
            <a:off x="6223000" y="1270000"/>
            <a:ext cx="5207000" cy="1079500"/>
          </a:xfrm>
          <a:prstGeom prst="roundRect">
            <a:avLst>
              <a:gd name="adj" fmla="val 11764"/>
            </a:avLst>
          </a:prstGeom>
          <a:solidFill>
            <a:srgbClr val="FFFFFF">
              <a:alpha val="8000"/>
            </a:srgbClr>
          </a:solidFill>
          <a:ln w="12700" cap="flat" cmpd="sng">
            <a:solidFill>
              <a:srgbClr val="00BFFF">
                <a:alpha val="30000"/>
              </a:srgbClr>
            </a:solidFill>
            <a:prstDash val="solid"/>
            <a:round/>
          </a:ln>
        </p:spPr>
        <p:txBody>
          <a:bodyPr vert="horz" wrap="square" lIns="63500" tIns="63500" rIns="63500" bIns="63500" rtlCol="0" anchor="ctr"/>
          <a:lstStyle/>
          <a:p>
            <a:pPr algn="ctr">
              <a:defRPr/>
            </a:pPr>
            <a:endParaRPr/>
          </a:p>
        </p:txBody>
      </p:sp>
      <p:pic>
        <p:nvPicPr>
          <p:cNvPr id="18" name="Picture 18"/>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6413500" y="1397000"/>
            <a:ext cx="304800" cy="304800"/>
          </a:xfrm>
          <a:prstGeom prst="rect">
            <a:avLst/>
          </a:prstGeom>
        </p:spPr>
      </p:pic>
      <p:sp>
        <p:nvSpPr>
          <p:cNvPr id="19" name="AutoShape 19"/>
          <p:cNvSpPr/>
          <p:nvPr/>
        </p:nvSpPr>
        <p:spPr>
          <a:xfrm>
            <a:off x="6794500" y="1371600"/>
            <a:ext cx="4445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B6C1"/>
                </a:solidFill>
                <a:latin typeface="Noto Sans SC"/>
                <a:ea typeface="Noto Sans SC"/>
                <a:cs typeface="Noto Sans SC"/>
                <a:sym typeface="Noto Sans SC"/>
              </a:rPr>
              <a:t>设置远程视图</a:t>
            </a:r>
            <a:endParaRPr lang="en-US" sz="1100"/>
          </a:p>
        </p:txBody>
      </p:sp>
      <p:sp>
        <p:nvSpPr>
          <p:cNvPr id="20" name="AutoShape 20"/>
          <p:cNvSpPr/>
          <p:nvPr/>
        </p:nvSpPr>
        <p:spPr>
          <a:xfrm>
            <a:off x="6413500" y="1714500"/>
            <a:ext cx="4826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E6E6FA"/>
                </a:solidFill>
                <a:latin typeface="Roboto Mono"/>
                <a:ea typeface="Roboto Mono"/>
                <a:cs typeface="Roboto Mono"/>
                <a:sym typeface="Roboto Mono"/>
              </a:rPr>
              <a:t>SurfaceView rv = RtcEngine.CreateRendererView(context);</a:t>
            </a:r>
            <a:br>
              <a:rPr lang="en-US" sz="1200" b="0" i="0" u="none" strike="noStrike">
                <a:solidFill>
                  <a:srgbClr val="E6E6FA"/>
                </a:solidFill>
                <a:latin typeface="Roboto Mono"/>
                <a:ea typeface="Roboto Mono"/>
                <a:cs typeface="Roboto Mono"/>
                <a:sym typeface="Roboto Mono"/>
              </a:rPr>
            </a:br>
            <a:r>
              <a:rPr lang="en-US" sz="1200" b="0" i="0" u="none" strike="noStrike">
                <a:solidFill>
                  <a:srgbClr val="E6E6FA"/>
                </a:solidFill>
                <a:latin typeface="Roboto Mono"/>
                <a:ea typeface="Roboto Mono"/>
                <a:cs typeface="Roboto Mono"/>
                <a:sym typeface="Roboto Mono"/>
              </a:rPr>
              <a:t>mRtcEngine.setupRemoteVideo(new VideoCanvas(rv, ..., remoteUid));</a:t>
            </a:r>
            <a:endParaRPr lang="en-US" sz="1100"/>
          </a:p>
        </p:txBody>
      </p:sp>
      <p:sp>
        <p:nvSpPr>
          <p:cNvPr id="21" name="AutoShape 21"/>
          <p:cNvSpPr/>
          <p:nvPr/>
        </p:nvSpPr>
        <p:spPr>
          <a:xfrm>
            <a:off x="6223000" y="2476500"/>
            <a:ext cx="5207000" cy="1079500"/>
          </a:xfrm>
          <a:prstGeom prst="roundRect">
            <a:avLst>
              <a:gd name="adj" fmla="val 11764"/>
            </a:avLst>
          </a:prstGeom>
          <a:solidFill>
            <a:srgbClr val="FFFFFF">
              <a:alpha val="8000"/>
            </a:srgbClr>
          </a:solidFill>
          <a:ln w="12700" cap="flat" cmpd="sng">
            <a:solidFill>
              <a:srgbClr val="00BFFF">
                <a:alpha val="30000"/>
              </a:srgbClr>
            </a:solidFill>
            <a:prstDash val="solid"/>
            <a:round/>
          </a:ln>
        </p:spPr>
        <p:txBody>
          <a:bodyPr vert="horz" wrap="square" lIns="63500" tIns="63500" rIns="63500" bIns="63500" rtlCol="0" anchor="ctr"/>
          <a:lstStyle/>
          <a:p>
            <a:pPr algn="ctr">
              <a:defRPr/>
            </a:pPr>
            <a:endParaRPr/>
          </a:p>
        </p:txBody>
      </p:sp>
      <p:pic>
        <p:nvPicPr>
          <p:cNvPr id="22" name="Picture 22"/>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6413500" y="2603500"/>
            <a:ext cx="304800" cy="304800"/>
          </a:xfrm>
          <a:prstGeom prst="rect">
            <a:avLst/>
          </a:prstGeom>
        </p:spPr>
      </p:pic>
      <p:sp>
        <p:nvSpPr>
          <p:cNvPr id="23" name="AutoShape 23"/>
          <p:cNvSpPr/>
          <p:nvPr/>
        </p:nvSpPr>
        <p:spPr>
          <a:xfrm>
            <a:off x="6794500" y="2578100"/>
            <a:ext cx="4445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B6C1"/>
                </a:solidFill>
                <a:latin typeface="Noto Sans SC"/>
                <a:ea typeface="Noto Sans SC"/>
                <a:cs typeface="Noto Sans SC"/>
                <a:sym typeface="Noto Sans SC"/>
              </a:rPr>
              <a:t>离开频道与销毁</a:t>
            </a:r>
            <a:endParaRPr lang="en-US" sz="1100"/>
          </a:p>
        </p:txBody>
      </p:sp>
      <p:sp>
        <p:nvSpPr>
          <p:cNvPr id="24" name="AutoShape 24"/>
          <p:cNvSpPr/>
          <p:nvPr/>
        </p:nvSpPr>
        <p:spPr>
          <a:xfrm>
            <a:off x="6413500" y="2921000"/>
            <a:ext cx="4826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E6E6FA"/>
                </a:solidFill>
                <a:latin typeface="Roboto Mono"/>
                <a:ea typeface="Roboto Mono"/>
                <a:cs typeface="Roboto Mono"/>
                <a:sym typeface="Roboto Mono"/>
              </a:rPr>
              <a:t>mRtcEngine.leaveChannel();</a:t>
            </a:r>
            <a:br>
              <a:rPr lang="en-US" sz="1200" b="0" i="0" u="none" strike="noStrike">
                <a:solidFill>
                  <a:srgbClr val="E6E6FA"/>
                </a:solidFill>
                <a:latin typeface="Roboto Mono"/>
                <a:ea typeface="Roboto Mono"/>
                <a:cs typeface="Roboto Mono"/>
                <a:sym typeface="Roboto Mono"/>
              </a:rPr>
            </a:br>
            <a:r>
              <a:rPr lang="en-US" sz="1200" b="0" i="0" u="none" strike="noStrike">
                <a:solidFill>
                  <a:srgbClr val="E6E6FA"/>
                </a:solidFill>
                <a:latin typeface="Roboto Mono"/>
                <a:ea typeface="Roboto Mono"/>
                <a:cs typeface="Roboto Mono"/>
                <a:sym typeface="Roboto Mono"/>
              </a:rPr>
              <a:t>RtcEngine.destroy();</a:t>
            </a:r>
            <a:endParaRPr lang="en-US" sz="1100"/>
          </a:p>
        </p:txBody>
      </p:sp>
      <p:sp>
        <p:nvSpPr>
          <p:cNvPr id="25" name="AutoShape 25"/>
          <p:cNvSpPr/>
          <p:nvPr/>
        </p:nvSpPr>
        <p:spPr>
          <a:xfrm>
            <a:off x="762000" y="5334000"/>
            <a:ext cx="10668000" cy="762000"/>
          </a:xfrm>
          <a:prstGeom prst="roundRect">
            <a:avLst>
              <a:gd name="adj" fmla="val 16666"/>
            </a:avLst>
          </a:prstGeom>
          <a:solidFill>
            <a:srgbClr val="00BFFF">
              <a:alpha val="10000"/>
            </a:srgbClr>
          </a:solidFill>
          <a:ln w="12700" cap="flat" cmpd="sng">
            <a:solidFill>
              <a:srgbClr val="00BFFF">
                <a:alpha val="100000"/>
              </a:srgbClr>
            </a:solidFill>
            <a:prstDash val="solid"/>
            <a:round/>
          </a:ln>
        </p:spPr>
        <p:txBody>
          <a:bodyPr vert="horz" wrap="square" lIns="63500" tIns="63500" rIns="63500" bIns="63500" rtlCol="0" anchor="ctr"/>
          <a:lstStyle/>
          <a:p>
            <a:pPr algn="ctr">
              <a:defRPr/>
            </a:pPr>
            <a:endParaRPr/>
          </a:p>
        </p:txBody>
      </p:sp>
      <p:pic>
        <p:nvPicPr>
          <p:cNvPr id="26" name="Picture 26"/>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016000" y="5562600"/>
            <a:ext cx="304800" cy="304800"/>
          </a:xfrm>
          <a:prstGeom prst="rect">
            <a:avLst/>
          </a:prstGeom>
        </p:spPr>
      </p:pic>
      <p:sp>
        <p:nvSpPr>
          <p:cNvPr id="27" name="AutoShape 27"/>
          <p:cNvSpPr/>
          <p:nvPr/>
        </p:nvSpPr>
        <p:spPr>
          <a:xfrm>
            <a:off x="1397000" y="5461000"/>
            <a:ext cx="9906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Noto Sans SC"/>
                <a:ea typeface="Noto Sans SC"/>
                <a:cs typeface="Noto Sans SC"/>
                <a:sym typeface="Noto Sans SC"/>
              </a:rPr>
              <a:t>学生行动指令：</a:t>
            </a:r>
            <a:r>
              <a:rPr lang="en-US" sz="1600" b="0" i="0" u="none" strike="noStrike">
                <a:solidFill>
                  <a:srgbClr val="E6E6FA"/>
                </a:solidFill>
                <a:latin typeface="Noto Sans SC"/>
                <a:ea typeface="Noto Sans SC"/>
                <a:cs typeface="Noto Sans SC"/>
                <a:sym typeface="Noto Sans SC"/>
              </a:rPr>
              <a:t>请大家参考示例代码，编写自己的 Android 代码，实现基本的视频通话功能。</a:t>
            </a:r>
            <a:endParaRPr lang="en-US" sz="11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00000">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0A1428">
              <a:alpha val="70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762000" y="508000"/>
            <a:ext cx="90551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00BFFF"/>
                </a:solidFill>
                <a:latin typeface="Noto Sans SC"/>
                <a:ea typeface="Noto Sans SC"/>
                <a:cs typeface="Noto Sans SC"/>
                <a:sym typeface="Noto Sans SC"/>
              </a:rPr>
              <a:t>用户体验优化：打造流畅的视频通话体验</a:t>
            </a:r>
            <a:endParaRPr lang="en-US" sz="1100"/>
          </a:p>
        </p:txBody>
      </p:sp>
      <p:sp>
        <p:nvSpPr>
          <p:cNvPr id="5" name="AutoShape 5"/>
          <p:cNvSpPr/>
          <p:nvPr/>
        </p:nvSpPr>
        <p:spPr>
          <a:xfrm>
            <a:off x="762000" y="1397000"/>
            <a:ext cx="5080000" cy="1270000"/>
          </a:xfrm>
          <a:prstGeom prst="roundRect">
            <a:avLst>
              <a:gd name="adj" fmla="val 10000"/>
            </a:avLst>
          </a:prstGeom>
          <a:solidFill>
            <a:srgbClr val="FFFFFF">
              <a:alpha val="8000"/>
            </a:srgbClr>
          </a:solidFill>
          <a:ln w="12700" cap="flat" cmpd="sng">
            <a:solidFill>
              <a:srgbClr val="00BFFF">
                <a:alpha val="30000"/>
              </a:srgbClr>
            </a:solidFill>
            <a:prstDash val="solid"/>
            <a:round/>
          </a:ln>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1778000"/>
            <a:ext cx="508000" cy="508000"/>
          </a:xfrm>
          <a:prstGeom prst="rect">
            <a:avLst/>
          </a:prstGeom>
        </p:spPr>
      </p:pic>
      <p:sp>
        <p:nvSpPr>
          <p:cNvPr id="7" name="AutoShape 7"/>
          <p:cNvSpPr/>
          <p:nvPr/>
        </p:nvSpPr>
        <p:spPr>
          <a:xfrm>
            <a:off x="1651000" y="1587500"/>
            <a:ext cx="406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Noto Sans SC"/>
                <a:ea typeface="Noto Sans SC"/>
                <a:cs typeface="Noto Sans SC"/>
                <a:sym typeface="Noto Sans SC"/>
              </a:rPr>
              <a:t>视频质量智能调整</a:t>
            </a:r>
            <a:endParaRPr lang="en-US" sz="1100"/>
          </a:p>
        </p:txBody>
      </p:sp>
      <p:sp>
        <p:nvSpPr>
          <p:cNvPr id="8" name="AutoShape 8"/>
          <p:cNvSpPr/>
          <p:nvPr/>
        </p:nvSpPr>
        <p:spPr>
          <a:xfrm>
            <a:off x="1651000" y="1968500"/>
            <a:ext cx="3937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FFFFFF">
                    <a:alpha val="80000"/>
                  </a:srgbClr>
                </a:solidFill>
                <a:latin typeface="Noto Sans SC"/>
                <a:ea typeface="Noto Sans SC"/>
                <a:cs typeface="Noto Sans SC"/>
                <a:sym typeface="Noto Sans SC"/>
              </a:rPr>
              <a:t>根据网络状况自动适配分辨率和帧率，确保弱网环境下依然流畅稳定。</a:t>
            </a:r>
            <a:endParaRPr lang="en-US" sz="1100"/>
          </a:p>
        </p:txBody>
      </p:sp>
      <p:sp>
        <p:nvSpPr>
          <p:cNvPr id="9" name="AutoShape 9"/>
          <p:cNvSpPr/>
          <p:nvPr/>
        </p:nvSpPr>
        <p:spPr>
          <a:xfrm>
            <a:off x="6096000" y="1397000"/>
            <a:ext cx="5080000" cy="1270000"/>
          </a:xfrm>
          <a:prstGeom prst="roundRect">
            <a:avLst>
              <a:gd name="adj" fmla="val 10000"/>
            </a:avLst>
          </a:prstGeom>
          <a:solidFill>
            <a:srgbClr val="FFFFFF">
              <a:alpha val="8000"/>
            </a:srgbClr>
          </a:solidFill>
          <a:ln w="12700" cap="flat" cmpd="sng">
            <a:solidFill>
              <a:srgbClr val="FFB6C1">
                <a:alpha val="30000"/>
              </a:srgbClr>
            </a:solidFill>
            <a:prstDash val="solid"/>
            <a:round/>
          </a:ln>
        </p:spPr>
        <p:txBody>
          <a:bodyPr vert="horz" wrap="square" lIns="63500" tIns="63500" rIns="63500" bIns="63500" rtlCol="0" anchor="ctr"/>
          <a:lstStyle/>
          <a:p>
            <a:pPr algn="ctr">
              <a:defRPr/>
            </a:pPr>
            <a:endParaRPr/>
          </a:p>
        </p:txBody>
      </p:sp>
      <p:pic>
        <p:nvPicPr>
          <p:cNvPr id="10" name="Picture 10"/>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350000" y="1778000"/>
            <a:ext cx="508000" cy="508000"/>
          </a:xfrm>
          <a:prstGeom prst="rect">
            <a:avLst/>
          </a:prstGeom>
        </p:spPr>
      </p:pic>
      <p:sp>
        <p:nvSpPr>
          <p:cNvPr id="11" name="AutoShape 11"/>
          <p:cNvSpPr/>
          <p:nvPr/>
        </p:nvSpPr>
        <p:spPr>
          <a:xfrm>
            <a:off x="6985000" y="1587500"/>
            <a:ext cx="406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Noto Sans SC"/>
                <a:ea typeface="Noto Sans SC"/>
                <a:cs typeface="Noto Sans SC"/>
                <a:sym typeface="Noto Sans SC"/>
              </a:rPr>
              <a:t>隐私保护便捷操作</a:t>
            </a:r>
            <a:endParaRPr lang="en-US" sz="1100"/>
          </a:p>
        </p:txBody>
      </p:sp>
      <p:sp>
        <p:nvSpPr>
          <p:cNvPr id="12" name="AutoShape 12"/>
          <p:cNvSpPr/>
          <p:nvPr/>
        </p:nvSpPr>
        <p:spPr>
          <a:xfrm>
            <a:off x="6985000" y="1968500"/>
            <a:ext cx="3937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FFFFFF">
                    <a:alpha val="80000"/>
                  </a:srgbClr>
                </a:solidFill>
                <a:latin typeface="Noto Sans SC"/>
                <a:ea typeface="Noto Sans SC"/>
                <a:cs typeface="Noto Sans SC"/>
                <a:sym typeface="Noto Sans SC"/>
              </a:rPr>
              <a:t>提供醒目便捷的静音和关闭摄像头按钮，让用户随时掌控隐私状态。</a:t>
            </a:r>
            <a:endParaRPr lang="en-US" sz="1100"/>
          </a:p>
        </p:txBody>
      </p:sp>
      <p:sp>
        <p:nvSpPr>
          <p:cNvPr id="13" name="AutoShape 13"/>
          <p:cNvSpPr/>
          <p:nvPr/>
        </p:nvSpPr>
        <p:spPr>
          <a:xfrm>
            <a:off x="762000" y="2921000"/>
            <a:ext cx="5080000" cy="1270000"/>
          </a:xfrm>
          <a:prstGeom prst="roundRect">
            <a:avLst>
              <a:gd name="adj" fmla="val 10000"/>
            </a:avLst>
          </a:prstGeom>
          <a:solidFill>
            <a:srgbClr val="FFFFFF">
              <a:alpha val="8000"/>
            </a:srgbClr>
          </a:solidFill>
          <a:ln w="12700" cap="flat" cmpd="sng">
            <a:solidFill>
              <a:srgbClr val="E6E6FA">
                <a:alpha val="30000"/>
              </a:srgbClr>
            </a:solidFill>
            <a:prstDash val="solid"/>
            <a:round/>
          </a:ln>
        </p:spPr>
        <p:txBody>
          <a:bodyPr vert="horz" wrap="square" lIns="63500" tIns="63500" rIns="63500" bIns="63500" rtlCol="0" anchor="ctr"/>
          <a:lstStyle/>
          <a:p>
            <a:pPr algn="ctr">
              <a:defRPr/>
            </a:pPr>
            <a:endParaRPr/>
          </a:p>
        </p:txBody>
      </p:sp>
      <p:pic>
        <p:nvPicPr>
          <p:cNvPr id="14" name="Picture 14"/>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016000" y="3302000"/>
            <a:ext cx="508000" cy="508000"/>
          </a:xfrm>
          <a:prstGeom prst="rect">
            <a:avLst/>
          </a:prstGeom>
        </p:spPr>
      </p:pic>
      <p:sp>
        <p:nvSpPr>
          <p:cNvPr id="15" name="AutoShape 15"/>
          <p:cNvSpPr/>
          <p:nvPr/>
        </p:nvSpPr>
        <p:spPr>
          <a:xfrm>
            <a:off x="1651000" y="3111500"/>
            <a:ext cx="406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Noto Sans SC"/>
                <a:ea typeface="Noto Sans SC"/>
                <a:cs typeface="Noto Sans SC"/>
                <a:sym typeface="Noto Sans SC"/>
              </a:rPr>
              <a:t>清晰的状态反馈</a:t>
            </a:r>
            <a:endParaRPr lang="en-US" sz="1100"/>
          </a:p>
        </p:txBody>
      </p:sp>
      <p:sp>
        <p:nvSpPr>
          <p:cNvPr id="16" name="AutoShape 16"/>
          <p:cNvSpPr/>
          <p:nvPr/>
        </p:nvSpPr>
        <p:spPr>
          <a:xfrm>
            <a:off x="1651000" y="3492500"/>
            <a:ext cx="3937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FFFFFF">
                    <a:alpha val="80000"/>
                  </a:srgbClr>
                </a:solidFill>
                <a:latin typeface="Noto Sans SC"/>
                <a:ea typeface="Noto Sans SC"/>
                <a:cs typeface="Noto Sans SC"/>
                <a:sym typeface="Noto Sans SC"/>
              </a:rPr>
              <a:t>实时显示连接状态、网络状况等信息，消除用户等待时的不确定性。</a:t>
            </a:r>
            <a:endParaRPr lang="en-US" sz="1100"/>
          </a:p>
        </p:txBody>
      </p:sp>
      <p:sp>
        <p:nvSpPr>
          <p:cNvPr id="17" name="AutoShape 17"/>
          <p:cNvSpPr/>
          <p:nvPr/>
        </p:nvSpPr>
        <p:spPr>
          <a:xfrm>
            <a:off x="6096000" y="2921000"/>
            <a:ext cx="5080000" cy="1270000"/>
          </a:xfrm>
          <a:prstGeom prst="roundRect">
            <a:avLst>
              <a:gd name="adj" fmla="val 10000"/>
            </a:avLst>
          </a:prstGeom>
          <a:solidFill>
            <a:srgbClr val="FFFFFF">
              <a:alpha val="8000"/>
            </a:srgbClr>
          </a:solidFill>
          <a:ln w="12700" cap="flat" cmpd="sng">
            <a:solidFill>
              <a:srgbClr val="00BFFF">
                <a:alpha val="30000"/>
              </a:srgbClr>
            </a:solidFill>
            <a:prstDash val="solid"/>
            <a:round/>
          </a:ln>
        </p:spPr>
        <p:txBody>
          <a:bodyPr vert="horz" wrap="square" lIns="63500" tIns="63500" rIns="63500" bIns="63500" rtlCol="0" anchor="ctr"/>
          <a:lstStyle/>
          <a:p>
            <a:pPr algn="ctr">
              <a:defRPr/>
            </a:pPr>
            <a:endParaRPr/>
          </a:p>
        </p:txBody>
      </p:sp>
      <p:pic>
        <p:nvPicPr>
          <p:cNvPr id="18" name="Picture 18"/>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6350000" y="3302000"/>
            <a:ext cx="508000" cy="508000"/>
          </a:xfrm>
          <a:prstGeom prst="rect">
            <a:avLst/>
          </a:prstGeom>
        </p:spPr>
      </p:pic>
      <p:sp>
        <p:nvSpPr>
          <p:cNvPr id="19" name="AutoShape 19"/>
          <p:cNvSpPr/>
          <p:nvPr/>
        </p:nvSpPr>
        <p:spPr>
          <a:xfrm>
            <a:off x="6985000" y="3111500"/>
            <a:ext cx="406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Noto Sans SC"/>
                <a:ea typeface="Noto Sans SC"/>
                <a:cs typeface="Noto Sans SC"/>
                <a:sym typeface="Noto Sans SC"/>
              </a:rPr>
              <a:t>简洁直观的界面</a:t>
            </a:r>
            <a:endParaRPr lang="en-US" sz="1100"/>
          </a:p>
        </p:txBody>
      </p:sp>
      <p:sp>
        <p:nvSpPr>
          <p:cNvPr id="20" name="AutoShape 20"/>
          <p:cNvSpPr/>
          <p:nvPr/>
        </p:nvSpPr>
        <p:spPr>
          <a:xfrm>
            <a:off x="6985000" y="3492500"/>
            <a:ext cx="3937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FFFFFF">
                    <a:alpha val="80000"/>
                  </a:srgbClr>
                </a:solidFill>
                <a:latin typeface="Noto Sans SC"/>
                <a:ea typeface="Noto Sans SC"/>
                <a:cs typeface="Noto Sans SC"/>
                <a:sym typeface="Noto Sans SC"/>
              </a:rPr>
              <a:t>减少干扰元素，突出视频画面，让用户能专注于沟通本身。</a:t>
            </a:r>
            <a:endParaRPr lang="en-US" sz="1100"/>
          </a:p>
        </p:txBody>
      </p:sp>
      <p:sp>
        <p:nvSpPr>
          <p:cNvPr id="21" name="AutoShape 21"/>
          <p:cNvSpPr/>
          <p:nvPr/>
        </p:nvSpPr>
        <p:spPr>
          <a:xfrm>
            <a:off x="762000" y="4572000"/>
            <a:ext cx="10668000" cy="762000"/>
          </a:xfrm>
          <a:prstGeom prst="roundRect">
            <a:avLst>
              <a:gd name="adj" fmla="val 16666"/>
            </a:avLst>
          </a:prstGeom>
          <a:solidFill>
            <a:srgbClr val="00BFFF">
              <a:alpha val="15000"/>
            </a:srgbClr>
          </a:solidFill>
          <a:ln w="12700" cap="flat" cmpd="sng">
            <a:solidFill>
              <a:srgbClr val="00BFFF">
                <a:alpha val="50000"/>
              </a:srgbClr>
            </a:solidFill>
            <a:prstDash val="dash"/>
            <a:round/>
          </a:ln>
        </p:spPr>
        <p:txBody>
          <a:bodyPr vert="horz" wrap="square" lIns="63500" tIns="63500" rIns="63500" bIns="63500" rtlCol="0" anchor="ctr"/>
          <a:lstStyle/>
          <a:p>
            <a:pPr algn="ctr">
              <a:defRPr/>
            </a:pPr>
            <a:endParaRPr/>
          </a:p>
        </p:txBody>
      </p:sp>
      <p:pic>
        <p:nvPicPr>
          <p:cNvPr id="22" name="Picture 22"/>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1016000" y="4749800"/>
            <a:ext cx="406400" cy="406400"/>
          </a:xfrm>
          <a:prstGeom prst="rect">
            <a:avLst/>
          </a:prstGeom>
        </p:spPr>
      </p:pic>
      <p:sp>
        <p:nvSpPr>
          <p:cNvPr id="23" name="AutoShape 23"/>
          <p:cNvSpPr/>
          <p:nvPr/>
        </p:nvSpPr>
        <p:spPr>
          <a:xfrm>
            <a:off x="1524000" y="4762500"/>
            <a:ext cx="9652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Noto Sans SC"/>
                <a:ea typeface="Noto Sans SC"/>
                <a:cs typeface="Noto Sans SC"/>
                <a:sym typeface="Noto Sans SC"/>
              </a:rPr>
              <a:t>思考时刻：请大家思考一下，如何进一步提升视频通话功能的用户体验？</a:t>
            </a:r>
            <a:endParaRPr lang="en-US" sz="11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A1428">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0A1428">
              <a:alpha val="85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762000" y="508000"/>
            <a:ext cx="106680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00BFFF"/>
                </a:solidFill>
                <a:latin typeface="Noto Sans SC"/>
                <a:ea typeface="Noto Sans SC"/>
                <a:cs typeface="Noto Sans SC"/>
                <a:sym typeface="Noto Sans SC"/>
              </a:rPr>
              <a:t>测试与调试：确保视频通话流畅稳定</a:t>
            </a:r>
            <a:endParaRPr lang="en-US" sz="1100"/>
          </a:p>
        </p:txBody>
      </p:sp>
      <p:sp>
        <p:nvSpPr>
          <p:cNvPr id="5" name="AutoShape 5"/>
          <p:cNvSpPr/>
          <p:nvPr/>
        </p:nvSpPr>
        <p:spPr>
          <a:xfrm>
            <a:off x="762000" y="1397000"/>
            <a:ext cx="3378200" cy="2794000"/>
          </a:xfrm>
          <a:prstGeom prst="roundRect">
            <a:avLst>
              <a:gd name="adj" fmla="val 4545"/>
            </a:avLst>
          </a:prstGeom>
          <a:solidFill>
            <a:srgbClr val="FFFFFF">
              <a:alpha val="8000"/>
            </a:srgbClr>
          </a:solidFill>
          <a:ln w="12700" cap="flat" cmpd="sng">
            <a:solidFill>
              <a:srgbClr val="00BFFF">
                <a:alpha val="30000"/>
              </a:srgbClr>
            </a:solidFill>
            <a:prstDash val="solid"/>
            <a:round/>
          </a:ln>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1651000"/>
            <a:ext cx="406400" cy="406400"/>
          </a:xfrm>
          <a:prstGeom prst="rect">
            <a:avLst/>
          </a:prstGeom>
        </p:spPr>
      </p:pic>
      <p:sp>
        <p:nvSpPr>
          <p:cNvPr id="7" name="AutoShape 7"/>
          <p:cNvSpPr/>
          <p:nvPr/>
        </p:nvSpPr>
        <p:spPr>
          <a:xfrm>
            <a:off x="1524000" y="1651000"/>
            <a:ext cx="2413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FFFFFF"/>
                </a:solidFill>
                <a:latin typeface="Noto Sans SC"/>
                <a:ea typeface="Noto Sans SC"/>
                <a:cs typeface="Noto Sans SC"/>
                <a:sym typeface="Noto Sans SC"/>
              </a:rPr>
              <a:t>功能测试</a:t>
            </a:r>
            <a:endParaRPr lang="en-US" sz="1100"/>
          </a:p>
        </p:txBody>
      </p:sp>
      <p:sp>
        <p:nvSpPr>
          <p:cNvPr id="8" name="AutoShape 8"/>
          <p:cNvSpPr/>
          <p:nvPr/>
        </p:nvSpPr>
        <p:spPr>
          <a:xfrm>
            <a:off x="1016000" y="2159000"/>
            <a:ext cx="2870200" cy="1778000"/>
          </a:xfrm>
          <a:prstGeom prst="rect">
            <a:avLst/>
          </a:prstGeom>
          <a:noFill/>
          <a:ln w="12700" cap="flat" cmpd="sng">
            <a:noFill/>
            <a:prstDash val="solid"/>
            <a:round/>
          </a:ln>
        </p:spPr>
        <p:txBody>
          <a:bodyPr vert="horz" wrap="square" lIns="0" tIns="0" rIns="0" bIns="0" rtlCol="0" anchor="ctr" anchorCtr="0"/>
          <a:lstStyle/>
          <a:p>
            <a:pPr marL="177800" indent="-177800" algn="l">
              <a:lnSpc>
                <a:spcPct val="108333"/>
              </a:lnSpc>
              <a:buClr>
                <a:srgbClr val="E6E6E6"/>
              </a:buClr>
              <a:buChar char="•"/>
              <a:defRPr/>
            </a:pPr>
            <a:r>
              <a:rPr lang="en-US" sz="1400" b="0" i="0" u="none" strike="noStrike">
                <a:solidFill>
                  <a:srgbClr val="E6E6E6"/>
                </a:solidFill>
                <a:latin typeface="Noto Sans SC"/>
                <a:ea typeface="Noto Sans SC"/>
                <a:cs typeface="Noto Sans SC"/>
                <a:sym typeface="Noto Sans SC"/>
              </a:rPr>
              <a:t>测试连接速度、画面质量及声音清晰度是否达标</a:t>
            </a:r>
            <a:endParaRPr lang="en-US" sz="1100"/>
          </a:p>
          <a:p>
            <a:pPr marL="177800" indent="-177800" algn="l">
              <a:lnSpc>
                <a:spcPct val="108333"/>
              </a:lnSpc>
              <a:buClr>
                <a:srgbClr val="E6E6E6"/>
              </a:buClr>
              <a:buChar char="•"/>
            </a:pPr>
            <a:r>
              <a:rPr lang="en-US" sz="1400" b="0" i="0" u="none" strike="noStrike">
                <a:solidFill>
                  <a:srgbClr val="E6E6E6"/>
                </a:solidFill>
                <a:latin typeface="Noto Sans SC"/>
                <a:ea typeface="Noto Sans SC"/>
                <a:cs typeface="Noto Sans SC"/>
                <a:sym typeface="Noto Sans SC"/>
              </a:rPr>
              <a:t>验证静音、关闭摄像头等交互功能是否正常</a:t>
            </a:r>
          </a:p>
        </p:txBody>
      </p:sp>
      <p:sp>
        <p:nvSpPr>
          <p:cNvPr id="9" name="AutoShape 9"/>
          <p:cNvSpPr/>
          <p:nvPr/>
        </p:nvSpPr>
        <p:spPr>
          <a:xfrm>
            <a:off x="4394200" y="1397000"/>
            <a:ext cx="3378200" cy="2794000"/>
          </a:xfrm>
          <a:prstGeom prst="roundRect">
            <a:avLst>
              <a:gd name="adj" fmla="val 4545"/>
            </a:avLst>
          </a:prstGeom>
          <a:solidFill>
            <a:srgbClr val="FFFFFF">
              <a:alpha val="8000"/>
            </a:srgbClr>
          </a:solidFill>
          <a:ln w="12700" cap="flat" cmpd="sng">
            <a:solidFill>
              <a:srgbClr val="FFB6C1">
                <a:alpha val="30000"/>
              </a:srgbClr>
            </a:solidFill>
            <a:prstDash val="solid"/>
            <a:round/>
          </a:ln>
        </p:spPr>
        <p:txBody>
          <a:bodyPr vert="horz" wrap="square" lIns="63500" tIns="63500" rIns="63500" bIns="63500" rtlCol="0" anchor="ctr"/>
          <a:lstStyle/>
          <a:p>
            <a:pPr algn="ctr">
              <a:defRPr/>
            </a:pPr>
            <a:endParaRPr/>
          </a:p>
        </p:txBody>
      </p:sp>
      <p:pic>
        <p:nvPicPr>
          <p:cNvPr id="10" name="Picture 10"/>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648200" y="1651000"/>
            <a:ext cx="406400" cy="406400"/>
          </a:xfrm>
          <a:prstGeom prst="rect">
            <a:avLst/>
          </a:prstGeom>
        </p:spPr>
      </p:pic>
      <p:sp>
        <p:nvSpPr>
          <p:cNvPr id="11" name="AutoShape 11"/>
          <p:cNvSpPr/>
          <p:nvPr/>
        </p:nvSpPr>
        <p:spPr>
          <a:xfrm>
            <a:off x="5156200" y="1651000"/>
            <a:ext cx="2413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FFFFFF"/>
                </a:solidFill>
                <a:latin typeface="Noto Sans SC"/>
                <a:ea typeface="Noto Sans SC"/>
                <a:cs typeface="Noto Sans SC"/>
                <a:sym typeface="Noto Sans SC"/>
              </a:rPr>
              <a:t>网络测试</a:t>
            </a:r>
            <a:endParaRPr lang="en-US" sz="1100"/>
          </a:p>
        </p:txBody>
      </p:sp>
      <p:sp>
        <p:nvSpPr>
          <p:cNvPr id="12" name="AutoShape 12"/>
          <p:cNvSpPr/>
          <p:nvPr/>
        </p:nvSpPr>
        <p:spPr>
          <a:xfrm>
            <a:off x="4648200" y="2159000"/>
            <a:ext cx="2870200" cy="1778000"/>
          </a:xfrm>
          <a:prstGeom prst="rect">
            <a:avLst/>
          </a:prstGeom>
          <a:noFill/>
          <a:ln w="12700" cap="flat" cmpd="sng">
            <a:noFill/>
            <a:prstDash val="solid"/>
            <a:round/>
          </a:ln>
        </p:spPr>
        <p:txBody>
          <a:bodyPr vert="horz" wrap="square" lIns="0" tIns="0" rIns="0" bIns="0" rtlCol="0" anchor="ctr" anchorCtr="0"/>
          <a:lstStyle/>
          <a:p>
            <a:pPr marL="177800" indent="-177800" algn="l">
              <a:lnSpc>
                <a:spcPct val="108333"/>
              </a:lnSpc>
              <a:buClr>
                <a:srgbClr val="E6E6E6"/>
              </a:buClr>
              <a:buChar char="•"/>
              <a:defRPr/>
            </a:pPr>
            <a:r>
              <a:rPr lang="en-US" sz="1400" b="0" i="0" u="none" strike="noStrike">
                <a:solidFill>
                  <a:srgbClr val="E6E6E6"/>
                </a:solidFill>
                <a:latin typeface="Noto Sans SC"/>
                <a:ea typeface="Noto Sans SC"/>
                <a:cs typeface="Noto Sans SC"/>
                <a:sym typeface="Noto Sans SC"/>
              </a:rPr>
              <a:t>在WiFi、4G及弱网环境下测试视频质量变化</a:t>
            </a:r>
            <a:endParaRPr lang="en-US" sz="1100"/>
          </a:p>
          <a:p>
            <a:pPr marL="177800" indent="-177800" algn="l">
              <a:lnSpc>
                <a:spcPct val="108333"/>
              </a:lnSpc>
              <a:buClr>
                <a:srgbClr val="E6E6E6"/>
              </a:buClr>
              <a:buChar char="•"/>
            </a:pPr>
            <a:r>
              <a:rPr lang="en-US" sz="1400" b="0" i="0" u="none" strike="noStrike">
                <a:solidFill>
                  <a:srgbClr val="E6E6E6"/>
                </a:solidFill>
                <a:latin typeface="Noto Sans SC"/>
                <a:ea typeface="Noto Sans SC"/>
                <a:cs typeface="Noto Sans SC"/>
                <a:sym typeface="Noto Sans SC"/>
              </a:rPr>
              <a:t>测试网络切换时（如WiFi切4G）通话稳定性</a:t>
            </a:r>
          </a:p>
        </p:txBody>
      </p:sp>
      <p:sp>
        <p:nvSpPr>
          <p:cNvPr id="13" name="AutoShape 13"/>
          <p:cNvSpPr/>
          <p:nvPr/>
        </p:nvSpPr>
        <p:spPr>
          <a:xfrm>
            <a:off x="8026400" y="1397000"/>
            <a:ext cx="3378200" cy="2794000"/>
          </a:xfrm>
          <a:prstGeom prst="roundRect">
            <a:avLst>
              <a:gd name="adj" fmla="val 4545"/>
            </a:avLst>
          </a:prstGeom>
          <a:solidFill>
            <a:srgbClr val="FFFFFF">
              <a:alpha val="8000"/>
            </a:srgbClr>
          </a:solidFill>
          <a:ln w="12700" cap="flat" cmpd="sng">
            <a:solidFill>
              <a:srgbClr val="E6E6FA">
                <a:alpha val="30000"/>
              </a:srgbClr>
            </a:solidFill>
            <a:prstDash val="solid"/>
            <a:round/>
          </a:ln>
        </p:spPr>
        <p:txBody>
          <a:bodyPr vert="horz" wrap="square" lIns="63500" tIns="63500" rIns="63500" bIns="63500" rtlCol="0" anchor="ctr"/>
          <a:lstStyle/>
          <a:p>
            <a:pPr algn="ctr">
              <a:defRPr/>
            </a:pPr>
            <a:endParaRPr/>
          </a:p>
        </p:txBody>
      </p:sp>
      <p:pic>
        <p:nvPicPr>
          <p:cNvPr id="14" name="Picture 14"/>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8280400" y="1651000"/>
            <a:ext cx="406400" cy="406400"/>
          </a:xfrm>
          <a:prstGeom prst="rect">
            <a:avLst/>
          </a:prstGeom>
        </p:spPr>
      </p:pic>
      <p:sp>
        <p:nvSpPr>
          <p:cNvPr id="15" name="AutoShape 15"/>
          <p:cNvSpPr/>
          <p:nvPr/>
        </p:nvSpPr>
        <p:spPr>
          <a:xfrm>
            <a:off x="8788400" y="1651000"/>
            <a:ext cx="2413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FFFFFF"/>
                </a:solidFill>
                <a:latin typeface="Noto Sans SC"/>
                <a:ea typeface="Noto Sans SC"/>
                <a:cs typeface="Noto Sans SC"/>
                <a:sym typeface="Noto Sans SC"/>
              </a:rPr>
              <a:t>常见问题排查</a:t>
            </a:r>
            <a:endParaRPr lang="en-US" sz="1100"/>
          </a:p>
        </p:txBody>
      </p:sp>
      <p:sp>
        <p:nvSpPr>
          <p:cNvPr id="16" name="AutoShape 16"/>
          <p:cNvSpPr/>
          <p:nvPr/>
        </p:nvSpPr>
        <p:spPr>
          <a:xfrm>
            <a:off x="8280400" y="2159000"/>
            <a:ext cx="2870200" cy="1778000"/>
          </a:xfrm>
          <a:prstGeom prst="rect">
            <a:avLst/>
          </a:prstGeom>
          <a:noFill/>
          <a:ln w="12700" cap="flat" cmpd="sng">
            <a:noFill/>
            <a:prstDash val="solid"/>
            <a:round/>
          </a:ln>
        </p:spPr>
        <p:txBody>
          <a:bodyPr vert="horz" wrap="square" lIns="0" tIns="0" rIns="0" bIns="0" rtlCol="0" anchor="ctr" anchorCtr="0"/>
          <a:lstStyle/>
          <a:p>
            <a:pPr marL="177800" indent="-177800" algn="l">
              <a:lnSpc>
                <a:spcPct val="108333"/>
              </a:lnSpc>
              <a:buClr>
                <a:srgbClr val="E6E6E6"/>
              </a:buClr>
              <a:buChar char="•"/>
              <a:defRPr/>
            </a:pPr>
            <a:r>
              <a:rPr lang="en-US" sz="1400" b="1" i="0" u="none" strike="noStrike">
                <a:solidFill>
                  <a:srgbClr val="E6E6E6"/>
                </a:solidFill>
                <a:latin typeface="Noto Sans SC"/>
                <a:ea typeface="Noto Sans SC"/>
                <a:cs typeface="Noto Sans SC"/>
                <a:sym typeface="Noto Sans SC"/>
              </a:rPr>
              <a:t>无法连接：</a:t>
            </a:r>
            <a:r>
              <a:rPr lang="en-US" sz="1400" b="0" i="0" u="none" strike="noStrike">
                <a:solidFill>
                  <a:srgbClr val="E6E6E6"/>
                </a:solidFill>
                <a:latin typeface="Noto Sans SC"/>
                <a:ea typeface="Noto Sans SC"/>
                <a:cs typeface="Noto Sans SC"/>
                <a:sym typeface="Noto Sans SC"/>
              </a:rPr>
              <a:t>检查ID、频道名、网络及权限</a:t>
            </a:r>
            <a:endParaRPr lang="en-US" sz="1100"/>
          </a:p>
          <a:p>
            <a:pPr marL="177800" indent="-177800" algn="l">
              <a:lnSpc>
                <a:spcPct val="108333"/>
              </a:lnSpc>
              <a:buClr>
                <a:srgbClr val="E6E6E6"/>
              </a:buClr>
              <a:buChar char="•"/>
            </a:pPr>
            <a:r>
              <a:rPr lang="en-US" sz="1400" b="1" i="0" u="none" strike="noStrike">
                <a:solidFill>
                  <a:srgbClr val="E6E6E6"/>
                </a:solidFill>
                <a:latin typeface="Noto Sans SC"/>
                <a:ea typeface="Noto Sans SC"/>
                <a:cs typeface="Noto Sans SC"/>
                <a:sym typeface="Noto Sans SC"/>
              </a:rPr>
              <a:t>画面卡顿：</a:t>
            </a:r>
            <a:r>
              <a:rPr lang="en-US" sz="1400" b="0" i="0" u="none" strike="noStrike">
                <a:solidFill>
                  <a:srgbClr val="E6E6E6"/>
                </a:solidFill>
                <a:latin typeface="Noto Sans SC"/>
                <a:ea typeface="Noto Sans SC"/>
                <a:cs typeface="Noto Sans SC"/>
                <a:sym typeface="Noto Sans SC"/>
              </a:rPr>
              <a:t>检查网络状况及设备性能</a:t>
            </a:r>
          </a:p>
          <a:p>
            <a:pPr marL="177800" indent="-177800" algn="l">
              <a:lnSpc>
                <a:spcPct val="108333"/>
              </a:lnSpc>
              <a:buClr>
                <a:srgbClr val="E6E6E6"/>
              </a:buClr>
              <a:buChar char="•"/>
            </a:pPr>
            <a:r>
              <a:rPr lang="en-US" sz="1400" b="1" i="0" u="none" strike="noStrike">
                <a:solidFill>
                  <a:srgbClr val="E6E6E6"/>
                </a:solidFill>
                <a:latin typeface="Noto Sans SC"/>
                <a:ea typeface="Noto Sans SC"/>
                <a:cs typeface="Noto Sans SC"/>
                <a:sym typeface="Noto Sans SC"/>
              </a:rPr>
              <a:t>无声音：</a:t>
            </a:r>
            <a:r>
              <a:rPr lang="en-US" sz="1400" b="0" i="0" u="none" strike="noStrike">
                <a:solidFill>
                  <a:srgbClr val="E6E6E6"/>
                </a:solidFill>
                <a:latin typeface="Noto Sans SC"/>
                <a:ea typeface="Noto Sans SC"/>
                <a:cs typeface="Noto Sans SC"/>
                <a:sym typeface="Noto Sans SC"/>
              </a:rPr>
              <a:t>检查麦克风权限、音量及设备</a:t>
            </a:r>
          </a:p>
        </p:txBody>
      </p:sp>
      <p:sp>
        <p:nvSpPr>
          <p:cNvPr id="17" name="AutoShape 17"/>
          <p:cNvSpPr/>
          <p:nvPr/>
        </p:nvSpPr>
        <p:spPr>
          <a:xfrm>
            <a:off x="762000" y="4572000"/>
            <a:ext cx="10668000" cy="762000"/>
          </a:xfrm>
          <a:prstGeom prst="roundRect">
            <a:avLst>
              <a:gd name="adj" fmla="val 16666"/>
            </a:avLst>
          </a:prstGeom>
          <a:solidFill>
            <a:srgbClr val="00BFFF">
              <a:alpha val="15000"/>
            </a:srgbClr>
          </a:solidFill>
          <a:ln w="12700" cap="flat" cmpd="sng">
            <a:solidFill>
              <a:srgbClr val="00BFFF">
                <a:alpha val="50000"/>
              </a:srgbClr>
            </a:solidFill>
            <a:prstDash val="dash"/>
            <a:round/>
          </a:ln>
        </p:spPr>
        <p:txBody>
          <a:bodyPr vert="horz" wrap="square" lIns="63500" tIns="63500" rIns="63500" bIns="63500" rtlCol="0" anchor="ctr"/>
          <a:lstStyle/>
          <a:p>
            <a:pPr algn="ctr">
              <a:defRPr/>
            </a:pPr>
            <a:endParaRPr/>
          </a:p>
        </p:txBody>
      </p:sp>
      <p:pic>
        <p:nvPicPr>
          <p:cNvPr id="18" name="Picture 18"/>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016000" y="4800600"/>
            <a:ext cx="304800" cy="304800"/>
          </a:xfrm>
          <a:prstGeom prst="rect">
            <a:avLst/>
          </a:prstGeom>
        </p:spPr>
      </p:pic>
      <p:sp>
        <p:nvSpPr>
          <p:cNvPr id="19" name="AutoShape 19"/>
          <p:cNvSpPr/>
          <p:nvPr/>
        </p:nvSpPr>
        <p:spPr>
          <a:xfrm>
            <a:off x="1397000" y="4699000"/>
            <a:ext cx="9906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Noto Sans SC"/>
                <a:ea typeface="Noto Sans SC"/>
                <a:cs typeface="Noto Sans SC"/>
                <a:sym typeface="Noto Sans SC"/>
              </a:rPr>
              <a:t>行动指令：</a:t>
            </a:r>
            <a:r>
              <a:rPr lang="en-US" sz="1600" b="0" i="0" u="none" strike="noStrike">
                <a:solidFill>
                  <a:srgbClr val="E6E6E6"/>
                </a:solidFill>
                <a:latin typeface="Noto Sans SC"/>
                <a:ea typeface="Noto Sans SC"/>
                <a:cs typeface="Noto Sans SC"/>
                <a:sym typeface="Noto Sans SC"/>
              </a:rPr>
              <a:t>请大家对自己团队实现的视频通话功能进行全面的测试，并详细记录遇到的问题和解决方案。</a:t>
            </a:r>
            <a:endParaRPr lang="en-US" sz="11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A192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0A192F">
              <a:alpha val="85000"/>
            </a:srgbClr>
          </a:solidFill>
          <a:ln w="25400" cap="flat" cmpd="sng">
            <a:noFill/>
            <a:prstDash val="solid"/>
            <a:round/>
          </a:ln>
        </p:spPr>
        <p:txBody>
          <a:bodyPr vert="horz" wrap="square" lIns="63500" tIns="63500" rIns="63500" bIns="63500" rtlCol="0" anchor="ctr"/>
          <a:lstStyle/>
          <a:p>
            <a:pPr algn="ctr">
              <a:defRPr/>
            </a:pPr>
            <a:endParaRPr/>
          </a:p>
        </p:txBody>
      </p:sp>
      <p:pic>
        <p:nvPicPr>
          <p:cNvPr id="4" name="Picture 4"/>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791200" y="1524000"/>
            <a:ext cx="609600" cy="609600"/>
          </a:xfrm>
          <a:prstGeom prst="rect">
            <a:avLst/>
          </a:prstGeom>
          <a:effectLst>
            <a:outerShdw blurRad="127000" dir="2700000" algn="tl" rotWithShape="0">
              <a:srgbClr val="00BFFF">
                <a:alpha val="50000"/>
              </a:srgbClr>
            </a:outerShdw>
          </a:effectLst>
        </p:spPr>
      </p:pic>
      <p:sp>
        <p:nvSpPr>
          <p:cNvPr id="5" name="AutoShape 5"/>
          <p:cNvSpPr/>
          <p:nvPr/>
        </p:nvSpPr>
        <p:spPr>
          <a:xfrm>
            <a:off x="508000" y="2413000"/>
            <a:ext cx="11176000" cy="762000"/>
          </a:xfrm>
          <a:prstGeom prst="rect">
            <a:avLst/>
          </a:prstGeom>
          <a:noFill/>
          <a:ln w="12700" cap="flat" cmpd="sng">
            <a:noFill/>
            <a:prstDash val="solid"/>
            <a:round/>
          </a:ln>
        </p:spPr>
        <p:txBody>
          <a:bodyPr vert="horz" wrap="none" lIns="0" tIns="0" rIns="0" bIns="0" rtlCol="0" anchor="ctr" anchorCtr="0"/>
          <a:lstStyle/>
          <a:p>
            <a:pPr indent="0" algn="ctr">
              <a:lnSpc>
                <a:spcPct val="125000"/>
              </a:lnSpc>
              <a:defRPr/>
            </a:pPr>
            <a:r>
              <a:rPr lang="en-US" sz="3600" b="1" i="0" u="none" strike="noStrike">
                <a:solidFill>
                  <a:srgbClr val="FFFFFF"/>
                </a:solidFill>
                <a:latin typeface="Noto Sans SC"/>
                <a:ea typeface="Noto Sans SC"/>
                <a:cs typeface="Noto Sans SC"/>
                <a:sym typeface="Noto Sans SC"/>
              </a:rPr>
              <a:t>模块三：AI后台服务与API设计</a:t>
            </a:r>
            <a:endParaRPr lang="en-US" sz="1100"/>
          </a:p>
        </p:txBody>
      </p:sp>
      <p:sp>
        <p:nvSpPr>
          <p:cNvPr id="6" name="AutoShape 6"/>
          <p:cNvSpPr/>
          <p:nvPr/>
        </p:nvSpPr>
        <p:spPr>
          <a:xfrm>
            <a:off x="5715000" y="3302000"/>
            <a:ext cx="762000" cy="50800"/>
          </a:xfrm>
          <a:prstGeom prst="roundRect">
            <a:avLst>
              <a:gd name="adj" fmla="val 0"/>
            </a:avLst>
          </a:prstGeom>
          <a:gradFill rotWithShape="1">
            <a:gsLst>
              <a:gs pos="0">
                <a:srgbClr val="00BFFF">
                  <a:alpha val="100000"/>
                </a:srgbClr>
              </a:gs>
              <a:gs pos="100000">
                <a:srgbClr val="E6E6FA">
                  <a:alpha val="100000"/>
                </a:srgbClr>
              </a:gs>
            </a:gsLst>
            <a:lin ang="0"/>
          </a:gradFill>
          <a:ln cap="flat" cmpd="sng">
            <a:gradFill rotWithShape="1">
              <a:gsLst>
                <a:gs pos="0">
                  <a:srgbClr val="00ACE6">
                    <a:alpha val="100000"/>
                  </a:srgbClr>
                </a:gs>
                <a:gs pos="100000">
                  <a:srgbClr val="B8B8E1">
                    <a:alpha val="100000"/>
                  </a:srgbClr>
                </a:gs>
              </a:gsLst>
              <a:lin ang="0"/>
            </a:gradFill>
            <a:prstDash val="solid"/>
            <a:round/>
          </a:ln>
        </p:spPr>
        <p:txBody>
          <a:bodyPr vert="horz" wrap="square" lIns="63500" tIns="63500" rIns="63500" bIns="63500" rtlCol="0" anchor="ctr"/>
          <a:lstStyle/>
          <a:p>
            <a:pPr algn="ctr">
              <a:defRPr/>
            </a:pPr>
            <a:endParaRPr/>
          </a:p>
        </p:txBody>
      </p:sp>
      <p:sp>
        <p:nvSpPr>
          <p:cNvPr id="7" name="AutoShape 7"/>
          <p:cNvSpPr/>
          <p:nvPr/>
        </p:nvSpPr>
        <p:spPr>
          <a:xfrm>
            <a:off x="508000" y="3683000"/>
            <a:ext cx="11176000" cy="508000"/>
          </a:xfrm>
          <a:prstGeom prst="rect">
            <a:avLst/>
          </a:prstGeom>
          <a:noFill/>
          <a:ln w="12700" cap="flat" cmpd="sng">
            <a:noFill/>
            <a:prstDash val="solid"/>
            <a:round/>
          </a:ln>
        </p:spPr>
        <p:txBody>
          <a:bodyPr vert="horz" wrap="none" lIns="0" tIns="0" rIns="0" bIns="0" rtlCol="0" anchor="ctr" anchorCtr="0"/>
          <a:lstStyle/>
          <a:p>
            <a:pPr indent="0" algn="ctr">
              <a:lnSpc>
                <a:spcPct val="125000"/>
              </a:lnSpc>
              <a:defRPr/>
            </a:pPr>
            <a:r>
              <a:rPr lang="en-US" sz="2000" b="0" i="0" u="none" strike="noStrike">
                <a:solidFill>
                  <a:srgbClr val="E6E6FA"/>
                </a:solidFill>
                <a:latin typeface="Noto Sans SC"/>
                <a:ea typeface="Noto Sans SC"/>
                <a:cs typeface="Noto Sans SC"/>
                <a:sym typeface="Noto Sans SC"/>
              </a:rPr>
              <a:t>构建智能的后端服务，支撑AI关怀功能</a:t>
            </a:r>
            <a:endParaRPr lang="en-US" sz="1100"/>
          </a:p>
        </p:txBody>
      </p:sp>
      <p:sp>
        <p:nvSpPr>
          <p:cNvPr id="8" name="AutoShape 8"/>
          <p:cNvSpPr/>
          <p:nvPr/>
        </p:nvSpPr>
        <p:spPr>
          <a:xfrm>
            <a:off x="5334000" y="4572000"/>
            <a:ext cx="101600" cy="101600"/>
          </a:xfrm>
          <a:prstGeom prst="roundRect">
            <a:avLst>
              <a:gd name="adj" fmla="val 0"/>
            </a:avLst>
          </a:prstGeom>
          <a:solidFill>
            <a:srgbClr val="00BFFF">
              <a:alpha val="60000"/>
            </a:srgbClr>
          </a:solidFill>
          <a:ln w="25400" cap="flat" cmpd="sng">
            <a:noFill/>
            <a:prstDash val="solid"/>
            <a:round/>
          </a:ln>
        </p:spPr>
        <p:txBody>
          <a:bodyPr vert="horz" wrap="square" lIns="63500" tIns="63500" rIns="63500" bIns="63500" rtlCol="0" anchor="ctr"/>
          <a:lstStyle/>
          <a:p>
            <a:pPr algn="ctr">
              <a:defRPr/>
            </a:pPr>
            <a:endParaRPr/>
          </a:p>
        </p:txBody>
      </p:sp>
      <p:sp>
        <p:nvSpPr>
          <p:cNvPr id="9" name="AutoShape 9"/>
          <p:cNvSpPr/>
          <p:nvPr/>
        </p:nvSpPr>
        <p:spPr>
          <a:xfrm>
            <a:off x="5537200" y="4572000"/>
            <a:ext cx="101600" cy="101600"/>
          </a:xfrm>
          <a:prstGeom prst="roundRect">
            <a:avLst>
              <a:gd name="adj" fmla="val 0"/>
            </a:avLst>
          </a:prstGeom>
          <a:solidFill>
            <a:srgbClr val="FFB6C1">
              <a:alpha val="60000"/>
            </a:srgbClr>
          </a:solidFill>
          <a:ln w="25400" cap="flat" cmpd="sng">
            <a:noFill/>
            <a:prstDash val="solid"/>
            <a:round/>
          </a:ln>
        </p:spPr>
        <p:txBody>
          <a:bodyPr vert="horz" wrap="square" lIns="63500" tIns="63500" rIns="63500" bIns="63500" rtlCol="0" anchor="ctr"/>
          <a:lstStyle/>
          <a:p>
            <a:pPr algn="ctr">
              <a:defRPr/>
            </a:pPr>
            <a:endParaRPr/>
          </a:p>
        </p:txBody>
      </p:sp>
      <p:sp>
        <p:nvSpPr>
          <p:cNvPr id="10" name="AutoShape 10"/>
          <p:cNvSpPr/>
          <p:nvPr/>
        </p:nvSpPr>
        <p:spPr>
          <a:xfrm>
            <a:off x="5740400" y="4572000"/>
            <a:ext cx="101600" cy="101600"/>
          </a:xfrm>
          <a:prstGeom prst="roundRect">
            <a:avLst>
              <a:gd name="adj" fmla="val 0"/>
            </a:avLst>
          </a:prstGeom>
          <a:solidFill>
            <a:srgbClr val="E6E6FA">
              <a:alpha val="60000"/>
            </a:srgbClr>
          </a:solidFill>
          <a:ln w="25400" cap="flat" cmpd="sng">
            <a:noFill/>
            <a:prstDash val="solid"/>
            <a:round/>
          </a:ln>
        </p:spPr>
        <p:txBody>
          <a:bodyPr vert="horz" wrap="square" lIns="63500" tIns="63500" rIns="63500" bIns="63500" rtlCol="0" anchor="ctr"/>
          <a:lstStyle/>
          <a:p>
            <a:pPr algn="ctr">
              <a:defRPr/>
            </a:pPr>
            <a:endParaRPr/>
          </a:p>
        </p:txBody>
      </p:sp>
      <p:sp>
        <p:nvSpPr>
          <p:cNvPr id="11" name="AutoShape 11"/>
          <p:cNvSpPr/>
          <p:nvPr/>
        </p:nvSpPr>
        <p:spPr>
          <a:xfrm>
            <a:off x="5943600" y="4572000"/>
            <a:ext cx="101600" cy="101600"/>
          </a:xfrm>
          <a:prstGeom prst="roundRect">
            <a:avLst>
              <a:gd name="adj" fmla="val 0"/>
            </a:avLst>
          </a:prstGeom>
          <a:solidFill>
            <a:srgbClr val="FFB6C1">
              <a:alpha val="60000"/>
            </a:srgbClr>
          </a:solidFill>
          <a:ln w="25400" cap="flat" cmpd="sng">
            <a:noFill/>
            <a:prstDash val="solid"/>
            <a:round/>
          </a:ln>
        </p:spPr>
        <p:txBody>
          <a:bodyPr vert="horz" wrap="square" lIns="63500" tIns="63500" rIns="63500" bIns="63500" rtlCol="0" anchor="ctr"/>
          <a:lstStyle/>
          <a:p>
            <a:pPr algn="ctr">
              <a:defRPr/>
            </a:pPr>
            <a:endParaRPr/>
          </a:p>
        </p:txBody>
      </p:sp>
      <p:sp>
        <p:nvSpPr>
          <p:cNvPr id="12" name="AutoShape 12"/>
          <p:cNvSpPr/>
          <p:nvPr/>
        </p:nvSpPr>
        <p:spPr>
          <a:xfrm>
            <a:off x="6146800" y="4572000"/>
            <a:ext cx="101600" cy="101600"/>
          </a:xfrm>
          <a:prstGeom prst="roundRect">
            <a:avLst>
              <a:gd name="adj" fmla="val 0"/>
            </a:avLst>
          </a:prstGeom>
          <a:solidFill>
            <a:srgbClr val="00BFFF">
              <a:alpha val="60000"/>
            </a:srgbClr>
          </a:solidFill>
          <a:ln w="25400" cap="flat" cmpd="sng">
            <a:noFill/>
            <a:prstDash val="solid"/>
            <a:round/>
          </a:ln>
        </p:spPr>
        <p:txBody>
          <a:bodyPr vert="horz" wrap="square" lIns="63500" tIns="63500" rIns="63500" bIns="63500" rtlCol="0" anchor="ctr"/>
          <a:lstStyle/>
          <a:p>
            <a:pPr algn="ctr">
              <a:defRPr/>
            </a:pP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A1428">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0A1428">
              <a:alpha val="75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762000" y="508000"/>
            <a:ext cx="55372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00BFFF"/>
                </a:solidFill>
                <a:latin typeface="Noto Sans SC"/>
                <a:ea typeface="Noto Sans SC"/>
                <a:cs typeface="Noto Sans SC"/>
                <a:sym typeface="Noto Sans SC"/>
              </a:rPr>
              <a:t>AI后台服务架构设计</a:t>
            </a:r>
            <a:endParaRPr lang="en-US" sz="1100"/>
          </a:p>
        </p:txBody>
      </p:sp>
      <p:pic>
        <p:nvPicPr>
          <p:cNvPr id="5" name="Picture 5"/>
          <p:cNvPicPr>
            <a:picLocks noChangeAspect="1"/>
          </p:cNvPicPr>
          <p:nvPr/>
        </p:nvPicPr>
        <p:blipFill>
          <a:blip r:embed="rId4"/>
          <a:srcRect/>
          <a:stretch>
            <a:fillRect/>
          </a:stretch>
        </p:blipFill>
        <p:spPr>
          <a:xfrm>
            <a:off x="762000" y="1397000"/>
            <a:ext cx="2794000" cy="2794000"/>
          </a:xfrm>
          <a:prstGeom prst="roundRect">
            <a:avLst>
              <a:gd name="adj" fmla="val 4545"/>
            </a:avLst>
          </a:prstGeom>
          <a:noFill/>
          <a:ln w="12700" cap="flat" cmpd="sng">
            <a:solidFill>
              <a:srgbClr val="00BFFF">
                <a:alpha val="50000"/>
              </a:srgbClr>
            </a:solidFill>
            <a:prstDash val="solid"/>
            <a:round/>
          </a:ln>
          <a:effectLst>
            <a:outerShdw blurRad="101600" dist="50800" dir="2700000" algn="tl" rotWithShape="0">
              <a:srgbClr val="000000">
                <a:alpha val="30000"/>
              </a:srgbClr>
            </a:outerShdw>
          </a:effectLst>
        </p:spPr>
      </p:pic>
      <p:sp>
        <p:nvSpPr>
          <p:cNvPr id="6" name="AutoShape 6"/>
          <p:cNvSpPr/>
          <p:nvPr/>
        </p:nvSpPr>
        <p:spPr>
          <a:xfrm>
            <a:off x="3937000" y="1397000"/>
            <a:ext cx="7620000" cy="889000"/>
          </a:xfrm>
          <a:prstGeom prst="roundRect">
            <a:avLst>
              <a:gd name="adj" fmla="val 14285"/>
            </a:avLst>
          </a:prstGeom>
          <a:solidFill>
            <a:srgbClr val="FFFFFF">
              <a:alpha val="8000"/>
            </a:srgbClr>
          </a:solidFill>
          <a:ln w="12700" cap="flat" cmpd="sng">
            <a:solidFill>
              <a:srgbClr val="FFB6C1">
                <a:alpha val="30000"/>
              </a:srgbClr>
            </a:solidFill>
            <a:prstDash val="solid"/>
            <a:round/>
          </a:ln>
        </p:spPr>
        <p:txBody>
          <a:bodyPr vert="horz" wrap="square" lIns="63500" tIns="63500" rIns="63500" bIns="63500" rtlCol="0" anchor="ctr"/>
          <a:lstStyle/>
          <a:p>
            <a:pPr algn="ctr">
              <a:defRPr/>
            </a:pPr>
            <a:endParaRPr/>
          </a:p>
        </p:txBody>
      </p:sp>
      <p:pic>
        <p:nvPicPr>
          <p:cNvPr id="7" name="Picture 7"/>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127500" y="1638300"/>
            <a:ext cx="406400" cy="406400"/>
          </a:xfrm>
          <a:prstGeom prst="rect">
            <a:avLst/>
          </a:prstGeom>
        </p:spPr>
      </p:pic>
      <p:sp>
        <p:nvSpPr>
          <p:cNvPr id="8" name="AutoShape 8"/>
          <p:cNvSpPr/>
          <p:nvPr/>
        </p:nvSpPr>
        <p:spPr>
          <a:xfrm>
            <a:off x="4635500" y="1460500"/>
            <a:ext cx="6731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0BFFF"/>
                </a:solidFill>
                <a:latin typeface="Noto Sans SC"/>
                <a:ea typeface="Noto Sans SC"/>
                <a:cs typeface="Noto Sans SC"/>
                <a:sym typeface="Noto Sans SC"/>
              </a:rPr>
              <a:t>客户端 (SafeWalk App)：</a:t>
            </a:r>
            <a:r>
              <a:rPr lang="en-US" sz="1400" b="0" i="0" u="none" strike="noStrike">
                <a:solidFill>
                  <a:srgbClr val="FFFFFF"/>
                </a:solidFill>
                <a:latin typeface="Noto Sans SC"/>
                <a:ea typeface="Noto Sans SC"/>
                <a:cs typeface="Noto Sans SC"/>
                <a:sym typeface="Noto Sans SC"/>
              </a:rPr>
              <a:t>收集用户消息与上下文，发送请求并展示AI回复，是用户交互的直接入口。</a:t>
            </a:r>
            <a:endParaRPr lang="en-US" sz="1100"/>
          </a:p>
        </p:txBody>
      </p:sp>
      <p:sp>
        <p:nvSpPr>
          <p:cNvPr id="9" name="AutoShape 9"/>
          <p:cNvSpPr/>
          <p:nvPr/>
        </p:nvSpPr>
        <p:spPr>
          <a:xfrm>
            <a:off x="3937000" y="2413000"/>
            <a:ext cx="7620000" cy="889000"/>
          </a:xfrm>
          <a:prstGeom prst="roundRect">
            <a:avLst>
              <a:gd name="adj" fmla="val 14285"/>
            </a:avLst>
          </a:prstGeom>
          <a:solidFill>
            <a:srgbClr val="FFFFFF">
              <a:alpha val="8000"/>
            </a:srgbClr>
          </a:solidFill>
          <a:ln w="12700" cap="flat" cmpd="sng">
            <a:solidFill>
              <a:srgbClr val="E6E6FA">
                <a:alpha val="30000"/>
              </a:srgbClr>
            </a:solidFill>
            <a:prstDash val="solid"/>
            <a:round/>
          </a:ln>
        </p:spPr>
        <p:txBody>
          <a:bodyPr vert="horz" wrap="square" lIns="63500" tIns="63500" rIns="63500" bIns="63500" rtlCol="0" anchor="ctr"/>
          <a:lstStyle/>
          <a:p>
            <a:pPr algn="ctr">
              <a:defRPr/>
            </a:pPr>
            <a:endParaRPr/>
          </a:p>
        </p:txBody>
      </p:sp>
      <p:pic>
        <p:nvPicPr>
          <p:cNvPr id="10" name="Picture 10"/>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4127500" y="2654300"/>
            <a:ext cx="406400" cy="406400"/>
          </a:xfrm>
          <a:prstGeom prst="rect">
            <a:avLst/>
          </a:prstGeom>
        </p:spPr>
      </p:pic>
      <p:sp>
        <p:nvSpPr>
          <p:cNvPr id="11" name="AutoShape 11"/>
          <p:cNvSpPr/>
          <p:nvPr/>
        </p:nvSpPr>
        <p:spPr>
          <a:xfrm>
            <a:off x="4635500" y="2476500"/>
            <a:ext cx="6731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0BFFF"/>
                </a:solidFill>
                <a:latin typeface="Noto Sans SC"/>
                <a:ea typeface="Noto Sans SC"/>
                <a:cs typeface="Noto Sans SC"/>
                <a:sym typeface="Noto Sans SC"/>
              </a:rPr>
              <a:t>API网关：</a:t>
            </a:r>
            <a:r>
              <a:rPr lang="en-US" sz="1400" b="0" i="0" u="none" strike="noStrike">
                <a:solidFill>
                  <a:srgbClr val="FFFFFF"/>
                </a:solidFill>
                <a:latin typeface="Noto Sans SC"/>
                <a:ea typeface="Noto Sans SC"/>
                <a:cs typeface="Noto Sans SC"/>
                <a:sym typeface="Noto Sans SC"/>
              </a:rPr>
              <a:t>作为统一入口，负责请求的路由分发、身份鉴权及流量限流，保障后端安全。</a:t>
            </a:r>
            <a:endParaRPr lang="en-US" sz="1100"/>
          </a:p>
        </p:txBody>
      </p:sp>
      <p:sp>
        <p:nvSpPr>
          <p:cNvPr id="12" name="AutoShape 12"/>
          <p:cNvSpPr/>
          <p:nvPr/>
        </p:nvSpPr>
        <p:spPr>
          <a:xfrm>
            <a:off x="3937000" y="3429000"/>
            <a:ext cx="7620000" cy="889000"/>
          </a:xfrm>
          <a:prstGeom prst="roundRect">
            <a:avLst>
              <a:gd name="adj" fmla="val 14285"/>
            </a:avLst>
          </a:prstGeom>
          <a:solidFill>
            <a:srgbClr val="FFFFFF">
              <a:alpha val="8000"/>
            </a:srgbClr>
          </a:solidFill>
          <a:ln w="12700" cap="flat" cmpd="sng">
            <a:solidFill>
              <a:srgbClr val="FFB6C1">
                <a:alpha val="30000"/>
              </a:srgbClr>
            </a:solidFill>
            <a:prstDash val="solid"/>
            <a:round/>
          </a:ln>
        </p:spPr>
        <p:txBody>
          <a:bodyPr vert="horz" wrap="square" lIns="63500" tIns="63500" rIns="63500" bIns="63500" rtlCol="0" anchor="ctr"/>
          <a:lstStyle/>
          <a:p>
            <a:pPr algn="ctr">
              <a:defRPr/>
            </a:pPr>
            <a:endParaRPr/>
          </a:p>
        </p:txBody>
      </p:sp>
      <p:pic>
        <p:nvPicPr>
          <p:cNvPr id="13" name="Picture 13"/>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4127500" y="3670300"/>
            <a:ext cx="406400" cy="406400"/>
          </a:xfrm>
          <a:prstGeom prst="rect">
            <a:avLst/>
          </a:prstGeom>
        </p:spPr>
      </p:pic>
      <p:sp>
        <p:nvSpPr>
          <p:cNvPr id="14" name="AutoShape 14"/>
          <p:cNvSpPr/>
          <p:nvPr/>
        </p:nvSpPr>
        <p:spPr>
          <a:xfrm>
            <a:off x="4635500" y="3492500"/>
            <a:ext cx="6731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0BFFF"/>
                </a:solidFill>
                <a:latin typeface="Noto Sans SC"/>
                <a:ea typeface="Noto Sans SC"/>
                <a:cs typeface="Noto Sans SC"/>
                <a:sym typeface="Noto Sans SC"/>
              </a:rPr>
              <a:t>AI服务：</a:t>
            </a:r>
            <a:r>
              <a:rPr lang="en-US" sz="1400" b="0" i="0" u="none" strike="noStrike">
                <a:solidFill>
                  <a:srgbClr val="FFFFFF"/>
                </a:solidFill>
                <a:latin typeface="Noto Sans SC"/>
                <a:ea typeface="Noto Sans SC"/>
                <a:cs typeface="Noto Sans SC"/>
                <a:sym typeface="Noto Sans SC"/>
              </a:rPr>
              <a:t>核心业务逻辑层，接收请求后调用大语言模型（如ChatGPT）生成智能回复。</a:t>
            </a:r>
            <a:endParaRPr lang="en-US" sz="1100"/>
          </a:p>
        </p:txBody>
      </p:sp>
      <p:sp>
        <p:nvSpPr>
          <p:cNvPr id="15" name="AutoShape 15"/>
          <p:cNvSpPr/>
          <p:nvPr/>
        </p:nvSpPr>
        <p:spPr>
          <a:xfrm>
            <a:off x="3937000" y="4445000"/>
            <a:ext cx="7620000" cy="889000"/>
          </a:xfrm>
          <a:prstGeom prst="roundRect">
            <a:avLst>
              <a:gd name="adj" fmla="val 14285"/>
            </a:avLst>
          </a:prstGeom>
          <a:solidFill>
            <a:srgbClr val="FFFFFF">
              <a:alpha val="8000"/>
            </a:srgbClr>
          </a:solidFill>
          <a:ln w="12700" cap="flat" cmpd="sng">
            <a:solidFill>
              <a:srgbClr val="E6E6FA">
                <a:alpha val="30000"/>
              </a:srgbClr>
            </a:solidFill>
            <a:prstDash val="solid"/>
            <a:round/>
          </a:ln>
        </p:spPr>
        <p:txBody>
          <a:bodyPr vert="horz" wrap="square" lIns="63500" tIns="63500" rIns="63500" bIns="63500" rtlCol="0" anchor="ctr"/>
          <a:lstStyle/>
          <a:p>
            <a:pPr algn="ctr">
              <a:defRPr/>
            </a:pPr>
            <a:endParaRPr/>
          </a:p>
        </p:txBody>
      </p:sp>
      <p:pic>
        <p:nvPicPr>
          <p:cNvPr id="16" name="Picture 16"/>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4127500" y="4686300"/>
            <a:ext cx="406400" cy="406400"/>
          </a:xfrm>
          <a:prstGeom prst="rect">
            <a:avLst/>
          </a:prstGeom>
        </p:spPr>
      </p:pic>
      <p:sp>
        <p:nvSpPr>
          <p:cNvPr id="17" name="AutoShape 17"/>
          <p:cNvSpPr/>
          <p:nvPr/>
        </p:nvSpPr>
        <p:spPr>
          <a:xfrm>
            <a:off x="4635500" y="4508500"/>
            <a:ext cx="6731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0BFFF"/>
                </a:solidFill>
                <a:latin typeface="Noto Sans SC"/>
                <a:ea typeface="Noto Sans SC"/>
                <a:cs typeface="Noto Sans SC"/>
                <a:sym typeface="Noto Sans SC"/>
              </a:rPr>
              <a:t>数据库：</a:t>
            </a:r>
            <a:r>
              <a:rPr lang="en-US" sz="1400" b="0" i="0" u="none" strike="noStrike">
                <a:solidFill>
                  <a:srgbClr val="FFFFFF"/>
                </a:solidFill>
                <a:latin typeface="Noto Sans SC"/>
                <a:ea typeface="Noto Sans SC"/>
                <a:cs typeface="Noto Sans SC"/>
                <a:sym typeface="Noto Sans SC"/>
              </a:rPr>
              <a:t>持久化存储用户信息、历史对话记录及行程数据，为AI服务提供上下文支持。</a:t>
            </a:r>
            <a:endParaRPr lang="en-US" sz="1100"/>
          </a:p>
        </p:txBody>
      </p:sp>
      <p:sp>
        <p:nvSpPr>
          <p:cNvPr id="18" name="AutoShape 18"/>
          <p:cNvSpPr/>
          <p:nvPr/>
        </p:nvSpPr>
        <p:spPr>
          <a:xfrm>
            <a:off x="762000" y="5588000"/>
            <a:ext cx="10795000" cy="635000"/>
          </a:xfrm>
          <a:prstGeom prst="roundRect">
            <a:avLst>
              <a:gd name="adj" fmla="val 20000"/>
            </a:avLst>
          </a:prstGeom>
          <a:solidFill>
            <a:srgbClr val="00BFFF">
              <a:alpha val="15000"/>
            </a:srgbClr>
          </a:solidFill>
          <a:ln w="12700" cap="flat" cmpd="sng">
            <a:solidFill>
              <a:srgbClr val="00BFFF">
                <a:alpha val="30000"/>
              </a:srgbClr>
            </a:solidFill>
            <a:prstDash val="solid"/>
            <a:round/>
          </a:ln>
        </p:spPr>
        <p:txBody>
          <a:bodyPr vert="horz" wrap="square" lIns="63500" tIns="63500" rIns="63500" bIns="63500" rtlCol="0" anchor="ctr"/>
          <a:lstStyle/>
          <a:p>
            <a:pPr algn="ctr">
              <a:defRPr/>
            </a:pPr>
            <a:endParaRPr/>
          </a:p>
        </p:txBody>
      </p:sp>
      <p:sp>
        <p:nvSpPr>
          <p:cNvPr id="19" name="AutoShape 19"/>
          <p:cNvSpPr/>
          <p:nvPr/>
        </p:nvSpPr>
        <p:spPr>
          <a:xfrm>
            <a:off x="889000" y="5651500"/>
            <a:ext cx="10541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400" b="1" i="0" u="none" strike="noStrike">
                <a:solidFill>
                  <a:srgbClr val="FFFFFF"/>
                </a:solidFill>
                <a:latin typeface="Noto Sans SC"/>
                <a:ea typeface="Noto Sans SC"/>
                <a:cs typeface="Noto Sans SC"/>
                <a:sym typeface="Noto Sans SC"/>
              </a:rPr>
              <a:t>核心流程：</a:t>
            </a:r>
            <a:r>
              <a:rPr lang="en-US" sz="1400" b="0" i="0" u="none" strike="noStrike">
                <a:solidFill>
                  <a:srgbClr val="DCDCDC"/>
                </a:solidFill>
                <a:latin typeface="Noto Sans SC"/>
                <a:ea typeface="Noto Sans SC"/>
                <a:cs typeface="Noto Sans SC"/>
                <a:sym typeface="Noto Sans SC"/>
              </a:rPr>
              <a:t>用户发送消息 → API网关路由 → AI服务调用大模型 → 数据库存储记录 → API网关响应 → 用户接收回复</a:t>
            </a:r>
            <a:endParaRPr lang="en-US" sz="11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A1428">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000A1E">
              <a:alpha val="85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762000" y="508000"/>
            <a:ext cx="105664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00BFFF"/>
                </a:solidFill>
                <a:latin typeface="Noto Sans SC"/>
                <a:ea typeface="Noto Sans SC"/>
                <a:cs typeface="Noto Sans SC"/>
                <a:sym typeface="Noto Sans SC"/>
              </a:rPr>
              <a:t>API接口设计（RESTful API）</a:t>
            </a:r>
            <a:endParaRPr lang="en-US" sz="1100"/>
          </a:p>
        </p:txBody>
      </p:sp>
      <p:sp>
        <p:nvSpPr>
          <p:cNvPr id="5" name="AutoShape 5"/>
          <p:cNvSpPr/>
          <p:nvPr/>
        </p:nvSpPr>
        <p:spPr>
          <a:xfrm>
            <a:off x="762000" y="1397000"/>
            <a:ext cx="5334000" cy="2921000"/>
          </a:xfrm>
          <a:prstGeom prst="roundRect">
            <a:avLst>
              <a:gd name="adj" fmla="val 4347"/>
            </a:avLst>
          </a:prstGeom>
          <a:solidFill>
            <a:srgbClr val="FFFFFF">
              <a:alpha val="5000"/>
            </a:srgbClr>
          </a:solidFill>
          <a:ln w="12700" cap="flat" cmpd="sng">
            <a:solidFill>
              <a:srgbClr val="00BFFF">
                <a:alpha val="100000"/>
              </a:srgbClr>
            </a:solid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889000" y="1524000"/>
            <a:ext cx="508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BFFF"/>
                </a:solidFill>
                <a:latin typeface="Noto Sans SC"/>
                <a:ea typeface="Noto Sans SC"/>
                <a:cs typeface="Noto Sans SC"/>
                <a:sym typeface="Noto Sans SC"/>
              </a:rPr>
              <a:t>接口示例：发送消息 (POST)</a:t>
            </a:r>
            <a:endParaRPr lang="en-US" sz="1100"/>
          </a:p>
        </p:txBody>
      </p:sp>
      <p:sp>
        <p:nvSpPr>
          <p:cNvPr id="7" name="AutoShape 7"/>
          <p:cNvSpPr/>
          <p:nvPr/>
        </p:nvSpPr>
        <p:spPr>
          <a:xfrm>
            <a:off x="889000" y="1905000"/>
            <a:ext cx="5080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FFB6C1"/>
                </a:solidFill>
                <a:latin typeface="Noto Sans SC"/>
                <a:ea typeface="Noto Sans SC"/>
                <a:cs typeface="Noto Sans SC"/>
                <a:sym typeface="Noto Sans SC"/>
              </a:rPr>
              <a:t>URL:</a:t>
            </a:r>
            <a:r>
              <a:rPr lang="en-US" sz="1400" b="0" i="0" u="none" strike="noStrike">
                <a:solidFill>
                  <a:srgbClr val="E6E6FA"/>
                </a:solidFill>
                <a:latin typeface="Noto Sans SC"/>
                <a:ea typeface="Noto Sans SC"/>
                <a:cs typeface="Noto Sans SC"/>
                <a:sym typeface="Noto Sans SC"/>
              </a:rPr>
              <a:t>POST /api/ai/message</a:t>
            </a:r>
            <a:endParaRPr lang="en-US" sz="1100"/>
          </a:p>
        </p:txBody>
      </p:sp>
      <p:sp>
        <p:nvSpPr>
          <p:cNvPr id="8" name="AutoShape 8"/>
          <p:cNvSpPr/>
          <p:nvPr/>
        </p:nvSpPr>
        <p:spPr>
          <a:xfrm>
            <a:off x="889000" y="2222500"/>
            <a:ext cx="5080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1" i="0" u="none" strike="noStrike">
                <a:solidFill>
                  <a:srgbClr val="FFB6C1"/>
                </a:solidFill>
                <a:latin typeface="Noto Sans SC"/>
                <a:ea typeface="Noto Sans SC"/>
                <a:cs typeface="Noto Sans SC"/>
                <a:sym typeface="Noto Sans SC"/>
              </a:rPr>
              <a:t>请求体 (Request):</a:t>
            </a:r>
            <a:endParaRPr lang="en-US" sz="1100"/>
          </a:p>
          <a:p>
            <a:pPr indent="0" algn="l">
              <a:lnSpc>
                <a:spcPct val="125000"/>
              </a:lnSpc>
            </a:pPr>
            <a:r>
              <a:rPr lang="en-US" sz="1200" b="0" i="0" u="none" strike="noStrike">
                <a:solidFill>
                  <a:srgbClr val="E6E6FA"/>
                </a:solidFill>
                <a:latin typeface="Consolas"/>
                <a:ea typeface="Consolas"/>
                <a:cs typeface="Consolas"/>
                <a:sym typeface="Consolas"/>
              </a:rPr>
              <a:t>{ "userId": "123456", "message": "陪我聊天", "context": "夜间步行" }</a:t>
            </a:r>
          </a:p>
        </p:txBody>
      </p:sp>
      <p:sp>
        <p:nvSpPr>
          <p:cNvPr id="9" name="AutoShape 9"/>
          <p:cNvSpPr/>
          <p:nvPr/>
        </p:nvSpPr>
        <p:spPr>
          <a:xfrm>
            <a:off x="889000" y="2984500"/>
            <a:ext cx="5080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1" i="0" u="none" strike="noStrike">
                <a:solidFill>
                  <a:srgbClr val="FFB6C1"/>
                </a:solidFill>
                <a:latin typeface="Noto Sans SC"/>
                <a:ea typeface="Noto Sans SC"/>
                <a:cs typeface="Noto Sans SC"/>
                <a:sym typeface="Noto Sans SC"/>
              </a:rPr>
              <a:t>响应体 (Response):</a:t>
            </a:r>
            <a:endParaRPr lang="en-US" sz="1100"/>
          </a:p>
          <a:p>
            <a:pPr indent="0" algn="l">
              <a:lnSpc>
                <a:spcPct val="125000"/>
              </a:lnSpc>
            </a:pPr>
            <a:r>
              <a:rPr lang="en-US" sz="1200" b="0" i="0" u="none" strike="noStrike">
                <a:solidFill>
                  <a:srgbClr val="E6E6FA"/>
                </a:solidFill>
                <a:latin typeface="Consolas"/>
                <a:ea typeface="Consolas"/>
                <a:cs typeface="Consolas"/>
                <a:sym typeface="Consolas"/>
              </a:rPr>
              <a:t>{ "success": true, "reply": "别担心，我在这里陪着你。" }</a:t>
            </a:r>
          </a:p>
        </p:txBody>
      </p:sp>
      <p:sp>
        <p:nvSpPr>
          <p:cNvPr id="10" name="AutoShape 10"/>
          <p:cNvSpPr/>
          <p:nvPr/>
        </p:nvSpPr>
        <p:spPr>
          <a:xfrm>
            <a:off x="762000" y="4445000"/>
            <a:ext cx="5334000" cy="1651000"/>
          </a:xfrm>
          <a:prstGeom prst="roundRect">
            <a:avLst>
              <a:gd name="adj" fmla="val 7692"/>
            </a:avLst>
          </a:prstGeom>
          <a:solidFill>
            <a:srgbClr val="FFFFFF">
              <a:alpha val="5000"/>
            </a:srgbClr>
          </a:solidFill>
          <a:ln w="12700" cap="flat" cmpd="sng">
            <a:solidFill>
              <a:srgbClr val="00BFFF">
                <a:alpha val="100000"/>
              </a:srgbClr>
            </a:solidFill>
            <a:prstDash val="solid"/>
            <a:round/>
          </a:ln>
        </p:spPr>
        <p:txBody>
          <a:bodyPr vert="horz" wrap="square" lIns="63500" tIns="63500" rIns="63500" bIns="63500" rtlCol="0" anchor="ctr"/>
          <a:lstStyle/>
          <a:p>
            <a:pPr algn="ctr">
              <a:defRPr/>
            </a:pPr>
            <a:endParaRPr/>
          </a:p>
        </p:txBody>
      </p:sp>
      <p:sp>
        <p:nvSpPr>
          <p:cNvPr id="11" name="AutoShape 11"/>
          <p:cNvSpPr/>
          <p:nvPr/>
        </p:nvSpPr>
        <p:spPr>
          <a:xfrm>
            <a:off x="889000" y="4572000"/>
            <a:ext cx="508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BFFF"/>
                </a:solidFill>
                <a:latin typeface="Noto Sans SC"/>
                <a:ea typeface="Noto Sans SC"/>
                <a:cs typeface="Noto Sans SC"/>
                <a:sym typeface="Noto Sans SC"/>
              </a:rPr>
              <a:t>接口示例：获取对话记录 (GET)</a:t>
            </a:r>
            <a:endParaRPr lang="en-US" sz="1100"/>
          </a:p>
        </p:txBody>
      </p:sp>
      <p:sp>
        <p:nvSpPr>
          <p:cNvPr id="12" name="AutoShape 12"/>
          <p:cNvSpPr/>
          <p:nvPr/>
        </p:nvSpPr>
        <p:spPr>
          <a:xfrm>
            <a:off x="889000" y="4953000"/>
            <a:ext cx="5080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FFB6C1"/>
                </a:solidFill>
                <a:latin typeface="Noto Sans SC"/>
                <a:ea typeface="Noto Sans SC"/>
                <a:cs typeface="Noto Sans SC"/>
                <a:sym typeface="Noto Sans SC"/>
              </a:rPr>
              <a:t>URL:</a:t>
            </a:r>
            <a:r>
              <a:rPr lang="en-US" sz="1400" b="0" i="0" u="none" strike="noStrike">
                <a:solidFill>
                  <a:srgbClr val="E6E6FA"/>
                </a:solidFill>
                <a:latin typeface="Noto Sans SC"/>
                <a:ea typeface="Noto Sans SC"/>
                <a:cs typeface="Noto Sans SC"/>
                <a:sym typeface="Noto Sans SC"/>
              </a:rPr>
              <a:t>GET /api/ai/history?userId=123456&amp;page=1&amp;size=10</a:t>
            </a:r>
            <a:endParaRPr lang="en-US" sz="1100"/>
          </a:p>
        </p:txBody>
      </p:sp>
      <p:sp>
        <p:nvSpPr>
          <p:cNvPr id="13" name="AutoShape 13"/>
          <p:cNvSpPr/>
          <p:nvPr/>
        </p:nvSpPr>
        <p:spPr>
          <a:xfrm>
            <a:off x="889000" y="5334000"/>
            <a:ext cx="508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1" i="0" u="none" strike="noStrike">
                <a:solidFill>
                  <a:srgbClr val="FFB6C1"/>
                </a:solidFill>
                <a:latin typeface="Noto Sans SC"/>
                <a:ea typeface="Noto Sans SC"/>
                <a:cs typeface="Noto Sans SC"/>
                <a:sym typeface="Noto Sans SC"/>
              </a:rPr>
              <a:t>说明:</a:t>
            </a:r>
            <a:r>
              <a:rPr lang="en-US" sz="1200" b="0" i="0" u="none" strike="noStrike">
                <a:solidFill>
                  <a:srgbClr val="E6E6FA"/>
                </a:solidFill>
                <a:latin typeface="Noto Sans SC"/>
                <a:ea typeface="Noto Sans SC"/>
                <a:cs typeface="Noto Sans SC"/>
                <a:sym typeface="Noto Sans SC"/>
              </a:rPr>
              <a:t>返回用户的对话记录列表，支持分页查询。</a:t>
            </a:r>
            <a:endParaRPr lang="en-US" sz="1100"/>
          </a:p>
        </p:txBody>
      </p:sp>
      <p:sp>
        <p:nvSpPr>
          <p:cNvPr id="14" name="AutoShape 14"/>
          <p:cNvSpPr/>
          <p:nvPr/>
        </p:nvSpPr>
        <p:spPr>
          <a:xfrm>
            <a:off x="6350000" y="1397000"/>
            <a:ext cx="508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0BFFF"/>
                </a:solidFill>
                <a:latin typeface="Noto Sans SC"/>
                <a:ea typeface="Noto Sans SC"/>
                <a:cs typeface="Noto Sans SC"/>
                <a:sym typeface="Noto Sans SC"/>
              </a:rPr>
              <a:t>RESTful 设计原则</a:t>
            </a:r>
            <a:endParaRPr lang="en-US" sz="1100"/>
          </a:p>
        </p:txBody>
      </p:sp>
      <p:pic>
        <p:nvPicPr>
          <p:cNvPr id="15" name="Picture 15"/>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350000" y="1905000"/>
            <a:ext cx="304800" cy="304800"/>
          </a:xfrm>
          <a:prstGeom prst="rect">
            <a:avLst/>
          </a:prstGeom>
        </p:spPr>
      </p:pic>
      <p:sp>
        <p:nvSpPr>
          <p:cNvPr id="16" name="AutoShape 16"/>
          <p:cNvSpPr/>
          <p:nvPr/>
        </p:nvSpPr>
        <p:spPr>
          <a:xfrm>
            <a:off x="6731000" y="1879600"/>
            <a:ext cx="4572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0" i="0" u="none" strike="noStrike">
                <a:solidFill>
                  <a:srgbClr val="FFFFFF"/>
                </a:solidFill>
                <a:latin typeface="Noto Sans SC"/>
                <a:ea typeface="Noto Sans SC"/>
                <a:cs typeface="Noto Sans SC"/>
                <a:sym typeface="Noto Sans SC"/>
              </a:rPr>
              <a:t>使用标准 HTTP 方法 (GET/POST/PUT/DELETE)</a:t>
            </a:r>
            <a:endParaRPr lang="en-US" sz="1100"/>
          </a:p>
        </p:txBody>
      </p:sp>
      <p:pic>
        <p:nvPicPr>
          <p:cNvPr id="17" name="Picture 17"/>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350000" y="2413000"/>
            <a:ext cx="304800" cy="304800"/>
          </a:xfrm>
          <a:prstGeom prst="rect">
            <a:avLst/>
          </a:prstGeom>
        </p:spPr>
      </p:pic>
      <p:sp>
        <p:nvSpPr>
          <p:cNvPr id="18" name="AutoShape 18"/>
          <p:cNvSpPr/>
          <p:nvPr/>
        </p:nvSpPr>
        <p:spPr>
          <a:xfrm>
            <a:off x="6731000" y="2387600"/>
            <a:ext cx="4572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0" i="0" u="none" strike="noStrike">
                <a:solidFill>
                  <a:srgbClr val="FFFFFF"/>
                </a:solidFill>
                <a:latin typeface="Noto Sans SC"/>
                <a:ea typeface="Noto Sans SC"/>
                <a:cs typeface="Noto Sans SC"/>
                <a:sym typeface="Noto Sans SC"/>
              </a:rPr>
              <a:t>使用清晰、语义化的 URL 路径</a:t>
            </a:r>
            <a:endParaRPr lang="en-US" sz="1100"/>
          </a:p>
        </p:txBody>
      </p:sp>
      <p:pic>
        <p:nvPicPr>
          <p:cNvPr id="19" name="Picture 19"/>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6350000" y="2921000"/>
            <a:ext cx="304800" cy="304800"/>
          </a:xfrm>
          <a:prstGeom prst="rect">
            <a:avLst/>
          </a:prstGeom>
        </p:spPr>
      </p:pic>
      <p:sp>
        <p:nvSpPr>
          <p:cNvPr id="20" name="AutoShape 20"/>
          <p:cNvSpPr/>
          <p:nvPr/>
        </p:nvSpPr>
        <p:spPr>
          <a:xfrm>
            <a:off x="6731000" y="2895600"/>
            <a:ext cx="4572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0" i="0" u="none" strike="noStrike">
                <a:solidFill>
                  <a:srgbClr val="FFFFFF"/>
                </a:solidFill>
                <a:latin typeface="Noto Sans SC"/>
                <a:ea typeface="Noto Sans SC"/>
                <a:cs typeface="Noto Sans SC"/>
                <a:sym typeface="Noto Sans SC"/>
              </a:rPr>
              <a:t>统一使用 JSON 格式进行数据交互</a:t>
            </a:r>
            <a:endParaRPr lang="en-US" sz="1100"/>
          </a:p>
        </p:txBody>
      </p:sp>
      <p:pic>
        <p:nvPicPr>
          <p:cNvPr id="21" name="Picture 21"/>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6350000" y="3429000"/>
            <a:ext cx="304800" cy="304800"/>
          </a:xfrm>
          <a:prstGeom prst="rect">
            <a:avLst/>
          </a:prstGeom>
        </p:spPr>
      </p:pic>
      <p:sp>
        <p:nvSpPr>
          <p:cNvPr id="22" name="AutoShape 22"/>
          <p:cNvSpPr/>
          <p:nvPr/>
        </p:nvSpPr>
        <p:spPr>
          <a:xfrm>
            <a:off x="6731000" y="3403600"/>
            <a:ext cx="4572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0" i="0" u="none" strike="noStrike">
                <a:solidFill>
                  <a:srgbClr val="FFFFFF"/>
                </a:solidFill>
                <a:latin typeface="Noto Sans SC"/>
                <a:ea typeface="Noto Sans SC"/>
                <a:cs typeface="Noto Sans SC"/>
                <a:sym typeface="Noto Sans SC"/>
              </a:rPr>
              <a:t>返回合适的 HTTP 状态码表示结果</a:t>
            </a:r>
            <a:endParaRPr lang="en-US" sz="1100"/>
          </a:p>
        </p:txBody>
      </p:sp>
      <p:sp>
        <p:nvSpPr>
          <p:cNvPr id="23" name="AutoShape 23"/>
          <p:cNvSpPr/>
          <p:nvPr/>
        </p:nvSpPr>
        <p:spPr>
          <a:xfrm>
            <a:off x="6350000" y="4445000"/>
            <a:ext cx="5080000" cy="1270000"/>
          </a:xfrm>
          <a:prstGeom prst="roundRect">
            <a:avLst>
              <a:gd name="adj" fmla="val 10000"/>
            </a:avLst>
          </a:prstGeom>
          <a:solidFill>
            <a:srgbClr val="00BFFF">
              <a:alpha val="15000"/>
            </a:srgbClr>
          </a:solidFill>
          <a:ln w="12700" cap="flat" cmpd="sng">
            <a:solidFill>
              <a:srgbClr val="FFB6C1">
                <a:alpha val="100000"/>
              </a:srgbClr>
            </a:solidFill>
            <a:prstDash val="solid"/>
            <a:round/>
          </a:ln>
        </p:spPr>
        <p:txBody>
          <a:bodyPr vert="horz" wrap="square" lIns="63500" tIns="63500" rIns="63500" bIns="63500" rtlCol="0" anchor="ctr"/>
          <a:lstStyle/>
          <a:p>
            <a:pPr algn="ctr">
              <a:defRPr/>
            </a:pPr>
            <a:endParaRPr/>
          </a:p>
        </p:txBody>
      </p:sp>
      <p:pic>
        <p:nvPicPr>
          <p:cNvPr id="24" name="Picture 24"/>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6540500" y="4635500"/>
            <a:ext cx="406400" cy="406400"/>
          </a:xfrm>
          <a:prstGeom prst="rect">
            <a:avLst/>
          </a:prstGeom>
        </p:spPr>
      </p:pic>
      <p:sp>
        <p:nvSpPr>
          <p:cNvPr id="25" name="AutoShape 25"/>
          <p:cNvSpPr/>
          <p:nvPr/>
        </p:nvSpPr>
        <p:spPr>
          <a:xfrm>
            <a:off x="7048500" y="4572000"/>
            <a:ext cx="431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B6C1"/>
                </a:solidFill>
                <a:latin typeface="Noto Sans SC"/>
                <a:ea typeface="Noto Sans SC"/>
                <a:cs typeface="Noto Sans SC"/>
                <a:sym typeface="Noto Sans SC"/>
              </a:rPr>
              <a:t>学生行动指令</a:t>
            </a:r>
            <a:endParaRPr lang="en-US" sz="1100"/>
          </a:p>
        </p:txBody>
      </p:sp>
      <p:sp>
        <p:nvSpPr>
          <p:cNvPr id="26" name="AutoShape 26"/>
          <p:cNvSpPr/>
          <p:nvPr/>
        </p:nvSpPr>
        <p:spPr>
          <a:xfrm>
            <a:off x="7048500" y="5016500"/>
            <a:ext cx="431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0" i="0" u="none" strike="noStrike">
                <a:solidFill>
                  <a:srgbClr val="FFFFFF"/>
                </a:solidFill>
                <a:latin typeface="Noto Sans SC"/>
                <a:ea typeface="Noto Sans SC"/>
                <a:cs typeface="Noto Sans SC"/>
                <a:sym typeface="Noto Sans SC"/>
              </a:rPr>
              <a:t>请大家根据自己项目的需求，设计所需的 API 接口，确保符合 RESTful 规范。</a:t>
            </a:r>
            <a:endParaRPr lang="en-US" sz="110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A1428">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0A1428">
              <a:alpha val="70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762000" y="508000"/>
            <a:ext cx="106680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00BFFF"/>
                </a:solidFill>
                <a:latin typeface="Noto Sans SC"/>
                <a:ea typeface="Noto Sans SC"/>
                <a:cs typeface="Noto Sans SC"/>
                <a:sym typeface="Noto Sans SC"/>
              </a:rPr>
              <a:t>Node.js与Express环境搭建</a:t>
            </a:r>
            <a:endParaRPr lang="en-US" sz="1100"/>
          </a:p>
        </p:txBody>
      </p:sp>
      <p:sp>
        <p:nvSpPr>
          <p:cNvPr id="5" name="AutoShape 5"/>
          <p:cNvSpPr/>
          <p:nvPr/>
        </p:nvSpPr>
        <p:spPr>
          <a:xfrm>
            <a:off x="762000" y="1397000"/>
            <a:ext cx="3302000" cy="1524000"/>
          </a:xfrm>
          <a:prstGeom prst="roundRect">
            <a:avLst>
              <a:gd name="adj" fmla="val 8333"/>
            </a:avLst>
          </a:prstGeom>
          <a:solidFill>
            <a:srgbClr val="FFFFFF">
              <a:alpha val="10000"/>
            </a:srgbClr>
          </a:solidFill>
          <a:ln w="12700" cap="flat" cmpd="sng">
            <a:solidFill>
              <a:srgbClr val="00BFFF">
                <a:alpha val="30000"/>
              </a:srgbClr>
            </a:solidFill>
            <a:prstDash val="solid"/>
            <a:round/>
          </a:ln>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52500" y="1587500"/>
            <a:ext cx="304800" cy="304800"/>
          </a:xfrm>
          <a:prstGeom prst="rect">
            <a:avLst/>
          </a:prstGeom>
        </p:spPr>
      </p:pic>
      <p:sp>
        <p:nvSpPr>
          <p:cNvPr id="7" name="AutoShape 7"/>
          <p:cNvSpPr/>
          <p:nvPr/>
        </p:nvSpPr>
        <p:spPr>
          <a:xfrm>
            <a:off x="1333500" y="1549400"/>
            <a:ext cx="2667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Noto Sans SC"/>
                <a:ea typeface="Noto Sans SC"/>
                <a:cs typeface="Noto Sans SC"/>
                <a:sym typeface="Noto Sans SC"/>
              </a:rPr>
              <a:t>1. 安装Node.js和npm</a:t>
            </a:r>
            <a:endParaRPr lang="en-US" sz="1100"/>
          </a:p>
        </p:txBody>
      </p:sp>
      <p:sp>
        <p:nvSpPr>
          <p:cNvPr id="8" name="AutoShape 8"/>
          <p:cNvSpPr/>
          <p:nvPr/>
        </p:nvSpPr>
        <p:spPr>
          <a:xfrm>
            <a:off x="952500" y="1968500"/>
            <a:ext cx="2921000" cy="762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300" b="0" i="0" u="none" strike="noStrike">
                <a:solidFill>
                  <a:srgbClr val="E6E6FA"/>
                </a:solidFill>
                <a:latin typeface="Noto Sans SC"/>
                <a:ea typeface="Noto Sans SC"/>
                <a:cs typeface="Noto Sans SC"/>
                <a:sym typeface="Noto Sans SC"/>
              </a:rPr>
              <a:t>从Node.js官网下载最新版本，npm会随Node.js一起自动安装。</a:t>
            </a:r>
            <a:endParaRPr lang="en-US" sz="1100"/>
          </a:p>
        </p:txBody>
      </p:sp>
      <p:sp>
        <p:nvSpPr>
          <p:cNvPr id="9" name="AutoShape 9"/>
          <p:cNvSpPr/>
          <p:nvPr/>
        </p:nvSpPr>
        <p:spPr>
          <a:xfrm>
            <a:off x="4445000" y="1397000"/>
            <a:ext cx="3302000" cy="1524000"/>
          </a:xfrm>
          <a:prstGeom prst="roundRect">
            <a:avLst>
              <a:gd name="adj" fmla="val 8333"/>
            </a:avLst>
          </a:prstGeom>
          <a:solidFill>
            <a:srgbClr val="FFFFFF">
              <a:alpha val="10000"/>
            </a:srgbClr>
          </a:solidFill>
          <a:ln w="12700" cap="flat" cmpd="sng">
            <a:solidFill>
              <a:srgbClr val="00BFFF">
                <a:alpha val="30000"/>
              </a:srgbClr>
            </a:solidFill>
            <a:prstDash val="solid"/>
            <a:round/>
          </a:ln>
        </p:spPr>
        <p:txBody>
          <a:bodyPr vert="horz" wrap="square" lIns="63500" tIns="63500" rIns="63500" bIns="63500" rtlCol="0" anchor="ctr"/>
          <a:lstStyle/>
          <a:p>
            <a:pPr algn="ctr">
              <a:defRPr/>
            </a:pPr>
            <a:endParaRPr/>
          </a:p>
        </p:txBody>
      </p:sp>
      <p:pic>
        <p:nvPicPr>
          <p:cNvPr id="10" name="Picture 10"/>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635500" y="1587500"/>
            <a:ext cx="304800" cy="304800"/>
          </a:xfrm>
          <a:prstGeom prst="rect">
            <a:avLst/>
          </a:prstGeom>
        </p:spPr>
      </p:pic>
      <p:sp>
        <p:nvSpPr>
          <p:cNvPr id="11" name="AutoShape 11"/>
          <p:cNvSpPr/>
          <p:nvPr/>
        </p:nvSpPr>
        <p:spPr>
          <a:xfrm>
            <a:off x="5016500" y="1549400"/>
            <a:ext cx="2667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Noto Sans SC"/>
                <a:ea typeface="Noto Sans SC"/>
                <a:cs typeface="Noto Sans SC"/>
                <a:sym typeface="Noto Sans SC"/>
              </a:rPr>
              <a:t>2. 初始化项目</a:t>
            </a:r>
            <a:endParaRPr lang="en-US" sz="1100"/>
          </a:p>
        </p:txBody>
      </p:sp>
      <p:sp>
        <p:nvSpPr>
          <p:cNvPr id="12" name="AutoShape 12"/>
          <p:cNvSpPr/>
          <p:nvPr/>
        </p:nvSpPr>
        <p:spPr>
          <a:xfrm>
            <a:off x="4635500" y="1968500"/>
            <a:ext cx="2921000" cy="762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300" b="0" i="0" u="none" strike="noStrike">
                <a:solidFill>
                  <a:srgbClr val="E6E6FA"/>
                </a:solidFill>
                <a:latin typeface="Noto Sans SC"/>
                <a:ea typeface="Noto Sans SC"/>
                <a:cs typeface="Noto Sans SC"/>
                <a:sym typeface="Noto Sans SC"/>
              </a:rPr>
              <a:t>进入项目目录执行</a:t>
            </a:r>
            <a:r>
              <a:rPr lang="en-US" sz="1300" b="1" i="0" u="none" strike="noStrike">
                <a:solidFill>
                  <a:srgbClr val="FFB6C1"/>
                </a:solidFill>
                <a:latin typeface="Noto Sans SC"/>
                <a:ea typeface="Noto Sans SC"/>
                <a:cs typeface="Noto Sans SC"/>
                <a:sym typeface="Noto Sans SC"/>
              </a:rPr>
              <a:t>npm init</a:t>
            </a:r>
            <a:r>
              <a:rPr lang="en-US" sz="1300" b="0" i="0" u="none" strike="noStrike">
                <a:solidFill>
                  <a:srgbClr val="E6E6FA"/>
                </a:solidFill>
                <a:latin typeface="Noto Sans SC"/>
                <a:ea typeface="Noto Sans SC"/>
                <a:cs typeface="Noto Sans SC"/>
                <a:sym typeface="Noto Sans SC"/>
              </a:rPr>
              <a:t>，按提示填写信息生成 package.json 文件。</a:t>
            </a:r>
            <a:endParaRPr lang="en-US" sz="1100"/>
          </a:p>
        </p:txBody>
      </p:sp>
      <p:sp>
        <p:nvSpPr>
          <p:cNvPr id="13" name="AutoShape 13"/>
          <p:cNvSpPr/>
          <p:nvPr/>
        </p:nvSpPr>
        <p:spPr>
          <a:xfrm>
            <a:off x="8128000" y="1397000"/>
            <a:ext cx="3302000" cy="1524000"/>
          </a:xfrm>
          <a:prstGeom prst="roundRect">
            <a:avLst>
              <a:gd name="adj" fmla="val 8333"/>
            </a:avLst>
          </a:prstGeom>
          <a:solidFill>
            <a:srgbClr val="FFFFFF">
              <a:alpha val="10000"/>
            </a:srgbClr>
          </a:solidFill>
          <a:ln w="12700" cap="flat" cmpd="sng">
            <a:solidFill>
              <a:srgbClr val="00BFFF">
                <a:alpha val="30000"/>
              </a:srgbClr>
            </a:solidFill>
            <a:prstDash val="solid"/>
            <a:round/>
          </a:ln>
        </p:spPr>
        <p:txBody>
          <a:bodyPr vert="horz" wrap="square" lIns="63500" tIns="63500" rIns="63500" bIns="63500" rtlCol="0" anchor="ctr"/>
          <a:lstStyle/>
          <a:p>
            <a:pPr algn="ctr">
              <a:defRPr/>
            </a:pPr>
            <a:endParaRPr/>
          </a:p>
        </p:txBody>
      </p:sp>
      <p:pic>
        <p:nvPicPr>
          <p:cNvPr id="14" name="Picture 14"/>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8318500" y="1587500"/>
            <a:ext cx="304800" cy="304800"/>
          </a:xfrm>
          <a:prstGeom prst="rect">
            <a:avLst/>
          </a:prstGeom>
        </p:spPr>
      </p:pic>
      <p:sp>
        <p:nvSpPr>
          <p:cNvPr id="15" name="AutoShape 15"/>
          <p:cNvSpPr/>
          <p:nvPr/>
        </p:nvSpPr>
        <p:spPr>
          <a:xfrm>
            <a:off x="8699500" y="1549400"/>
            <a:ext cx="2667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Noto Sans SC"/>
                <a:ea typeface="Noto Sans SC"/>
                <a:cs typeface="Noto Sans SC"/>
                <a:sym typeface="Noto Sans SC"/>
              </a:rPr>
              <a:t>3. 安装Express</a:t>
            </a:r>
            <a:endParaRPr lang="en-US" sz="1100"/>
          </a:p>
        </p:txBody>
      </p:sp>
      <p:sp>
        <p:nvSpPr>
          <p:cNvPr id="16" name="AutoShape 16"/>
          <p:cNvSpPr/>
          <p:nvPr/>
        </p:nvSpPr>
        <p:spPr>
          <a:xfrm>
            <a:off x="8318500" y="1968500"/>
            <a:ext cx="2921000" cy="762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300" b="0" i="0" u="none" strike="noStrike">
                <a:solidFill>
                  <a:srgbClr val="E6E6FA"/>
                </a:solidFill>
                <a:latin typeface="Noto Sans SC"/>
                <a:ea typeface="Noto Sans SC"/>
                <a:cs typeface="Noto Sans SC"/>
                <a:sym typeface="Noto Sans SC"/>
              </a:rPr>
              <a:t>执行</a:t>
            </a:r>
            <a:r>
              <a:rPr lang="en-US" sz="1300" b="1" i="0" u="none" strike="noStrike">
                <a:solidFill>
                  <a:srgbClr val="FFB6C1"/>
                </a:solidFill>
                <a:latin typeface="Noto Sans SC"/>
                <a:ea typeface="Noto Sans SC"/>
                <a:cs typeface="Noto Sans SC"/>
                <a:sym typeface="Noto Sans SC"/>
              </a:rPr>
              <a:t>npm install express</a:t>
            </a:r>
            <a:r>
              <a:rPr lang="en-US" sz="1300" b="0" i="0" u="none" strike="noStrike">
                <a:solidFill>
                  <a:srgbClr val="E6E6FA"/>
                </a:solidFill>
                <a:latin typeface="Noto Sans SC"/>
                <a:ea typeface="Noto Sans SC"/>
                <a:cs typeface="Noto Sans SC"/>
                <a:sym typeface="Noto Sans SC"/>
              </a:rPr>
              <a:t>命令安装Express框架。</a:t>
            </a:r>
            <a:endParaRPr lang="en-US" sz="1100"/>
          </a:p>
        </p:txBody>
      </p:sp>
      <p:sp>
        <p:nvSpPr>
          <p:cNvPr id="17" name="AutoShape 17"/>
          <p:cNvSpPr/>
          <p:nvPr/>
        </p:nvSpPr>
        <p:spPr>
          <a:xfrm>
            <a:off x="762000" y="3175000"/>
            <a:ext cx="10668000" cy="1905000"/>
          </a:xfrm>
          <a:prstGeom prst="roundRect">
            <a:avLst>
              <a:gd name="adj" fmla="val 6666"/>
            </a:avLst>
          </a:prstGeom>
          <a:solidFill>
            <a:srgbClr val="000000">
              <a:alpha val="40000"/>
            </a:srgbClr>
          </a:solidFill>
          <a:ln w="12700" cap="flat" cmpd="sng">
            <a:solidFill>
              <a:srgbClr val="FFB6C1">
                <a:alpha val="50000"/>
              </a:srgbClr>
            </a:solidFill>
            <a:prstDash val="solid"/>
            <a:round/>
          </a:ln>
        </p:spPr>
        <p:txBody>
          <a:bodyPr vert="horz" wrap="square" lIns="63500" tIns="63500" rIns="63500" bIns="63500" rtlCol="0" anchor="ctr"/>
          <a:lstStyle/>
          <a:p>
            <a:pPr algn="ctr">
              <a:defRPr/>
            </a:pPr>
            <a:endParaRPr/>
          </a:p>
        </p:txBody>
      </p:sp>
      <p:pic>
        <p:nvPicPr>
          <p:cNvPr id="18" name="Picture 18"/>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952500" y="3365500"/>
            <a:ext cx="304800" cy="304800"/>
          </a:xfrm>
          <a:prstGeom prst="rect">
            <a:avLst/>
          </a:prstGeom>
        </p:spPr>
      </p:pic>
      <p:sp>
        <p:nvSpPr>
          <p:cNvPr id="19" name="AutoShape 19"/>
          <p:cNvSpPr/>
          <p:nvPr/>
        </p:nvSpPr>
        <p:spPr>
          <a:xfrm>
            <a:off x="1333500" y="3327400"/>
            <a:ext cx="990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Noto Sans SC"/>
                <a:ea typeface="Noto Sans SC"/>
                <a:cs typeface="Noto Sans SC"/>
                <a:sym typeface="Noto Sans SC"/>
              </a:rPr>
              <a:t>4. 创建入口文件 (app.js)</a:t>
            </a:r>
            <a:endParaRPr lang="en-US" sz="1100"/>
          </a:p>
        </p:txBody>
      </p:sp>
      <p:sp>
        <p:nvSpPr>
          <p:cNvPr id="20" name="AutoShape 20"/>
          <p:cNvSpPr/>
          <p:nvPr/>
        </p:nvSpPr>
        <p:spPr>
          <a:xfrm>
            <a:off x="952500" y="3810000"/>
            <a:ext cx="10287000" cy="1143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300" b="0" i="0" u="none" strike="noStrike">
                <a:solidFill>
                  <a:srgbClr val="FFB6C1"/>
                </a:solidFill>
                <a:latin typeface="Consolas"/>
                <a:ea typeface="Consolas"/>
                <a:cs typeface="Consolas"/>
                <a:sym typeface="Consolas"/>
              </a:rPr>
              <a:t>const</a:t>
            </a:r>
            <a:r>
              <a:rPr lang="en-US" sz="1300" b="0" i="0" u="none" strike="noStrike">
                <a:solidFill>
                  <a:srgbClr val="E6E6FA"/>
                </a:solidFill>
                <a:latin typeface="Consolas"/>
                <a:ea typeface="Consolas"/>
                <a:cs typeface="Consolas"/>
                <a:sym typeface="Consolas"/>
              </a:rPr>
              <a:t>express =</a:t>
            </a:r>
            <a:r>
              <a:rPr lang="en-US" sz="1300" b="0" i="0" u="none" strike="noStrike">
                <a:solidFill>
                  <a:srgbClr val="00BFFF"/>
                </a:solidFill>
                <a:latin typeface="Consolas"/>
                <a:ea typeface="Consolas"/>
                <a:cs typeface="Consolas"/>
                <a:sym typeface="Consolas"/>
              </a:rPr>
              <a:t>require</a:t>
            </a:r>
            <a:r>
              <a:rPr lang="en-US" sz="1300" b="0" i="0" u="none" strike="noStrike">
                <a:solidFill>
                  <a:srgbClr val="E6E6FA"/>
                </a:solidFill>
                <a:latin typeface="Consolas"/>
                <a:ea typeface="Consolas"/>
                <a:cs typeface="Consolas"/>
                <a:sym typeface="Consolas"/>
              </a:rPr>
              <a:t>(</a:t>
            </a:r>
            <a:r>
              <a:rPr lang="en-US" sz="1300" b="0" i="0" u="none" strike="noStrike">
                <a:solidFill>
                  <a:srgbClr val="90EE90"/>
                </a:solidFill>
                <a:latin typeface="Consolas"/>
                <a:ea typeface="Consolas"/>
                <a:cs typeface="Consolas"/>
                <a:sym typeface="Consolas"/>
              </a:rPr>
              <a:t>'express'</a:t>
            </a:r>
            <a:r>
              <a:rPr lang="en-US" sz="1300" b="0" i="0" u="none" strike="noStrike">
                <a:solidFill>
                  <a:srgbClr val="E6E6FA"/>
                </a:solidFill>
                <a:latin typeface="Consolas"/>
                <a:ea typeface="Consolas"/>
                <a:cs typeface="Consolas"/>
                <a:sym typeface="Consolas"/>
              </a:rPr>
              <a:t>);</a:t>
            </a:r>
            <a:r>
              <a:rPr lang="en-US" sz="1300" b="0" i="0" u="none" strike="noStrike">
                <a:solidFill>
                  <a:srgbClr val="FFB6C1"/>
                </a:solidFill>
                <a:latin typeface="Consolas"/>
                <a:ea typeface="Consolas"/>
                <a:cs typeface="Consolas"/>
                <a:sym typeface="Consolas"/>
              </a:rPr>
              <a:t>const</a:t>
            </a:r>
            <a:r>
              <a:rPr lang="en-US" sz="1300" b="0" i="0" u="none" strike="noStrike">
                <a:solidFill>
                  <a:srgbClr val="E6E6FA"/>
                </a:solidFill>
                <a:latin typeface="Consolas"/>
                <a:ea typeface="Consolas"/>
                <a:cs typeface="Consolas"/>
                <a:sym typeface="Consolas"/>
              </a:rPr>
              <a:t>app = express();</a:t>
            </a:r>
            <a:r>
              <a:rPr lang="en-US" sz="1300" b="0" i="0" u="none" strike="noStrike">
                <a:solidFill>
                  <a:srgbClr val="FFB6C1"/>
                </a:solidFill>
                <a:latin typeface="Consolas"/>
                <a:ea typeface="Consolas"/>
                <a:cs typeface="Consolas"/>
                <a:sym typeface="Consolas"/>
              </a:rPr>
              <a:t>const</a:t>
            </a:r>
            <a:r>
              <a:rPr lang="en-US" sz="1300" b="0" i="0" u="none" strike="noStrike">
                <a:solidFill>
                  <a:srgbClr val="E6E6FA"/>
                </a:solidFill>
                <a:latin typeface="Consolas"/>
                <a:ea typeface="Consolas"/>
                <a:cs typeface="Consolas"/>
                <a:sym typeface="Consolas"/>
              </a:rPr>
              <a:t>port = 3000;</a:t>
            </a:r>
            <a:endParaRPr lang="en-US" sz="1100"/>
          </a:p>
          <a:p>
            <a:pPr indent="0" algn="l">
              <a:lnSpc>
                <a:spcPct val="100000"/>
              </a:lnSpc>
            </a:pPr>
            <a:r>
              <a:rPr lang="en-US" sz="1300" b="0" i="0" u="none" strike="noStrike">
                <a:solidFill>
                  <a:srgbClr val="E6E6FA"/>
                </a:solidFill>
                <a:latin typeface="Consolas"/>
                <a:ea typeface="Consolas"/>
                <a:cs typeface="Consolas"/>
                <a:sym typeface="Consolas"/>
              </a:rPr>
              <a:t>app.</a:t>
            </a:r>
            <a:r>
              <a:rPr lang="en-US" sz="1300" b="0" i="0" u="none" strike="noStrike">
                <a:solidFill>
                  <a:srgbClr val="00BFFF"/>
                </a:solidFill>
                <a:latin typeface="Consolas"/>
                <a:ea typeface="Consolas"/>
                <a:cs typeface="Consolas"/>
                <a:sym typeface="Consolas"/>
              </a:rPr>
              <a:t>get</a:t>
            </a:r>
            <a:r>
              <a:rPr lang="en-US" sz="1300" b="0" i="0" u="none" strike="noStrike">
                <a:solidFill>
                  <a:srgbClr val="E6E6FA"/>
                </a:solidFill>
                <a:latin typeface="Consolas"/>
                <a:ea typeface="Consolas"/>
                <a:cs typeface="Consolas"/>
                <a:sym typeface="Consolas"/>
              </a:rPr>
              <a:t>(</a:t>
            </a:r>
            <a:r>
              <a:rPr lang="en-US" sz="1300" b="0" i="0" u="none" strike="noStrike">
                <a:solidFill>
                  <a:srgbClr val="90EE90"/>
                </a:solidFill>
                <a:latin typeface="Consolas"/>
                <a:ea typeface="Consolas"/>
                <a:cs typeface="Consolas"/>
                <a:sym typeface="Consolas"/>
              </a:rPr>
              <a:t>'/'</a:t>
            </a:r>
            <a:r>
              <a:rPr lang="en-US" sz="1300" b="0" i="0" u="none" strike="noStrike">
                <a:solidFill>
                  <a:srgbClr val="E6E6FA"/>
                </a:solidFill>
                <a:latin typeface="Consolas"/>
                <a:ea typeface="Consolas"/>
                <a:cs typeface="Consolas"/>
                <a:sym typeface="Consolas"/>
              </a:rPr>
              <a:t>, (req, res) =&gt; { res.</a:t>
            </a:r>
            <a:r>
              <a:rPr lang="en-US" sz="1300" b="0" i="0" u="none" strike="noStrike">
                <a:solidFill>
                  <a:srgbClr val="00BFFF"/>
                </a:solidFill>
                <a:latin typeface="Consolas"/>
                <a:ea typeface="Consolas"/>
                <a:cs typeface="Consolas"/>
                <a:sym typeface="Consolas"/>
              </a:rPr>
              <a:t>send</a:t>
            </a:r>
            <a:r>
              <a:rPr lang="en-US" sz="1300" b="0" i="0" u="none" strike="noStrike">
                <a:solidFill>
                  <a:srgbClr val="E6E6FA"/>
                </a:solidFill>
                <a:latin typeface="Consolas"/>
                <a:ea typeface="Consolas"/>
                <a:cs typeface="Consolas"/>
                <a:sym typeface="Consolas"/>
              </a:rPr>
              <a:t>(</a:t>
            </a:r>
            <a:r>
              <a:rPr lang="en-US" sz="1300" b="0" i="0" u="none" strike="noStrike">
                <a:solidFill>
                  <a:srgbClr val="90EE90"/>
                </a:solidFill>
                <a:latin typeface="Consolas"/>
                <a:ea typeface="Consolas"/>
                <a:cs typeface="Consolas"/>
                <a:sym typeface="Consolas"/>
              </a:rPr>
              <a:t>'Hello World!'</a:t>
            </a:r>
            <a:r>
              <a:rPr lang="en-US" sz="1300" b="0" i="0" u="none" strike="noStrike">
                <a:solidFill>
                  <a:srgbClr val="E6E6FA"/>
                </a:solidFill>
                <a:latin typeface="Consolas"/>
                <a:ea typeface="Consolas"/>
                <a:cs typeface="Consolas"/>
                <a:sym typeface="Consolas"/>
              </a:rPr>
              <a:t>); });</a:t>
            </a:r>
          </a:p>
          <a:p>
            <a:pPr indent="0" algn="l">
              <a:lnSpc>
                <a:spcPct val="100000"/>
              </a:lnSpc>
            </a:pPr>
            <a:r>
              <a:rPr lang="en-US" sz="1300" b="0" i="0" u="none" strike="noStrike">
                <a:solidFill>
                  <a:srgbClr val="E6E6FA"/>
                </a:solidFill>
                <a:latin typeface="Consolas"/>
                <a:ea typeface="Consolas"/>
                <a:cs typeface="Consolas"/>
                <a:sym typeface="Consolas"/>
              </a:rPr>
              <a:t>app.</a:t>
            </a:r>
            <a:r>
              <a:rPr lang="en-US" sz="1300" b="0" i="0" u="none" strike="noStrike">
                <a:solidFill>
                  <a:srgbClr val="00BFFF"/>
                </a:solidFill>
                <a:latin typeface="Consolas"/>
                <a:ea typeface="Consolas"/>
                <a:cs typeface="Consolas"/>
                <a:sym typeface="Consolas"/>
              </a:rPr>
              <a:t>listen</a:t>
            </a:r>
            <a:r>
              <a:rPr lang="en-US" sz="1300" b="0" i="0" u="none" strike="noStrike">
                <a:solidFill>
                  <a:srgbClr val="E6E6FA"/>
                </a:solidFill>
                <a:latin typeface="Consolas"/>
                <a:ea typeface="Consolas"/>
                <a:cs typeface="Consolas"/>
                <a:sym typeface="Consolas"/>
              </a:rPr>
              <a:t>(port, () =&gt; {</a:t>
            </a:r>
            <a:r>
              <a:rPr lang="en-US" sz="1300" b="0" i="0" u="none" strike="noStrike">
                <a:solidFill>
                  <a:srgbClr val="00BFFF"/>
                </a:solidFill>
                <a:latin typeface="Consolas"/>
                <a:ea typeface="Consolas"/>
                <a:cs typeface="Consolas"/>
                <a:sym typeface="Consolas"/>
              </a:rPr>
              <a:t>console</a:t>
            </a:r>
            <a:r>
              <a:rPr lang="en-US" sz="1300" b="0" i="0" u="none" strike="noStrike">
                <a:solidFill>
                  <a:srgbClr val="E6E6FA"/>
                </a:solidFill>
                <a:latin typeface="Consolas"/>
                <a:ea typeface="Consolas"/>
                <a:cs typeface="Consolas"/>
                <a:sym typeface="Consolas"/>
              </a:rPr>
              <a:t>.</a:t>
            </a:r>
            <a:r>
              <a:rPr lang="en-US" sz="1300" b="0" i="0" u="none" strike="noStrike">
                <a:solidFill>
                  <a:srgbClr val="00BFFF"/>
                </a:solidFill>
                <a:latin typeface="Consolas"/>
                <a:ea typeface="Consolas"/>
                <a:cs typeface="Consolas"/>
                <a:sym typeface="Consolas"/>
              </a:rPr>
              <a:t>log</a:t>
            </a:r>
            <a:r>
              <a:rPr lang="en-US" sz="1300" b="0" i="0" u="none" strike="noStrike">
                <a:solidFill>
                  <a:srgbClr val="E6E6FA"/>
                </a:solidFill>
                <a:latin typeface="Consolas"/>
                <a:ea typeface="Consolas"/>
                <a:cs typeface="Consolas"/>
                <a:sym typeface="Consolas"/>
              </a:rPr>
              <a:t>(</a:t>
            </a:r>
            <a:r>
              <a:rPr lang="en-US" sz="1300" b="0" i="0" u="none" strike="noStrike">
                <a:solidFill>
                  <a:srgbClr val="90EE90"/>
                </a:solidFill>
                <a:latin typeface="Consolas"/>
                <a:ea typeface="Consolas"/>
                <a:cs typeface="Consolas"/>
                <a:sym typeface="Consolas"/>
              </a:rPr>
              <a:t>`Server running on port ${port}`</a:t>
            </a:r>
            <a:r>
              <a:rPr lang="en-US" sz="1300" b="0" i="0" u="none" strike="noStrike">
                <a:solidFill>
                  <a:srgbClr val="E6E6FA"/>
                </a:solidFill>
                <a:latin typeface="Consolas"/>
                <a:ea typeface="Consolas"/>
                <a:cs typeface="Consolas"/>
                <a:sym typeface="Consolas"/>
              </a:rPr>
              <a:t>); });</a:t>
            </a:r>
          </a:p>
        </p:txBody>
      </p:sp>
      <p:sp>
        <p:nvSpPr>
          <p:cNvPr id="21" name="AutoShape 21"/>
          <p:cNvSpPr/>
          <p:nvPr/>
        </p:nvSpPr>
        <p:spPr>
          <a:xfrm>
            <a:off x="762000" y="5334000"/>
            <a:ext cx="10668000" cy="762000"/>
          </a:xfrm>
          <a:prstGeom prst="roundRect">
            <a:avLst>
              <a:gd name="adj" fmla="val 16666"/>
            </a:avLst>
          </a:prstGeom>
          <a:solidFill>
            <a:srgbClr val="00BFFF">
              <a:alpha val="15000"/>
            </a:srgbClr>
          </a:solidFill>
          <a:ln w="12700" cap="flat" cmpd="sng">
            <a:solidFill>
              <a:srgbClr val="00BFFF">
                <a:alpha val="80000"/>
              </a:srgbClr>
            </a:solidFill>
            <a:prstDash val="dash"/>
            <a:round/>
          </a:ln>
        </p:spPr>
        <p:txBody>
          <a:bodyPr vert="horz" wrap="square" lIns="63500" tIns="63500" rIns="63500" bIns="63500" rtlCol="0" anchor="ctr"/>
          <a:lstStyle/>
          <a:p>
            <a:pPr algn="ctr">
              <a:defRPr/>
            </a:pPr>
            <a:endParaRPr/>
          </a:p>
        </p:txBody>
      </p:sp>
      <p:pic>
        <p:nvPicPr>
          <p:cNvPr id="22" name="Picture 22"/>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952500" y="5562600"/>
            <a:ext cx="304800" cy="304800"/>
          </a:xfrm>
          <a:prstGeom prst="rect">
            <a:avLst/>
          </a:prstGeom>
        </p:spPr>
      </p:pic>
      <p:sp>
        <p:nvSpPr>
          <p:cNvPr id="23" name="AutoShape 23"/>
          <p:cNvSpPr/>
          <p:nvPr/>
        </p:nvSpPr>
        <p:spPr>
          <a:xfrm>
            <a:off x="1333500" y="5524500"/>
            <a:ext cx="990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Noto Sans SC"/>
                <a:ea typeface="Noto Sans SC"/>
                <a:cs typeface="Noto Sans SC"/>
                <a:sym typeface="Noto Sans SC"/>
              </a:rPr>
              <a:t>行动指令：请大家按照步骤完成Node.js和Express的环境搭建，并运行基础的Express服务。</a:t>
            </a:r>
            <a:endParaRPr lang="en-US" sz="110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A192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0A192F">
              <a:alpha val="85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762000" y="508000"/>
            <a:ext cx="115570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00BFFF"/>
                </a:solidFill>
                <a:latin typeface="Noto Sans SC"/>
                <a:ea typeface="Noto Sans SC"/>
                <a:cs typeface="Noto Sans SC"/>
                <a:sym typeface="Noto Sans SC"/>
              </a:rPr>
              <a:t>使用Node.js和Express构建API服务：实现AI对话接口</a:t>
            </a:r>
            <a:endParaRPr lang="en-US" sz="1100"/>
          </a:p>
        </p:txBody>
      </p:sp>
      <p:sp>
        <p:nvSpPr>
          <p:cNvPr id="5" name="AutoShape 5"/>
          <p:cNvSpPr/>
          <p:nvPr/>
        </p:nvSpPr>
        <p:spPr>
          <a:xfrm>
            <a:off x="762000" y="1524000"/>
            <a:ext cx="4318000" cy="1016000"/>
          </a:xfrm>
          <a:prstGeom prst="roundRect">
            <a:avLst>
              <a:gd name="adj" fmla="val 12500"/>
            </a:avLst>
          </a:prstGeom>
          <a:solidFill>
            <a:srgbClr val="FFFFFF">
              <a:alpha val="8000"/>
            </a:srgbClr>
          </a:solidFill>
          <a:ln w="12700" cap="flat" cmpd="sng">
            <a:solidFill>
              <a:srgbClr val="00BFFF">
                <a:alpha val="30000"/>
              </a:srgbClr>
            </a:solidFill>
            <a:prstDash val="solid"/>
            <a:round/>
          </a:ln>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1828800"/>
            <a:ext cx="406400" cy="406400"/>
          </a:xfrm>
          <a:prstGeom prst="rect">
            <a:avLst/>
          </a:prstGeom>
        </p:spPr>
      </p:pic>
      <p:sp>
        <p:nvSpPr>
          <p:cNvPr id="7" name="AutoShape 7"/>
          <p:cNvSpPr/>
          <p:nvPr/>
        </p:nvSpPr>
        <p:spPr>
          <a:xfrm>
            <a:off x="1524000" y="1651000"/>
            <a:ext cx="3556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Noto Sans SC"/>
                <a:ea typeface="Noto Sans SC"/>
                <a:cs typeface="Noto Sans SC"/>
                <a:sym typeface="Noto Sans SC"/>
              </a:rPr>
              <a:t>安装 OpenAI SDK</a:t>
            </a:r>
            <a:endParaRPr lang="en-US" sz="1100"/>
          </a:p>
          <a:p>
            <a:pPr indent="0" algn="l">
              <a:lnSpc>
                <a:spcPct val="125000"/>
              </a:lnSpc>
            </a:pPr>
            <a:r>
              <a:rPr lang="en-US" sz="1400" b="0" i="0" u="none" strike="noStrike">
                <a:solidFill>
                  <a:srgbClr val="E6E6FA"/>
                </a:solidFill>
                <a:latin typeface="Noto Sans SC"/>
                <a:ea typeface="Noto Sans SC"/>
                <a:cs typeface="Noto Sans SC"/>
                <a:sym typeface="Noto Sans SC"/>
              </a:rPr>
              <a:t>执行命令：</a:t>
            </a:r>
            <a:r>
              <a:rPr lang="en-US" sz="1400" b="1" i="0" u="none" strike="noStrike">
                <a:solidFill>
                  <a:srgbClr val="FFB6C1"/>
                </a:solidFill>
                <a:latin typeface="Noto Sans SC"/>
                <a:ea typeface="Noto Sans SC"/>
                <a:cs typeface="Noto Sans SC"/>
                <a:sym typeface="Noto Sans SC"/>
              </a:rPr>
              <a:t>npm install openai</a:t>
            </a:r>
          </a:p>
        </p:txBody>
      </p:sp>
      <p:sp>
        <p:nvSpPr>
          <p:cNvPr id="8" name="AutoShape 8"/>
          <p:cNvSpPr/>
          <p:nvPr/>
        </p:nvSpPr>
        <p:spPr>
          <a:xfrm>
            <a:off x="762000" y="2667000"/>
            <a:ext cx="4318000" cy="1397000"/>
          </a:xfrm>
          <a:prstGeom prst="roundRect">
            <a:avLst>
              <a:gd name="adj" fmla="val 9090"/>
            </a:avLst>
          </a:prstGeom>
          <a:solidFill>
            <a:srgbClr val="FFFFFF">
              <a:alpha val="8000"/>
            </a:srgbClr>
          </a:solidFill>
          <a:ln w="12700" cap="flat" cmpd="sng">
            <a:solidFill>
              <a:srgbClr val="00BFFF">
                <a:alpha val="30000"/>
              </a:srgbClr>
            </a:solidFill>
            <a:prstDash val="solid"/>
            <a:round/>
          </a:ln>
        </p:spPr>
        <p:txBody>
          <a:bodyPr vert="horz" wrap="square" lIns="63500" tIns="63500" rIns="63500" bIns="63500" rtlCol="0" anchor="ctr"/>
          <a:lstStyle/>
          <a:p>
            <a:pPr algn="ctr">
              <a:defRPr/>
            </a:pPr>
            <a:endParaRPr/>
          </a:p>
        </p:txBody>
      </p:sp>
      <p:pic>
        <p:nvPicPr>
          <p:cNvPr id="9" name="Picture 9"/>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016000" y="3162300"/>
            <a:ext cx="406400" cy="406400"/>
          </a:xfrm>
          <a:prstGeom prst="rect">
            <a:avLst/>
          </a:prstGeom>
        </p:spPr>
      </p:pic>
      <p:sp>
        <p:nvSpPr>
          <p:cNvPr id="10" name="AutoShape 10"/>
          <p:cNvSpPr/>
          <p:nvPr/>
        </p:nvSpPr>
        <p:spPr>
          <a:xfrm>
            <a:off x="1524000" y="2794000"/>
            <a:ext cx="3556000" cy="1143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Noto Sans SC"/>
                <a:ea typeface="Noto Sans SC"/>
                <a:cs typeface="Noto Sans SC"/>
                <a:sym typeface="Noto Sans SC"/>
              </a:rPr>
              <a:t>编写 POST 接口</a:t>
            </a:r>
            <a:endParaRPr lang="en-US" sz="1100"/>
          </a:p>
          <a:p>
            <a:pPr indent="0" algn="l">
              <a:lnSpc>
                <a:spcPct val="125000"/>
              </a:lnSpc>
            </a:pPr>
            <a:r>
              <a:rPr lang="en-US" sz="1400" b="0" i="0" u="none" strike="noStrike">
                <a:solidFill>
                  <a:srgbClr val="E6E6FA"/>
                </a:solidFill>
                <a:latin typeface="Noto Sans SC"/>
                <a:ea typeface="Noto Sans SC"/>
                <a:cs typeface="Noto Sans SC"/>
                <a:sym typeface="Noto Sans SC"/>
              </a:rPr>
              <a:t>在</a:t>
            </a:r>
            <a:r>
              <a:rPr lang="en-US" sz="1400" b="1" i="0" u="none" strike="noStrike">
                <a:solidFill>
                  <a:srgbClr val="FFB6C1"/>
                </a:solidFill>
                <a:latin typeface="Noto Sans SC"/>
                <a:ea typeface="Noto Sans SC"/>
                <a:cs typeface="Noto Sans SC"/>
                <a:sym typeface="Noto Sans SC"/>
              </a:rPr>
              <a:t>app.js</a:t>
            </a:r>
            <a:r>
              <a:rPr lang="en-US" sz="1400" b="0" i="0" u="none" strike="noStrike">
                <a:solidFill>
                  <a:srgbClr val="E6E6FA"/>
                </a:solidFill>
                <a:latin typeface="Noto Sans SC"/>
                <a:ea typeface="Noto Sans SC"/>
                <a:cs typeface="Noto Sans SC"/>
                <a:sym typeface="Noto Sans SC"/>
              </a:rPr>
              <a:t>中添加接口，处理用户消息并调用 ChatGPT API，封装响应数据。</a:t>
            </a:r>
          </a:p>
        </p:txBody>
      </p:sp>
      <p:sp>
        <p:nvSpPr>
          <p:cNvPr id="11" name="AutoShape 11"/>
          <p:cNvSpPr/>
          <p:nvPr/>
        </p:nvSpPr>
        <p:spPr>
          <a:xfrm>
            <a:off x="5334000" y="1524000"/>
            <a:ext cx="6096000" cy="2540000"/>
          </a:xfrm>
          <a:prstGeom prst="roundRect">
            <a:avLst>
              <a:gd name="adj" fmla="val 5000"/>
            </a:avLst>
          </a:prstGeom>
          <a:solidFill>
            <a:srgbClr val="1E1E1E">
              <a:alpha val="100000"/>
            </a:srgbClr>
          </a:solidFill>
          <a:ln w="12700" cap="flat" cmpd="sng">
            <a:solidFill>
              <a:srgbClr val="00BFFF">
                <a:alpha val="50000"/>
              </a:srgbClr>
            </a:solidFill>
            <a:prstDash val="solid"/>
            <a:round/>
          </a:ln>
          <a:effectLst>
            <a:outerShdw blurRad="127000" dist="63500" dir="2700000" algn="tl" rotWithShape="0">
              <a:srgbClr val="000000">
                <a:alpha val="50000"/>
              </a:srgbClr>
            </a:outerShdw>
          </a:effectLst>
        </p:spPr>
        <p:txBody>
          <a:bodyPr vert="horz" wrap="square" lIns="63500" tIns="63500" rIns="63500" bIns="63500" rtlCol="0" anchor="ctr"/>
          <a:lstStyle/>
          <a:p>
            <a:pPr algn="ctr">
              <a:defRPr/>
            </a:pPr>
            <a:endParaRPr/>
          </a:p>
        </p:txBody>
      </p:sp>
      <p:sp>
        <p:nvSpPr>
          <p:cNvPr id="12" name="AutoShape 12"/>
          <p:cNvSpPr/>
          <p:nvPr/>
        </p:nvSpPr>
        <p:spPr>
          <a:xfrm>
            <a:off x="5334000" y="1524000"/>
            <a:ext cx="6096000" cy="381000"/>
          </a:xfrm>
          <a:prstGeom prst="roundRect">
            <a:avLst>
              <a:gd name="adj" fmla="val 0"/>
            </a:avLst>
          </a:prstGeom>
          <a:solidFill>
            <a:srgbClr val="FFFFFF">
              <a:alpha val="10000"/>
            </a:srgbClr>
          </a:solidFill>
          <a:ln w="25400" cap="flat" cmpd="sng">
            <a:noFill/>
            <a:prstDash val="solid"/>
            <a:round/>
          </a:ln>
        </p:spPr>
        <p:txBody>
          <a:bodyPr vert="horz" wrap="square" lIns="63500" tIns="63500" rIns="63500" bIns="63500" rtlCol="0" anchor="ctr"/>
          <a:lstStyle/>
          <a:p>
            <a:pPr algn="ctr">
              <a:defRPr/>
            </a:pPr>
            <a:endParaRPr/>
          </a:p>
        </p:txBody>
      </p:sp>
      <p:sp>
        <p:nvSpPr>
          <p:cNvPr id="13" name="AutoShape 13"/>
          <p:cNvSpPr/>
          <p:nvPr/>
        </p:nvSpPr>
        <p:spPr>
          <a:xfrm>
            <a:off x="5461000" y="1524000"/>
            <a:ext cx="5842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B4B4B4"/>
                </a:solidFill>
                <a:latin typeface="Noto Sans SC"/>
                <a:ea typeface="Noto Sans SC"/>
                <a:cs typeface="Noto Sans SC"/>
                <a:sym typeface="Noto Sans SC"/>
              </a:rPr>
              <a:t>app.js - AI Message API</a:t>
            </a:r>
            <a:endParaRPr lang="en-US" sz="1100"/>
          </a:p>
        </p:txBody>
      </p:sp>
      <p:sp>
        <p:nvSpPr>
          <p:cNvPr id="14" name="AutoShape 14"/>
          <p:cNvSpPr/>
          <p:nvPr/>
        </p:nvSpPr>
        <p:spPr>
          <a:xfrm>
            <a:off x="5461000" y="1968500"/>
            <a:ext cx="5842000" cy="2032000"/>
          </a:xfrm>
          <a:prstGeom prst="rect">
            <a:avLst/>
          </a:prstGeom>
          <a:noFill/>
          <a:ln w="12700" cap="flat" cmpd="sng">
            <a:noFill/>
            <a:prstDash val="solid"/>
            <a:round/>
          </a:ln>
        </p:spPr>
        <p:txBody>
          <a:bodyPr vert="horz" wrap="square" lIns="0" tIns="0" rIns="0" bIns="0" rtlCol="0" anchor="t" anchorCtr="0"/>
          <a:lstStyle/>
          <a:p>
            <a:pPr indent="0" algn="l">
              <a:lnSpc>
                <a:spcPct val="100000"/>
              </a:lnSpc>
              <a:defRPr/>
            </a:pPr>
            <a:r>
              <a:rPr lang="en-US" sz="1200" b="0" i="0" u="none" strike="noStrike">
                <a:solidFill>
                  <a:srgbClr val="C678DD"/>
                </a:solidFill>
                <a:latin typeface="Consolas"/>
                <a:ea typeface="Consolas"/>
                <a:cs typeface="Consolas"/>
                <a:sym typeface="Consolas"/>
              </a:rPr>
              <a:t>const</a:t>
            </a:r>
            <a:r>
              <a:rPr lang="en-US" sz="1200" b="0" i="0" u="none" strike="noStrike">
                <a:solidFill>
                  <a:srgbClr val="DCDFE4"/>
                </a:solidFill>
                <a:latin typeface="Consolas"/>
                <a:ea typeface="Consolas"/>
                <a:cs typeface="Consolas"/>
                <a:sym typeface="Consolas"/>
              </a:rPr>
              <a:t>{ OpenAI } =</a:t>
            </a:r>
            <a:r>
              <a:rPr lang="en-US" sz="1200" b="0" i="0" u="none" strike="noStrike">
                <a:solidFill>
                  <a:srgbClr val="61AFEF"/>
                </a:solidFill>
                <a:latin typeface="Consolas"/>
                <a:ea typeface="Consolas"/>
                <a:cs typeface="Consolas"/>
                <a:sym typeface="Consolas"/>
              </a:rPr>
              <a:t>require</a:t>
            </a:r>
            <a:r>
              <a:rPr lang="en-US" sz="1200" b="0" i="0" u="none" strike="noStrike">
                <a:solidFill>
                  <a:srgbClr val="DCDFE4"/>
                </a:solidFill>
                <a:latin typeface="Consolas"/>
                <a:ea typeface="Consolas"/>
                <a:cs typeface="Consolas"/>
                <a:sym typeface="Consolas"/>
              </a:rPr>
              <a:t>(</a:t>
            </a:r>
            <a:r>
              <a:rPr lang="en-US" sz="1200" b="0" i="0" u="none" strike="noStrike">
                <a:solidFill>
                  <a:srgbClr val="98C379"/>
                </a:solidFill>
                <a:latin typeface="Consolas"/>
                <a:ea typeface="Consolas"/>
                <a:cs typeface="Consolas"/>
                <a:sym typeface="Consolas"/>
              </a:rPr>
              <a:t>'openai'</a:t>
            </a:r>
            <a:r>
              <a:rPr lang="en-US" sz="1200" b="0" i="0" u="none" strike="noStrike">
                <a:solidFill>
                  <a:srgbClr val="DCDFE4"/>
                </a:solidFill>
                <a:latin typeface="Consolas"/>
                <a:ea typeface="Consolas"/>
                <a:cs typeface="Consolas"/>
                <a:sym typeface="Consolas"/>
              </a:rPr>
              <a:t>);</a:t>
            </a:r>
            <a:endParaRPr lang="en-US" sz="1100"/>
          </a:p>
          <a:p>
            <a:pPr indent="0" algn="l">
              <a:lnSpc>
                <a:spcPct val="100000"/>
              </a:lnSpc>
            </a:pPr>
            <a:r>
              <a:rPr lang="en-US" sz="1200" b="0" i="0" u="none" strike="noStrike">
                <a:solidFill>
                  <a:srgbClr val="C678DD"/>
                </a:solidFill>
                <a:latin typeface="Consolas"/>
                <a:ea typeface="Consolas"/>
                <a:cs typeface="Consolas"/>
                <a:sym typeface="Consolas"/>
              </a:rPr>
              <a:t>const</a:t>
            </a:r>
            <a:r>
              <a:rPr lang="en-US" sz="1200" b="0" i="0" u="none" strike="noStrike">
                <a:solidFill>
                  <a:srgbClr val="DCDFE4"/>
                </a:solidFill>
                <a:latin typeface="Consolas"/>
                <a:ea typeface="Consolas"/>
                <a:cs typeface="Consolas"/>
                <a:sym typeface="Consolas"/>
              </a:rPr>
              <a:t>openai =</a:t>
            </a:r>
            <a:r>
              <a:rPr lang="en-US" sz="1200" b="0" i="0" u="none" strike="noStrike">
                <a:solidFill>
                  <a:srgbClr val="C678DD"/>
                </a:solidFill>
                <a:latin typeface="Consolas"/>
                <a:ea typeface="Consolas"/>
                <a:cs typeface="Consolas"/>
                <a:sym typeface="Consolas"/>
              </a:rPr>
              <a:t>new</a:t>
            </a:r>
            <a:r>
              <a:rPr lang="en-US" sz="1200" b="0" i="0" u="none" strike="noStrike">
                <a:solidFill>
                  <a:srgbClr val="DCDFE4"/>
                </a:solidFill>
                <a:latin typeface="Consolas"/>
                <a:ea typeface="Consolas"/>
                <a:cs typeface="Consolas"/>
                <a:sym typeface="Consolas"/>
              </a:rPr>
              <a:t>OpenAI({ apiKey:</a:t>
            </a:r>
            <a:r>
              <a:rPr lang="en-US" sz="1200" b="0" i="0" u="none" strike="noStrike">
                <a:solidFill>
                  <a:srgbClr val="98C379"/>
                </a:solidFill>
                <a:latin typeface="Consolas"/>
                <a:ea typeface="Consolas"/>
                <a:cs typeface="Consolas"/>
                <a:sym typeface="Consolas"/>
              </a:rPr>
              <a:t>'YOUR_API_KEY'</a:t>
            </a:r>
            <a:r>
              <a:rPr lang="en-US" sz="1200" b="0" i="0" u="none" strike="noStrike">
                <a:solidFill>
                  <a:srgbClr val="DCDFE4"/>
                </a:solidFill>
                <a:latin typeface="Consolas"/>
                <a:ea typeface="Consolas"/>
                <a:cs typeface="Consolas"/>
                <a:sym typeface="Consolas"/>
              </a:rPr>
              <a:t>});</a:t>
            </a:r>
          </a:p>
          <a:p>
            <a:pPr indent="0" algn="l">
              <a:lnSpc>
                <a:spcPct val="100000"/>
              </a:lnSpc>
            </a:pPr>
            <a:r>
              <a:rPr lang="en-US" sz="1200" b="0" i="0" u="none" strike="noStrike">
                <a:solidFill>
                  <a:srgbClr val="DCDFE4"/>
                </a:solidFill>
                <a:latin typeface="Consolas"/>
                <a:ea typeface="Consolas"/>
                <a:cs typeface="Consolas"/>
                <a:sym typeface="Consolas"/>
              </a:rPr>
              <a:t>app.post(</a:t>
            </a:r>
            <a:r>
              <a:rPr lang="en-US" sz="1200" b="0" i="0" u="none" strike="noStrike">
                <a:solidFill>
                  <a:srgbClr val="98C379"/>
                </a:solidFill>
                <a:latin typeface="Consolas"/>
                <a:ea typeface="Consolas"/>
                <a:cs typeface="Consolas"/>
                <a:sym typeface="Consolas"/>
              </a:rPr>
              <a:t>'/api/ai/message'</a:t>
            </a:r>
            <a:r>
              <a:rPr lang="en-US" sz="1200" b="0" i="0" u="none" strike="noStrike">
                <a:solidFill>
                  <a:srgbClr val="DCDFE4"/>
                </a:solidFill>
                <a:latin typeface="Consolas"/>
                <a:ea typeface="Consolas"/>
                <a:cs typeface="Consolas"/>
                <a:sym typeface="Consolas"/>
              </a:rPr>
              <a:t>,</a:t>
            </a:r>
            <a:r>
              <a:rPr lang="en-US" sz="1200" b="0" i="0" u="none" strike="noStrike">
                <a:solidFill>
                  <a:srgbClr val="C678DD"/>
                </a:solidFill>
                <a:latin typeface="Consolas"/>
                <a:ea typeface="Consolas"/>
                <a:cs typeface="Consolas"/>
                <a:sym typeface="Consolas"/>
              </a:rPr>
              <a:t>async</a:t>
            </a:r>
            <a:r>
              <a:rPr lang="en-US" sz="1200" b="0" i="0" u="none" strike="noStrike">
                <a:solidFill>
                  <a:srgbClr val="DCDFE4"/>
                </a:solidFill>
                <a:latin typeface="Consolas"/>
                <a:ea typeface="Consolas"/>
                <a:cs typeface="Consolas"/>
                <a:sym typeface="Consolas"/>
              </a:rPr>
              <a:t>(req, res) =&gt; {</a:t>
            </a:r>
          </a:p>
          <a:p>
            <a:pPr indent="0" algn="l">
              <a:lnSpc>
                <a:spcPct val="100000"/>
              </a:lnSpc>
            </a:pPr>
            <a:r>
              <a:rPr lang="en-US" sz="1200" b="0" i="0" u="none" strike="noStrike">
                <a:solidFill>
                  <a:srgbClr val="C678DD"/>
                </a:solidFill>
                <a:latin typeface="Consolas"/>
                <a:ea typeface="Consolas"/>
                <a:cs typeface="Consolas"/>
                <a:sym typeface="Consolas"/>
              </a:rPr>
              <a:t>const</a:t>
            </a:r>
            <a:r>
              <a:rPr lang="en-US" sz="1200" b="0" i="0" u="none" strike="noStrike">
                <a:solidFill>
                  <a:srgbClr val="DCDFE4"/>
                </a:solidFill>
                <a:latin typeface="Consolas"/>
                <a:ea typeface="Consolas"/>
                <a:cs typeface="Consolas"/>
                <a:sym typeface="Consolas"/>
              </a:rPr>
              <a:t>{ message } = req.body;</a:t>
            </a:r>
          </a:p>
          <a:p>
            <a:pPr indent="0" algn="l">
              <a:lnSpc>
                <a:spcPct val="100000"/>
              </a:lnSpc>
            </a:pPr>
            <a:r>
              <a:rPr lang="en-US" sz="1200" b="0" i="0" u="none" strike="noStrike">
                <a:solidFill>
                  <a:srgbClr val="C678DD"/>
                </a:solidFill>
                <a:latin typeface="Consolas"/>
                <a:ea typeface="Consolas"/>
                <a:cs typeface="Consolas"/>
                <a:sym typeface="Consolas"/>
              </a:rPr>
              <a:t>const</a:t>
            </a:r>
            <a:r>
              <a:rPr lang="en-US" sz="1200" b="0" i="0" u="none" strike="noStrike">
                <a:solidFill>
                  <a:srgbClr val="DCDFE4"/>
                </a:solidFill>
                <a:latin typeface="Consolas"/>
                <a:ea typeface="Consolas"/>
                <a:cs typeface="Consolas"/>
                <a:sym typeface="Consolas"/>
              </a:rPr>
              <a:t>completion =</a:t>
            </a:r>
            <a:r>
              <a:rPr lang="en-US" sz="1200" b="0" i="0" u="none" strike="noStrike">
                <a:solidFill>
                  <a:srgbClr val="C678DD"/>
                </a:solidFill>
                <a:latin typeface="Consolas"/>
                <a:ea typeface="Consolas"/>
                <a:cs typeface="Consolas"/>
                <a:sym typeface="Consolas"/>
              </a:rPr>
              <a:t>await</a:t>
            </a:r>
            <a:r>
              <a:rPr lang="en-US" sz="1200" b="0" i="0" u="none" strike="noStrike">
                <a:solidFill>
                  <a:srgbClr val="DCDFE4"/>
                </a:solidFill>
                <a:latin typeface="Consolas"/>
                <a:ea typeface="Consolas"/>
                <a:cs typeface="Consolas"/>
                <a:sym typeface="Consolas"/>
              </a:rPr>
              <a:t>openai.chat.completions.create({</a:t>
            </a:r>
          </a:p>
          <a:p>
            <a:pPr indent="0" algn="l">
              <a:lnSpc>
                <a:spcPct val="100000"/>
              </a:lnSpc>
            </a:pPr>
            <a:r>
              <a:rPr lang="en-US" sz="1200" b="0" i="0" u="none" strike="noStrike">
                <a:solidFill>
                  <a:srgbClr val="DCDFE4"/>
                </a:solidFill>
                <a:latin typeface="Consolas"/>
                <a:ea typeface="Consolas"/>
                <a:cs typeface="Consolas"/>
                <a:sym typeface="Consolas"/>
              </a:rPr>
              <a:t>model:</a:t>
            </a:r>
            <a:r>
              <a:rPr lang="en-US" sz="1200" b="0" i="0" u="none" strike="noStrike">
                <a:solidFill>
                  <a:srgbClr val="98C379"/>
                </a:solidFill>
                <a:latin typeface="Consolas"/>
                <a:ea typeface="Consolas"/>
                <a:cs typeface="Consolas"/>
                <a:sym typeface="Consolas"/>
              </a:rPr>
              <a:t>"gpt-3.5-turbo"</a:t>
            </a:r>
            <a:r>
              <a:rPr lang="en-US" sz="1200" b="0" i="0" u="none" strike="noStrike">
                <a:solidFill>
                  <a:srgbClr val="DCDFE4"/>
                </a:solidFill>
                <a:latin typeface="Consolas"/>
                <a:ea typeface="Consolas"/>
                <a:cs typeface="Consolas"/>
                <a:sym typeface="Consolas"/>
              </a:rPr>
              <a:t>, messages: [{role:</a:t>
            </a:r>
            <a:r>
              <a:rPr lang="en-US" sz="1200" b="0" i="0" u="none" strike="noStrike">
                <a:solidFill>
                  <a:srgbClr val="98C379"/>
                </a:solidFill>
                <a:latin typeface="Consolas"/>
                <a:ea typeface="Consolas"/>
                <a:cs typeface="Consolas"/>
                <a:sym typeface="Consolas"/>
              </a:rPr>
              <a:t>"user"</a:t>
            </a:r>
            <a:r>
              <a:rPr lang="en-US" sz="1200" b="0" i="0" u="none" strike="noStrike">
                <a:solidFill>
                  <a:srgbClr val="DCDFE4"/>
                </a:solidFill>
                <a:latin typeface="Consolas"/>
                <a:ea typeface="Consolas"/>
                <a:cs typeface="Consolas"/>
                <a:sym typeface="Consolas"/>
              </a:rPr>
              <a:t>, content: message}]</a:t>
            </a:r>
          </a:p>
          <a:p>
            <a:pPr indent="0" algn="l">
              <a:lnSpc>
                <a:spcPct val="100000"/>
              </a:lnSpc>
            </a:pPr>
            <a:r>
              <a:rPr lang="en-US" sz="1200" b="0" i="0" u="none" strike="noStrike">
                <a:solidFill>
                  <a:srgbClr val="DCDFE4"/>
                </a:solidFill>
                <a:latin typeface="Consolas"/>
                <a:ea typeface="Consolas"/>
                <a:cs typeface="Consolas"/>
                <a:sym typeface="Consolas"/>
              </a:rPr>
              <a:t>});</a:t>
            </a:r>
          </a:p>
          <a:p>
            <a:pPr indent="0" algn="l">
              <a:lnSpc>
                <a:spcPct val="100000"/>
              </a:lnSpc>
            </a:pPr>
            <a:r>
              <a:rPr lang="en-US" sz="1200" b="0" i="0" u="none" strike="noStrike">
                <a:solidFill>
                  <a:srgbClr val="DCDFE4"/>
                </a:solidFill>
                <a:latin typeface="Consolas"/>
                <a:ea typeface="Consolas"/>
                <a:cs typeface="Consolas"/>
                <a:sym typeface="Consolas"/>
              </a:rPr>
              <a:t>res.json({ success:</a:t>
            </a:r>
            <a:r>
              <a:rPr lang="en-US" sz="1200" b="0" i="0" u="none" strike="noStrike">
                <a:solidFill>
                  <a:srgbClr val="D19A66"/>
                </a:solidFill>
                <a:latin typeface="Consolas"/>
                <a:ea typeface="Consolas"/>
                <a:cs typeface="Consolas"/>
                <a:sym typeface="Consolas"/>
              </a:rPr>
              <a:t>true</a:t>
            </a:r>
            <a:r>
              <a:rPr lang="en-US" sz="1200" b="0" i="0" u="none" strike="noStrike">
                <a:solidFill>
                  <a:srgbClr val="DCDFE4"/>
                </a:solidFill>
                <a:latin typeface="Consolas"/>
                <a:ea typeface="Consolas"/>
                <a:cs typeface="Consolas"/>
                <a:sym typeface="Consolas"/>
              </a:rPr>
              <a:t>, reply: completion.choices[0].message.content });</a:t>
            </a:r>
          </a:p>
          <a:p>
            <a:pPr indent="0" algn="l">
              <a:lnSpc>
                <a:spcPct val="100000"/>
              </a:lnSpc>
            </a:pPr>
            <a:r>
              <a:rPr lang="en-US" sz="1200" b="0" i="0" u="none" strike="noStrike">
                <a:solidFill>
                  <a:srgbClr val="DCDFE4"/>
                </a:solidFill>
                <a:latin typeface="Consolas"/>
                <a:ea typeface="Consolas"/>
                <a:cs typeface="Consolas"/>
                <a:sym typeface="Consolas"/>
              </a:rPr>
              <a:t>});</a:t>
            </a:r>
          </a:p>
        </p:txBody>
      </p:sp>
      <p:sp>
        <p:nvSpPr>
          <p:cNvPr id="15" name="AutoShape 15"/>
          <p:cNvSpPr/>
          <p:nvPr/>
        </p:nvSpPr>
        <p:spPr>
          <a:xfrm>
            <a:off x="762000" y="4826000"/>
            <a:ext cx="10668000" cy="1016000"/>
          </a:xfrm>
          <a:prstGeom prst="roundRect">
            <a:avLst>
              <a:gd name="adj" fmla="val 12500"/>
            </a:avLst>
          </a:prstGeom>
          <a:solidFill>
            <a:srgbClr val="FFB6C1">
              <a:alpha val="10000"/>
            </a:srgbClr>
          </a:solidFill>
          <a:ln w="12700" cap="flat" cmpd="sng">
            <a:solidFill>
              <a:srgbClr val="FFB6C1">
                <a:alpha val="50000"/>
              </a:srgbClr>
            </a:solidFill>
            <a:prstDash val="dash"/>
            <a:round/>
          </a:ln>
        </p:spPr>
        <p:txBody>
          <a:bodyPr vert="horz" wrap="square" lIns="63500" tIns="63500" rIns="63500" bIns="63500" rtlCol="0" anchor="ctr"/>
          <a:lstStyle/>
          <a:p>
            <a:pPr algn="ctr">
              <a:defRPr/>
            </a:pPr>
            <a:endParaRPr/>
          </a:p>
        </p:txBody>
      </p:sp>
      <p:pic>
        <p:nvPicPr>
          <p:cNvPr id="16" name="Picture 16"/>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016000" y="5130800"/>
            <a:ext cx="406400" cy="406400"/>
          </a:xfrm>
          <a:prstGeom prst="rect">
            <a:avLst/>
          </a:prstGeom>
        </p:spPr>
      </p:pic>
      <p:sp>
        <p:nvSpPr>
          <p:cNvPr id="17" name="AutoShape 17"/>
          <p:cNvSpPr/>
          <p:nvPr/>
        </p:nvSpPr>
        <p:spPr>
          <a:xfrm>
            <a:off x="1524000" y="4953000"/>
            <a:ext cx="9652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B6C1"/>
                </a:solidFill>
                <a:latin typeface="Noto Sans SC"/>
                <a:ea typeface="Noto Sans SC"/>
                <a:cs typeface="Noto Sans SC"/>
                <a:sym typeface="Noto Sans SC"/>
              </a:rPr>
              <a:t>学生行动指令：</a:t>
            </a:r>
            <a:endParaRPr lang="en-US" sz="1100"/>
          </a:p>
          <a:p>
            <a:pPr indent="0" algn="l">
              <a:lnSpc>
                <a:spcPct val="125000"/>
              </a:lnSpc>
            </a:pPr>
            <a:r>
              <a:rPr lang="en-US" sz="1600" b="0" i="0" u="none" strike="noStrike">
                <a:solidFill>
                  <a:srgbClr val="E6E6FA"/>
                </a:solidFill>
                <a:latin typeface="Noto Sans SC"/>
                <a:ea typeface="Noto Sans SC"/>
                <a:cs typeface="Noto Sans SC"/>
                <a:sym typeface="Noto Sans SC"/>
              </a:rPr>
              <a:t>请参考右侧示例代码，编写自己的 API 接口代码，实现调用 ChatGPT API 的功能。注意替换代码中的</a:t>
            </a:r>
            <a:r>
              <a:rPr lang="en-US" sz="1600" b="1" i="0" u="none" strike="noStrike">
                <a:solidFill>
                  <a:srgbClr val="FFB6C1"/>
                </a:solidFill>
                <a:latin typeface="Noto Sans SC"/>
                <a:ea typeface="Noto Sans SC"/>
                <a:cs typeface="Noto Sans SC"/>
                <a:sym typeface="Noto Sans SC"/>
              </a:rPr>
              <a:t>API 密钥</a:t>
            </a:r>
            <a:r>
              <a:rPr lang="en-US" sz="1600" b="0" i="0" u="none" strike="noStrike">
                <a:solidFill>
                  <a:srgbClr val="E6E6FA"/>
                </a:solidFill>
                <a:latin typeface="Noto Sans SC"/>
                <a:ea typeface="Noto Sans SC"/>
                <a:cs typeface="Noto Sans SC"/>
                <a:sym typeface="Noto Sans SC"/>
              </a:rPr>
              <a:t>。</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00000">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762000" y="508000"/>
            <a:ext cx="50292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00BFFF"/>
                </a:solidFill>
                <a:latin typeface="Noto Sans SC"/>
                <a:ea typeface="Noto Sans SC"/>
                <a:cs typeface="Noto Sans SC"/>
                <a:sym typeface="Noto Sans SC"/>
              </a:rPr>
              <a:t>API服务部署与测试</a:t>
            </a:r>
            <a:endParaRPr lang="en-US" sz="1100"/>
          </a:p>
        </p:txBody>
      </p:sp>
      <p:sp>
        <p:nvSpPr>
          <p:cNvPr id="4" name="AutoShape 4"/>
          <p:cNvSpPr/>
          <p:nvPr/>
        </p:nvSpPr>
        <p:spPr>
          <a:xfrm>
            <a:off x="762000" y="1397000"/>
            <a:ext cx="5080000" cy="2540000"/>
          </a:xfrm>
          <a:prstGeom prst="roundRect">
            <a:avLst>
              <a:gd name="adj" fmla="val 5000"/>
            </a:avLst>
          </a:prstGeom>
          <a:solidFill>
            <a:srgbClr val="FFFFFF">
              <a:alpha val="8000"/>
            </a:srgbClr>
          </a:solidFill>
          <a:ln w="12700" cap="flat" cmpd="sng">
            <a:solidFill>
              <a:srgbClr val="00BFFF">
                <a:alpha val="30000"/>
              </a:srgbClr>
            </a:solidFill>
            <a:prstDash val="solid"/>
            <a:round/>
          </a:ln>
        </p:spPr>
        <p:txBody>
          <a:bodyPr vert="horz" wrap="square" lIns="63500" tIns="63500" rIns="63500" bIns="63500" rtlCol="0" anchor="ctr"/>
          <a:lstStyle/>
          <a:p>
            <a:pPr algn="ctr">
              <a:defRPr/>
            </a:pPr>
            <a:endParaRPr/>
          </a:p>
        </p:txBody>
      </p:sp>
      <p:pic>
        <p:nvPicPr>
          <p:cNvPr id="5" name="Picture 5"/>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1587500"/>
            <a:ext cx="304800" cy="304800"/>
          </a:xfrm>
          <a:prstGeom prst="rect">
            <a:avLst/>
          </a:prstGeom>
        </p:spPr>
      </p:pic>
      <p:sp>
        <p:nvSpPr>
          <p:cNvPr id="6" name="AutoShape 6"/>
          <p:cNvSpPr/>
          <p:nvPr/>
        </p:nvSpPr>
        <p:spPr>
          <a:xfrm>
            <a:off x="1397000" y="1549400"/>
            <a:ext cx="381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0BFFF"/>
                </a:solidFill>
                <a:latin typeface="Noto Sans SC"/>
                <a:ea typeface="Noto Sans SC"/>
                <a:cs typeface="Noto Sans SC"/>
                <a:sym typeface="Noto Sans SC"/>
              </a:rPr>
              <a:t>部署选项</a:t>
            </a:r>
            <a:endParaRPr lang="en-US" sz="1100"/>
          </a:p>
        </p:txBody>
      </p:sp>
      <p:pic>
        <p:nvPicPr>
          <p:cNvPr id="7" name="Picture 7"/>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016000" y="2095500"/>
            <a:ext cx="254000" cy="254000"/>
          </a:xfrm>
          <a:prstGeom prst="rect">
            <a:avLst/>
          </a:prstGeom>
        </p:spPr>
      </p:pic>
      <p:sp>
        <p:nvSpPr>
          <p:cNvPr id="8" name="AutoShape 8"/>
          <p:cNvSpPr/>
          <p:nvPr/>
        </p:nvSpPr>
        <p:spPr>
          <a:xfrm>
            <a:off x="1397000" y="2032000"/>
            <a:ext cx="431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Noto Sans SC"/>
                <a:ea typeface="Noto Sans SC"/>
                <a:cs typeface="Noto Sans SC"/>
                <a:sym typeface="Noto Sans SC"/>
              </a:rPr>
              <a:t>本地部署：</a:t>
            </a:r>
            <a:r>
              <a:rPr lang="en-US" sz="1400" b="0" i="0" u="none" strike="noStrike">
                <a:solidFill>
                  <a:srgbClr val="FFFFFF">
                    <a:alpha val="80000"/>
                  </a:srgbClr>
                </a:solidFill>
                <a:latin typeface="Noto Sans SC"/>
                <a:ea typeface="Noto Sans SC"/>
                <a:cs typeface="Noto Sans SC"/>
                <a:sym typeface="Noto Sans SC"/>
              </a:rPr>
              <a:t>开发机运行，终端执行 node app.js 启动，适合开发测试。</a:t>
            </a:r>
            <a:endParaRPr lang="en-US" sz="1100"/>
          </a:p>
        </p:txBody>
      </p:sp>
      <p:pic>
        <p:nvPicPr>
          <p:cNvPr id="9" name="Picture 9"/>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016000" y="2857500"/>
            <a:ext cx="254000" cy="254000"/>
          </a:xfrm>
          <a:prstGeom prst="rect">
            <a:avLst/>
          </a:prstGeom>
        </p:spPr>
      </p:pic>
      <p:sp>
        <p:nvSpPr>
          <p:cNvPr id="10" name="AutoShape 10"/>
          <p:cNvSpPr/>
          <p:nvPr/>
        </p:nvSpPr>
        <p:spPr>
          <a:xfrm>
            <a:off x="1397000" y="2794000"/>
            <a:ext cx="4318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Noto Sans SC"/>
                <a:ea typeface="Noto Sans SC"/>
                <a:cs typeface="Noto Sans SC"/>
                <a:sym typeface="Noto Sans SC"/>
              </a:rPr>
              <a:t>云平台部署：</a:t>
            </a:r>
            <a:r>
              <a:rPr lang="en-US" sz="1400" b="0" i="0" u="none" strike="noStrike">
                <a:solidFill>
                  <a:srgbClr val="FFFFFF">
                    <a:alpha val="80000"/>
                  </a:srgbClr>
                </a:solidFill>
                <a:latin typeface="Noto Sans SC"/>
                <a:ea typeface="Noto Sans SC"/>
                <a:cs typeface="Noto Sans SC"/>
                <a:sym typeface="Noto Sans SC"/>
              </a:rPr>
              <a:t>部署至Heroku/AWS/阿里云等，实现公网访问，需配置环境变量与代码上传。</a:t>
            </a:r>
            <a:endParaRPr lang="en-US" sz="1100"/>
          </a:p>
        </p:txBody>
      </p:sp>
      <p:sp>
        <p:nvSpPr>
          <p:cNvPr id="11" name="AutoShape 11"/>
          <p:cNvSpPr/>
          <p:nvPr/>
        </p:nvSpPr>
        <p:spPr>
          <a:xfrm>
            <a:off x="6223000" y="1397000"/>
            <a:ext cx="5080000" cy="2540000"/>
          </a:xfrm>
          <a:prstGeom prst="roundRect">
            <a:avLst>
              <a:gd name="adj" fmla="val 5000"/>
            </a:avLst>
          </a:prstGeom>
          <a:solidFill>
            <a:srgbClr val="FFFFFF">
              <a:alpha val="8000"/>
            </a:srgbClr>
          </a:solidFill>
          <a:ln w="12700" cap="flat" cmpd="sng">
            <a:solidFill>
              <a:srgbClr val="00BFFF">
                <a:alpha val="30000"/>
              </a:srgbClr>
            </a:solidFill>
            <a:prstDash val="solid"/>
            <a:round/>
          </a:ln>
        </p:spPr>
        <p:txBody>
          <a:bodyPr vert="horz" wrap="square" lIns="63500" tIns="63500" rIns="63500" bIns="63500" rtlCol="0" anchor="ctr"/>
          <a:lstStyle/>
          <a:p>
            <a:pPr algn="ctr">
              <a:defRPr/>
            </a:pPr>
            <a:endParaRPr/>
          </a:p>
        </p:txBody>
      </p:sp>
      <p:pic>
        <p:nvPicPr>
          <p:cNvPr id="12" name="Picture 12"/>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6477000" y="1587500"/>
            <a:ext cx="304800" cy="304800"/>
          </a:xfrm>
          <a:prstGeom prst="rect">
            <a:avLst/>
          </a:prstGeom>
        </p:spPr>
      </p:pic>
      <p:sp>
        <p:nvSpPr>
          <p:cNvPr id="13" name="AutoShape 13"/>
          <p:cNvSpPr/>
          <p:nvPr/>
        </p:nvSpPr>
        <p:spPr>
          <a:xfrm>
            <a:off x="6858000" y="1549400"/>
            <a:ext cx="381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0BFFF"/>
                </a:solidFill>
                <a:latin typeface="Noto Sans SC"/>
                <a:ea typeface="Noto Sans SC"/>
                <a:cs typeface="Noto Sans SC"/>
                <a:sym typeface="Noto Sans SC"/>
              </a:rPr>
              <a:t>测试方法</a:t>
            </a:r>
            <a:endParaRPr lang="en-US" sz="1100"/>
          </a:p>
        </p:txBody>
      </p:sp>
      <p:pic>
        <p:nvPicPr>
          <p:cNvPr id="14" name="Picture 14"/>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6477000" y="2095500"/>
            <a:ext cx="254000" cy="254000"/>
          </a:xfrm>
          <a:prstGeom prst="rect">
            <a:avLst/>
          </a:prstGeom>
        </p:spPr>
      </p:pic>
      <p:sp>
        <p:nvSpPr>
          <p:cNvPr id="15" name="AutoShape 15"/>
          <p:cNvSpPr/>
          <p:nvPr/>
        </p:nvSpPr>
        <p:spPr>
          <a:xfrm>
            <a:off x="6858000" y="2032000"/>
            <a:ext cx="431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Noto Sans SC"/>
                <a:ea typeface="Noto Sans SC"/>
                <a:cs typeface="Noto Sans SC"/>
                <a:sym typeface="Noto Sans SC"/>
              </a:rPr>
              <a:t>使用Postman测试：</a:t>
            </a:r>
            <a:r>
              <a:rPr lang="en-US" sz="1400" b="0" i="0" u="none" strike="noStrike">
                <a:solidFill>
                  <a:srgbClr val="FFFFFF">
                    <a:alpha val="80000"/>
                  </a:srgbClr>
                </a:solidFill>
                <a:latin typeface="Noto Sans SC"/>
                <a:ea typeface="Noto Sans SC"/>
                <a:cs typeface="Noto Sans SC"/>
                <a:sym typeface="Noto Sans SC"/>
              </a:rPr>
              <a:t>发送HTTP请求，验证接口功能与返回结果是否符合预期。</a:t>
            </a:r>
            <a:endParaRPr lang="en-US" sz="1100"/>
          </a:p>
        </p:txBody>
      </p:sp>
      <p:pic>
        <p:nvPicPr>
          <p:cNvPr id="16" name="Picture 16"/>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6477000" y="2857500"/>
            <a:ext cx="254000" cy="254000"/>
          </a:xfrm>
          <a:prstGeom prst="rect">
            <a:avLst/>
          </a:prstGeom>
        </p:spPr>
      </p:pic>
      <p:sp>
        <p:nvSpPr>
          <p:cNvPr id="17" name="AutoShape 17"/>
          <p:cNvSpPr/>
          <p:nvPr/>
        </p:nvSpPr>
        <p:spPr>
          <a:xfrm>
            <a:off x="6858000" y="2794000"/>
            <a:ext cx="4318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Noto Sans SC"/>
                <a:ea typeface="Noto Sans SC"/>
                <a:cs typeface="Noto Sans SC"/>
                <a:sym typeface="Noto Sans SC"/>
              </a:rPr>
              <a:t>端到端测试：</a:t>
            </a:r>
            <a:r>
              <a:rPr lang="en-US" sz="1400" b="0" i="0" u="none" strike="noStrike">
                <a:solidFill>
                  <a:srgbClr val="FFFFFF">
                    <a:alpha val="80000"/>
                  </a:srgbClr>
                </a:solidFill>
                <a:latin typeface="Noto Sans SC"/>
                <a:ea typeface="Noto Sans SC"/>
                <a:cs typeface="Noto Sans SC"/>
                <a:sym typeface="Noto Sans SC"/>
              </a:rPr>
              <a:t>配置API地址到SafeWalk App，验证前后端交互流程的完整性。</a:t>
            </a:r>
            <a:endParaRPr lang="en-US" sz="1100"/>
          </a:p>
        </p:txBody>
      </p:sp>
      <p:sp>
        <p:nvSpPr>
          <p:cNvPr id="18" name="AutoShape 18"/>
          <p:cNvSpPr/>
          <p:nvPr/>
        </p:nvSpPr>
        <p:spPr>
          <a:xfrm>
            <a:off x="762000" y="4191000"/>
            <a:ext cx="10541000" cy="1016000"/>
          </a:xfrm>
          <a:prstGeom prst="roundRect">
            <a:avLst>
              <a:gd name="adj" fmla="val 12500"/>
            </a:avLst>
          </a:prstGeom>
          <a:solidFill>
            <a:srgbClr val="FFB6C1">
              <a:alpha val="15000"/>
            </a:srgbClr>
          </a:solidFill>
          <a:ln w="12700" cap="flat" cmpd="sng">
            <a:solidFill>
              <a:srgbClr val="FFB6C1">
                <a:alpha val="50000"/>
              </a:srgbClr>
            </a:solidFill>
            <a:prstDash val="solid"/>
            <a:round/>
          </a:ln>
        </p:spPr>
        <p:txBody>
          <a:bodyPr vert="horz" wrap="square" lIns="63500" tIns="63500" rIns="63500" bIns="63500" rtlCol="0" anchor="ctr"/>
          <a:lstStyle/>
          <a:p>
            <a:pPr algn="ctr">
              <a:defRPr/>
            </a:pPr>
            <a:endParaRPr/>
          </a:p>
        </p:txBody>
      </p:sp>
      <p:pic>
        <p:nvPicPr>
          <p:cNvPr id="19" name="Picture 19"/>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1016000" y="4495800"/>
            <a:ext cx="406400" cy="406400"/>
          </a:xfrm>
          <a:prstGeom prst="rect">
            <a:avLst/>
          </a:prstGeom>
        </p:spPr>
      </p:pic>
      <p:sp>
        <p:nvSpPr>
          <p:cNvPr id="20" name="AutoShape 20"/>
          <p:cNvSpPr/>
          <p:nvPr/>
        </p:nvSpPr>
        <p:spPr>
          <a:xfrm>
            <a:off x="1524000" y="4445000"/>
            <a:ext cx="9525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Noto Sans SC"/>
                <a:ea typeface="Noto Sans SC"/>
                <a:cs typeface="Noto Sans SC"/>
                <a:sym typeface="Noto Sans SC"/>
              </a:rPr>
              <a:t>行动指令：</a:t>
            </a:r>
            <a:r>
              <a:rPr lang="en-US" sz="1800" b="0" i="0" u="none" strike="noStrike">
                <a:solidFill>
                  <a:srgbClr val="FFFFFF">
                    <a:alpha val="90196"/>
                  </a:srgbClr>
                </a:solidFill>
                <a:latin typeface="Noto Sans SC"/>
                <a:ea typeface="Noto Sans SC"/>
                <a:cs typeface="Noto Sans SC"/>
                <a:sym typeface="Noto Sans SC"/>
              </a:rPr>
              <a:t>请大家将自己的API服务部署到云平台，并使用Postman进行功能测试。</a:t>
            </a:r>
            <a:endParaRPr lang="en-US" sz="110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000000">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0A192F">
              <a:alpha val="70000"/>
            </a:srgbClr>
          </a:solidFill>
          <a:ln w="25400" cap="flat" cmpd="sng">
            <a:noFill/>
            <a:prstDash val="solid"/>
            <a:round/>
          </a:ln>
        </p:spPr>
        <p:txBody>
          <a:bodyPr vert="horz" wrap="square" lIns="63500" tIns="63500" rIns="63500" bIns="63500" rtlCol="0" anchor="ctr"/>
          <a:lstStyle/>
          <a:p>
            <a:pPr algn="ctr">
              <a:defRPr/>
            </a:pPr>
            <a:endParaRPr/>
          </a:p>
        </p:txBody>
      </p:sp>
      <p:pic>
        <p:nvPicPr>
          <p:cNvPr id="4" name="Picture 4"/>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791200" y="1651000"/>
            <a:ext cx="609600" cy="609600"/>
          </a:xfrm>
          <a:prstGeom prst="rect">
            <a:avLst/>
          </a:prstGeom>
        </p:spPr>
      </p:pic>
      <p:sp>
        <p:nvSpPr>
          <p:cNvPr id="5" name="AutoShape 5"/>
          <p:cNvSpPr/>
          <p:nvPr/>
        </p:nvSpPr>
        <p:spPr>
          <a:xfrm>
            <a:off x="508000" y="2413000"/>
            <a:ext cx="11176000" cy="635000"/>
          </a:xfrm>
          <a:prstGeom prst="rect">
            <a:avLst/>
          </a:prstGeom>
          <a:noFill/>
          <a:ln w="12700" cap="flat" cmpd="sng">
            <a:noFill/>
            <a:prstDash val="solid"/>
            <a:round/>
          </a:ln>
        </p:spPr>
        <p:txBody>
          <a:bodyPr vert="horz" wrap="none" lIns="0" tIns="0" rIns="0" bIns="0" rtlCol="0" anchor="ctr" anchorCtr="0"/>
          <a:lstStyle/>
          <a:p>
            <a:pPr indent="0" algn="ctr">
              <a:lnSpc>
                <a:spcPct val="125000"/>
              </a:lnSpc>
              <a:defRPr/>
            </a:pPr>
            <a:r>
              <a:rPr lang="en-US" sz="3600" b="1" i="0" u="none" strike="noStrike">
                <a:solidFill>
                  <a:srgbClr val="FFFFFF"/>
                </a:solidFill>
                <a:latin typeface="Noto Sans SC"/>
                <a:ea typeface="Noto Sans SC"/>
                <a:cs typeface="Noto Sans SC"/>
                <a:sym typeface="Noto Sans SC"/>
              </a:rPr>
              <a:t>模块四：数据统计与可视化实现</a:t>
            </a:r>
            <a:endParaRPr lang="en-US" sz="1100"/>
          </a:p>
        </p:txBody>
      </p:sp>
      <p:sp>
        <p:nvSpPr>
          <p:cNvPr id="6" name="AutoShape 6"/>
          <p:cNvSpPr/>
          <p:nvPr/>
        </p:nvSpPr>
        <p:spPr>
          <a:xfrm>
            <a:off x="5715000" y="3175000"/>
            <a:ext cx="762000" cy="50800"/>
          </a:xfrm>
          <a:prstGeom prst="roundRect">
            <a:avLst>
              <a:gd name="adj" fmla="val 0"/>
            </a:avLst>
          </a:prstGeom>
          <a:solidFill>
            <a:srgbClr val="00B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7" name="AutoShape 7"/>
          <p:cNvSpPr/>
          <p:nvPr/>
        </p:nvSpPr>
        <p:spPr>
          <a:xfrm>
            <a:off x="1016000" y="3429000"/>
            <a:ext cx="10160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0" i="0" u="none" strike="noStrike">
                <a:solidFill>
                  <a:srgbClr val="E6E6FA"/>
                </a:solidFill>
                <a:latin typeface="Noto Sans SC"/>
                <a:ea typeface="Noto Sans SC"/>
                <a:cs typeface="Noto Sans SC"/>
                <a:sym typeface="Noto Sans SC"/>
              </a:rPr>
              <a:t>让数据说话，洞察用户行为与产品性能</a:t>
            </a:r>
            <a:endParaRPr lang="en-US" sz="1100"/>
          </a:p>
        </p:txBody>
      </p:sp>
      <p:sp>
        <p:nvSpPr>
          <p:cNvPr id="8" name="AutoShape 8"/>
          <p:cNvSpPr/>
          <p:nvPr/>
        </p:nvSpPr>
        <p:spPr>
          <a:xfrm>
            <a:off x="5334000" y="4318000"/>
            <a:ext cx="1524000" cy="406400"/>
          </a:xfrm>
          <a:prstGeom prst="roundRect">
            <a:avLst>
              <a:gd name="adj" fmla="val 50000"/>
            </a:avLst>
          </a:prstGeom>
          <a:solidFill>
            <a:srgbClr val="00BFFF">
              <a:alpha val="20000"/>
            </a:srgbClr>
          </a:solidFill>
          <a:ln w="12700" cap="flat" cmpd="sng">
            <a:solidFill>
              <a:srgbClr val="00BFFF">
                <a:alpha val="100000"/>
              </a:srgbClr>
            </a:solidFill>
            <a:prstDash val="solid"/>
            <a:round/>
          </a:ln>
        </p:spPr>
        <p:txBody>
          <a:bodyPr vert="horz" wrap="square" lIns="0" tIns="0" rIns="0" bIns="0" rtlCol="0" anchor="ctr" anchorCtr="0"/>
          <a:lstStyle/>
          <a:p>
            <a:pPr indent="0" algn="ctr">
              <a:lnSpc>
                <a:spcPct val="125000"/>
              </a:lnSpc>
              <a:defRPr/>
            </a:pPr>
            <a:r>
              <a:rPr lang="en-US" sz="1400" b="0" i="0" u="none" strike="noStrike">
                <a:solidFill>
                  <a:srgbClr val="FFFFFF"/>
                </a:solidFill>
                <a:latin typeface="Noto Sans SC"/>
                <a:ea typeface="Noto Sans SC"/>
                <a:cs typeface="Noto Sans SC"/>
                <a:sym typeface="Noto Sans SC"/>
              </a:rPr>
              <a:t>Data Analysis</a:t>
            </a:r>
            <a:endParaRPr lang="en-US" sz="110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0A1428">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0A1428">
              <a:alpha val="85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762000" y="508000"/>
            <a:ext cx="40259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00BFFF"/>
                </a:solidFill>
                <a:latin typeface="Noto Sans SC"/>
                <a:ea typeface="Noto Sans SC"/>
                <a:cs typeface="Noto Sans SC"/>
                <a:sym typeface="Noto Sans SC"/>
              </a:rPr>
              <a:t>数据统计需求分析</a:t>
            </a:r>
            <a:endParaRPr lang="en-US" sz="1100"/>
          </a:p>
        </p:txBody>
      </p:sp>
      <p:sp>
        <p:nvSpPr>
          <p:cNvPr id="5" name="AutoShape 5"/>
          <p:cNvSpPr/>
          <p:nvPr/>
        </p:nvSpPr>
        <p:spPr>
          <a:xfrm>
            <a:off x="762000" y="1397000"/>
            <a:ext cx="5080000" cy="3048000"/>
          </a:xfrm>
          <a:prstGeom prst="roundRect">
            <a:avLst>
              <a:gd name="adj" fmla="val 4166"/>
            </a:avLst>
          </a:prstGeom>
          <a:solidFill>
            <a:srgbClr val="FFFFFF">
              <a:alpha val="5000"/>
            </a:srgbClr>
          </a:solidFill>
          <a:ln w="12700" cap="flat" cmpd="sng">
            <a:solidFill>
              <a:srgbClr val="00BFFF">
                <a:alpha val="100000"/>
              </a:srgbClr>
            </a:solidFill>
            <a:prstDash val="solid"/>
            <a:round/>
          </a:ln>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1587500"/>
            <a:ext cx="304800" cy="304800"/>
          </a:xfrm>
          <a:prstGeom prst="rect">
            <a:avLst/>
          </a:prstGeom>
        </p:spPr>
      </p:pic>
      <p:sp>
        <p:nvSpPr>
          <p:cNvPr id="7" name="AutoShape 7"/>
          <p:cNvSpPr/>
          <p:nvPr/>
        </p:nvSpPr>
        <p:spPr>
          <a:xfrm>
            <a:off x="1397000" y="1549400"/>
            <a:ext cx="381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FFFFFF"/>
                </a:solidFill>
                <a:latin typeface="Noto Sans SC"/>
                <a:ea typeface="Noto Sans SC"/>
                <a:cs typeface="Noto Sans SC"/>
                <a:sym typeface="Noto Sans SC"/>
              </a:rPr>
              <a:t>用户行为数据</a:t>
            </a:r>
            <a:endParaRPr lang="en-US" sz="1100"/>
          </a:p>
        </p:txBody>
      </p:sp>
      <p:sp>
        <p:nvSpPr>
          <p:cNvPr id="8" name="AutoShape 8"/>
          <p:cNvSpPr/>
          <p:nvPr/>
        </p:nvSpPr>
        <p:spPr>
          <a:xfrm>
            <a:off x="1016000" y="2032000"/>
            <a:ext cx="4572000" cy="2286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500" b="1" i="0" u="none" strike="noStrike">
                <a:solidFill>
                  <a:srgbClr val="00BFFF"/>
                </a:solidFill>
                <a:latin typeface="Noto Sans SC"/>
                <a:ea typeface="Noto Sans SC"/>
                <a:cs typeface="Noto Sans SC"/>
                <a:sym typeface="Noto Sans SC"/>
              </a:rPr>
              <a:t>用户增长指标：</a:t>
            </a:r>
            <a:r>
              <a:rPr lang="en-US" sz="1400" b="0" i="0" u="none" strike="noStrike">
                <a:solidFill>
                  <a:srgbClr val="E5E7EB"/>
                </a:solidFill>
                <a:latin typeface="Noto Sans SC"/>
                <a:ea typeface="Noto Sans SC"/>
                <a:cs typeface="Noto Sans SC"/>
                <a:sym typeface="Noto Sans SC"/>
              </a:rPr>
              <a:t>注册用户数、日活跃用户数(DAU)、月活跃用户数(MAU)</a:t>
            </a:r>
            <a:endParaRPr lang="en-US" sz="1100"/>
          </a:p>
          <a:p>
            <a:pPr indent="0" algn="l">
              <a:lnSpc>
                <a:spcPct val="108333"/>
              </a:lnSpc>
            </a:pPr>
            <a:r>
              <a:rPr lang="en-US" sz="1500" b="1" i="0" u="none" strike="noStrike">
                <a:solidFill>
                  <a:srgbClr val="00BFFF"/>
                </a:solidFill>
                <a:latin typeface="Noto Sans SC"/>
                <a:ea typeface="Noto Sans SC"/>
                <a:cs typeface="Noto Sans SC"/>
                <a:sym typeface="Noto Sans SC"/>
              </a:rPr>
              <a:t>功能使用指标：</a:t>
            </a:r>
            <a:r>
              <a:rPr lang="en-US" sz="1400" b="0" i="0" u="none" strike="noStrike">
                <a:solidFill>
                  <a:srgbClr val="E5E7EB"/>
                </a:solidFill>
                <a:latin typeface="Noto Sans SC"/>
                <a:ea typeface="Noto Sans SC"/>
                <a:cs typeface="Noto Sans SC"/>
                <a:sym typeface="Noto Sans SC"/>
              </a:rPr>
              <a:t>步行/乘车模式、SOS、模拟来电、视频通话的使用次数与时长</a:t>
            </a:r>
          </a:p>
          <a:p>
            <a:pPr indent="0" algn="l">
              <a:lnSpc>
                <a:spcPct val="108333"/>
              </a:lnSpc>
            </a:pPr>
            <a:r>
              <a:rPr lang="en-US" sz="1500" b="1" i="0" u="none" strike="noStrike">
                <a:solidFill>
                  <a:srgbClr val="00BFFF"/>
                </a:solidFill>
                <a:latin typeface="Noto Sans SC"/>
                <a:ea typeface="Noto Sans SC"/>
                <a:cs typeface="Noto Sans SC"/>
                <a:sym typeface="Noto Sans SC"/>
              </a:rPr>
              <a:t>用户留存指标：</a:t>
            </a:r>
            <a:r>
              <a:rPr lang="en-US" sz="1400" b="0" i="0" u="none" strike="noStrike">
                <a:solidFill>
                  <a:srgbClr val="E5E7EB"/>
                </a:solidFill>
                <a:latin typeface="Noto Sans SC"/>
                <a:ea typeface="Noto Sans SC"/>
                <a:cs typeface="Noto Sans SC"/>
                <a:sym typeface="Noto Sans SC"/>
              </a:rPr>
              <a:t>次日留存率、7日留存率、30日留存率</a:t>
            </a:r>
          </a:p>
        </p:txBody>
      </p:sp>
      <p:sp>
        <p:nvSpPr>
          <p:cNvPr id="9" name="AutoShape 9"/>
          <p:cNvSpPr/>
          <p:nvPr/>
        </p:nvSpPr>
        <p:spPr>
          <a:xfrm>
            <a:off x="6350000" y="1397000"/>
            <a:ext cx="5080000" cy="3048000"/>
          </a:xfrm>
          <a:prstGeom prst="roundRect">
            <a:avLst>
              <a:gd name="adj" fmla="val 4166"/>
            </a:avLst>
          </a:prstGeom>
          <a:solidFill>
            <a:srgbClr val="FFFFFF">
              <a:alpha val="5000"/>
            </a:srgbClr>
          </a:solidFill>
          <a:ln w="12700" cap="flat" cmpd="sng">
            <a:solidFill>
              <a:srgbClr val="E6E6FA">
                <a:alpha val="100000"/>
              </a:srgbClr>
            </a:solidFill>
            <a:prstDash val="solid"/>
            <a:round/>
          </a:ln>
        </p:spPr>
        <p:txBody>
          <a:bodyPr vert="horz" wrap="square" lIns="63500" tIns="63500" rIns="63500" bIns="63500" rtlCol="0" anchor="ctr"/>
          <a:lstStyle/>
          <a:p>
            <a:pPr algn="ctr">
              <a:defRPr/>
            </a:pPr>
            <a:endParaRPr/>
          </a:p>
        </p:txBody>
      </p:sp>
      <p:pic>
        <p:nvPicPr>
          <p:cNvPr id="10" name="Picture 10"/>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604000" y="1587500"/>
            <a:ext cx="304800" cy="304800"/>
          </a:xfrm>
          <a:prstGeom prst="rect">
            <a:avLst/>
          </a:prstGeom>
        </p:spPr>
      </p:pic>
      <p:sp>
        <p:nvSpPr>
          <p:cNvPr id="11" name="AutoShape 11"/>
          <p:cNvSpPr/>
          <p:nvPr/>
        </p:nvSpPr>
        <p:spPr>
          <a:xfrm>
            <a:off x="6985000" y="1549400"/>
            <a:ext cx="381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FFFFFF"/>
                </a:solidFill>
                <a:latin typeface="Noto Sans SC"/>
                <a:ea typeface="Noto Sans SC"/>
                <a:cs typeface="Noto Sans SC"/>
                <a:sym typeface="Noto Sans SC"/>
              </a:rPr>
              <a:t>产品性能数据</a:t>
            </a:r>
            <a:endParaRPr lang="en-US" sz="1100"/>
          </a:p>
        </p:txBody>
      </p:sp>
      <p:sp>
        <p:nvSpPr>
          <p:cNvPr id="12" name="AutoShape 12"/>
          <p:cNvSpPr/>
          <p:nvPr/>
        </p:nvSpPr>
        <p:spPr>
          <a:xfrm>
            <a:off x="6604000" y="2032000"/>
            <a:ext cx="4572000" cy="2286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500" b="1" i="0" u="none" strike="noStrike">
                <a:solidFill>
                  <a:srgbClr val="E6E6FA"/>
                </a:solidFill>
                <a:latin typeface="Noto Sans SC"/>
                <a:ea typeface="Noto Sans SC"/>
                <a:cs typeface="Noto Sans SC"/>
                <a:sym typeface="Noto Sans SC"/>
              </a:rPr>
              <a:t>API性能指标：</a:t>
            </a:r>
            <a:r>
              <a:rPr lang="en-US" sz="1400" b="0" i="0" u="none" strike="noStrike">
                <a:solidFill>
                  <a:srgbClr val="E5E7EB"/>
                </a:solidFill>
                <a:latin typeface="Noto Sans SC"/>
                <a:ea typeface="Noto Sans SC"/>
                <a:cs typeface="Noto Sans SC"/>
                <a:sym typeface="Noto Sans SC"/>
              </a:rPr>
              <a:t>接口响应时间、请求成功率、错误率监控</a:t>
            </a:r>
            <a:endParaRPr lang="en-US" sz="1100"/>
          </a:p>
          <a:p>
            <a:pPr indent="0" algn="l">
              <a:lnSpc>
                <a:spcPct val="108333"/>
              </a:lnSpc>
            </a:pPr>
            <a:r>
              <a:rPr lang="en-US" sz="1500" b="1" i="0" u="none" strike="noStrike">
                <a:solidFill>
                  <a:srgbClr val="E6E6FA"/>
                </a:solidFill>
                <a:latin typeface="Noto Sans SC"/>
                <a:ea typeface="Noto Sans SC"/>
                <a:cs typeface="Noto Sans SC"/>
                <a:sym typeface="Noto Sans SC"/>
              </a:rPr>
              <a:t>视频通话指标：</a:t>
            </a:r>
            <a:r>
              <a:rPr lang="en-US" sz="1400" b="0" i="0" u="none" strike="noStrike">
                <a:solidFill>
                  <a:srgbClr val="E5E7EB"/>
                </a:solidFill>
                <a:latin typeface="Noto Sans SC"/>
                <a:ea typeface="Noto Sans SC"/>
                <a:cs typeface="Noto Sans SC"/>
                <a:sym typeface="Noto Sans SC"/>
              </a:rPr>
              <a:t>通话接通率、平均时长、视频卡顿率统计</a:t>
            </a:r>
          </a:p>
          <a:p>
            <a:pPr indent="0" algn="l">
              <a:lnSpc>
                <a:spcPct val="108333"/>
              </a:lnSpc>
            </a:pPr>
            <a:r>
              <a:rPr lang="en-US" sz="1500" b="1" i="0" u="none" strike="noStrike">
                <a:solidFill>
                  <a:srgbClr val="E6E6FA"/>
                </a:solidFill>
                <a:latin typeface="Noto Sans SC"/>
                <a:ea typeface="Noto Sans SC"/>
                <a:cs typeface="Noto Sans SC"/>
                <a:sym typeface="Noto Sans SC"/>
              </a:rPr>
              <a:t>App稳定性指标：</a:t>
            </a:r>
            <a:r>
              <a:rPr lang="en-US" sz="1400" b="0" i="0" u="none" strike="noStrike">
                <a:solidFill>
                  <a:srgbClr val="E5E7EB"/>
                </a:solidFill>
                <a:latin typeface="Noto Sans SC"/>
                <a:ea typeface="Noto Sans SC"/>
                <a:cs typeface="Noto Sans SC"/>
                <a:sym typeface="Noto Sans SC"/>
              </a:rPr>
              <a:t>应用崩溃率(Crash)、无响应率(ANR)</a:t>
            </a:r>
          </a:p>
        </p:txBody>
      </p:sp>
      <p:sp>
        <p:nvSpPr>
          <p:cNvPr id="13" name="AutoShape 13"/>
          <p:cNvSpPr/>
          <p:nvPr/>
        </p:nvSpPr>
        <p:spPr>
          <a:xfrm>
            <a:off x="762000" y="4699000"/>
            <a:ext cx="10668000" cy="762000"/>
          </a:xfrm>
          <a:prstGeom prst="roundRect">
            <a:avLst>
              <a:gd name="adj" fmla="val 16666"/>
            </a:avLst>
          </a:prstGeom>
          <a:solidFill>
            <a:srgbClr val="FFB6C1">
              <a:alpha val="15000"/>
            </a:srgbClr>
          </a:solidFill>
          <a:ln w="12700" cap="flat" cmpd="sng">
            <a:solidFill>
              <a:srgbClr val="FFB6C1">
                <a:alpha val="100000"/>
              </a:srgbClr>
            </a:solidFill>
            <a:prstDash val="solid"/>
            <a:round/>
          </a:ln>
        </p:spPr>
        <p:txBody>
          <a:bodyPr vert="horz" wrap="square" lIns="63500" tIns="63500" rIns="63500" bIns="63500" rtlCol="0" anchor="ctr"/>
          <a:lstStyle/>
          <a:p>
            <a:pPr algn="ctr">
              <a:defRPr/>
            </a:pPr>
            <a:endParaRPr/>
          </a:p>
        </p:txBody>
      </p:sp>
      <p:pic>
        <p:nvPicPr>
          <p:cNvPr id="14" name="Picture 14"/>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016000" y="4902200"/>
            <a:ext cx="355600" cy="355600"/>
          </a:xfrm>
          <a:prstGeom prst="rect">
            <a:avLst/>
          </a:prstGeom>
        </p:spPr>
      </p:pic>
      <p:sp>
        <p:nvSpPr>
          <p:cNvPr id="15" name="AutoShape 15"/>
          <p:cNvSpPr/>
          <p:nvPr/>
        </p:nvSpPr>
        <p:spPr>
          <a:xfrm>
            <a:off x="1524000" y="4826000"/>
            <a:ext cx="9652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B6C1"/>
                </a:solidFill>
                <a:latin typeface="Noto Sans SC"/>
                <a:ea typeface="Noto Sans SC"/>
                <a:cs typeface="Noto Sans SC"/>
                <a:sym typeface="Noto Sans SC"/>
              </a:rPr>
              <a:t>行动指令：</a:t>
            </a:r>
            <a:r>
              <a:rPr lang="en-US" sz="1600" b="0" i="0" u="none" strike="noStrike">
                <a:solidFill>
                  <a:srgbClr val="FFFFFF"/>
                </a:solidFill>
                <a:latin typeface="Noto Sans SC"/>
                <a:ea typeface="Noto Sans SC"/>
                <a:cs typeface="Noto Sans SC"/>
                <a:sym typeface="Noto Sans SC"/>
              </a:rPr>
              <a:t>请大家根据自己项目的需求，确定需要重点统计的数据指标，制定数据埋点计划。</a:t>
            </a:r>
            <a:endParaRPr lang="en-US" sz="110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0A192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0A192F">
              <a:alpha val="85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762000" y="508000"/>
            <a:ext cx="38100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00BFFF"/>
                </a:solidFill>
                <a:latin typeface="Noto Sans SC"/>
                <a:ea typeface="Noto Sans SC"/>
                <a:cs typeface="Noto Sans SC"/>
                <a:sym typeface="Noto Sans SC"/>
              </a:rPr>
              <a:t>数据收集与存储</a:t>
            </a:r>
            <a:endParaRPr lang="en-US" sz="1100"/>
          </a:p>
        </p:txBody>
      </p:sp>
      <p:sp>
        <p:nvSpPr>
          <p:cNvPr id="5" name="AutoShape 5"/>
          <p:cNvSpPr/>
          <p:nvPr/>
        </p:nvSpPr>
        <p:spPr>
          <a:xfrm>
            <a:off x="762000" y="1397000"/>
            <a:ext cx="508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FFB6C1"/>
                </a:solidFill>
                <a:latin typeface="Noto Sans SC"/>
                <a:ea typeface="Noto Sans SC"/>
                <a:cs typeface="Noto Sans SC"/>
                <a:sym typeface="Noto Sans SC"/>
              </a:rPr>
              <a:t>数据收集方法</a:t>
            </a:r>
            <a:endParaRPr lang="en-US" sz="1100"/>
          </a:p>
        </p:txBody>
      </p:sp>
      <p:sp>
        <p:nvSpPr>
          <p:cNvPr id="6" name="AutoShape 6"/>
          <p:cNvSpPr/>
          <p:nvPr/>
        </p:nvSpPr>
        <p:spPr>
          <a:xfrm>
            <a:off x="762000" y="1905000"/>
            <a:ext cx="5080000" cy="1143000"/>
          </a:xfrm>
          <a:prstGeom prst="roundRect">
            <a:avLst>
              <a:gd name="adj" fmla="val 11111"/>
            </a:avLst>
          </a:prstGeom>
          <a:solidFill>
            <a:srgbClr val="FFFFFF">
              <a:alpha val="8000"/>
            </a:srgbClr>
          </a:solidFill>
          <a:ln w="12700" cap="flat" cmpd="sng">
            <a:solidFill>
              <a:srgbClr val="00BFFF">
                <a:alpha val="30000"/>
              </a:srgbClr>
            </a:solidFill>
            <a:prstDash val="solid"/>
            <a:round/>
          </a:ln>
        </p:spPr>
        <p:txBody>
          <a:bodyPr vert="horz" wrap="square" lIns="63500" tIns="63500" rIns="63500" bIns="63500" rtlCol="0" anchor="ctr"/>
          <a:lstStyle/>
          <a:p>
            <a:pPr algn="ctr">
              <a:defRPr/>
            </a:pPr>
            <a:endParaRPr/>
          </a:p>
        </p:txBody>
      </p:sp>
      <p:pic>
        <p:nvPicPr>
          <p:cNvPr id="7" name="Picture 7"/>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52500" y="2095500"/>
            <a:ext cx="406400" cy="406400"/>
          </a:xfrm>
          <a:prstGeom prst="rect">
            <a:avLst/>
          </a:prstGeom>
        </p:spPr>
      </p:pic>
      <p:sp>
        <p:nvSpPr>
          <p:cNvPr id="8" name="AutoShape 8"/>
          <p:cNvSpPr/>
          <p:nvPr/>
        </p:nvSpPr>
        <p:spPr>
          <a:xfrm>
            <a:off x="1460500" y="2032000"/>
            <a:ext cx="4191000" cy="889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600" b="1" i="0" u="none" strike="noStrike">
                <a:solidFill>
                  <a:srgbClr val="FFFFFF"/>
                </a:solidFill>
                <a:latin typeface="Noto Sans SC"/>
                <a:ea typeface="Noto Sans SC"/>
                <a:cs typeface="Noto Sans SC"/>
                <a:sym typeface="Noto Sans SC"/>
              </a:rPr>
              <a:t>前端埋点</a:t>
            </a:r>
            <a:endParaRPr lang="en-US" sz="1100"/>
          </a:p>
          <a:p>
            <a:pPr indent="0" algn="l">
              <a:lnSpc>
                <a:spcPct val="125000"/>
              </a:lnSpc>
            </a:pPr>
            <a:r>
              <a:rPr lang="en-US" sz="1200" b="0" i="0" u="none" strike="noStrike">
                <a:solidFill>
                  <a:srgbClr val="FFFFFF">
                    <a:alpha val="80000"/>
                  </a:srgbClr>
                </a:solidFill>
                <a:latin typeface="Noto Sans SC"/>
                <a:ea typeface="Noto Sans SC"/>
                <a:cs typeface="Noto Sans SC"/>
                <a:sym typeface="Noto Sans SC"/>
              </a:rPr>
              <a:t>嵌入代码记录用户操作（点击、跳转等），可使用友盟等工具或自研实现。</a:t>
            </a:r>
          </a:p>
        </p:txBody>
      </p:sp>
      <p:sp>
        <p:nvSpPr>
          <p:cNvPr id="9" name="AutoShape 9"/>
          <p:cNvSpPr/>
          <p:nvPr/>
        </p:nvSpPr>
        <p:spPr>
          <a:xfrm>
            <a:off x="762000" y="3175000"/>
            <a:ext cx="5080000" cy="1143000"/>
          </a:xfrm>
          <a:prstGeom prst="roundRect">
            <a:avLst>
              <a:gd name="adj" fmla="val 11111"/>
            </a:avLst>
          </a:prstGeom>
          <a:solidFill>
            <a:srgbClr val="FFFFFF">
              <a:alpha val="8000"/>
            </a:srgbClr>
          </a:solidFill>
          <a:ln w="12700" cap="flat" cmpd="sng">
            <a:solidFill>
              <a:srgbClr val="00BFFF">
                <a:alpha val="30000"/>
              </a:srgbClr>
            </a:solidFill>
            <a:prstDash val="solid"/>
            <a:round/>
          </a:ln>
        </p:spPr>
        <p:txBody>
          <a:bodyPr vert="horz" wrap="square" lIns="63500" tIns="63500" rIns="63500" bIns="63500" rtlCol="0" anchor="ctr"/>
          <a:lstStyle/>
          <a:p>
            <a:pPr algn="ctr">
              <a:defRPr/>
            </a:pPr>
            <a:endParaRPr/>
          </a:p>
        </p:txBody>
      </p:sp>
      <p:pic>
        <p:nvPicPr>
          <p:cNvPr id="10" name="Picture 10"/>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52500" y="3365500"/>
            <a:ext cx="406400" cy="406400"/>
          </a:xfrm>
          <a:prstGeom prst="rect">
            <a:avLst/>
          </a:prstGeom>
        </p:spPr>
      </p:pic>
      <p:sp>
        <p:nvSpPr>
          <p:cNvPr id="11" name="AutoShape 11"/>
          <p:cNvSpPr/>
          <p:nvPr/>
        </p:nvSpPr>
        <p:spPr>
          <a:xfrm>
            <a:off x="1460500" y="3302000"/>
            <a:ext cx="4191000" cy="889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600" b="1" i="0" u="none" strike="noStrike">
                <a:solidFill>
                  <a:srgbClr val="FFFFFF"/>
                </a:solidFill>
                <a:latin typeface="Noto Sans SC"/>
                <a:ea typeface="Noto Sans SC"/>
                <a:cs typeface="Noto Sans SC"/>
                <a:sym typeface="Noto Sans SC"/>
              </a:rPr>
              <a:t>后端日志</a:t>
            </a:r>
            <a:endParaRPr lang="en-US" sz="1100"/>
          </a:p>
          <a:p>
            <a:pPr indent="0" algn="l">
              <a:lnSpc>
                <a:spcPct val="125000"/>
              </a:lnSpc>
            </a:pPr>
            <a:r>
              <a:rPr lang="en-US" sz="1200" b="0" i="0" u="none" strike="noStrike">
                <a:solidFill>
                  <a:srgbClr val="FFFFFF">
                    <a:alpha val="80000"/>
                  </a:srgbClr>
                </a:solidFill>
                <a:latin typeface="Noto Sans SC"/>
                <a:ea typeface="Noto Sans SC"/>
                <a:cs typeface="Noto Sans SC"/>
                <a:sym typeface="Noto Sans SC"/>
              </a:rPr>
              <a:t>在API服务中记录请求详情，包括URL、参数、响应时间及状态码。</a:t>
            </a:r>
          </a:p>
        </p:txBody>
      </p:sp>
      <p:sp>
        <p:nvSpPr>
          <p:cNvPr id="12" name="AutoShape 12"/>
          <p:cNvSpPr/>
          <p:nvPr/>
        </p:nvSpPr>
        <p:spPr>
          <a:xfrm>
            <a:off x="6350000" y="1397000"/>
            <a:ext cx="508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E6E6FA"/>
                </a:solidFill>
                <a:latin typeface="Noto Sans SC"/>
                <a:ea typeface="Noto Sans SC"/>
                <a:cs typeface="Noto Sans SC"/>
                <a:sym typeface="Noto Sans SC"/>
              </a:rPr>
              <a:t>数据存储方案</a:t>
            </a:r>
            <a:endParaRPr lang="en-US" sz="1100"/>
          </a:p>
        </p:txBody>
      </p:sp>
      <p:sp>
        <p:nvSpPr>
          <p:cNvPr id="13" name="AutoShape 13"/>
          <p:cNvSpPr/>
          <p:nvPr/>
        </p:nvSpPr>
        <p:spPr>
          <a:xfrm>
            <a:off x="6350000" y="1905000"/>
            <a:ext cx="5080000" cy="889000"/>
          </a:xfrm>
          <a:prstGeom prst="roundRect">
            <a:avLst>
              <a:gd name="adj" fmla="val 14285"/>
            </a:avLst>
          </a:prstGeom>
          <a:solidFill>
            <a:srgbClr val="FFFFFF">
              <a:alpha val="8000"/>
            </a:srgbClr>
          </a:solidFill>
          <a:ln w="12700" cap="flat" cmpd="sng">
            <a:solidFill>
              <a:srgbClr val="00BFFF">
                <a:alpha val="30000"/>
              </a:srgbClr>
            </a:solidFill>
            <a:prstDash val="solid"/>
            <a:round/>
          </a:ln>
        </p:spPr>
        <p:txBody>
          <a:bodyPr vert="horz" wrap="square" lIns="63500" tIns="63500" rIns="63500" bIns="63500" rtlCol="0" anchor="ctr"/>
          <a:lstStyle/>
          <a:p>
            <a:pPr algn="ctr">
              <a:defRPr/>
            </a:pPr>
            <a:endParaRPr/>
          </a:p>
        </p:txBody>
      </p:sp>
      <p:pic>
        <p:nvPicPr>
          <p:cNvPr id="14" name="Picture 14"/>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6540500" y="2171700"/>
            <a:ext cx="355600" cy="355600"/>
          </a:xfrm>
          <a:prstGeom prst="rect">
            <a:avLst/>
          </a:prstGeom>
        </p:spPr>
      </p:pic>
      <p:sp>
        <p:nvSpPr>
          <p:cNvPr id="15" name="AutoShape 15"/>
          <p:cNvSpPr/>
          <p:nvPr/>
        </p:nvSpPr>
        <p:spPr>
          <a:xfrm>
            <a:off x="6985000" y="2032000"/>
            <a:ext cx="431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a:solidFill>
                  <a:srgbClr val="FFFFFF"/>
                </a:solidFill>
                <a:latin typeface="Noto Sans SC"/>
                <a:ea typeface="Noto Sans SC"/>
                <a:cs typeface="Noto Sans SC"/>
                <a:sym typeface="Noto Sans SC"/>
              </a:rPr>
              <a:t>关系型数据库 (MySQL/PG)</a:t>
            </a:r>
            <a:endParaRPr lang="en-US" sz="1100"/>
          </a:p>
          <a:p>
            <a:pPr indent="0" algn="l">
              <a:lnSpc>
                <a:spcPct val="125000"/>
              </a:lnSpc>
            </a:pPr>
            <a:r>
              <a:rPr lang="en-US" sz="1200" b="0" i="0" u="none" strike="noStrike">
                <a:solidFill>
                  <a:srgbClr val="FFFFFF">
                    <a:alpha val="80000"/>
                  </a:srgbClr>
                </a:solidFill>
                <a:latin typeface="Noto Sans SC"/>
                <a:ea typeface="Noto Sans SC"/>
                <a:cs typeface="Noto Sans SC"/>
                <a:sym typeface="Noto Sans SC"/>
              </a:rPr>
              <a:t>适合存储结构化的用户信息和业务数据。</a:t>
            </a:r>
          </a:p>
        </p:txBody>
      </p:sp>
      <p:sp>
        <p:nvSpPr>
          <p:cNvPr id="16" name="AutoShape 16"/>
          <p:cNvSpPr/>
          <p:nvPr/>
        </p:nvSpPr>
        <p:spPr>
          <a:xfrm>
            <a:off x="6350000" y="2921000"/>
            <a:ext cx="5080000" cy="889000"/>
          </a:xfrm>
          <a:prstGeom prst="roundRect">
            <a:avLst>
              <a:gd name="adj" fmla="val 14285"/>
            </a:avLst>
          </a:prstGeom>
          <a:solidFill>
            <a:srgbClr val="FFFFFF">
              <a:alpha val="8000"/>
            </a:srgbClr>
          </a:solidFill>
          <a:ln w="12700" cap="flat" cmpd="sng">
            <a:solidFill>
              <a:srgbClr val="00BFFF">
                <a:alpha val="30000"/>
              </a:srgbClr>
            </a:solidFill>
            <a:prstDash val="solid"/>
            <a:round/>
          </a:ln>
        </p:spPr>
        <p:txBody>
          <a:bodyPr vert="horz" wrap="square" lIns="63500" tIns="63500" rIns="63500" bIns="63500" rtlCol="0" anchor="ctr"/>
          <a:lstStyle/>
          <a:p>
            <a:pPr algn="ctr">
              <a:defRPr/>
            </a:pPr>
            <a:endParaRPr/>
          </a:p>
        </p:txBody>
      </p:sp>
      <p:pic>
        <p:nvPicPr>
          <p:cNvPr id="17" name="Picture 17"/>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6540500" y="3187700"/>
            <a:ext cx="355600" cy="355600"/>
          </a:xfrm>
          <a:prstGeom prst="rect">
            <a:avLst/>
          </a:prstGeom>
        </p:spPr>
      </p:pic>
      <p:sp>
        <p:nvSpPr>
          <p:cNvPr id="18" name="AutoShape 18"/>
          <p:cNvSpPr/>
          <p:nvPr/>
        </p:nvSpPr>
        <p:spPr>
          <a:xfrm>
            <a:off x="6985000" y="3048000"/>
            <a:ext cx="431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a:solidFill>
                  <a:srgbClr val="FFFFFF"/>
                </a:solidFill>
                <a:latin typeface="Noto Sans SC"/>
                <a:ea typeface="Noto Sans SC"/>
                <a:cs typeface="Noto Sans SC"/>
                <a:sym typeface="Noto Sans SC"/>
              </a:rPr>
              <a:t>NoSQL数据库 (MongoDB)</a:t>
            </a:r>
            <a:endParaRPr lang="en-US" sz="1100"/>
          </a:p>
          <a:p>
            <a:pPr indent="0" algn="l">
              <a:lnSpc>
                <a:spcPct val="125000"/>
              </a:lnSpc>
            </a:pPr>
            <a:r>
              <a:rPr lang="en-US" sz="1200" b="0" i="0" u="none" strike="noStrike">
                <a:solidFill>
                  <a:srgbClr val="FFFFFF">
                    <a:alpha val="80000"/>
                  </a:srgbClr>
                </a:solidFill>
                <a:latin typeface="Noto Sans SC"/>
                <a:ea typeface="Noto Sans SC"/>
                <a:cs typeface="Noto Sans SC"/>
                <a:sym typeface="Noto Sans SC"/>
              </a:rPr>
              <a:t>适合存储非结构化/半结构化的行为数据和日志。</a:t>
            </a:r>
          </a:p>
        </p:txBody>
      </p:sp>
      <p:sp>
        <p:nvSpPr>
          <p:cNvPr id="19" name="AutoShape 19"/>
          <p:cNvSpPr/>
          <p:nvPr/>
        </p:nvSpPr>
        <p:spPr>
          <a:xfrm>
            <a:off x="6350000" y="3937000"/>
            <a:ext cx="5080000" cy="889000"/>
          </a:xfrm>
          <a:prstGeom prst="roundRect">
            <a:avLst>
              <a:gd name="adj" fmla="val 14285"/>
            </a:avLst>
          </a:prstGeom>
          <a:solidFill>
            <a:srgbClr val="FFFFFF">
              <a:alpha val="8000"/>
            </a:srgbClr>
          </a:solidFill>
          <a:ln w="12700" cap="flat" cmpd="sng">
            <a:solidFill>
              <a:srgbClr val="00BFFF">
                <a:alpha val="30000"/>
              </a:srgbClr>
            </a:solidFill>
            <a:prstDash val="solid"/>
            <a:round/>
          </a:ln>
        </p:spPr>
        <p:txBody>
          <a:bodyPr vert="horz" wrap="square" lIns="63500" tIns="63500" rIns="63500" bIns="63500" rtlCol="0" anchor="ctr"/>
          <a:lstStyle/>
          <a:p>
            <a:pPr algn="ctr">
              <a:defRPr/>
            </a:pPr>
            <a:endParaRPr/>
          </a:p>
        </p:txBody>
      </p:sp>
      <p:pic>
        <p:nvPicPr>
          <p:cNvPr id="20" name="Picture 20"/>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6540500" y="4203700"/>
            <a:ext cx="355600" cy="355600"/>
          </a:xfrm>
          <a:prstGeom prst="rect">
            <a:avLst/>
          </a:prstGeom>
        </p:spPr>
      </p:pic>
      <p:sp>
        <p:nvSpPr>
          <p:cNvPr id="21" name="AutoShape 21"/>
          <p:cNvSpPr/>
          <p:nvPr/>
        </p:nvSpPr>
        <p:spPr>
          <a:xfrm>
            <a:off x="6985000" y="4064000"/>
            <a:ext cx="431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a:solidFill>
                  <a:srgbClr val="FFFFFF"/>
                </a:solidFill>
                <a:latin typeface="Noto Sans SC"/>
                <a:ea typeface="Noto Sans SC"/>
                <a:cs typeface="Noto Sans SC"/>
                <a:sym typeface="Noto Sans SC"/>
              </a:rPr>
              <a:t>时序数据库 (InfluxDB)</a:t>
            </a:r>
            <a:endParaRPr lang="en-US" sz="1100"/>
          </a:p>
          <a:p>
            <a:pPr indent="0" algn="l">
              <a:lnSpc>
                <a:spcPct val="125000"/>
              </a:lnSpc>
            </a:pPr>
            <a:r>
              <a:rPr lang="en-US" sz="1200" b="0" i="0" u="none" strike="noStrike">
                <a:solidFill>
                  <a:srgbClr val="FFFFFF">
                    <a:alpha val="80000"/>
                  </a:srgbClr>
                </a:solidFill>
                <a:latin typeface="Noto Sans SC"/>
                <a:ea typeface="Noto Sans SC"/>
                <a:cs typeface="Noto Sans SC"/>
                <a:sym typeface="Noto Sans SC"/>
              </a:rPr>
              <a:t>适合存储API响应时间、CPU使用率等时序性能数据。</a:t>
            </a:r>
          </a:p>
        </p:txBody>
      </p:sp>
      <p:sp>
        <p:nvSpPr>
          <p:cNvPr id="22" name="AutoShape 22"/>
          <p:cNvSpPr/>
          <p:nvPr/>
        </p:nvSpPr>
        <p:spPr>
          <a:xfrm>
            <a:off x="762000" y="5080000"/>
            <a:ext cx="10668000" cy="762000"/>
          </a:xfrm>
          <a:prstGeom prst="roundRect">
            <a:avLst>
              <a:gd name="adj" fmla="val 16666"/>
            </a:avLst>
          </a:prstGeom>
          <a:solidFill>
            <a:srgbClr val="00BFFF">
              <a:alpha val="15000"/>
            </a:srgbClr>
          </a:solidFill>
          <a:ln w="12700" cap="flat" cmpd="sng">
            <a:solidFill>
              <a:srgbClr val="00BFFF">
                <a:alpha val="100000"/>
              </a:srgbClr>
            </a:solidFill>
            <a:prstDash val="dash"/>
            <a:round/>
          </a:ln>
        </p:spPr>
        <p:txBody>
          <a:bodyPr vert="horz" wrap="square" lIns="63500" tIns="63500" rIns="63500" bIns="63500" rtlCol="0" anchor="ctr"/>
          <a:lstStyle/>
          <a:p>
            <a:pPr algn="ctr">
              <a:defRPr/>
            </a:pPr>
            <a:endParaRPr/>
          </a:p>
        </p:txBody>
      </p:sp>
      <p:pic>
        <p:nvPicPr>
          <p:cNvPr id="23" name="Picture 23"/>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016000" y="5308600"/>
            <a:ext cx="304800" cy="304800"/>
          </a:xfrm>
          <a:prstGeom prst="rect">
            <a:avLst/>
          </a:prstGeom>
        </p:spPr>
      </p:pic>
      <p:sp>
        <p:nvSpPr>
          <p:cNvPr id="24" name="AutoShape 24"/>
          <p:cNvSpPr/>
          <p:nvPr/>
        </p:nvSpPr>
        <p:spPr>
          <a:xfrm>
            <a:off x="1460500" y="5207000"/>
            <a:ext cx="9652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FFFFFF"/>
                </a:solidFill>
                <a:latin typeface="Noto Sans SC"/>
                <a:ea typeface="Noto Sans SC"/>
                <a:cs typeface="Noto Sans SC"/>
                <a:sym typeface="Noto Sans SC"/>
              </a:rPr>
              <a:t>行动指令：</a:t>
            </a:r>
            <a:r>
              <a:rPr lang="en-US" sz="1400" b="0" i="0" u="none" strike="noStrike">
                <a:solidFill>
                  <a:srgbClr val="FFFFFF">
                    <a:alpha val="90196"/>
                  </a:srgbClr>
                </a:solidFill>
                <a:latin typeface="Noto Sans SC"/>
                <a:ea typeface="Noto Sans SC"/>
                <a:cs typeface="Noto Sans SC"/>
                <a:sym typeface="Noto Sans SC"/>
              </a:rPr>
              <a:t>请大家在自己的App和API服务中添加数据收集代码，并根据数据特性选择合适的数据库进行存储。</a:t>
            </a:r>
            <a:endParaRPr lang="en-US" sz="110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0A192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0A192F">
              <a:alpha val="85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762000" y="508000"/>
            <a:ext cx="4025900" cy="5842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00BFFF"/>
                </a:solidFill>
                <a:latin typeface="Noto Sans SC"/>
                <a:ea typeface="Noto Sans SC"/>
                <a:cs typeface="Noto Sans SC"/>
                <a:sym typeface="Noto Sans SC"/>
              </a:rPr>
              <a:t>数据可视化技术选型</a:t>
            </a:r>
            <a:endParaRPr lang="en-US" sz="1100"/>
          </a:p>
        </p:txBody>
      </p:sp>
      <p:sp>
        <p:nvSpPr>
          <p:cNvPr id="5" name="AutoShape 5"/>
          <p:cNvSpPr/>
          <p:nvPr/>
        </p:nvSpPr>
        <p:spPr>
          <a:xfrm>
            <a:off x="762000" y="1397000"/>
            <a:ext cx="5080000" cy="2794000"/>
          </a:xfrm>
          <a:prstGeom prst="roundRect">
            <a:avLst>
              <a:gd name="adj" fmla="val 4545"/>
            </a:avLst>
          </a:prstGeom>
          <a:solidFill>
            <a:srgbClr val="FFFFFF">
              <a:alpha val="5000"/>
            </a:srgbClr>
          </a:solidFill>
          <a:ln w="12700" cap="flat" cmpd="sng">
            <a:solidFill>
              <a:srgbClr val="00BFFF">
                <a:alpha val="30000"/>
              </a:srgbClr>
            </a:solidFill>
            <a:prstDash val="solid"/>
            <a:round/>
          </a:ln>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52500" y="1587500"/>
            <a:ext cx="304800" cy="304800"/>
          </a:xfrm>
          <a:prstGeom prst="rect">
            <a:avLst/>
          </a:prstGeom>
        </p:spPr>
      </p:pic>
      <p:sp>
        <p:nvSpPr>
          <p:cNvPr id="7" name="AutoShape 7"/>
          <p:cNvSpPr/>
          <p:nvPr/>
        </p:nvSpPr>
        <p:spPr>
          <a:xfrm>
            <a:off x="1333500" y="1549400"/>
            <a:ext cx="381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FFFFFF"/>
                </a:solidFill>
                <a:latin typeface="Noto Sans SC"/>
                <a:ea typeface="Noto Sans SC"/>
                <a:cs typeface="Noto Sans SC"/>
                <a:sym typeface="Noto Sans SC"/>
              </a:rPr>
              <a:t>前端可视化库</a:t>
            </a:r>
            <a:endParaRPr lang="en-US" sz="1100"/>
          </a:p>
        </p:txBody>
      </p:sp>
      <p:sp>
        <p:nvSpPr>
          <p:cNvPr id="8" name="AutoShape 8"/>
          <p:cNvSpPr/>
          <p:nvPr/>
        </p:nvSpPr>
        <p:spPr>
          <a:xfrm>
            <a:off x="952500" y="2032000"/>
            <a:ext cx="4699000" cy="1016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0BFFF"/>
                </a:solidFill>
                <a:latin typeface="Noto Sans SC"/>
                <a:ea typeface="Noto Sans SC"/>
                <a:cs typeface="Noto Sans SC"/>
                <a:sym typeface="Noto Sans SC"/>
              </a:rPr>
              <a:t>ECharts</a:t>
            </a:r>
            <a:endParaRPr lang="en-US" sz="1100"/>
          </a:p>
          <a:p>
            <a:pPr indent="0" algn="l">
              <a:lnSpc>
                <a:spcPct val="125000"/>
              </a:lnSpc>
            </a:pPr>
            <a:r>
              <a:rPr lang="en-US" sz="1200" b="0" i="0" u="none" strike="noStrike">
                <a:solidFill>
                  <a:srgbClr val="FFFFFF">
                    <a:alpha val="80000"/>
                  </a:srgbClr>
                </a:solidFill>
                <a:latin typeface="Noto Sans SC"/>
                <a:ea typeface="Noto Sans SC"/>
                <a:cs typeface="Noto Sans SC"/>
                <a:sym typeface="Noto Sans SC"/>
              </a:rPr>
              <a:t>优点：功能强大，开源免费，图表丰富，文档完善</a:t>
            </a:r>
          </a:p>
          <a:p>
            <a:pPr indent="0" algn="l">
              <a:lnSpc>
                <a:spcPct val="125000"/>
              </a:lnSpc>
            </a:pPr>
            <a:r>
              <a:rPr lang="en-US" sz="1200" b="0" i="0" u="none" strike="noStrike">
                <a:solidFill>
                  <a:srgbClr val="FFFFFF">
                    <a:alpha val="60000"/>
                  </a:srgbClr>
                </a:solidFill>
                <a:latin typeface="Noto Sans SC"/>
                <a:ea typeface="Noto Sans SC"/>
                <a:cs typeface="Noto Sans SC"/>
                <a:sym typeface="Noto Sans SC"/>
              </a:rPr>
              <a:t>缺点：体积相对较大</a:t>
            </a:r>
          </a:p>
          <a:p>
            <a:pPr indent="0" algn="l">
              <a:lnSpc>
                <a:spcPct val="125000"/>
              </a:lnSpc>
            </a:pPr>
            <a:r>
              <a:rPr lang="en-US" sz="1200" b="0" i="0" u="none" strike="noStrike">
                <a:solidFill>
                  <a:srgbClr val="FFB6C1"/>
                </a:solidFill>
                <a:latin typeface="Noto Sans SC"/>
                <a:ea typeface="Noto Sans SC"/>
                <a:cs typeface="Noto Sans SC"/>
                <a:sym typeface="Noto Sans SC"/>
              </a:rPr>
              <a:t>适用：复杂美观的图表展示页面</a:t>
            </a:r>
          </a:p>
        </p:txBody>
      </p:sp>
      <p:sp>
        <p:nvSpPr>
          <p:cNvPr id="9" name="AutoShape 9"/>
          <p:cNvSpPr/>
          <p:nvPr/>
        </p:nvSpPr>
        <p:spPr>
          <a:xfrm>
            <a:off x="952500" y="3048000"/>
            <a:ext cx="4699000" cy="1016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0BFFF"/>
                </a:solidFill>
                <a:latin typeface="Noto Sans SC"/>
                <a:ea typeface="Noto Sans SC"/>
                <a:cs typeface="Noto Sans SC"/>
                <a:sym typeface="Noto Sans SC"/>
              </a:rPr>
              <a:t>Chart.js</a:t>
            </a:r>
            <a:endParaRPr lang="en-US" sz="1100"/>
          </a:p>
          <a:p>
            <a:pPr indent="0" algn="l">
              <a:lnSpc>
                <a:spcPct val="125000"/>
              </a:lnSpc>
            </a:pPr>
            <a:r>
              <a:rPr lang="en-US" sz="1200" b="0" i="0" u="none" strike="noStrike">
                <a:solidFill>
                  <a:srgbClr val="FFFFFF">
                    <a:alpha val="80000"/>
                  </a:srgbClr>
                </a:solidFill>
                <a:latin typeface="Noto Sans SC"/>
                <a:ea typeface="Noto Sans SC"/>
                <a:cs typeface="Noto Sans SC"/>
                <a:sym typeface="Noto Sans SC"/>
              </a:rPr>
              <a:t>优点：轻量易用，学习成本低，适合快速开发</a:t>
            </a:r>
          </a:p>
          <a:p>
            <a:pPr indent="0" algn="l">
              <a:lnSpc>
                <a:spcPct val="125000"/>
              </a:lnSpc>
            </a:pPr>
            <a:r>
              <a:rPr lang="en-US" sz="1200" b="0" i="0" u="none" strike="noStrike">
                <a:solidFill>
                  <a:srgbClr val="FFFFFF">
                    <a:alpha val="60000"/>
                  </a:srgbClr>
                </a:solidFill>
                <a:latin typeface="Noto Sans SC"/>
                <a:ea typeface="Noto Sans SC"/>
                <a:cs typeface="Noto Sans SC"/>
                <a:sym typeface="Noto Sans SC"/>
              </a:rPr>
              <a:t>缺点：功能相对基础，定制化程度较低</a:t>
            </a:r>
          </a:p>
          <a:p>
            <a:pPr indent="0" algn="l">
              <a:lnSpc>
                <a:spcPct val="125000"/>
              </a:lnSpc>
            </a:pPr>
            <a:r>
              <a:rPr lang="en-US" sz="1200" b="0" i="0" u="none" strike="noStrike">
                <a:solidFill>
                  <a:srgbClr val="FFB6C1"/>
                </a:solidFill>
                <a:latin typeface="Noto Sans SC"/>
                <a:ea typeface="Noto Sans SC"/>
                <a:cs typeface="Noto Sans SC"/>
                <a:sym typeface="Noto Sans SC"/>
              </a:rPr>
              <a:t>适用：简单图表，高性能要求场景</a:t>
            </a:r>
          </a:p>
        </p:txBody>
      </p:sp>
      <p:sp>
        <p:nvSpPr>
          <p:cNvPr id="10" name="AutoShape 10"/>
          <p:cNvSpPr/>
          <p:nvPr/>
        </p:nvSpPr>
        <p:spPr>
          <a:xfrm>
            <a:off x="6350000" y="1397000"/>
            <a:ext cx="5080000" cy="2794000"/>
          </a:xfrm>
          <a:prstGeom prst="roundRect">
            <a:avLst>
              <a:gd name="adj" fmla="val 4545"/>
            </a:avLst>
          </a:prstGeom>
          <a:solidFill>
            <a:srgbClr val="FFFFFF">
              <a:alpha val="5000"/>
            </a:srgbClr>
          </a:solidFill>
          <a:ln w="12700" cap="flat" cmpd="sng">
            <a:solidFill>
              <a:srgbClr val="00BFFF">
                <a:alpha val="30000"/>
              </a:srgbClr>
            </a:solidFill>
            <a:prstDash val="solid"/>
            <a:round/>
          </a:ln>
        </p:spPr>
        <p:txBody>
          <a:bodyPr vert="horz" wrap="square" lIns="63500" tIns="63500" rIns="63500" bIns="63500" rtlCol="0" anchor="ctr"/>
          <a:lstStyle/>
          <a:p>
            <a:pPr algn="ctr">
              <a:defRPr/>
            </a:pPr>
            <a:endParaRPr/>
          </a:p>
        </p:txBody>
      </p:sp>
      <p:pic>
        <p:nvPicPr>
          <p:cNvPr id="11" name="Picture 11"/>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540500" y="1587500"/>
            <a:ext cx="304800" cy="304800"/>
          </a:xfrm>
          <a:prstGeom prst="rect">
            <a:avLst/>
          </a:prstGeom>
        </p:spPr>
      </p:pic>
      <p:sp>
        <p:nvSpPr>
          <p:cNvPr id="12" name="AutoShape 12"/>
          <p:cNvSpPr/>
          <p:nvPr/>
        </p:nvSpPr>
        <p:spPr>
          <a:xfrm>
            <a:off x="6921500" y="1549400"/>
            <a:ext cx="381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FFFFFF"/>
                </a:solidFill>
                <a:latin typeface="Noto Sans SC"/>
                <a:ea typeface="Noto Sans SC"/>
                <a:cs typeface="Noto Sans SC"/>
                <a:sym typeface="Noto Sans SC"/>
              </a:rPr>
              <a:t>后端可视化工具</a:t>
            </a:r>
            <a:endParaRPr lang="en-US" sz="1100"/>
          </a:p>
        </p:txBody>
      </p:sp>
      <p:sp>
        <p:nvSpPr>
          <p:cNvPr id="13" name="AutoShape 13"/>
          <p:cNvSpPr/>
          <p:nvPr/>
        </p:nvSpPr>
        <p:spPr>
          <a:xfrm>
            <a:off x="6540500" y="2032000"/>
            <a:ext cx="4699000" cy="1016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0BFFF"/>
                </a:solidFill>
                <a:latin typeface="Noto Sans SC"/>
                <a:ea typeface="Noto Sans SC"/>
                <a:cs typeface="Noto Sans SC"/>
                <a:sym typeface="Noto Sans SC"/>
              </a:rPr>
              <a:t>Grafana</a:t>
            </a:r>
            <a:endParaRPr lang="en-US" sz="1100"/>
          </a:p>
          <a:p>
            <a:pPr indent="0" algn="l">
              <a:lnSpc>
                <a:spcPct val="125000"/>
              </a:lnSpc>
            </a:pPr>
            <a:r>
              <a:rPr lang="en-US" sz="1200" b="0" i="0" u="none" strike="noStrike">
                <a:solidFill>
                  <a:srgbClr val="FFFFFF">
                    <a:alpha val="80000"/>
                  </a:srgbClr>
                </a:solidFill>
                <a:latin typeface="Noto Sans SC"/>
                <a:ea typeface="Noto Sans SC"/>
                <a:cs typeface="Noto Sans SC"/>
                <a:sym typeface="Noto Sans SC"/>
              </a:rPr>
              <a:t>优点：功能强大，多数据源支持，监控告警</a:t>
            </a:r>
          </a:p>
          <a:p>
            <a:pPr indent="0" algn="l">
              <a:lnSpc>
                <a:spcPct val="125000"/>
              </a:lnSpc>
            </a:pPr>
            <a:r>
              <a:rPr lang="en-US" sz="1200" b="0" i="0" u="none" strike="noStrike">
                <a:solidFill>
                  <a:srgbClr val="FFFFFF">
                    <a:alpha val="60000"/>
                  </a:srgbClr>
                </a:solidFill>
                <a:latin typeface="Noto Sans SC"/>
                <a:ea typeface="Noto Sans SC"/>
                <a:cs typeface="Noto Sans SC"/>
                <a:sym typeface="Noto Sans SC"/>
              </a:rPr>
              <a:t>缺点：配置相对复杂</a:t>
            </a:r>
          </a:p>
          <a:p>
            <a:pPr indent="0" algn="l">
              <a:lnSpc>
                <a:spcPct val="125000"/>
              </a:lnSpc>
            </a:pPr>
            <a:r>
              <a:rPr lang="en-US" sz="1200" b="0" i="0" u="none" strike="noStrike">
                <a:solidFill>
                  <a:srgbClr val="FFB6C1"/>
                </a:solidFill>
                <a:latin typeface="Noto Sans SC"/>
                <a:ea typeface="Noto Sans SC"/>
                <a:cs typeface="Noto Sans SC"/>
                <a:sym typeface="Noto Sans SC"/>
              </a:rPr>
              <a:t>适用：系统性能监控，实时数据展示</a:t>
            </a:r>
          </a:p>
        </p:txBody>
      </p:sp>
      <p:sp>
        <p:nvSpPr>
          <p:cNvPr id="14" name="AutoShape 14"/>
          <p:cNvSpPr/>
          <p:nvPr/>
        </p:nvSpPr>
        <p:spPr>
          <a:xfrm>
            <a:off x="6540500" y="3048000"/>
            <a:ext cx="4699000" cy="1016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0BFFF"/>
                </a:solidFill>
                <a:latin typeface="Noto Sans SC"/>
                <a:ea typeface="Noto Sans SC"/>
                <a:cs typeface="Noto Sans SC"/>
                <a:sym typeface="Noto Sans SC"/>
              </a:rPr>
              <a:t>Metabase</a:t>
            </a:r>
            <a:endParaRPr lang="en-US" sz="1100"/>
          </a:p>
          <a:p>
            <a:pPr indent="0" algn="l">
              <a:lnSpc>
                <a:spcPct val="125000"/>
              </a:lnSpc>
            </a:pPr>
            <a:r>
              <a:rPr lang="en-US" sz="1200" b="0" i="0" u="none" strike="noStrike">
                <a:solidFill>
                  <a:srgbClr val="FFFFFF">
                    <a:alpha val="80000"/>
                  </a:srgbClr>
                </a:solidFill>
                <a:latin typeface="Noto Sans SC"/>
                <a:ea typeface="Noto Sans SC"/>
                <a:cs typeface="Noto Sans SC"/>
                <a:sym typeface="Noto Sans SC"/>
              </a:rPr>
              <a:t>优点：开源免费，易用，支持自助分析</a:t>
            </a:r>
          </a:p>
          <a:p>
            <a:pPr indent="0" algn="l">
              <a:lnSpc>
                <a:spcPct val="125000"/>
              </a:lnSpc>
            </a:pPr>
            <a:r>
              <a:rPr lang="en-US" sz="1200" b="0" i="0" u="none" strike="noStrike">
                <a:solidFill>
                  <a:srgbClr val="FFFFFF">
                    <a:alpha val="60000"/>
                  </a:srgbClr>
                </a:solidFill>
                <a:latin typeface="Noto Sans SC"/>
                <a:ea typeface="Noto Sans SC"/>
                <a:cs typeface="Noto Sans SC"/>
                <a:sym typeface="Noto Sans SC"/>
              </a:rPr>
              <a:t>缺点：定制化程度有限</a:t>
            </a:r>
          </a:p>
          <a:p>
            <a:pPr indent="0" algn="l">
              <a:lnSpc>
                <a:spcPct val="125000"/>
              </a:lnSpc>
            </a:pPr>
            <a:r>
              <a:rPr lang="en-US" sz="1200" b="0" i="0" u="none" strike="noStrike">
                <a:solidFill>
                  <a:srgbClr val="FFB6C1"/>
                </a:solidFill>
                <a:latin typeface="Noto Sans SC"/>
                <a:ea typeface="Noto Sans SC"/>
                <a:cs typeface="Noto Sans SC"/>
                <a:sym typeface="Noto Sans SC"/>
              </a:rPr>
              <a:t>适用：快速构建报表，非技术人员分析</a:t>
            </a:r>
          </a:p>
        </p:txBody>
      </p:sp>
      <p:sp>
        <p:nvSpPr>
          <p:cNvPr id="15" name="AutoShape 15"/>
          <p:cNvSpPr/>
          <p:nvPr/>
        </p:nvSpPr>
        <p:spPr>
          <a:xfrm>
            <a:off x="762000" y="4445000"/>
            <a:ext cx="10668000" cy="889000"/>
          </a:xfrm>
          <a:prstGeom prst="roundRect">
            <a:avLst>
              <a:gd name="adj" fmla="val 14285"/>
            </a:avLst>
          </a:prstGeom>
          <a:solidFill>
            <a:srgbClr val="00BFFF">
              <a:alpha val="15000"/>
            </a:srgbClr>
          </a:solidFill>
          <a:ln w="12700" cap="flat" cmpd="sng">
            <a:solidFill>
              <a:srgbClr val="00BFFF">
                <a:alpha val="100000"/>
              </a:srgbClr>
            </a:solidFill>
            <a:prstDash val="solid"/>
            <a:round/>
          </a:ln>
        </p:spPr>
        <p:txBody>
          <a:bodyPr vert="horz" wrap="square" lIns="63500" tIns="63500" rIns="63500" bIns="63500" rtlCol="0" anchor="ctr"/>
          <a:lstStyle/>
          <a:p>
            <a:pPr algn="ctr">
              <a:defRPr/>
            </a:pPr>
            <a:endParaRPr/>
          </a:p>
        </p:txBody>
      </p:sp>
      <p:pic>
        <p:nvPicPr>
          <p:cNvPr id="16" name="Picture 16"/>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016000" y="4686300"/>
            <a:ext cx="406400" cy="406400"/>
          </a:xfrm>
          <a:prstGeom prst="rect">
            <a:avLst/>
          </a:prstGeom>
        </p:spPr>
      </p:pic>
      <p:sp>
        <p:nvSpPr>
          <p:cNvPr id="17" name="AutoShape 17"/>
          <p:cNvSpPr/>
          <p:nvPr/>
        </p:nvSpPr>
        <p:spPr>
          <a:xfrm>
            <a:off x="1524000" y="4572000"/>
            <a:ext cx="9652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Noto Sans SC"/>
                <a:ea typeface="Noto Sans SC"/>
                <a:cs typeface="Noto Sans SC"/>
                <a:sym typeface="Noto Sans SC"/>
              </a:rPr>
              <a:t>最终选择推荐：</a:t>
            </a:r>
            <a:r>
              <a:rPr lang="en-US" sz="1800" b="0" i="0" u="none" strike="noStrike">
                <a:solidFill>
                  <a:srgbClr val="00BFFF"/>
                </a:solidFill>
                <a:latin typeface="Noto Sans SC"/>
                <a:ea typeface="Noto Sans SC"/>
                <a:cs typeface="Noto Sans SC"/>
                <a:sym typeface="Noto Sans SC"/>
              </a:rPr>
              <a:t>优先使用 ECharts 进行前端数据可视化展示</a:t>
            </a:r>
            <a:r>
              <a:rPr lang="en-US" sz="1600" b="0" i="0" u="none" strike="noStrike">
                <a:solidFill>
                  <a:srgbClr val="FFFFFF">
                    <a:alpha val="80000"/>
                  </a:srgbClr>
                </a:solidFill>
                <a:latin typeface="Noto Sans SC"/>
                <a:ea typeface="Noto Sans SC"/>
                <a:cs typeface="Noto Sans SC"/>
                <a:sym typeface="Noto Sans SC"/>
              </a:rPr>
              <a:t>（功能强大，能满足绝大多数复杂展示需求）</a:t>
            </a:r>
            <a:endParaRPr lang="en-US" sz="1100"/>
          </a:p>
        </p:txBody>
      </p:sp>
      <p:sp>
        <p:nvSpPr>
          <p:cNvPr id="18" name="AutoShape 18"/>
          <p:cNvSpPr/>
          <p:nvPr/>
        </p:nvSpPr>
        <p:spPr>
          <a:xfrm>
            <a:off x="762000" y="5524500"/>
            <a:ext cx="10668000" cy="635000"/>
          </a:xfrm>
          <a:prstGeom prst="roundRect">
            <a:avLst>
              <a:gd name="adj" fmla="val 20000"/>
            </a:avLst>
          </a:prstGeom>
          <a:solidFill>
            <a:srgbClr val="E6E6FA">
              <a:alpha val="10000"/>
            </a:srgbClr>
          </a:solidFill>
          <a:ln w="12700" cap="flat" cmpd="sng">
            <a:solidFill>
              <a:srgbClr val="E6E6FA">
                <a:alpha val="30000"/>
              </a:srgbClr>
            </a:solidFill>
            <a:prstDash val="solid"/>
            <a:round/>
          </a:ln>
        </p:spPr>
        <p:txBody>
          <a:bodyPr vert="horz" wrap="square" lIns="63500" tIns="63500" rIns="63500" bIns="63500" rtlCol="0" anchor="ctr"/>
          <a:lstStyle/>
          <a:p>
            <a:pPr algn="ctr">
              <a:defRPr/>
            </a:pPr>
            <a:endParaRPr/>
          </a:p>
        </p:txBody>
      </p:sp>
      <p:pic>
        <p:nvPicPr>
          <p:cNvPr id="19" name="Picture 19"/>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016000" y="5689600"/>
            <a:ext cx="304800" cy="304800"/>
          </a:xfrm>
          <a:prstGeom prst="rect">
            <a:avLst/>
          </a:prstGeom>
        </p:spPr>
      </p:pic>
      <p:sp>
        <p:nvSpPr>
          <p:cNvPr id="20" name="AutoShape 20"/>
          <p:cNvSpPr/>
          <p:nvPr/>
        </p:nvSpPr>
        <p:spPr>
          <a:xfrm>
            <a:off x="1524000" y="5651500"/>
            <a:ext cx="9652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0" i="0" u="none" strike="noStrike">
                <a:solidFill>
                  <a:srgbClr val="FFFFFF"/>
                </a:solidFill>
                <a:latin typeface="Noto Sans SC"/>
                <a:ea typeface="Noto Sans SC"/>
                <a:cs typeface="Noto Sans SC"/>
                <a:sym typeface="Noto Sans SC"/>
              </a:rPr>
              <a:t>行动指令：请根据项目需求选择合适工具，并学习其基本用法。</a:t>
            </a:r>
            <a:endParaRPr lang="en-US" sz="110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000000">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0A1428">
              <a:alpha val="85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762000" y="508000"/>
            <a:ext cx="106680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00BFFF"/>
                </a:solidFill>
                <a:latin typeface="Noto Sans SC"/>
                <a:ea typeface="Noto Sans SC"/>
                <a:cs typeface="Noto Sans SC"/>
                <a:sym typeface="Noto Sans SC"/>
              </a:rPr>
              <a:t>ECharts数据可视化（一）：环境搭建</a:t>
            </a:r>
            <a:endParaRPr lang="en-US" sz="1100"/>
          </a:p>
        </p:txBody>
      </p:sp>
      <p:sp>
        <p:nvSpPr>
          <p:cNvPr id="5" name="AutoShape 5"/>
          <p:cNvSpPr/>
          <p:nvPr/>
        </p:nvSpPr>
        <p:spPr>
          <a:xfrm>
            <a:off x="762000" y="1524000"/>
            <a:ext cx="3302000" cy="3302000"/>
          </a:xfrm>
          <a:prstGeom prst="roundRect">
            <a:avLst>
              <a:gd name="adj" fmla="val 3846"/>
            </a:avLst>
          </a:prstGeom>
          <a:solidFill>
            <a:srgbClr val="FFFFFF">
              <a:alpha val="8000"/>
            </a:srgbClr>
          </a:solidFill>
          <a:ln w="12700" cap="flat" cmpd="sng">
            <a:solidFill>
              <a:srgbClr val="00BFFF">
                <a:alpha val="30000"/>
              </a:srgbClr>
            </a:solidFill>
            <a:prstDash val="solid"/>
            <a:round/>
          </a:ln>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1778000"/>
            <a:ext cx="406400" cy="406400"/>
          </a:xfrm>
          <a:prstGeom prst="rect">
            <a:avLst/>
          </a:prstGeom>
        </p:spPr>
      </p:pic>
      <p:sp>
        <p:nvSpPr>
          <p:cNvPr id="7" name="AutoShape 7"/>
          <p:cNvSpPr/>
          <p:nvPr/>
        </p:nvSpPr>
        <p:spPr>
          <a:xfrm>
            <a:off x="1524000" y="1778000"/>
            <a:ext cx="2413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FFFFFF"/>
                </a:solidFill>
                <a:latin typeface="Noto Sans SC"/>
                <a:ea typeface="Noto Sans SC"/>
                <a:cs typeface="Noto Sans SC"/>
                <a:sym typeface="Noto Sans SC"/>
              </a:rPr>
              <a:t>1. 引入ECharts库</a:t>
            </a:r>
            <a:endParaRPr lang="en-US" sz="1100"/>
          </a:p>
        </p:txBody>
      </p:sp>
      <p:sp>
        <p:nvSpPr>
          <p:cNvPr id="8" name="AutoShape 8"/>
          <p:cNvSpPr/>
          <p:nvPr/>
        </p:nvSpPr>
        <p:spPr>
          <a:xfrm>
            <a:off x="1016000" y="2286000"/>
            <a:ext cx="2794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E6E6FA"/>
                </a:solidFill>
                <a:latin typeface="Noto Sans SC"/>
                <a:ea typeface="Noto Sans SC"/>
                <a:cs typeface="Noto Sans SC"/>
                <a:sym typeface="Noto Sans SC"/>
              </a:rPr>
              <a:t>通过CDN引入JavaScript文件，快速集成。</a:t>
            </a:r>
            <a:endParaRPr lang="en-US" sz="1100"/>
          </a:p>
        </p:txBody>
      </p:sp>
      <p:sp>
        <p:nvSpPr>
          <p:cNvPr id="9" name="AutoShape 9"/>
          <p:cNvSpPr/>
          <p:nvPr/>
        </p:nvSpPr>
        <p:spPr>
          <a:xfrm>
            <a:off x="1016000" y="2921000"/>
            <a:ext cx="2794000" cy="1016000"/>
          </a:xfrm>
          <a:prstGeom prst="roundRect">
            <a:avLst>
              <a:gd name="adj" fmla="val 6250"/>
            </a:avLst>
          </a:prstGeom>
          <a:solidFill>
            <a:srgbClr val="000000">
              <a:alpha val="50000"/>
            </a:srgbClr>
          </a:solidFill>
          <a:ln w="25400" cap="flat" cmpd="sng">
            <a:noFill/>
            <a:prstDash val="solid"/>
            <a:round/>
          </a:ln>
        </p:spPr>
        <p:txBody>
          <a:bodyPr vert="horz" wrap="square" lIns="127000" tIns="127000" rIns="0" bIns="0" rtlCol="0" anchor="ctr" anchorCtr="0"/>
          <a:lstStyle/>
          <a:p>
            <a:pPr indent="0" algn="ctr">
              <a:lnSpc>
                <a:spcPct val="125000"/>
              </a:lnSpc>
              <a:defRPr/>
            </a:pPr>
            <a:r>
              <a:rPr lang="en-US" sz="1200" b="0" i="0" u="none" strike="noStrike">
                <a:solidFill>
                  <a:srgbClr val="FFB6C1"/>
                </a:solidFill>
                <a:latin typeface="Consolas"/>
                <a:ea typeface="Consolas"/>
                <a:cs typeface="Consolas"/>
                <a:sym typeface="Consolas"/>
              </a:rPr>
              <a:t>&lt;script src="https://cdn.jsdelivr.net/npm/echarts/dist/echarts.min.js"&gt;&lt;/script&gt;</a:t>
            </a:r>
            <a:endParaRPr lang="en-US" sz="1100"/>
          </a:p>
        </p:txBody>
      </p:sp>
      <p:sp>
        <p:nvSpPr>
          <p:cNvPr id="10" name="AutoShape 10"/>
          <p:cNvSpPr/>
          <p:nvPr/>
        </p:nvSpPr>
        <p:spPr>
          <a:xfrm>
            <a:off x="4445000" y="1524000"/>
            <a:ext cx="3302000" cy="3302000"/>
          </a:xfrm>
          <a:prstGeom prst="roundRect">
            <a:avLst>
              <a:gd name="adj" fmla="val 3846"/>
            </a:avLst>
          </a:prstGeom>
          <a:solidFill>
            <a:srgbClr val="FFFFFF">
              <a:alpha val="8000"/>
            </a:srgbClr>
          </a:solidFill>
          <a:ln w="12700" cap="flat" cmpd="sng">
            <a:solidFill>
              <a:srgbClr val="00BFFF">
                <a:alpha val="30000"/>
              </a:srgbClr>
            </a:solidFill>
            <a:prstDash val="solid"/>
            <a:round/>
          </a:ln>
        </p:spPr>
        <p:txBody>
          <a:bodyPr vert="horz" wrap="square" lIns="63500" tIns="63500" rIns="63500" bIns="63500" rtlCol="0" anchor="ctr"/>
          <a:lstStyle/>
          <a:p>
            <a:pPr algn="ctr">
              <a:defRPr/>
            </a:pPr>
            <a:endParaRPr/>
          </a:p>
        </p:txBody>
      </p:sp>
      <p:pic>
        <p:nvPicPr>
          <p:cNvPr id="11" name="Picture 11"/>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699000" y="1778000"/>
            <a:ext cx="406400" cy="406400"/>
          </a:xfrm>
          <a:prstGeom prst="rect">
            <a:avLst/>
          </a:prstGeom>
        </p:spPr>
      </p:pic>
      <p:sp>
        <p:nvSpPr>
          <p:cNvPr id="12" name="AutoShape 12"/>
          <p:cNvSpPr/>
          <p:nvPr/>
        </p:nvSpPr>
        <p:spPr>
          <a:xfrm>
            <a:off x="5207000" y="1778000"/>
            <a:ext cx="2413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FFFFFF"/>
                </a:solidFill>
                <a:latin typeface="Noto Sans SC"/>
                <a:ea typeface="Noto Sans SC"/>
                <a:cs typeface="Noto Sans SC"/>
                <a:sym typeface="Noto Sans SC"/>
              </a:rPr>
              <a:t>2. 准备DOM容器</a:t>
            </a:r>
            <a:endParaRPr lang="en-US" sz="1100"/>
          </a:p>
        </p:txBody>
      </p:sp>
      <p:sp>
        <p:nvSpPr>
          <p:cNvPr id="13" name="AutoShape 13"/>
          <p:cNvSpPr/>
          <p:nvPr/>
        </p:nvSpPr>
        <p:spPr>
          <a:xfrm>
            <a:off x="4699000" y="2286000"/>
            <a:ext cx="2794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E6E6FA"/>
                </a:solidFill>
                <a:latin typeface="Noto Sans SC"/>
                <a:ea typeface="Noto Sans SC"/>
                <a:cs typeface="Noto Sans SC"/>
                <a:sym typeface="Noto Sans SC"/>
              </a:rPr>
              <a:t>创建显示图表的DOM元素，并设置宽高属性。</a:t>
            </a:r>
            <a:endParaRPr lang="en-US" sz="1100"/>
          </a:p>
        </p:txBody>
      </p:sp>
      <p:sp>
        <p:nvSpPr>
          <p:cNvPr id="14" name="AutoShape 14"/>
          <p:cNvSpPr/>
          <p:nvPr/>
        </p:nvSpPr>
        <p:spPr>
          <a:xfrm>
            <a:off x="4699000" y="2921000"/>
            <a:ext cx="2794000" cy="1016000"/>
          </a:xfrm>
          <a:prstGeom prst="roundRect">
            <a:avLst>
              <a:gd name="adj" fmla="val 6250"/>
            </a:avLst>
          </a:prstGeom>
          <a:solidFill>
            <a:srgbClr val="000000">
              <a:alpha val="50000"/>
            </a:srgbClr>
          </a:solidFill>
          <a:ln w="25400" cap="flat" cmpd="sng">
            <a:noFill/>
            <a:prstDash val="solid"/>
            <a:round/>
          </a:ln>
        </p:spPr>
        <p:txBody>
          <a:bodyPr vert="horz" wrap="square" lIns="127000" tIns="127000" rIns="0" bIns="0" rtlCol="0" anchor="ctr" anchorCtr="0"/>
          <a:lstStyle/>
          <a:p>
            <a:pPr indent="0" algn="ctr">
              <a:lnSpc>
                <a:spcPct val="125000"/>
              </a:lnSpc>
              <a:defRPr/>
            </a:pPr>
            <a:r>
              <a:rPr lang="en-US" sz="1200" b="0" i="0" u="none" strike="noStrike">
                <a:solidFill>
                  <a:srgbClr val="FFB6C1"/>
                </a:solidFill>
                <a:latin typeface="Consolas"/>
                <a:ea typeface="Consolas"/>
                <a:cs typeface="Consolas"/>
                <a:sym typeface="Consolas"/>
              </a:rPr>
              <a:t>&lt;div id="chart" style="width: 600px; height: 400px;"&gt;&lt;/div&gt;</a:t>
            </a:r>
            <a:endParaRPr lang="en-US" sz="1100"/>
          </a:p>
        </p:txBody>
      </p:sp>
      <p:sp>
        <p:nvSpPr>
          <p:cNvPr id="15" name="AutoShape 15"/>
          <p:cNvSpPr/>
          <p:nvPr/>
        </p:nvSpPr>
        <p:spPr>
          <a:xfrm>
            <a:off x="8128000" y="1524000"/>
            <a:ext cx="3302000" cy="3302000"/>
          </a:xfrm>
          <a:prstGeom prst="roundRect">
            <a:avLst>
              <a:gd name="adj" fmla="val 3846"/>
            </a:avLst>
          </a:prstGeom>
          <a:solidFill>
            <a:srgbClr val="FFFFFF">
              <a:alpha val="8000"/>
            </a:srgbClr>
          </a:solidFill>
          <a:ln w="12700" cap="flat" cmpd="sng">
            <a:solidFill>
              <a:srgbClr val="00BFFF">
                <a:alpha val="30000"/>
              </a:srgbClr>
            </a:solidFill>
            <a:prstDash val="solid"/>
            <a:round/>
          </a:ln>
        </p:spPr>
        <p:txBody>
          <a:bodyPr vert="horz" wrap="square" lIns="63500" tIns="63500" rIns="63500" bIns="63500" rtlCol="0" anchor="ctr"/>
          <a:lstStyle/>
          <a:p>
            <a:pPr algn="ctr">
              <a:defRPr/>
            </a:pPr>
            <a:endParaRPr/>
          </a:p>
        </p:txBody>
      </p:sp>
      <p:pic>
        <p:nvPicPr>
          <p:cNvPr id="16" name="Picture 16"/>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8382000" y="1778000"/>
            <a:ext cx="406400" cy="406400"/>
          </a:xfrm>
          <a:prstGeom prst="rect">
            <a:avLst/>
          </a:prstGeom>
        </p:spPr>
      </p:pic>
      <p:sp>
        <p:nvSpPr>
          <p:cNvPr id="17" name="AutoShape 17"/>
          <p:cNvSpPr/>
          <p:nvPr/>
        </p:nvSpPr>
        <p:spPr>
          <a:xfrm>
            <a:off x="8890000" y="1778000"/>
            <a:ext cx="2413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FFFFFF"/>
                </a:solidFill>
                <a:latin typeface="Noto Sans SC"/>
                <a:ea typeface="Noto Sans SC"/>
                <a:cs typeface="Noto Sans SC"/>
                <a:sym typeface="Noto Sans SC"/>
              </a:rPr>
              <a:t>3. 初始化图表实例</a:t>
            </a:r>
            <a:endParaRPr lang="en-US" sz="1100"/>
          </a:p>
        </p:txBody>
      </p:sp>
      <p:sp>
        <p:nvSpPr>
          <p:cNvPr id="18" name="AutoShape 18"/>
          <p:cNvSpPr/>
          <p:nvPr/>
        </p:nvSpPr>
        <p:spPr>
          <a:xfrm>
            <a:off x="8382000" y="2286000"/>
            <a:ext cx="2794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E6E6FA"/>
                </a:solidFill>
                <a:latin typeface="Noto Sans SC"/>
                <a:ea typeface="Noto Sans SC"/>
                <a:cs typeface="Noto Sans SC"/>
                <a:sym typeface="Noto Sans SC"/>
              </a:rPr>
              <a:t>使用init方法初始化图表，关联DOM容器。</a:t>
            </a:r>
            <a:endParaRPr lang="en-US" sz="1100"/>
          </a:p>
        </p:txBody>
      </p:sp>
      <p:sp>
        <p:nvSpPr>
          <p:cNvPr id="19" name="AutoShape 19"/>
          <p:cNvSpPr/>
          <p:nvPr/>
        </p:nvSpPr>
        <p:spPr>
          <a:xfrm>
            <a:off x="8382000" y="2921000"/>
            <a:ext cx="2794000" cy="1016000"/>
          </a:xfrm>
          <a:prstGeom prst="roundRect">
            <a:avLst>
              <a:gd name="adj" fmla="val 6250"/>
            </a:avLst>
          </a:prstGeom>
          <a:solidFill>
            <a:srgbClr val="000000">
              <a:alpha val="50000"/>
            </a:srgbClr>
          </a:solidFill>
          <a:ln w="25400" cap="flat" cmpd="sng">
            <a:noFill/>
            <a:prstDash val="solid"/>
            <a:round/>
          </a:ln>
        </p:spPr>
        <p:txBody>
          <a:bodyPr vert="horz" wrap="square" lIns="127000" tIns="127000" rIns="0" bIns="0" rtlCol="0" anchor="ctr" anchorCtr="0"/>
          <a:lstStyle/>
          <a:p>
            <a:pPr indent="0" algn="ctr">
              <a:lnSpc>
                <a:spcPct val="125000"/>
              </a:lnSpc>
              <a:defRPr/>
            </a:pPr>
            <a:r>
              <a:rPr lang="en-US" sz="1200" b="0" i="0" u="none" strike="noStrike">
                <a:solidFill>
                  <a:srgbClr val="FFB6C1"/>
                </a:solidFill>
                <a:latin typeface="Consolas"/>
                <a:ea typeface="Consolas"/>
                <a:cs typeface="Consolas"/>
                <a:sym typeface="Consolas"/>
              </a:rPr>
              <a:t>var myChart = echarts.init(document.getElementById('chart'));</a:t>
            </a:r>
            <a:endParaRPr lang="en-US" sz="1100"/>
          </a:p>
        </p:txBody>
      </p:sp>
      <p:sp>
        <p:nvSpPr>
          <p:cNvPr id="20" name="AutoShape 20"/>
          <p:cNvSpPr/>
          <p:nvPr/>
        </p:nvSpPr>
        <p:spPr>
          <a:xfrm>
            <a:off x="762000" y="5334000"/>
            <a:ext cx="10668000" cy="762000"/>
          </a:xfrm>
          <a:prstGeom prst="roundRect">
            <a:avLst>
              <a:gd name="adj" fmla="val 16666"/>
            </a:avLst>
          </a:prstGeom>
          <a:solidFill>
            <a:srgbClr val="00BFFF">
              <a:alpha val="15000"/>
            </a:srgbClr>
          </a:solidFill>
          <a:ln w="12700" cap="flat" cmpd="sng">
            <a:solidFill>
              <a:srgbClr val="00BFFF">
                <a:alpha val="50000"/>
              </a:srgbClr>
            </a:solidFill>
            <a:prstDash val="solid"/>
            <a:round/>
          </a:ln>
        </p:spPr>
        <p:txBody>
          <a:bodyPr vert="horz" wrap="square" lIns="63500" tIns="63500" rIns="63500" bIns="63500" rtlCol="0" anchor="ctr"/>
          <a:lstStyle/>
          <a:p>
            <a:pPr algn="ctr">
              <a:defRPr/>
            </a:pPr>
            <a:endParaRPr/>
          </a:p>
        </p:txBody>
      </p:sp>
      <p:pic>
        <p:nvPicPr>
          <p:cNvPr id="21" name="Picture 21"/>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016000" y="5562600"/>
            <a:ext cx="304800" cy="304800"/>
          </a:xfrm>
          <a:prstGeom prst="rect">
            <a:avLst/>
          </a:prstGeom>
        </p:spPr>
      </p:pic>
      <p:sp>
        <p:nvSpPr>
          <p:cNvPr id="22" name="AutoShape 22"/>
          <p:cNvSpPr/>
          <p:nvPr/>
        </p:nvSpPr>
        <p:spPr>
          <a:xfrm>
            <a:off x="1460500" y="5524500"/>
            <a:ext cx="889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Noto Sans SC"/>
                <a:ea typeface="Noto Sans SC"/>
                <a:cs typeface="Noto Sans SC"/>
                <a:sym typeface="Noto Sans SC"/>
              </a:rPr>
              <a:t>行动指令：请大家按照上述步骤完成ECharts的环境搭建，为后续绘制图表做准备。</a:t>
            </a:r>
            <a:endParaRPr lang="en-US" sz="110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0A1428">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0A1428">
              <a:alpha val="85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508000" y="381000"/>
            <a:ext cx="111760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200" b="1" i="0" u="none" strike="noStrike">
                <a:solidFill>
                  <a:srgbClr val="00BFFF"/>
                </a:solidFill>
                <a:latin typeface="Noto Sans SC"/>
                <a:ea typeface="Noto Sans SC"/>
                <a:cs typeface="Noto Sans SC"/>
                <a:sym typeface="Noto Sans SC"/>
              </a:rPr>
              <a:t>使用ECharts实现数据可视化（二）：图表实现示例</a:t>
            </a:r>
            <a:endParaRPr lang="en-US" sz="1100"/>
          </a:p>
        </p:txBody>
      </p:sp>
      <p:sp>
        <p:nvSpPr>
          <p:cNvPr id="5" name="AutoShape 5"/>
          <p:cNvSpPr/>
          <p:nvPr/>
        </p:nvSpPr>
        <p:spPr>
          <a:xfrm>
            <a:off x="508000" y="1270000"/>
            <a:ext cx="3556000" cy="2921000"/>
          </a:xfrm>
          <a:prstGeom prst="roundRect">
            <a:avLst>
              <a:gd name="adj" fmla="val 4347"/>
            </a:avLst>
          </a:prstGeom>
          <a:solidFill>
            <a:srgbClr val="FFFFFF">
              <a:alpha val="5000"/>
            </a:srgbClr>
          </a:solidFill>
          <a:ln w="12700" cap="flat" cmpd="sng">
            <a:solidFill>
              <a:srgbClr val="00BFFF">
                <a:alpha val="30000"/>
              </a:srgbClr>
            </a:solidFill>
            <a:prstDash val="solid"/>
            <a:round/>
          </a:ln>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98500" y="1460500"/>
            <a:ext cx="304800" cy="304800"/>
          </a:xfrm>
          <a:prstGeom prst="rect">
            <a:avLst/>
          </a:prstGeom>
        </p:spPr>
      </p:pic>
      <p:sp>
        <p:nvSpPr>
          <p:cNvPr id="7" name="AutoShape 7"/>
          <p:cNvSpPr/>
          <p:nvPr/>
        </p:nvSpPr>
        <p:spPr>
          <a:xfrm>
            <a:off x="1079500" y="1422400"/>
            <a:ext cx="279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Noto Sans SC"/>
                <a:ea typeface="Noto Sans SC"/>
                <a:cs typeface="Noto Sans SC"/>
                <a:sym typeface="Noto Sans SC"/>
              </a:rPr>
              <a:t>折线图：日活趋势</a:t>
            </a:r>
            <a:endParaRPr lang="en-US" sz="1100"/>
          </a:p>
        </p:txBody>
      </p:sp>
      <p:sp>
        <p:nvSpPr>
          <p:cNvPr id="8" name="AutoShape 8"/>
          <p:cNvSpPr/>
          <p:nvPr/>
        </p:nvSpPr>
        <p:spPr>
          <a:xfrm>
            <a:off x="635000" y="1905000"/>
            <a:ext cx="3302000" cy="2032000"/>
          </a:xfrm>
          <a:prstGeom prst="rect">
            <a:avLst/>
          </a:prstGeom>
          <a:noFill/>
          <a:ln w="12700" cap="flat" cmpd="sng">
            <a:noFill/>
            <a:prstDash val="solid"/>
            <a:round/>
          </a:ln>
        </p:spPr>
        <p:txBody>
          <a:bodyPr vert="horz" wrap="square" lIns="0" tIns="0" rIns="0" bIns="0" rtlCol="0" anchor="ctr" anchorCtr="0"/>
          <a:lstStyle/>
          <a:p>
            <a:pPr indent="0" algn="l">
              <a:lnSpc>
                <a:spcPts val="1800"/>
              </a:lnSpc>
              <a:defRPr/>
            </a:pPr>
            <a:r>
              <a:rPr lang="en-US" sz="1200" b="0" i="0" u="none" strike="noStrike">
                <a:solidFill>
                  <a:srgbClr val="DCDCDC"/>
                </a:solidFill>
                <a:latin typeface="Consolas"/>
                <a:ea typeface="Consolas"/>
                <a:cs typeface="Consolas"/>
                <a:sym typeface="Consolas"/>
              </a:rPr>
              <a:t>var option = {</a:t>
            </a:r>
            <a:endParaRPr lang="en-US" sz="1100"/>
          </a:p>
          <a:p>
            <a:pPr indent="0" algn="l">
              <a:lnSpc>
                <a:spcPts val="1800"/>
              </a:lnSpc>
            </a:pPr>
            <a:r>
              <a:rPr lang="en-US" sz="1200" b="0" i="0" u="none" strike="noStrike">
                <a:solidFill>
                  <a:srgbClr val="DCDCDC"/>
                </a:solidFill>
                <a:latin typeface="Consolas"/>
                <a:ea typeface="Consolas"/>
                <a:cs typeface="Consolas"/>
                <a:sym typeface="Consolas"/>
              </a:rPr>
              <a:t>title: { text: '日活趋势' },</a:t>
            </a:r>
          </a:p>
          <a:p>
            <a:pPr indent="0" algn="l">
              <a:lnSpc>
                <a:spcPts val="1800"/>
              </a:lnSpc>
            </a:pPr>
            <a:r>
              <a:rPr lang="en-US" sz="1200" b="0" i="0" u="none" strike="noStrike">
                <a:solidFill>
                  <a:srgbClr val="DCDCDC"/>
                </a:solidFill>
                <a:latin typeface="Consolas"/>
                <a:ea typeface="Consolas"/>
                <a:cs typeface="Consolas"/>
                <a:sym typeface="Consolas"/>
              </a:rPr>
              <a:t>xAxis: { type: 'category',</a:t>
            </a:r>
          </a:p>
          <a:p>
            <a:pPr indent="0" algn="l">
              <a:lnSpc>
                <a:spcPts val="1800"/>
              </a:lnSpc>
            </a:pPr>
            <a:r>
              <a:rPr lang="en-US" sz="1200" b="0" i="0" u="none" strike="noStrike">
                <a:solidFill>
                  <a:srgbClr val="DCDCDC"/>
                </a:solidFill>
                <a:latin typeface="Consolas"/>
                <a:ea typeface="Consolas"/>
                <a:cs typeface="Consolas"/>
                <a:sym typeface="Consolas"/>
              </a:rPr>
              <a:t>data: ['周一','周二','周三']</a:t>
            </a:r>
          </a:p>
          <a:p>
            <a:pPr indent="0" algn="l">
              <a:lnSpc>
                <a:spcPts val="1800"/>
              </a:lnSpc>
            </a:pPr>
            <a:r>
              <a:rPr lang="en-US" sz="1200" b="0" i="0" u="none" strike="noStrike">
                <a:solidFill>
                  <a:srgbClr val="DCDCDC"/>
                </a:solidFill>
                <a:latin typeface="Consolas"/>
                <a:ea typeface="Consolas"/>
                <a:cs typeface="Consolas"/>
                <a:sym typeface="Consolas"/>
              </a:rPr>
              <a:t>},</a:t>
            </a:r>
          </a:p>
          <a:p>
            <a:pPr indent="0" algn="l">
              <a:lnSpc>
                <a:spcPts val="1800"/>
              </a:lnSpc>
            </a:pPr>
            <a:r>
              <a:rPr lang="en-US" sz="1200" b="0" i="0" u="none" strike="noStrike">
                <a:solidFill>
                  <a:srgbClr val="DCDCDC"/>
                </a:solidFill>
                <a:latin typeface="Consolas"/>
                <a:ea typeface="Consolas"/>
                <a:cs typeface="Consolas"/>
                <a:sym typeface="Consolas"/>
              </a:rPr>
              <a:t>yAxis: { type: 'value' },</a:t>
            </a:r>
          </a:p>
          <a:p>
            <a:pPr indent="0" algn="l">
              <a:lnSpc>
                <a:spcPts val="1800"/>
              </a:lnSpc>
            </a:pPr>
            <a:r>
              <a:rPr lang="en-US" sz="1200" b="0" i="0" u="none" strike="noStrike">
                <a:solidFill>
                  <a:srgbClr val="DCDCDC"/>
                </a:solidFill>
                <a:latin typeface="Consolas"/>
                <a:ea typeface="Consolas"/>
                <a:cs typeface="Consolas"/>
                <a:sym typeface="Consolas"/>
              </a:rPr>
              <a:t>series: [{ type: 'line',</a:t>
            </a:r>
          </a:p>
          <a:p>
            <a:pPr indent="0" algn="l">
              <a:lnSpc>
                <a:spcPts val="1800"/>
              </a:lnSpc>
            </a:pPr>
            <a:r>
              <a:rPr lang="en-US" sz="1200" b="0" i="0" u="none" strike="noStrike">
                <a:solidFill>
                  <a:srgbClr val="DCDCDC"/>
                </a:solidFill>
                <a:latin typeface="Consolas"/>
                <a:ea typeface="Consolas"/>
                <a:cs typeface="Consolas"/>
                <a:sym typeface="Consolas"/>
              </a:rPr>
              <a:t>data: [120, 200, 150]</a:t>
            </a:r>
          </a:p>
          <a:p>
            <a:pPr indent="0" algn="l">
              <a:lnSpc>
                <a:spcPts val="1800"/>
              </a:lnSpc>
            </a:pPr>
            <a:r>
              <a:rPr lang="en-US" sz="1200" b="0" i="0" u="none" strike="noStrike">
                <a:solidFill>
                  <a:srgbClr val="DCDCDC"/>
                </a:solidFill>
                <a:latin typeface="Consolas"/>
                <a:ea typeface="Consolas"/>
                <a:cs typeface="Consolas"/>
                <a:sym typeface="Consolas"/>
              </a:rPr>
              <a:t>}]</a:t>
            </a:r>
          </a:p>
          <a:p>
            <a:pPr indent="0" algn="l">
              <a:lnSpc>
                <a:spcPts val="1800"/>
              </a:lnSpc>
            </a:pPr>
            <a:r>
              <a:rPr lang="en-US" sz="1200" b="0" i="0" u="none" strike="noStrike">
                <a:solidFill>
                  <a:srgbClr val="DCDCDC"/>
                </a:solidFill>
                <a:latin typeface="Consolas"/>
                <a:ea typeface="Consolas"/>
                <a:cs typeface="Consolas"/>
                <a:sym typeface="Consolas"/>
              </a:rPr>
              <a:t>};</a:t>
            </a:r>
          </a:p>
        </p:txBody>
      </p:sp>
      <p:sp>
        <p:nvSpPr>
          <p:cNvPr id="9" name="AutoShape 9"/>
          <p:cNvSpPr/>
          <p:nvPr/>
        </p:nvSpPr>
        <p:spPr>
          <a:xfrm>
            <a:off x="4318000" y="1270000"/>
            <a:ext cx="3556000" cy="2921000"/>
          </a:xfrm>
          <a:prstGeom prst="roundRect">
            <a:avLst>
              <a:gd name="adj" fmla="val 4347"/>
            </a:avLst>
          </a:prstGeom>
          <a:solidFill>
            <a:srgbClr val="FFFFFF">
              <a:alpha val="5000"/>
            </a:srgbClr>
          </a:solidFill>
          <a:ln w="12700" cap="flat" cmpd="sng">
            <a:solidFill>
              <a:srgbClr val="FFB6C1">
                <a:alpha val="30000"/>
              </a:srgbClr>
            </a:solidFill>
            <a:prstDash val="solid"/>
            <a:round/>
          </a:ln>
        </p:spPr>
        <p:txBody>
          <a:bodyPr vert="horz" wrap="square" lIns="63500" tIns="63500" rIns="63500" bIns="63500" rtlCol="0" anchor="ctr"/>
          <a:lstStyle/>
          <a:p>
            <a:pPr algn="ctr">
              <a:defRPr/>
            </a:pPr>
            <a:endParaRPr/>
          </a:p>
        </p:txBody>
      </p:sp>
      <p:pic>
        <p:nvPicPr>
          <p:cNvPr id="10" name="Picture 10"/>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508500" y="1460500"/>
            <a:ext cx="304800" cy="304800"/>
          </a:xfrm>
          <a:prstGeom prst="rect">
            <a:avLst/>
          </a:prstGeom>
        </p:spPr>
      </p:pic>
      <p:sp>
        <p:nvSpPr>
          <p:cNvPr id="11" name="AutoShape 11"/>
          <p:cNvSpPr/>
          <p:nvPr/>
        </p:nvSpPr>
        <p:spPr>
          <a:xfrm>
            <a:off x="4889500" y="1422400"/>
            <a:ext cx="279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Noto Sans SC"/>
                <a:ea typeface="Noto Sans SC"/>
                <a:cs typeface="Noto Sans SC"/>
                <a:sym typeface="Noto Sans SC"/>
              </a:rPr>
              <a:t>柱状图：功能对比</a:t>
            </a:r>
            <a:endParaRPr lang="en-US" sz="1100"/>
          </a:p>
        </p:txBody>
      </p:sp>
      <p:sp>
        <p:nvSpPr>
          <p:cNvPr id="12" name="AutoShape 12"/>
          <p:cNvSpPr/>
          <p:nvPr/>
        </p:nvSpPr>
        <p:spPr>
          <a:xfrm>
            <a:off x="4445000" y="1905000"/>
            <a:ext cx="3302000" cy="2032000"/>
          </a:xfrm>
          <a:prstGeom prst="rect">
            <a:avLst/>
          </a:prstGeom>
          <a:noFill/>
          <a:ln w="12700" cap="flat" cmpd="sng">
            <a:noFill/>
            <a:prstDash val="solid"/>
            <a:round/>
          </a:ln>
        </p:spPr>
        <p:txBody>
          <a:bodyPr vert="horz" wrap="square" lIns="0" tIns="0" rIns="0" bIns="0" rtlCol="0" anchor="ctr" anchorCtr="0"/>
          <a:lstStyle/>
          <a:p>
            <a:pPr indent="0" algn="l">
              <a:lnSpc>
                <a:spcPts val="1800"/>
              </a:lnSpc>
              <a:defRPr/>
            </a:pPr>
            <a:r>
              <a:rPr lang="en-US" sz="1200" b="0" i="0" u="none" strike="noStrike">
                <a:solidFill>
                  <a:srgbClr val="DCDCDC"/>
                </a:solidFill>
                <a:latin typeface="Consolas"/>
                <a:ea typeface="Consolas"/>
                <a:cs typeface="Consolas"/>
                <a:sym typeface="Consolas"/>
              </a:rPr>
              <a:t>var option = {</a:t>
            </a:r>
            <a:endParaRPr lang="en-US" sz="1100"/>
          </a:p>
          <a:p>
            <a:pPr indent="0" algn="l">
              <a:lnSpc>
                <a:spcPts val="1800"/>
              </a:lnSpc>
            </a:pPr>
            <a:r>
              <a:rPr lang="en-US" sz="1200" b="0" i="0" u="none" strike="noStrike">
                <a:solidFill>
                  <a:srgbClr val="DCDCDC"/>
                </a:solidFill>
                <a:latin typeface="Consolas"/>
                <a:ea typeface="Consolas"/>
                <a:cs typeface="Consolas"/>
                <a:sym typeface="Consolas"/>
              </a:rPr>
              <a:t>title: { text: '功能对比' },</a:t>
            </a:r>
          </a:p>
          <a:p>
            <a:pPr indent="0" algn="l">
              <a:lnSpc>
                <a:spcPts val="1800"/>
              </a:lnSpc>
            </a:pPr>
            <a:r>
              <a:rPr lang="en-US" sz="1200" b="0" i="0" u="none" strike="noStrike">
                <a:solidFill>
                  <a:srgbClr val="DCDCDC"/>
                </a:solidFill>
                <a:latin typeface="Consolas"/>
                <a:ea typeface="Consolas"/>
                <a:cs typeface="Consolas"/>
                <a:sym typeface="Consolas"/>
              </a:rPr>
              <a:t>xAxis: { type: 'category',</a:t>
            </a:r>
          </a:p>
          <a:p>
            <a:pPr indent="0" algn="l">
              <a:lnSpc>
                <a:spcPts val="1800"/>
              </a:lnSpc>
            </a:pPr>
            <a:r>
              <a:rPr lang="en-US" sz="1200" b="0" i="0" u="none" strike="noStrike">
                <a:solidFill>
                  <a:srgbClr val="DCDCDC"/>
                </a:solidFill>
                <a:latin typeface="Consolas"/>
                <a:ea typeface="Consolas"/>
                <a:cs typeface="Consolas"/>
                <a:sym typeface="Consolas"/>
              </a:rPr>
              <a:t>data: ['步行','乘车','SOS']</a:t>
            </a:r>
          </a:p>
          <a:p>
            <a:pPr indent="0" algn="l">
              <a:lnSpc>
                <a:spcPts val="1800"/>
              </a:lnSpc>
            </a:pPr>
            <a:r>
              <a:rPr lang="en-US" sz="1200" b="0" i="0" u="none" strike="noStrike">
                <a:solidFill>
                  <a:srgbClr val="DCDCDC"/>
                </a:solidFill>
                <a:latin typeface="Consolas"/>
                <a:ea typeface="Consolas"/>
                <a:cs typeface="Consolas"/>
                <a:sym typeface="Consolas"/>
              </a:rPr>
              <a:t>},</a:t>
            </a:r>
          </a:p>
          <a:p>
            <a:pPr indent="0" algn="l">
              <a:lnSpc>
                <a:spcPts val="1800"/>
              </a:lnSpc>
            </a:pPr>
            <a:r>
              <a:rPr lang="en-US" sz="1200" b="0" i="0" u="none" strike="noStrike">
                <a:solidFill>
                  <a:srgbClr val="DCDCDC"/>
                </a:solidFill>
                <a:latin typeface="Consolas"/>
                <a:ea typeface="Consolas"/>
                <a:cs typeface="Consolas"/>
                <a:sym typeface="Consolas"/>
              </a:rPr>
              <a:t>yAxis: { type: 'value' },</a:t>
            </a:r>
          </a:p>
          <a:p>
            <a:pPr indent="0" algn="l">
              <a:lnSpc>
                <a:spcPts val="1800"/>
              </a:lnSpc>
            </a:pPr>
            <a:r>
              <a:rPr lang="en-US" sz="1200" b="0" i="0" u="none" strike="noStrike">
                <a:solidFill>
                  <a:srgbClr val="DCDCDC"/>
                </a:solidFill>
                <a:latin typeface="Consolas"/>
                <a:ea typeface="Consolas"/>
                <a:cs typeface="Consolas"/>
                <a:sym typeface="Consolas"/>
              </a:rPr>
              <a:t>series: [{ type: 'bar',</a:t>
            </a:r>
          </a:p>
          <a:p>
            <a:pPr indent="0" algn="l">
              <a:lnSpc>
                <a:spcPts val="1800"/>
              </a:lnSpc>
            </a:pPr>
            <a:r>
              <a:rPr lang="en-US" sz="1200" b="0" i="0" u="none" strike="noStrike">
                <a:solidFill>
                  <a:srgbClr val="DCDCDC"/>
                </a:solidFill>
                <a:latin typeface="Consolas"/>
                <a:ea typeface="Consolas"/>
                <a:cs typeface="Consolas"/>
                <a:sym typeface="Consolas"/>
              </a:rPr>
              <a:t>data: [500, 300, 100]</a:t>
            </a:r>
          </a:p>
          <a:p>
            <a:pPr indent="0" algn="l">
              <a:lnSpc>
                <a:spcPts val="1800"/>
              </a:lnSpc>
            </a:pPr>
            <a:r>
              <a:rPr lang="en-US" sz="1200" b="0" i="0" u="none" strike="noStrike">
                <a:solidFill>
                  <a:srgbClr val="DCDCDC"/>
                </a:solidFill>
                <a:latin typeface="Consolas"/>
                <a:ea typeface="Consolas"/>
                <a:cs typeface="Consolas"/>
                <a:sym typeface="Consolas"/>
              </a:rPr>
              <a:t>}]</a:t>
            </a:r>
          </a:p>
          <a:p>
            <a:pPr indent="0" algn="l">
              <a:lnSpc>
                <a:spcPts val="1800"/>
              </a:lnSpc>
            </a:pPr>
            <a:r>
              <a:rPr lang="en-US" sz="1200" b="0" i="0" u="none" strike="noStrike">
                <a:solidFill>
                  <a:srgbClr val="DCDCDC"/>
                </a:solidFill>
                <a:latin typeface="Consolas"/>
                <a:ea typeface="Consolas"/>
                <a:cs typeface="Consolas"/>
                <a:sym typeface="Consolas"/>
              </a:rPr>
              <a:t>};</a:t>
            </a:r>
          </a:p>
        </p:txBody>
      </p:sp>
      <p:sp>
        <p:nvSpPr>
          <p:cNvPr id="13" name="AutoShape 13"/>
          <p:cNvSpPr/>
          <p:nvPr/>
        </p:nvSpPr>
        <p:spPr>
          <a:xfrm>
            <a:off x="8128000" y="1270000"/>
            <a:ext cx="3556000" cy="2921000"/>
          </a:xfrm>
          <a:prstGeom prst="roundRect">
            <a:avLst>
              <a:gd name="adj" fmla="val 4347"/>
            </a:avLst>
          </a:prstGeom>
          <a:solidFill>
            <a:srgbClr val="FFFFFF">
              <a:alpha val="5000"/>
            </a:srgbClr>
          </a:solidFill>
          <a:ln w="12700" cap="flat" cmpd="sng">
            <a:solidFill>
              <a:srgbClr val="E6E6FA">
                <a:alpha val="30000"/>
              </a:srgbClr>
            </a:solidFill>
            <a:prstDash val="solid"/>
            <a:round/>
          </a:ln>
        </p:spPr>
        <p:txBody>
          <a:bodyPr vert="horz" wrap="square" lIns="63500" tIns="63500" rIns="63500" bIns="63500" rtlCol="0" anchor="ctr"/>
          <a:lstStyle/>
          <a:p>
            <a:pPr algn="ctr">
              <a:defRPr/>
            </a:pPr>
            <a:endParaRPr/>
          </a:p>
        </p:txBody>
      </p:sp>
      <p:pic>
        <p:nvPicPr>
          <p:cNvPr id="14" name="Picture 14"/>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8318500" y="1460500"/>
            <a:ext cx="304800" cy="304800"/>
          </a:xfrm>
          <a:prstGeom prst="rect">
            <a:avLst/>
          </a:prstGeom>
        </p:spPr>
      </p:pic>
      <p:sp>
        <p:nvSpPr>
          <p:cNvPr id="15" name="AutoShape 15"/>
          <p:cNvSpPr/>
          <p:nvPr/>
        </p:nvSpPr>
        <p:spPr>
          <a:xfrm>
            <a:off x="8699500" y="1422400"/>
            <a:ext cx="279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Noto Sans SC"/>
                <a:ea typeface="Noto Sans SC"/>
                <a:cs typeface="Noto Sans SC"/>
                <a:sym typeface="Noto Sans SC"/>
              </a:rPr>
              <a:t>饼图：用户留存率</a:t>
            </a:r>
            <a:endParaRPr lang="en-US" sz="1100"/>
          </a:p>
        </p:txBody>
      </p:sp>
      <p:sp>
        <p:nvSpPr>
          <p:cNvPr id="16" name="AutoShape 16"/>
          <p:cNvSpPr/>
          <p:nvPr/>
        </p:nvSpPr>
        <p:spPr>
          <a:xfrm>
            <a:off x="8255000" y="1905000"/>
            <a:ext cx="3302000" cy="2032000"/>
          </a:xfrm>
          <a:prstGeom prst="rect">
            <a:avLst/>
          </a:prstGeom>
          <a:noFill/>
          <a:ln w="12700" cap="flat" cmpd="sng">
            <a:noFill/>
            <a:prstDash val="solid"/>
            <a:round/>
          </a:ln>
        </p:spPr>
        <p:txBody>
          <a:bodyPr vert="horz" wrap="square" lIns="0" tIns="0" rIns="0" bIns="0" rtlCol="0" anchor="ctr" anchorCtr="0"/>
          <a:lstStyle/>
          <a:p>
            <a:pPr indent="0" algn="l">
              <a:lnSpc>
                <a:spcPts val="1800"/>
              </a:lnSpc>
              <a:defRPr/>
            </a:pPr>
            <a:r>
              <a:rPr lang="en-US" sz="1200" b="0" i="0" u="none" strike="noStrike">
                <a:solidFill>
                  <a:srgbClr val="DCDCDC"/>
                </a:solidFill>
                <a:latin typeface="Consolas"/>
                <a:ea typeface="Consolas"/>
                <a:cs typeface="Consolas"/>
                <a:sym typeface="Consolas"/>
              </a:rPr>
              <a:t>var option = {</a:t>
            </a:r>
            <a:endParaRPr lang="en-US" sz="1100"/>
          </a:p>
          <a:p>
            <a:pPr indent="0" algn="l">
              <a:lnSpc>
                <a:spcPts val="1800"/>
              </a:lnSpc>
            </a:pPr>
            <a:r>
              <a:rPr lang="en-US" sz="1200" b="0" i="0" u="none" strike="noStrike">
                <a:solidFill>
                  <a:srgbClr val="DCDCDC"/>
                </a:solidFill>
                <a:latin typeface="Consolas"/>
                <a:ea typeface="Consolas"/>
                <a:cs typeface="Consolas"/>
                <a:sym typeface="Consolas"/>
              </a:rPr>
              <a:t>title: { text: '用户留存率' },</a:t>
            </a:r>
          </a:p>
          <a:p>
            <a:pPr indent="0" algn="l">
              <a:lnSpc>
                <a:spcPts val="1800"/>
              </a:lnSpc>
            </a:pPr>
            <a:r>
              <a:rPr lang="en-US" sz="1200" b="0" i="0" u="none" strike="noStrike">
                <a:solidFill>
                  <a:srgbClr val="DCDCDC"/>
                </a:solidFill>
                <a:latin typeface="Consolas"/>
                <a:ea typeface="Consolas"/>
                <a:cs typeface="Consolas"/>
                <a:sym typeface="Consolas"/>
              </a:rPr>
              <a:t>series: [{ type: 'pie',</a:t>
            </a:r>
          </a:p>
          <a:p>
            <a:pPr indent="0" algn="l">
              <a:lnSpc>
                <a:spcPts val="1800"/>
              </a:lnSpc>
            </a:pPr>
            <a:r>
              <a:rPr lang="en-US" sz="1200" b="0" i="0" u="none" strike="noStrike">
                <a:solidFill>
                  <a:srgbClr val="DCDCDC"/>
                </a:solidFill>
                <a:latin typeface="Consolas"/>
                <a:ea typeface="Consolas"/>
                <a:cs typeface="Consolas"/>
                <a:sym typeface="Consolas"/>
              </a:rPr>
              <a:t>data: [</a:t>
            </a:r>
          </a:p>
          <a:p>
            <a:pPr indent="0" algn="l">
              <a:lnSpc>
                <a:spcPts val="1800"/>
              </a:lnSpc>
            </a:pPr>
            <a:r>
              <a:rPr lang="en-US" sz="1200" b="0" i="0" u="none" strike="noStrike">
                <a:solidFill>
                  <a:srgbClr val="DCDCDC"/>
                </a:solidFill>
                <a:latin typeface="Consolas"/>
                <a:ea typeface="Consolas"/>
                <a:cs typeface="Consolas"/>
                <a:sym typeface="Consolas"/>
              </a:rPr>
              <a:t>{value:335, name:'次日'},</a:t>
            </a:r>
          </a:p>
          <a:p>
            <a:pPr indent="0" algn="l">
              <a:lnSpc>
                <a:spcPts val="1800"/>
              </a:lnSpc>
            </a:pPr>
            <a:r>
              <a:rPr lang="en-US" sz="1200" b="0" i="0" u="none" strike="noStrike">
                <a:solidFill>
                  <a:srgbClr val="DCDCDC"/>
                </a:solidFill>
                <a:latin typeface="Consolas"/>
                <a:ea typeface="Consolas"/>
                <a:cs typeface="Consolas"/>
                <a:sym typeface="Consolas"/>
              </a:rPr>
              <a:t>{value:310, name:'7日'},</a:t>
            </a:r>
          </a:p>
          <a:p>
            <a:pPr indent="0" algn="l">
              <a:lnSpc>
                <a:spcPts val="1800"/>
              </a:lnSpc>
            </a:pPr>
            <a:r>
              <a:rPr lang="en-US" sz="1200" b="0" i="0" u="none" strike="noStrike">
                <a:solidFill>
                  <a:srgbClr val="DCDCDC"/>
                </a:solidFill>
                <a:latin typeface="Consolas"/>
                <a:ea typeface="Consolas"/>
                <a:cs typeface="Consolas"/>
                <a:sym typeface="Consolas"/>
              </a:rPr>
              <a:t>{value:234, name:'30日'}</a:t>
            </a:r>
          </a:p>
          <a:p>
            <a:pPr indent="0" algn="l">
              <a:lnSpc>
                <a:spcPts val="1800"/>
              </a:lnSpc>
            </a:pPr>
            <a:r>
              <a:rPr lang="en-US" sz="1200" b="0" i="0" u="none" strike="noStrike">
                <a:solidFill>
                  <a:srgbClr val="DCDCDC"/>
                </a:solidFill>
                <a:latin typeface="Consolas"/>
                <a:ea typeface="Consolas"/>
                <a:cs typeface="Consolas"/>
                <a:sym typeface="Consolas"/>
              </a:rPr>
              <a:t>]</a:t>
            </a:r>
          </a:p>
          <a:p>
            <a:pPr indent="0" algn="l">
              <a:lnSpc>
                <a:spcPts val="1800"/>
              </a:lnSpc>
            </a:pPr>
            <a:r>
              <a:rPr lang="en-US" sz="1200" b="0" i="0" u="none" strike="noStrike">
                <a:solidFill>
                  <a:srgbClr val="DCDCDC"/>
                </a:solidFill>
                <a:latin typeface="Consolas"/>
                <a:ea typeface="Consolas"/>
                <a:cs typeface="Consolas"/>
                <a:sym typeface="Consolas"/>
              </a:rPr>
              <a:t>}]</a:t>
            </a:r>
          </a:p>
          <a:p>
            <a:pPr indent="0" algn="l">
              <a:lnSpc>
                <a:spcPts val="1800"/>
              </a:lnSpc>
            </a:pPr>
            <a:r>
              <a:rPr lang="en-US" sz="1200" b="0" i="0" u="none" strike="noStrike">
                <a:solidFill>
                  <a:srgbClr val="DCDCDC"/>
                </a:solidFill>
                <a:latin typeface="Consolas"/>
                <a:ea typeface="Consolas"/>
                <a:cs typeface="Consolas"/>
                <a:sym typeface="Consolas"/>
              </a:rPr>
              <a:t>};</a:t>
            </a:r>
          </a:p>
        </p:txBody>
      </p:sp>
      <p:sp>
        <p:nvSpPr>
          <p:cNvPr id="17" name="AutoShape 17"/>
          <p:cNvSpPr/>
          <p:nvPr/>
        </p:nvSpPr>
        <p:spPr>
          <a:xfrm>
            <a:off x="508000" y="4445000"/>
            <a:ext cx="11176000" cy="762000"/>
          </a:xfrm>
          <a:prstGeom prst="roundRect">
            <a:avLst>
              <a:gd name="adj" fmla="val 16666"/>
            </a:avLst>
          </a:prstGeom>
          <a:solidFill>
            <a:srgbClr val="00BFFF">
              <a:alpha val="10000"/>
            </a:srgbClr>
          </a:solidFill>
          <a:ln w="12700" cap="flat" cmpd="sng">
            <a:solidFill>
              <a:srgbClr val="00BFFF">
                <a:alpha val="100000"/>
              </a:srgbClr>
            </a:solidFill>
            <a:prstDash val="dash"/>
            <a:round/>
          </a:ln>
        </p:spPr>
        <p:txBody>
          <a:bodyPr vert="horz" wrap="square" lIns="63500" tIns="63500" rIns="63500" bIns="63500" rtlCol="0" anchor="ctr"/>
          <a:lstStyle/>
          <a:p>
            <a:pPr algn="ctr">
              <a:defRPr/>
            </a:pPr>
            <a:endParaRPr/>
          </a:p>
        </p:txBody>
      </p:sp>
      <p:pic>
        <p:nvPicPr>
          <p:cNvPr id="18" name="Picture 18"/>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762000" y="4622800"/>
            <a:ext cx="406400" cy="406400"/>
          </a:xfrm>
          <a:prstGeom prst="rect">
            <a:avLst/>
          </a:prstGeom>
        </p:spPr>
      </p:pic>
      <p:sp>
        <p:nvSpPr>
          <p:cNvPr id="19" name="AutoShape 19"/>
          <p:cNvSpPr/>
          <p:nvPr/>
        </p:nvSpPr>
        <p:spPr>
          <a:xfrm>
            <a:off x="1270000" y="4572000"/>
            <a:ext cx="9906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Noto Sans SC"/>
                <a:ea typeface="Noto Sans SC"/>
                <a:cs typeface="Noto Sans SC"/>
                <a:sym typeface="Noto Sans SC"/>
              </a:rPr>
              <a:t>行动指令：</a:t>
            </a:r>
            <a:r>
              <a:rPr lang="en-US" sz="1600" b="0" i="0" u="none" strike="noStrike">
                <a:solidFill>
                  <a:srgbClr val="DCDCDC"/>
                </a:solidFill>
                <a:latin typeface="Noto Sans SC"/>
                <a:ea typeface="Noto Sans SC"/>
                <a:cs typeface="Noto Sans SC"/>
                <a:sym typeface="Noto Sans SC"/>
              </a:rPr>
              <a:t>请参考以上示例代码，使用ECharts实现至少一种图表，展示自己项目的真实数据。</a:t>
            </a:r>
            <a:endParaRPr lang="en-US" sz="1100"/>
          </a:p>
        </p:txBody>
      </p:sp>
      <p:cxnSp>
        <p:nvCxnSpPr>
          <p:cNvPr id="20" name="Connector 20"/>
          <p:cNvCxnSpPr/>
          <p:nvPr/>
        </p:nvCxnSpPr>
        <p:spPr>
          <a:xfrm rot="-3906">
            <a:off x="508004" y="5454650"/>
            <a:ext cx="11176000" cy="12700"/>
          </a:xfrm>
          <a:prstGeom prst="straightConnector1">
            <a:avLst/>
          </a:prstGeom>
          <a:solidFill>
            <a:srgbClr val="DEE0E3">
              <a:alpha val="100000"/>
            </a:srgbClr>
          </a:solidFill>
          <a:ln w="12700" cap="flat" cmpd="sng">
            <a:solidFill>
              <a:srgbClr val="FFFFFF">
                <a:alpha val="20000"/>
              </a:srgbClr>
            </a:solidFill>
            <a:prstDash val="solid"/>
            <a:round/>
            <a:headEnd type="none" w="med" len="med"/>
            <a:tailEnd type="none" w="med" len="med"/>
          </a:ln>
        </p:spPr>
      </p:cxnSp>
      <p:sp>
        <p:nvSpPr>
          <p:cNvPr id="21" name="AutoShape 21"/>
          <p:cNvSpPr/>
          <p:nvPr/>
        </p:nvSpPr>
        <p:spPr>
          <a:xfrm>
            <a:off x="508000" y="5588000"/>
            <a:ext cx="11176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400" b="0" i="0" u="none" strike="noStrike">
                <a:solidFill>
                  <a:srgbClr val="FFFFFF">
                    <a:alpha val="60000"/>
                  </a:srgbClr>
                </a:solidFill>
                <a:latin typeface="Noto Sans SC"/>
                <a:ea typeface="Noto Sans SC"/>
                <a:cs typeface="Noto Sans SC"/>
                <a:sym typeface="Noto Sans SC"/>
              </a:rPr>
              <a:t>提示：记得在代码中替换为你自己的项目数据，并调整标题和样式以匹配主题。</a:t>
            </a:r>
            <a:endParaRPr lang="en-US" sz="110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0A192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0A192F">
              <a:alpha val="85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0" y="0"/>
            <a:ext cx="12192000" cy="50800"/>
          </a:xfrm>
          <a:prstGeom prst="roundRect">
            <a:avLst>
              <a:gd name="adj" fmla="val 0"/>
            </a:avLst>
          </a:prstGeom>
          <a:gradFill rotWithShape="1">
            <a:gsLst>
              <a:gs pos="0">
                <a:srgbClr val="00BFFF">
                  <a:alpha val="100000"/>
                </a:srgbClr>
              </a:gs>
              <a:gs pos="100000">
                <a:srgbClr val="E6E6FA">
                  <a:alpha val="100000"/>
                </a:srgbClr>
              </a:gs>
            </a:gsLst>
            <a:lin ang="0"/>
          </a:gradFill>
          <a:ln w="25400" cap="flat" cmpd="sng">
            <a:noFill/>
            <a:prstDash val="solid"/>
            <a:round/>
          </a:ln>
        </p:spPr>
        <p:txBody>
          <a:bodyPr vert="horz" wrap="square" lIns="63500" tIns="63500" rIns="63500" bIns="63500" rtlCol="0" anchor="ctr"/>
          <a:lstStyle/>
          <a:p>
            <a:pPr algn="ctr">
              <a:defRPr/>
            </a:pPr>
            <a:endParaRPr/>
          </a:p>
        </p:txBody>
      </p:sp>
      <p:pic>
        <p:nvPicPr>
          <p:cNvPr id="5" name="Picture 5"/>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689600" y="1397000"/>
            <a:ext cx="812800" cy="812800"/>
          </a:xfrm>
          <a:prstGeom prst="rect">
            <a:avLst/>
          </a:prstGeom>
          <a:effectLst>
            <a:outerShdw blurRad="127000" dir="2700000" algn="tl" rotWithShape="0">
              <a:srgbClr val="00BFFF">
                <a:alpha val="50000"/>
              </a:srgbClr>
            </a:outerShdw>
          </a:effectLst>
        </p:spPr>
      </p:pic>
      <p:sp>
        <p:nvSpPr>
          <p:cNvPr id="6" name="AutoShape 6"/>
          <p:cNvSpPr/>
          <p:nvPr/>
        </p:nvSpPr>
        <p:spPr>
          <a:xfrm>
            <a:off x="508000" y="2413000"/>
            <a:ext cx="11176000" cy="762000"/>
          </a:xfrm>
          <a:prstGeom prst="rect">
            <a:avLst/>
          </a:prstGeom>
          <a:noFill/>
          <a:ln w="12700" cap="flat" cmpd="sng">
            <a:noFill/>
            <a:prstDash val="solid"/>
            <a:round/>
          </a:ln>
        </p:spPr>
        <p:txBody>
          <a:bodyPr vert="horz" wrap="none" lIns="0" tIns="0" rIns="0" bIns="0" rtlCol="0" anchor="ctr" anchorCtr="0"/>
          <a:lstStyle/>
          <a:p>
            <a:pPr indent="0" algn="ctr">
              <a:lnSpc>
                <a:spcPct val="125000"/>
              </a:lnSpc>
              <a:defRPr/>
            </a:pPr>
            <a:r>
              <a:rPr lang="en-US" sz="3600" b="1" i="0" u="none" strike="noStrike">
                <a:solidFill>
                  <a:srgbClr val="FFFFFF"/>
                </a:solidFill>
                <a:latin typeface="Noto Sans SC"/>
                <a:ea typeface="Noto Sans SC"/>
                <a:cs typeface="Noto Sans SC"/>
                <a:sym typeface="Noto Sans SC"/>
              </a:rPr>
              <a:t>模块五：项目整合、测试与部署</a:t>
            </a:r>
            <a:endParaRPr lang="en-US" sz="1100"/>
          </a:p>
        </p:txBody>
      </p:sp>
      <p:cxnSp>
        <p:nvCxnSpPr>
          <p:cNvPr id="7" name="Connector 7"/>
          <p:cNvCxnSpPr/>
          <p:nvPr/>
        </p:nvCxnSpPr>
        <p:spPr>
          <a:xfrm rot="-17188">
            <a:off x="4826016" y="3295650"/>
            <a:ext cx="2540000" cy="12700"/>
          </a:xfrm>
          <a:prstGeom prst="line">
            <a:avLst/>
          </a:prstGeom>
          <a:solidFill>
            <a:srgbClr val="DEE0E3">
              <a:alpha val="100000"/>
            </a:srgbClr>
          </a:solidFill>
          <a:ln w="25400" cap="flat" cmpd="sng">
            <a:solidFill>
              <a:srgbClr val="FFB6C1">
                <a:alpha val="100000"/>
              </a:srgbClr>
            </a:solidFill>
            <a:prstDash val="solid"/>
            <a:round/>
            <a:headEnd type="none" w="lg" len="lg"/>
            <a:tailEnd type="none" w="lg" len="lg"/>
          </a:ln>
        </p:spPr>
      </p:cxnSp>
      <p:sp>
        <p:nvSpPr>
          <p:cNvPr id="8" name="AutoShape 8"/>
          <p:cNvSpPr/>
          <p:nvPr/>
        </p:nvSpPr>
        <p:spPr>
          <a:xfrm>
            <a:off x="1016000" y="3556000"/>
            <a:ext cx="10160000" cy="508000"/>
          </a:xfrm>
          <a:prstGeom prst="rect">
            <a:avLst/>
          </a:prstGeom>
          <a:noFill/>
          <a:ln w="12700" cap="flat" cmpd="sng">
            <a:noFill/>
            <a:prstDash val="solid"/>
            <a:round/>
          </a:ln>
        </p:spPr>
        <p:txBody>
          <a:bodyPr vert="horz" wrap="none" lIns="0" tIns="0" rIns="0" bIns="0" rtlCol="0" anchor="ctr" anchorCtr="0"/>
          <a:lstStyle/>
          <a:p>
            <a:pPr indent="0" algn="ctr">
              <a:lnSpc>
                <a:spcPct val="125000"/>
              </a:lnSpc>
              <a:defRPr/>
            </a:pPr>
            <a:r>
              <a:rPr lang="en-US" sz="2000" b="0" i="0" u="none" strike="noStrike">
                <a:solidFill>
                  <a:srgbClr val="E6E6FA"/>
                </a:solidFill>
                <a:latin typeface="Noto Sans SC"/>
                <a:ea typeface="Noto Sans SC"/>
                <a:cs typeface="Noto Sans SC"/>
                <a:sym typeface="Noto Sans SC"/>
              </a:rPr>
              <a:t>将所有功能整合，完成最终的产品交付</a:t>
            </a:r>
            <a:endParaRPr lang="en-US" sz="1100"/>
          </a:p>
        </p:txBody>
      </p:sp>
      <p:sp>
        <p:nvSpPr>
          <p:cNvPr id="9" name="AutoShape 9"/>
          <p:cNvSpPr/>
          <p:nvPr/>
        </p:nvSpPr>
        <p:spPr>
          <a:xfrm>
            <a:off x="5918200" y="4445000"/>
            <a:ext cx="101600" cy="101600"/>
          </a:xfrm>
          <a:prstGeom prst="roundRect">
            <a:avLst>
              <a:gd name="adj" fmla="val 0"/>
            </a:avLst>
          </a:prstGeom>
          <a:solidFill>
            <a:srgbClr val="00B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0" name="AutoShape 10"/>
          <p:cNvSpPr/>
          <p:nvPr/>
        </p:nvSpPr>
        <p:spPr>
          <a:xfrm>
            <a:off x="6172200" y="4445000"/>
            <a:ext cx="101600" cy="101600"/>
          </a:xfrm>
          <a:prstGeom prst="roundRect">
            <a:avLst>
              <a:gd name="adj" fmla="val 0"/>
            </a:avLst>
          </a:prstGeom>
          <a:solidFill>
            <a:srgbClr val="00BFFF">
              <a:alpha val="50000"/>
            </a:srgbClr>
          </a:solidFill>
          <a:ln w="25400" cap="flat" cmpd="sng">
            <a:noFill/>
            <a:prstDash val="solid"/>
            <a:round/>
          </a:ln>
        </p:spPr>
        <p:txBody>
          <a:bodyPr vert="horz" wrap="square" lIns="63500" tIns="63500" rIns="63500" bIns="63500" rtlCol="0" anchor="ctr"/>
          <a:lstStyle/>
          <a:p>
            <a:pPr algn="ctr">
              <a:defRPr/>
            </a:pPr>
            <a:endParaRPr/>
          </a:p>
        </p:txBody>
      </p:sp>
      <p:sp>
        <p:nvSpPr>
          <p:cNvPr id="11" name="AutoShape 11"/>
          <p:cNvSpPr/>
          <p:nvPr/>
        </p:nvSpPr>
        <p:spPr>
          <a:xfrm>
            <a:off x="6426200" y="4445000"/>
            <a:ext cx="101600" cy="101600"/>
          </a:xfrm>
          <a:prstGeom prst="roundRect">
            <a:avLst>
              <a:gd name="adj" fmla="val 0"/>
            </a:avLst>
          </a:prstGeom>
          <a:solidFill>
            <a:srgbClr val="00BFFF">
              <a:alpha val="20000"/>
            </a:srgbClr>
          </a:solidFill>
          <a:ln w="25400" cap="flat" cmpd="sng">
            <a:noFill/>
            <a:prstDash val="solid"/>
            <a:round/>
          </a:ln>
        </p:spPr>
        <p:txBody>
          <a:bodyPr vert="horz" wrap="square" lIns="63500" tIns="63500" rIns="63500" bIns="63500" rtlCol="0" anchor="ctr"/>
          <a:lstStyle/>
          <a:p>
            <a:pPr algn="ctr">
              <a:defRPr/>
            </a:pPr>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0A192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0A192F">
              <a:alpha val="85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762000" y="508000"/>
            <a:ext cx="30226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00BFFF"/>
                </a:solidFill>
                <a:latin typeface="Noto Sans SC"/>
                <a:ea typeface="Noto Sans SC"/>
                <a:cs typeface="Noto Sans SC"/>
                <a:sym typeface="Noto Sans SC"/>
              </a:rPr>
              <a:t>项目整合策略</a:t>
            </a:r>
            <a:endParaRPr lang="en-US" sz="1100"/>
          </a:p>
        </p:txBody>
      </p:sp>
      <p:sp>
        <p:nvSpPr>
          <p:cNvPr id="5" name="AutoShape 5"/>
          <p:cNvSpPr/>
          <p:nvPr/>
        </p:nvSpPr>
        <p:spPr>
          <a:xfrm>
            <a:off x="762000" y="1524000"/>
            <a:ext cx="3378200" cy="2540000"/>
          </a:xfrm>
          <a:prstGeom prst="roundRect">
            <a:avLst>
              <a:gd name="adj" fmla="val 5000"/>
            </a:avLst>
          </a:prstGeom>
          <a:solidFill>
            <a:srgbClr val="FFFFFF">
              <a:alpha val="8000"/>
            </a:srgbClr>
          </a:solidFill>
          <a:ln w="12700" cap="flat" cmpd="sng">
            <a:solidFill>
              <a:srgbClr val="00BFFF">
                <a:alpha val="30000"/>
              </a:srgbClr>
            </a:solidFill>
            <a:prstDash val="solid"/>
            <a:round/>
          </a:ln>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1778000"/>
            <a:ext cx="406400" cy="406400"/>
          </a:xfrm>
          <a:prstGeom prst="rect">
            <a:avLst/>
          </a:prstGeom>
        </p:spPr>
      </p:pic>
      <p:sp>
        <p:nvSpPr>
          <p:cNvPr id="7" name="AutoShape 7"/>
          <p:cNvSpPr/>
          <p:nvPr/>
        </p:nvSpPr>
        <p:spPr>
          <a:xfrm>
            <a:off x="1524000" y="1752600"/>
            <a:ext cx="254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Noto Sans SC"/>
                <a:ea typeface="Noto Sans SC"/>
                <a:cs typeface="Noto Sans SC"/>
                <a:sym typeface="Noto Sans SC"/>
              </a:rPr>
              <a:t>功能模块整合</a:t>
            </a:r>
            <a:endParaRPr lang="en-US" sz="1100"/>
          </a:p>
        </p:txBody>
      </p:sp>
      <p:sp>
        <p:nvSpPr>
          <p:cNvPr id="8" name="AutoShape 8"/>
          <p:cNvSpPr/>
          <p:nvPr/>
        </p:nvSpPr>
        <p:spPr>
          <a:xfrm>
            <a:off x="1016000" y="2286000"/>
            <a:ext cx="2870200" cy="1524000"/>
          </a:xfrm>
          <a:prstGeom prst="rect">
            <a:avLst/>
          </a:prstGeom>
          <a:noFill/>
          <a:ln w="12700" cap="flat" cmpd="sng">
            <a:noFill/>
            <a:prstDash val="solid"/>
            <a:round/>
          </a:ln>
        </p:spPr>
        <p:txBody>
          <a:bodyPr vert="horz" wrap="square" lIns="0" tIns="0" rIns="0" bIns="0" rtlCol="0" anchor="ctr" anchorCtr="0"/>
          <a:lstStyle/>
          <a:p>
            <a:pPr marL="165100" indent="-165100" algn="l">
              <a:lnSpc>
                <a:spcPct val="108333"/>
              </a:lnSpc>
              <a:buClr>
                <a:srgbClr val="FFFFFF"/>
              </a:buClr>
              <a:buChar char="•"/>
              <a:defRPr/>
            </a:pPr>
            <a:r>
              <a:rPr lang="en-US" sz="1300" b="0" i="0" u="none" strike="noStrike">
                <a:solidFill>
                  <a:srgbClr val="FFFFFF">
                    <a:alpha val="90196"/>
                  </a:srgbClr>
                </a:solidFill>
                <a:latin typeface="Noto Sans SC"/>
                <a:ea typeface="Noto Sans SC"/>
                <a:cs typeface="Noto Sans SC"/>
                <a:sym typeface="Noto Sans SC"/>
              </a:rPr>
              <a:t>整合步行、乘车、AI关怀等功能，统一App界面体验。</a:t>
            </a:r>
            <a:endParaRPr lang="en-US" sz="1100"/>
          </a:p>
          <a:p>
            <a:pPr marL="165100" indent="-165100" algn="l">
              <a:lnSpc>
                <a:spcPct val="108333"/>
              </a:lnSpc>
              <a:buClr>
                <a:srgbClr val="FFFFFF"/>
              </a:buClr>
              <a:buChar char="•"/>
            </a:pPr>
            <a:r>
              <a:rPr lang="en-US" sz="1300" b="0" i="0" u="none" strike="noStrike">
                <a:solidFill>
                  <a:srgbClr val="FFFFFF">
                    <a:alpha val="90196"/>
                  </a:srgbClr>
                </a:solidFill>
                <a:latin typeface="Noto Sans SC"/>
                <a:ea typeface="Noto Sans SC"/>
                <a:cs typeface="Noto Sans SC"/>
                <a:sym typeface="Noto Sans SC"/>
              </a:rPr>
              <a:t>设计合理导航结构，提升功能可达性。</a:t>
            </a:r>
          </a:p>
        </p:txBody>
      </p:sp>
      <p:sp>
        <p:nvSpPr>
          <p:cNvPr id="9" name="AutoShape 9"/>
          <p:cNvSpPr/>
          <p:nvPr/>
        </p:nvSpPr>
        <p:spPr>
          <a:xfrm>
            <a:off x="4394200" y="1524000"/>
            <a:ext cx="3378200" cy="2540000"/>
          </a:xfrm>
          <a:prstGeom prst="roundRect">
            <a:avLst>
              <a:gd name="adj" fmla="val 5000"/>
            </a:avLst>
          </a:prstGeom>
          <a:solidFill>
            <a:srgbClr val="FFFFFF">
              <a:alpha val="8000"/>
            </a:srgbClr>
          </a:solidFill>
          <a:ln w="12700" cap="flat" cmpd="sng">
            <a:solidFill>
              <a:srgbClr val="00BFFF">
                <a:alpha val="30000"/>
              </a:srgbClr>
            </a:solidFill>
            <a:prstDash val="solid"/>
            <a:round/>
          </a:ln>
        </p:spPr>
        <p:txBody>
          <a:bodyPr vert="horz" wrap="square" lIns="63500" tIns="63500" rIns="63500" bIns="63500" rtlCol="0" anchor="ctr"/>
          <a:lstStyle/>
          <a:p>
            <a:pPr algn="ctr">
              <a:defRPr/>
            </a:pPr>
            <a:endParaRPr/>
          </a:p>
        </p:txBody>
      </p:sp>
      <p:pic>
        <p:nvPicPr>
          <p:cNvPr id="10" name="Picture 10"/>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648200" y="1778000"/>
            <a:ext cx="406400" cy="406400"/>
          </a:xfrm>
          <a:prstGeom prst="rect">
            <a:avLst/>
          </a:prstGeom>
        </p:spPr>
      </p:pic>
      <p:sp>
        <p:nvSpPr>
          <p:cNvPr id="11" name="AutoShape 11"/>
          <p:cNvSpPr/>
          <p:nvPr/>
        </p:nvSpPr>
        <p:spPr>
          <a:xfrm>
            <a:off x="5156200" y="1752600"/>
            <a:ext cx="254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Noto Sans SC"/>
                <a:ea typeface="Noto Sans SC"/>
                <a:cs typeface="Noto Sans SC"/>
                <a:sym typeface="Noto Sans SC"/>
              </a:rPr>
              <a:t>前后端整合</a:t>
            </a:r>
            <a:endParaRPr lang="en-US" sz="1100"/>
          </a:p>
        </p:txBody>
      </p:sp>
      <p:sp>
        <p:nvSpPr>
          <p:cNvPr id="12" name="AutoShape 12"/>
          <p:cNvSpPr/>
          <p:nvPr/>
        </p:nvSpPr>
        <p:spPr>
          <a:xfrm>
            <a:off x="4648200" y="2286000"/>
            <a:ext cx="2870200" cy="1524000"/>
          </a:xfrm>
          <a:prstGeom prst="rect">
            <a:avLst/>
          </a:prstGeom>
          <a:noFill/>
          <a:ln w="12700" cap="flat" cmpd="sng">
            <a:noFill/>
            <a:prstDash val="solid"/>
            <a:round/>
          </a:ln>
        </p:spPr>
        <p:txBody>
          <a:bodyPr vert="horz" wrap="square" lIns="0" tIns="0" rIns="0" bIns="0" rtlCol="0" anchor="ctr" anchorCtr="0"/>
          <a:lstStyle/>
          <a:p>
            <a:pPr marL="165100" indent="-165100" algn="l">
              <a:lnSpc>
                <a:spcPct val="108333"/>
              </a:lnSpc>
              <a:buClr>
                <a:srgbClr val="FFFFFF"/>
              </a:buClr>
              <a:buChar char="•"/>
              <a:defRPr/>
            </a:pPr>
            <a:r>
              <a:rPr lang="en-US" sz="1300" b="0" i="0" u="none" strike="noStrike">
                <a:solidFill>
                  <a:srgbClr val="FFFFFF">
                    <a:alpha val="90196"/>
                  </a:srgbClr>
                </a:solidFill>
                <a:latin typeface="Noto Sans SC"/>
                <a:ea typeface="Noto Sans SC"/>
                <a:cs typeface="Noto Sans SC"/>
                <a:sym typeface="Noto Sans SC"/>
              </a:rPr>
              <a:t>确保API服务调用正确，实现数据实时同步。</a:t>
            </a:r>
            <a:endParaRPr lang="en-US" sz="1100"/>
          </a:p>
          <a:p>
            <a:pPr marL="165100" indent="-165100" algn="l">
              <a:lnSpc>
                <a:spcPct val="108333"/>
              </a:lnSpc>
              <a:buClr>
                <a:srgbClr val="FFFFFF"/>
              </a:buClr>
              <a:buChar char="•"/>
            </a:pPr>
            <a:r>
              <a:rPr lang="en-US" sz="1300" b="0" i="0" u="none" strike="noStrike">
                <a:solidFill>
                  <a:srgbClr val="FFFFFF">
                    <a:alpha val="90196"/>
                  </a:srgbClr>
                </a:solidFill>
                <a:latin typeface="Noto Sans SC"/>
                <a:ea typeface="Noto Sans SC"/>
                <a:cs typeface="Noto Sans SC"/>
                <a:sym typeface="Noto Sans SC"/>
              </a:rPr>
              <a:t>完善异常处理机制，保障应用稳定性。</a:t>
            </a:r>
          </a:p>
        </p:txBody>
      </p:sp>
      <p:sp>
        <p:nvSpPr>
          <p:cNvPr id="13" name="AutoShape 13"/>
          <p:cNvSpPr/>
          <p:nvPr/>
        </p:nvSpPr>
        <p:spPr>
          <a:xfrm>
            <a:off x="8026400" y="1524000"/>
            <a:ext cx="3378200" cy="2540000"/>
          </a:xfrm>
          <a:prstGeom prst="roundRect">
            <a:avLst>
              <a:gd name="adj" fmla="val 5000"/>
            </a:avLst>
          </a:prstGeom>
          <a:solidFill>
            <a:srgbClr val="FFFFFF">
              <a:alpha val="8000"/>
            </a:srgbClr>
          </a:solidFill>
          <a:ln w="12700" cap="flat" cmpd="sng">
            <a:solidFill>
              <a:srgbClr val="00BFFF">
                <a:alpha val="30000"/>
              </a:srgbClr>
            </a:solidFill>
            <a:prstDash val="solid"/>
            <a:round/>
          </a:ln>
        </p:spPr>
        <p:txBody>
          <a:bodyPr vert="horz" wrap="square" lIns="63500" tIns="63500" rIns="63500" bIns="63500" rtlCol="0" anchor="ctr"/>
          <a:lstStyle/>
          <a:p>
            <a:pPr algn="ctr">
              <a:defRPr/>
            </a:pPr>
            <a:endParaRPr/>
          </a:p>
        </p:txBody>
      </p:sp>
      <p:pic>
        <p:nvPicPr>
          <p:cNvPr id="14" name="Picture 14"/>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8280400" y="1778000"/>
            <a:ext cx="406400" cy="406400"/>
          </a:xfrm>
          <a:prstGeom prst="rect">
            <a:avLst/>
          </a:prstGeom>
        </p:spPr>
      </p:pic>
      <p:sp>
        <p:nvSpPr>
          <p:cNvPr id="15" name="AutoShape 15"/>
          <p:cNvSpPr/>
          <p:nvPr/>
        </p:nvSpPr>
        <p:spPr>
          <a:xfrm>
            <a:off x="8788400" y="1752600"/>
            <a:ext cx="254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Noto Sans SC"/>
                <a:ea typeface="Noto Sans SC"/>
                <a:cs typeface="Noto Sans SC"/>
                <a:sym typeface="Noto Sans SC"/>
              </a:rPr>
              <a:t>第三方服务整合</a:t>
            </a:r>
            <a:endParaRPr lang="en-US" sz="1100"/>
          </a:p>
        </p:txBody>
      </p:sp>
      <p:sp>
        <p:nvSpPr>
          <p:cNvPr id="16" name="AutoShape 16"/>
          <p:cNvSpPr/>
          <p:nvPr/>
        </p:nvSpPr>
        <p:spPr>
          <a:xfrm>
            <a:off x="8280400" y="2286000"/>
            <a:ext cx="2870200" cy="1524000"/>
          </a:xfrm>
          <a:prstGeom prst="rect">
            <a:avLst/>
          </a:prstGeom>
          <a:noFill/>
          <a:ln w="12700" cap="flat" cmpd="sng">
            <a:noFill/>
            <a:prstDash val="solid"/>
            <a:round/>
          </a:ln>
        </p:spPr>
        <p:txBody>
          <a:bodyPr vert="horz" wrap="square" lIns="0" tIns="0" rIns="0" bIns="0" rtlCol="0" anchor="ctr" anchorCtr="0"/>
          <a:lstStyle/>
          <a:p>
            <a:pPr marL="165100" indent="-165100" algn="l">
              <a:lnSpc>
                <a:spcPct val="108333"/>
              </a:lnSpc>
              <a:buClr>
                <a:srgbClr val="FFFFFF"/>
              </a:buClr>
              <a:buChar char="•"/>
              <a:defRPr/>
            </a:pPr>
            <a:r>
              <a:rPr lang="en-US" sz="1300" b="0" i="0" u="none" strike="noStrike">
                <a:solidFill>
                  <a:srgbClr val="FFFFFF">
                    <a:alpha val="90196"/>
                  </a:srgbClr>
                </a:solidFill>
                <a:latin typeface="Noto Sans SC"/>
                <a:ea typeface="Noto Sans SC"/>
                <a:cs typeface="Noto Sans SC"/>
                <a:sym typeface="Noto Sans SC"/>
              </a:rPr>
              <a:t>集成Twilio、Agora等服务，确保稳定性。</a:t>
            </a:r>
            <a:endParaRPr lang="en-US" sz="1100"/>
          </a:p>
          <a:p>
            <a:pPr marL="165100" indent="-165100" algn="l">
              <a:lnSpc>
                <a:spcPct val="108333"/>
              </a:lnSpc>
              <a:buClr>
                <a:srgbClr val="FFFFFF"/>
              </a:buClr>
              <a:buChar char="•"/>
            </a:pPr>
            <a:r>
              <a:rPr lang="en-US" sz="1300" b="0" i="0" u="none" strike="noStrike">
                <a:solidFill>
                  <a:srgbClr val="FFFFFF">
                    <a:alpha val="90196"/>
                  </a:srgbClr>
                </a:solidFill>
                <a:latin typeface="Noto Sans SC"/>
                <a:ea typeface="Noto Sans SC"/>
                <a:cs typeface="Noto Sans SC"/>
                <a:sym typeface="Noto Sans SC"/>
              </a:rPr>
              <a:t>处理回调与通知，保证功能完整性。</a:t>
            </a:r>
          </a:p>
        </p:txBody>
      </p:sp>
      <p:sp>
        <p:nvSpPr>
          <p:cNvPr id="17" name="AutoShape 17"/>
          <p:cNvSpPr/>
          <p:nvPr/>
        </p:nvSpPr>
        <p:spPr>
          <a:xfrm>
            <a:off x="762000" y="4445000"/>
            <a:ext cx="10642600" cy="762000"/>
          </a:xfrm>
          <a:prstGeom prst="roundRect">
            <a:avLst>
              <a:gd name="adj" fmla="val 16666"/>
            </a:avLst>
          </a:prstGeom>
          <a:solidFill>
            <a:srgbClr val="FFB6C1">
              <a:alpha val="15000"/>
            </a:srgbClr>
          </a:solidFill>
          <a:ln w="12700" cap="flat" cmpd="sng">
            <a:solidFill>
              <a:srgbClr val="FFB6C1">
                <a:alpha val="50000"/>
              </a:srgbClr>
            </a:solidFill>
            <a:prstDash val="solid"/>
            <a:round/>
          </a:ln>
        </p:spPr>
        <p:txBody>
          <a:bodyPr vert="horz" wrap="square" lIns="63500" tIns="63500" rIns="63500" bIns="63500" rtlCol="0" anchor="ctr"/>
          <a:lstStyle/>
          <a:p>
            <a:pPr algn="ctr">
              <a:defRPr/>
            </a:pPr>
            <a:endParaRPr/>
          </a:p>
        </p:txBody>
      </p:sp>
      <p:pic>
        <p:nvPicPr>
          <p:cNvPr id="18" name="Picture 18"/>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016000" y="4648200"/>
            <a:ext cx="355600" cy="355600"/>
          </a:xfrm>
          <a:prstGeom prst="rect">
            <a:avLst/>
          </a:prstGeom>
        </p:spPr>
      </p:pic>
      <p:sp>
        <p:nvSpPr>
          <p:cNvPr id="19" name="AutoShape 19"/>
          <p:cNvSpPr/>
          <p:nvPr/>
        </p:nvSpPr>
        <p:spPr>
          <a:xfrm>
            <a:off x="1524000" y="4610100"/>
            <a:ext cx="9652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B6C1"/>
                </a:solidFill>
                <a:latin typeface="Noto Sans SC"/>
                <a:ea typeface="Noto Sans SC"/>
                <a:cs typeface="Noto Sans SC"/>
                <a:sym typeface="Noto Sans SC"/>
              </a:rPr>
              <a:t>行动指令：</a:t>
            </a:r>
            <a:r>
              <a:rPr lang="en-US" sz="1600" b="0" i="0" u="none" strike="noStrike">
                <a:solidFill>
                  <a:srgbClr val="FFFFFF"/>
                </a:solidFill>
                <a:latin typeface="Noto Sans SC"/>
                <a:ea typeface="Noto Sans SC"/>
                <a:cs typeface="Noto Sans SC"/>
                <a:sym typeface="Noto Sans SC"/>
              </a:rPr>
              <a:t>请大家制定自己项目的整合计划，并开始执行整合工作。</a:t>
            </a:r>
            <a:endParaRPr lang="en-US" sz="110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0A192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0A192F">
              <a:alpha val="85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762000" y="508000"/>
            <a:ext cx="30480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00BFFF"/>
                </a:solidFill>
                <a:latin typeface="Noto Sans SC"/>
                <a:ea typeface="Noto Sans SC"/>
                <a:cs typeface="Noto Sans SC"/>
                <a:sym typeface="Noto Sans SC"/>
              </a:rPr>
              <a:t>全面测试计划</a:t>
            </a:r>
            <a:endParaRPr lang="en-US" sz="1100"/>
          </a:p>
        </p:txBody>
      </p:sp>
      <p:sp>
        <p:nvSpPr>
          <p:cNvPr id="5" name="AutoShape 5"/>
          <p:cNvSpPr/>
          <p:nvPr/>
        </p:nvSpPr>
        <p:spPr>
          <a:xfrm>
            <a:off x="762000" y="1397000"/>
            <a:ext cx="5207000" cy="1270000"/>
          </a:xfrm>
          <a:prstGeom prst="roundRect">
            <a:avLst>
              <a:gd name="adj" fmla="val 10000"/>
            </a:avLst>
          </a:prstGeom>
          <a:solidFill>
            <a:srgbClr val="FFFFFF">
              <a:alpha val="8000"/>
            </a:srgbClr>
          </a:solidFill>
          <a:ln w="12700" cap="flat" cmpd="sng">
            <a:solidFill>
              <a:srgbClr val="00BFFF">
                <a:alpha val="30000"/>
              </a:srgbClr>
            </a:solidFill>
            <a:prstDash val="solid"/>
            <a:round/>
          </a:ln>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1778000"/>
            <a:ext cx="508000" cy="508000"/>
          </a:xfrm>
          <a:prstGeom prst="rect">
            <a:avLst/>
          </a:prstGeom>
        </p:spPr>
      </p:pic>
      <p:sp>
        <p:nvSpPr>
          <p:cNvPr id="7" name="AutoShape 7"/>
          <p:cNvSpPr/>
          <p:nvPr/>
        </p:nvSpPr>
        <p:spPr>
          <a:xfrm>
            <a:off x="1651000" y="1587500"/>
            <a:ext cx="406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Noto Sans SC"/>
                <a:ea typeface="Noto Sans SC"/>
                <a:cs typeface="Noto Sans SC"/>
                <a:sym typeface="Noto Sans SC"/>
              </a:rPr>
              <a:t>单元测试</a:t>
            </a:r>
            <a:endParaRPr lang="en-US" sz="1100"/>
          </a:p>
        </p:txBody>
      </p:sp>
      <p:sp>
        <p:nvSpPr>
          <p:cNvPr id="8" name="AutoShape 8"/>
          <p:cNvSpPr/>
          <p:nvPr/>
        </p:nvSpPr>
        <p:spPr>
          <a:xfrm>
            <a:off x="1651000" y="1968500"/>
            <a:ext cx="4064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0" i="0" u="none" strike="noStrike">
                <a:solidFill>
                  <a:srgbClr val="FFFFFF">
                    <a:alpha val="80000"/>
                  </a:srgbClr>
                </a:solidFill>
                <a:latin typeface="Noto Sans SC"/>
                <a:ea typeface="Noto Sans SC"/>
                <a:cs typeface="Noto Sans SC"/>
                <a:sym typeface="Noto Sans SC"/>
              </a:rPr>
              <a:t>对各个功能模块的独立功能进行测试，确保每个模块都能正常工作。</a:t>
            </a:r>
            <a:endParaRPr lang="en-US" sz="1100"/>
          </a:p>
        </p:txBody>
      </p:sp>
      <p:sp>
        <p:nvSpPr>
          <p:cNvPr id="9" name="AutoShape 9"/>
          <p:cNvSpPr/>
          <p:nvPr/>
        </p:nvSpPr>
        <p:spPr>
          <a:xfrm>
            <a:off x="6223000" y="1397000"/>
            <a:ext cx="5207000" cy="1270000"/>
          </a:xfrm>
          <a:prstGeom prst="roundRect">
            <a:avLst>
              <a:gd name="adj" fmla="val 10000"/>
            </a:avLst>
          </a:prstGeom>
          <a:solidFill>
            <a:srgbClr val="FFFFFF">
              <a:alpha val="8000"/>
            </a:srgbClr>
          </a:solidFill>
          <a:ln w="12700" cap="flat" cmpd="sng">
            <a:solidFill>
              <a:srgbClr val="FFB6C1">
                <a:alpha val="30000"/>
              </a:srgbClr>
            </a:solidFill>
            <a:prstDash val="solid"/>
            <a:round/>
          </a:ln>
        </p:spPr>
        <p:txBody>
          <a:bodyPr vert="horz" wrap="square" lIns="63500" tIns="63500" rIns="63500" bIns="63500" rtlCol="0" anchor="ctr"/>
          <a:lstStyle/>
          <a:p>
            <a:pPr algn="ctr">
              <a:defRPr/>
            </a:pPr>
            <a:endParaRPr/>
          </a:p>
        </p:txBody>
      </p:sp>
      <p:pic>
        <p:nvPicPr>
          <p:cNvPr id="10" name="Picture 10"/>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477000" y="1778000"/>
            <a:ext cx="508000" cy="508000"/>
          </a:xfrm>
          <a:prstGeom prst="rect">
            <a:avLst/>
          </a:prstGeom>
        </p:spPr>
      </p:pic>
      <p:sp>
        <p:nvSpPr>
          <p:cNvPr id="11" name="AutoShape 11"/>
          <p:cNvSpPr/>
          <p:nvPr/>
        </p:nvSpPr>
        <p:spPr>
          <a:xfrm>
            <a:off x="7112000" y="1587500"/>
            <a:ext cx="406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Noto Sans SC"/>
                <a:ea typeface="Noto Sans SC"/>
                <a:cs typeface="Noto Sans SC"/>
                <a:sym typeface="Noto Sans SC"/>
              </a:rPr>
              <a:t>集成测试</a:t>
            </a:r>
            <a:endParaRPr lang="en-US" sz="1100"/>
          </a:p>
        </p:txBody>
      </p:sp>
      <p:sp>
        <p:nvSpPr>
          <p:cNvPr id="12" name="AutoShape 12"/>
          <p:cNvSpPr/>
          <p:nvPr/>
        </p:nvSpPr>
        <p:spPr>
          <a:xfrm>
            <a:off x="7112000" y="1968500"/>
            <a:ext cx="4064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0" i="0" u="none" strike="noStrike">
                <a:solidFill>
                  <a:srgbClr val="FFFFFF">
                    <a:alpha val="80000"/>
                  </a:srgbClr>
                </a:solidFill>
                <a:latin typeface="Noto Sans SC"/>
                <a:ea typeface="Noto Sans SC"/>
                <a:cs typeface="Noto Sans SC"/>
                <a:sym typeface="Noto Sans SC"/>
              </a:rPr>
              <a:t>测试模块之间的交互是否正常，确保数据能够在模块之间正确传递。</a:t>
            </a:r>
            <a:endParaRPr lang="en-US" sz="1100"/>
          </a:p>
        </p:txBody>
      </p:sp>
      <p:sp>
        <p:nvSpPr>
          <p:cNvPr id="13" name="AutoShape 13"/>
          <p:cNvSpPr/>
          <p:nvPr/>
        </p:nvSpPr>
        <p:spPr>
          <a:xfrm>
            <a:off x="762000" y="2921000"/>
            <a:ext cx="5207000" cy="1270000"/>
          </a:xfrm>
          <a:prstGeom prst="roundRect">
            <a:avLst>
              <a:gd name="adj" fmla="val 10000"/>
            </a:avLst>
          </a:prstGeom>
          <a:solidFill>
            <a:srgbClr val="FFFFFF">
              <a:alpha val="8000"/>
            </a:srgbClr>
          </a:solidFill>
          <a:ln w="12700" cap="flat" cmpd="sng">
            <a:solidFill>
              <a:srgbClr val="E6E6FA">
                <a:alpha val="30000"/>
              </a:srgbClr>
            </a:solidFill>
            <a:prstDash val="solid"/>
            <a:round/>
          </a:ln>
        </p:spPr>
        <p:txBody>
          <a:bodyPr vert="horz" wrap="square" lIns="63500" tIns="63500" rIns="63500" bIns="63500" rtlCol="0" anchor="ctr"/>
          <a:lstStyle/>
          <a:p>
            <a:pPr algn="ctr">
              <a:defRPr/>
            </a:pPr>
            <a:endParaRPr/>
          </a:p>
        </p:txBody>
      </p:sp>
      <p:pic>
        <p:nvPicPr>
          <p:cNvPr id="14" name="Picture 14"/>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016000" y="3302000"/>
            <a:ext cx="508000" cy="508000"/>
          </a:xfrm>
          <a:prstGeom prst="rect">
            <a:avLst/>
          </a:prstGeom>
        </p:spPr>
      </p:pic>
      <p:sp>
        <p:nvSpPr>
          <p:cNvPr id="15" name="AutoShape 15"/>
          <p:cNvSpPr/>
          <p:nvPr/>
        </p:nvSpPr>
        <p:spPr>
          <a:xfrm>
            <a:off x="1651000" y="3111500"/>
            <a:ext cx="406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Noto Sans SC"/>
                <a:ea typeface="Noto Sans SC"/>
                <a:cs typeface="Noto Sans SC"/>
                <a:sym typeface="Noto Sans SC"/>
              </a:rPr>
              <a:t>系统测试</a:t>
            </a:r>
            <a:endParaRPr lang="en-US" sz="1100"/>
          </a:p>
        </p:txBody>
      </p:sp>
      <p:sp>
        <p:nvSpPr>
          <p:cNvPr id="16" name="AutoShape 16"/>
          <p:cNvSpPr/>
          <p:nvPr/>
        </p:nvSpPr>
        <p:spPr>
          <a:xfrm>
            <a:off x="1651000" y="3492500"/>
            <a:ext cx="4064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0" i="0" u="none" strike="noStrike">
                <a:solidFill>
                  <a:srgbClr val="FFFFFF">
                    <a:alpha val="80000"/>
                  </a:srgbClr>
                </a:solidFill>
                <a:latin typeface="Noto Sans SC"/>
                <a:ea typeface="Noto Sans SC"/>
                <a:cs typeface="Noto Sans SC"/>
                <a:sym typeface="Noto Sans SC"/>
              </a:rPr>
              <a:t>对整个系统的功能、性能、兼容性、安全性等进行全面测试，确保满足需求。</a:t>
            </a:r>
            <a:endParaRPr lang="en-US" sz="1100"/>
          </a:p>
        </p:txBody>
      </p:sp>
      <p:sp>
        <p:nvSpPr>
          <p:cNvPr id="17" name="AutoShape 17"/>
          <p:cNvSpPr/>
          <p:nvPr/>
        </p:nvSpPr>
        <p:spPr>
          <a:xfrm>
            <a:off x="6223000" y="2921000"/>
            <a:ext cx="5207000" cy="1270000"/>
          </a:xfrm>
          <a:prstGeom prst="roundRect">
            <a:avLst>
              <a:gd name="adj" fmla="val 10000"/>
            </a:avLst>
          </a:prstGeom>
          <a:solidFill>
            <a:srgbClr val="FFFFFF">
              <a:alpha val="8000"/>
            </a:srgbClr>
          </a:solidFill>
          <a:ln w="12700" cap="flat" cmpd="sng">
            <a:solidFill>
              <a:srgbClr val="00BFFF">
                <a:alpha val="30000"/>
              </a:srgbClr>
            </a:solidFill>
            <a:prstDash val="solid"/>
            <a:round/>
          </a:ln>
        </p:spPr>
        <p:txBody>
          <a:bodyPr vert="horz" wrap="square" lIns="63500" tIns="63500" rIns="63500" bIns="63500" rtlCol="0" anchor="ctr"/>
          <a:lstStyle/>
          <a:p>
            <a:pPr algn="ctr">
              <a:defRPr/>
            </a:pPr>
            <a:endParaRPr/>
          </a:p>
        </p:txBody>
      </p:sp>
      <p:pic>
        <p:nvPicPr>
          <p:cNvPr id="18" name="Picture 18"/>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6477000" y="3302000"/>
            <a:ext cx="508000" cy="508000"/>
          </a:xfrm>
          <a:prstGeom prst="rect">
            <a:avLst/>
          </a:prstGeom>
        </p:spPr>
      </p:pic>
      <p:sp>
        <p:nvSpPr>
          <p:cNvPr id="19" name="AutoShape 19"/>
          <p:cNvSpPr/>
          <p:nvPr/>
        </p:nvSpPr>
        <p:spPr>
          <a:xfrm>
            <a:off x="7112000" y="3111500"/>
            <a:ext cx="406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Noto Sans SC"/>
                <a:ea typeface="Noto Sans SC"/>
                <a:cs typeface="Noto Sans SC"/>
                <a:sym typeface="Noto Sans SC"/>
              </a:rPr>
              <a:t>用户验收测试 (UAT)</a:t>
            </a:r>
            <a:endParaRPr lang="en-US" sz="1100"/>
          </a:p>
        </p:txBody>
      </p:sp>
      <p:sp>
        <p:nvSpPr>
          <p:cNvPr id="20" name="AutoShape 20"/>
          <p:cNvSpPr/>
          <p:nvPr/>
        </p:nvSpPr>
        <p:spPr>
          <a:xfrm>
            <a:off x="7112000" y="3492500"/>
            <a:ext cx="4064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0" i="0" u="none" strike="noStrike">
                <a:solidFill>
                  <a:srgbClr val="FFFFFF">
                    <a:alpha val="80000"/>
                  </a:srgbClr>
                </a:solidFill>
                <a:latin typeface="Noto Sans SC"/>
                <a:ea typeface="Noto Sans SC"/>
                <a:cs typeface="Noto Sans SC"/>
                <a:sym typeface="Noto Sans SC"/>
              </a:rPr>
              <a:t>邀请真实用户进行测试，收集反馈，验证产品是否满足用户的实际需求。</a:t>
            </a:r>
            <a:endParaRPr lang="en-US" sz="1100"/>
          </a:p>
        </p:txBody>
      </p:sp>
      <p:sp>
        <p:nvSpPr>
          <p:cNvPr id="21" name="AutoShape 21"/>
          <p:cNvSpPr/>
          <p:nvPr/>
        </p:nvSpPr>
        <p:spPr>
          <a:xfrm>
            <a:off x="762000" y="4572000"/>
            <a:ext cx="10668000" cy="762000"/>
          </a:xfrm>
          <a:prstGeom prst="roundRect">
            <a:avLst>
              <a:gd name="adj" fmla="val 16666"/>
            </a:avLst>
          </a:prstGeom>
          <a:solidFill>
            <a:srgbClr val="00BFFF">
              <a:alpha val="15000"/>
            </a:srgbClr>
          </a:solidFill>
          <a:ln w="12700" cap="flat" cmpd="sng">
            <a:solidFill>
              <a:srgbClr val="00BFFF">
                <a:alpha val="100000"/>
              </a:srgbClr>
            </a:solidFill>
            <a:prstDash val="solid"/>
            <a:round/>
          </a:ln>
        </p:spPr>
        <p:txBody>
          <a:bodyPr vert="horz" wrap="square" lIns="63500" tIns="63500" rIns="63500" bIns="63500" rtlCol="0" anchor="ctr"/>
          <a:lstStyle/>
          <a:p>
            <a:pPr algn="ctr">
              <a:defRPr/>
            </a:pPr>
            <a:endParaRPr/>
          </a:p>
        </p:txBody>
      </p:sp>
      <p:pic>
        <p:nvPicPr>
          <p:cNvPr id="22" name="Picture 22"/>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1016000" y="4800600"/>
            <a:ext cx="304800" cy="304800"/>
          </a:xfrm>
          <a:prstGeom prst="rect">
            <a:avLst/>
          </a:prstGeom>
        </p:spPr>
      </p:pic>
      <p:sp>
        <p:nvSpPr>
          <p:cNvPr id="23" name="AutoShape 23"/>
          <p:cNvSpPr/>
          <p:nvPr/>
        </p:nvSpPr>
        <p:spPr>
          <a:xfrm>
            <a:off x="1460500" y="4762500"/>
            <a:ext cx="9652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Noto Sans SC"/>
                <a:ea typeface="Noto Sans SC"/>
                <a:cs typeface="Noto Sans SC"/>
                <a:sym typeface="Noto Sans SC"/>
              </a:rPr>
              <a:t>行动指令：请大家制定自己项目的测试计划，并执行测试工作。</a:t>
            </a:r>
            <a:endParaRPr lang="en-US" sz="110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0A192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0A192F">
              <a:alpha val="85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762000" y="508000"/>
            <a:ext cx="106680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00BFFF"/>
                </a:solidFill>
                <a:latin typeface="Noto Sans SC"/>
                <a:ea typeface="Noto Sans SC"/>
                <a:cs typeface="Noto Sans SC"/>
                <a:sym typeface="Noto Sans SC"/>
              </a:rPr>
              <a:t>App打包与发布准备</a:t>
            </a:r>
            <a:endParaRPr lang="en-US" sz="1100"/>
          </a:p>
        </p:txBody>
      </p:sp>
      <p:sp>
        <p:nvSpPr>
          <p:cNvPr id="5" name="AutoShape 5"/>
          <p:cNvSpPr/>
          <p:nvPr/>
        </p:nvSpPr>
        <p:spPr>
          <a:xfrm>
            <a:off x="762000" y="1397000"/>
            <a:ext cx="3302000" cy="2540000"/>
          </a:xfrm>
          <a:prstGeom prst="roundRect">
            <a:avLst>
              <a:gd name="adj" fmla="val 5000"/>
            </a:avLst>
          </a:prstGeom>
          <a:solidFill>
            <a:srgbClr val="FFFFFF">
              <a:alpha val="8000"/>
            </a:srgbClr>
          </a:solidFill>
          <a:ln w="12700" cap="flat" cmpd="sng">
            <a:solidFill>
              <a:srgbClr val="00BFFF">
                <a:alpha val="30000"/>
              </a:srgbClr>
            </a:solidFill>
            <a:prstDash val="solid"/>
            <a:round/>
          </a:ln>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1651000"/>
            <a:ext cx="406400" cy="406400"/>
          </a:xfrm>
          <a:prstGeom prst="rect">
            <a:avLst/>
          </a:prstGeom>
        </p:spPr>
      </p:pic>
      <p:sp>
        <p:nvSpPr>
          <p:cNvPr id="7" name="AutoShape 7"/>
          <p:cNvSpPr/>
          <p:nvPr/>
        </p:nvSpPr>
        <p:spPr>
          <a:xfrm>
            <a:off x="1524000" y="1625600"/>
            <a:ext cx="2413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Noto Sans SC"/>
                <a:ea typeface="Noto Sans SC"/>
                <a:cs typeface="Noto Sans SC"/>
                <a:sym typeface="Noto Sans SC"/>
              </a:rPr>
              <a:t>生成签名APK</a:t>
            </a:r>
            <a:endParaRPr lang="en-US" sz="1100"/>
          </a:p>
        </p:txBody>
      </p:sp>
      <p:sp>
        <p:nvSpPr>
          <p:cNvPr id="8" name="AutoShape 8"/>
          <p:cNvSpPr/>
          <p:nvPr/>
        </p:nvSpPr>
        <p:spPr>
          <a:xfrm>
            <a:off x="1016000" y="2159000"/>
            <a:ext cx="2794000" cy="1397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300" b="0" i="0" u="none" strike="noStrike">
                <a:solidFill>
                  <a:srgbClr val="E6E6FA"/>
                </a:solidFill>
                <a:latin typeface="Noto Sans SC"/>
                <a:ea typeface="Noto Sans SC"/>
                <a:cs typeface="Noto Sans SC"/>
                <a:sym typeface="Noto Sans SC"/>
              </a:rPr>
              <a:t>在Android Studio中，通过“Build -&gt; Generate Signed Bundle / APK”菜单生成签名文件，用于应用商店上架。</a:t>
            </a:r>
            <a:endParaRPr lang="en-US" sz="1100"/>
          </a:p>
        </p:txBody>
      </p:sp>
      <p:sp>
        <p:nvSpPr>
          <p:cNvPr id="9" name="AutoShape 9"/>
          <p:cNvSpPr/>
          <p:nvPr/>
        </p:nvSpPr>
        <p:spPr>
          <a:xfrm>
            <a:off x="4445000" y="1397000"/>
            <a:ext cx="3302000" cy="2540000"/>
          </a:xfrm>
          <a:prstGeom prst="roundRect">
            <a:avLst>
              <a:gd name="adj" fmla="val 5000"/>
            </a:avLst>
          </a:prstGeom>
          <a:solidFill>
            <a:srgbClr val="FFFFFF">
              <a:alpha val="8000"/>
            </a:srgbClr>
          </a:solidFill>
          <a:ln w="12700" cap="flat" cmpd="sng">
            <a:solidFill>
              <a:srgbClr val="00BFFF">
                <a:alpha val="30000"/>
              </a:srgbClr>
            </a:solidFill>
            <a:prstDash val="solid"/>
            <a:round/>
          </a:ln>
        </p:spPr>
        <p:txBody>
          <a:bodyPr vert="horz" wrap="square" lIns="63500" tIns="63500" rIns="63500" bIns="63500" rtlCol="0" anchor="ctr"/>
          <a:lstStyle/>
          <a:p>
            <a:pPr algn="ctr">
              <a:defRPr/>
            </a:pPr>
            <a:endParaRPr/>
          </a:p>
        </p:txBody>
      </p:sp>
      <p:pic>
        <p:nvPicPr>
          <p:cNvPr id="10" name="Picture 10"/>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699000" y="1651000"/>
            <a:ext cx="406400" cy="406400"/>
          </a:xfrm>
          <a:prstGeom prst="rect">
            <a:avLst/>
          </a:prstGeom>
        </p:spPr>
      </p:pic>
      <p:sp>
        <p:nvSpPr>
          <p:cNvPr id="11" name="AutoShape 11"/>
          <p:cNvSpPr/>
          <p:nvPr/>
        </p:nvSpPr>
        <p:spPr>
          <a:xfrm>
            <a:off x="5207000" y="1625600"/>
            <a:ext cx="2413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Noto Sans SC"/>
                <a:ea typeface="Noto Sans SC"/>
                <a:cs typeface="Noto Sans SC"/>
                <a:sym typeface="Noto Sans SC"/>
              </a:rPr>
              <a:t>商店资料准备</a:t>
            </a:r>
            <a:endParaRPr lang="en-US" sz="1100"/>
          </a:p>
        </p:txBody>
      </p:sp>
      <p:sp>
        <p:nvSpPr>
          <p:cNvPr id="12" name="AutoShape 12"/>
          <p:cNvSpPr/>
          <p:nvPr/>
        </p:nvSpPr>
        <p:spPr>
          <a:xfrm>
            <a:off x="4699000" y="2159000"/>
            <a:ext cx="2794000" cy="1397000"/>
          </a:xfrm>
          <a:prstGeom prst="rect">
            <a:avLst/>
          </a:prstGeom>
          <a:noFill/>
          <a:ln w="12700" cap="flat" cmpd="sng">
            <a:noFill/>
            <a:prstDash val="solid"/>
            <a:round/>
          </a:ln>
        </p:spPr>
        <p:txBody>
          <a:bodyPr vert="horz" wrap="square" lIns="0" tIns="0" rIns="0" bIns="0" rtlCol="0" anchor="ctr" anchorCtr="0"/>
          <a:lstStyle/>
          <a:p>
            <a:pPr marL="165100" indent="-165100" algn="l">
              <a:lnSpc>
                <a:spcPct val="108333"/>
              </a:lnSpc>
              <a:buClr>
                <a:srgbClr val="E6E6FA"/>
              </a:buClr>
              <a:buChar char="•"/>
              <a:defRPr/>
            </a:pPr>
            <a:r>
              <a:rPr lang="en-US" sz="1300" b="1" i="0" u="none" strike="noStrike">
                <a:solidFill>
                  <a:srgbClr val="E6E6FA"/>
                </a:solidFill>
                <a:latin typeface="Noto Sans SC"/>
                <a:ea typeface="Noto Sans SC"/>
                <a:cs typeface="Noto Sans SC"/>
                <a:sym typeface="Noto Sans SC"/>
              </a:rPr>
              <a:t>名称：</a:t>
            </a:r>
            <a:r>
              <a:rPr lang="en-US" sz="1300" b="0" i="0" u="none" strike="noStrike">
                <a:solidFill>
                  <a:srgbClr val="E6E6FA"/>
                </a:solidFill>
                <a:latin typeface="Noto Sans SC"/>
                <a:ea typeface="Noto Sans SC"/>
                <a:cs typeface="Noto Sans SC"/>
                <a:sym typeface="Noto Sans SC"/>
              </a:rPr>
              <a:t>简洁易懂，符合定位</a:t>
            </a:r>
            <a:endParaRPr lang="en-US" sz="1100"/>
          </a:p>
          <a:p>
            <a:pPr marL="165100" indent="-165100" algn="l">
              <a:lnSpc>
                <a:spcPct val="108333"/>
              </a:lnSpc>
              <a:buClr>
                <a:srgbClr val="E6E6FA"/>
              </a:buClr>
              <a:buChar char="•"/>
            </a:pPr>
            <a:r>
              <a:rPr lang="en-US" sz="1300" b="1" i="0" u="none" strike="noStrike">
                <a:solidFill>
                  <a:srgbClr val="E6E6FA"/>
                </a:solidFill>
                <a:latin typeface="Noto Sans SC"/>
                <a:ea typeface="Noto Sans SC"/>
                <a:cs typeface="Noto Sans SC"/>
                <a:sym typeface="Noto Sans SC"/>
              </a:rPr>
              <a:t>描述：</a:t>
            </a:r>
            <a:r>
              <a:rPr lang="en-US" sz="1300" b="0" i="0" u="none" strike="noStrike">
                <a:solidFill>
                  <a:srgbClr val="E6E6FA"/>
                </a:solidFill>
                <a:latin typeface="Noto Sans SC"/>
                <a:ea typeface="Noto Sans SC"/>
                <a:cs typeface="Noto Sans SC"/>
                <a:sym typeface="Noto Sans SC"/>
              </a:rPr>
              <a:t>详述功能、特点与用法</a:t>
            </a:r>
          </a:p>
          <a:p>
            <a:pPr marL="165100" indent="-165100" algn="l">
              <a:lnSpc>
                <a:spcPct val="108333"/>
              </a:lnSpc>
              <a:buClr>
                <a:srgbClr val="E6E6FA"/>
              </a:buClr>
              <a:buChar char="•"/>
            </a:pPr>
            <a:r>
              <a:rPr lang="en-US" sz="1300" b="1" i="0" u="none" strike="noStrike">
                <a:solidFill>
                  <a:srgbClr val="E6E6FA"/>
                </a:solidFill>
                <a:latin typeface="Noto Sans SC"/>
                <a:ea typeface="Noto Sans SC"/>
                <a:cs typeface="Noto Sans SC"/>
                <a:sym typeface="Noto Sans SC"/>
              </a:rPr>
              <a:t>素材：</a:t>
            </a:r>
            <a:r>
              <a:rPr lang="en-US" sz="1300" b="0" i="0" u="none" strike="noStrike">
                <a:solidFill>
                  <a:srgbClr val="E6E6FA"/>
                </a:solidFill>
                <a:latin typeface="Noto Sans SC"/>
                <a:ea typeface="Noto Sans SC"/>
                <a:cs typeface="Noto Sans SC"/>
                <a:sym typeface="Noto Sans SC"/>
              </a:rPr>
              <a:t>精美截图与独特图标</a:t>
            </a:r>
          </a:p>
        </p:txBody>
      </p:sp>
      <p:sp>
        <p:nvSpPr>
          <p:cNvPr id="13" name="AutoShape 13"/>
          <p:cNvSpPr/>
          <p:nvPr/>
        </p:nvSpPr>
        <p:spPr>
          <a:xfrm>
            <a:off x="8128000" y="1397000"/>
            <a:ext cx="3302000" cy="2540000"/>
          </a:xfrm>
          <a:prstGeom prst="roundRect">
            <a:avLst>
              <a:gd name="adj" fmla="val 5000"/>
            </a:avLst>
          </a:prstGeom>
          <a:solidFill>
            <a:srgbClr val="FFFFFF">
              <a:alpha val="8000"/>
            </a:srgbClr>
          </a:solidFill>
          <a:ln w="12700" cap="flat" cmpd="sng">
            <a:solidFill>
              <a:srgbClr val="00BFFF">
                <a:alpha val="30000"/>
              </a:srgbClr>
            </a:solidFill>
            <a:prstDash val="solid"/>
            <a:round/>
          </a:ln>
        </p:spPr>
        <p:txBody>
          <a:bodyPr vert="horz" wrap="square" lIns="63500" tIns="63500" rIns="63500" bIns="63500" rtlCol="0" anchor="ctr"/>
          <a:lstStyle/>
          <a:p>
            <a:pPr algn="ctr">
              <a:defRPr/>
            </a:pPr>
            <a:endParaRPr/>
          </a:p>
        </p:txBody>
      </p:sp>
      <p:pic>
        <p:nvPicPr>
          <p:cNvPr id="14" name="Picture 14"/>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8382000" y="1651000"/>
            <a:ext cx="406400" cy="406400"/>
          </a:xfrm>
          <a:prstGeom prst="rect">
            <a:avLst/>
          </a:prstGeom>
        </p:spPr>
      </p:pic>
      <p:sp>
        <p:nvSpPr>
          <p:cNvPr id="15" name="AutoShape 15"/>
          <p:cNvSpPr/>
          <p:nvPr/>
        </p:nvSpPr>
        <p:spPr>
          <a:xfrm>
            <a:off x="8890000" y="1625600"/>
            <a:ext cx="2413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Noto Sans SC"/>
                <a:ea typeface="Noto Sans SC"/>
                <a:cs typeface="Noto Sans SC"/>
                <a:sym typeface="Noto Sans SC"/>
              </a:rPr>
              <a:t>发布渠道选择</a:t>
            </a:r>
            <a:endParaRPr lang="en-US" sz="1100"/>
          </a:p>
        </p:txBody>
      </p:sp>
      <p:sp>
        <p:nvSpPr>
          <p:cNvPr id="16" name="AutoShape 16"/>
          <p:cNvSpPr/>
          <p:nvPr/>
        </p:nvSpPr>
        <p:spPr>
          <a:xfrm>
            <a:off x="8382000" y="2159000"/>
            <a:ext cx="2794000" cy="1397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300" b="0" i="0" u="none" strike="noStrike">
                <a:solidFill>
                  <a:srgbClr val="E6E6FA"/>
                </a:solidFill>
                <a:latin typeface="Noto Sans SC"/>
                <a:ea typeface="Noto Sans SC"/>
                <a:cs typeface="Noto Sans SC"/>
                <a:sym typeface="Noto Sans SC"/>
              </a:rPr>
              <a:t>根据目标用户群体选择合适平台：</a:t>
            </a:r>
            <a:endParaRPr lang="en-US" sz="1100"/>
          </a:p>
          <a:p>
            <a:pPr marL="165100" indent="-165100" algn="l">
              <a:lnSpc>
                <a:spcPct val="108333"/>
              </a:lnSpc>
              <a:buClr>
                <a:srgbClr val="E6E6FA"/>
              </a:buClr>
              <a:buChar char="•"/>
            </a:pPr>
            <a:r>
              <a:rPr lang="en-US" sz="1300" b="0" i="0" u="none" strike="noStrike">
                <a:solidFill>
                  <a:srgbClr val="E6E6FA"/>
                </a:solidFill>
                <a:latin typeface="Noto Sans SC"/>
                <a:ea typeface="Noto Sans SC"/>
                <a:cs typeface="Noto Sans SC"/>
                <a:sym typeface="Noto Sans SC"/>
              </a:rPr>
              <a:t>Google Play (全球)</a:t>
            </a:r>
          </a:p>
          <a:p>
            <a:pPr marL="165100" indent="-165100" algn="l">
              <a:lnSpc>
                <a:spcPct val="108333"/>
              </a:lnSpc>
              <a:buClr>
                <a:srgbClr val="E6E6FA"/>
              </a:buClr>
              <a:buChar char="•"/>
            </a:pPr>
            <a:r>
              <a:rPr lang="en-US" sz="1300" b="0" i="0" u="none" strike="noStrike">
                <a:solidFill>
                  <a:srgbClr val="E6E6FA"/>
                </a:solidFill>
                <a:latin typeface="Noto Sans SC"/>
                <a:ea typeface="Noto Sans SC"/>
                <a:cs typeface="Noto Sans SC"/>
                <a:sym typeface="Noto Sans SC"/>
              </a:rPr>
              <a:t>华为/小米应用市场 (国内)</a:t>
            </a:r>
          </a:p>
        </p:txBody>
      </p:sp>
      <p:sp>
        <p:nvSpPr>
          <p:cNvPr id="17" name="AutoShape 17"/>
          <p:cNvSpPr/>
          <p:nvPr/>
        </p:nvSpPr>
        <p:spPr>
          <a:xfrm>
            <a:off x="762000" y="4318000"/>
            <a:ext cx="10668000" cy="1016000"/>
          </a:xfrm>
          <a:prstGeom prst="roundRect">
            <a:avLst>
              <a:gd name="adj" fmla="val 12500"/>
            </a:avLst>
          </a:prstGeom>
          <a:solidFill>
            <a:srgbClr val="FFB6C1">
              <a:alpha val="15000"/>
            </a:srgbClr>
          </a:solidFill>
          <a:ln w="12700" cap="flat" cmpd="sng">
            <a:solidFill>
              <a:srgbClr val="FFB6C1">
                <a:alpha val="100000"/>
              </a:srgbClr>
            </a:solidFill>
            <a:prstDash val="solid"/>
            <a:round/>
          </a:ln>
        </p:spPr>
        <p:txBody>
          <a:bodyPr vert="horz" wrap="square" lIns="63500" tIns="63500" rIns="63500" bIns="63500" rtlCol="0" anchor="ctr"/>
          <a:lstStyle/>
          <a:p>
            <a:pPr algn="ctr">
              <a:defRPr/>
            </a:pPr>
            <a:endParaRPr/>
          </a:p>
        </p:txBody>
      </p:sp>
      <p:pic>
        <p:nvPicPr>
          <p:cNvPr id="18" name="Picture 18"/>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016000" y="4597400"/>
            <a:ext cx="457200" cy="457200"/>
          </a:xfrm>
          <a:prstGeom prst="rect">
            <a:avLst/>
          </a:prstGeom>
        </p:spPr>
      </p:pic>
      <p:sp>
        <p:nvSpPr>
          <p:cNvPr id="19" name="AutoShape 19"/>
          <p:cNvSpPr/>
          <p:nvPr/>
        </p:nvSpPr>
        <p:spPr>
          <a:xfrm>
            <a:off x="1651000" y="4445000"/>
            <a:ext cx="8890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B6C1"/>
                </a:solidFill>
                <a:latin typeface="Noto Sans SC"/>
                <a:ea typeface="Noto Sans SC"/>
                <a:cs typeface="Noto Sans SC"/>
                <a:sym typeface="Noto Sans SC"/>
              </a:rPr>
              <a:t>学生行动指令：</a:t>
            </a:r>
            <a:r>
              <a:rPr lang="en-US" sz="1600" b="0" i="0" u="none" strike="noStrike">
                <a:solidFill>
                  <a:srgbClr val="FFFFFF"/>
                </a:solidFill>
                <a:latin typeface="Noto Sans SC"/>
                <a:ea typeface="Noto Sans SC"/>
                <a:cs typeface="Noto Sans SC"/>
                <a:sym typeface="Noto Sans SC"/>
              </a:rPr>
              <a:t>请大家生成自己项目的签名APK，并准备好应用商店的发布资料（名称、描述、截图、图标）。</a:t>
            </a:r>
            <a:endParaRPr lang="en-US" sz="110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0A192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0A192F">
              <a:alpha val="85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762000" y="508000"/>
            <a:ext cx="35560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00BFFF"/>
                </a:solidFill>
                <a:latin typeface="Noto Sans SC"/>
                <a:ea typeface="Noto Sans SC"/>
                <a:cs typeface="Noto Sans SC"/>
                <a:sym typeface="Noto Sans SC"/>
              </a:rPr>
              <a:t>项目部署与上线</a:t>
            </a:r>
            <a:endParaRPr lang="en-US" sz="1100"/>
          </a:p>
        </p:txBody>
      </p:sp>
      <p:sp>
        <p:nvSpPr>
          <p:cNvPr id="5" name="AutoShape 5"/>
          <p:cNvSpPr/>
          <p:nvPr/>
        </p:nvSpPr>
        <p:spPr>
          <a:xfrm>
            <a:off x="762000" y="1397000"/>
            <a:ext cx="3302000" cy="2540000"/>
          </a:xfrm>
          <a:prstGeom prst="roundRect">
            <a:avLst>
              <a:gd name="adj" fmla="val 5000"/>
            </a:avLst>
          </a:prstGeom>
          <a:solidFill>
            <a:srgbClr val="00BFFF">
              <a:alpha val="10000"/>
            </a:srgbClr>
          </a:solidFill>
          <a:ln w="12700" cap="flat" cmpd="sng">
            <a:solidFill>
              <a:srgbClr val="00BFFF">
                <a:alpha val="50000"/>
              </a:srgbClr>
            </a:solidFill>
            <a:prstDash val="solid"/>
            <a:round/>
          </a:ln>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1651000"/>
            <a:ext cx="406400" cy="406400"/>
          </a:xfrm>
          <a:prstGeom prst="rect">
            <a:avLst/>
          </a:prstGeom>
        </p:spPr>
      </p:pic>
      <p:sp>
        <p:nvSpPr>
          <p:cNvPr id="7" name="AutoShape 7"/>
          <p:cNvSpPr/>
          <p:nvPr/>
        </p:nvSpPr>
        <p:spPr>
          <a:xfrm>
            <a:off x="1524000" y="1651000"/>
            <a:ext cx="254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FFFFFF"/>
                </a:solidFill>
                <a:latin typeface="Noto Sans SC"/>
                <a:ea typeface="Noto Sans SC"/>
                <a:cs typeface="Noto Sans SC"/>
                <a:sym typeface="Noto Sans SC"/>
              </a:rPr>
              <a:t>后端服务部署</a:t>
            </a:r>
            <a:endParaRPr lang="en-US" sz="1100"/>
          </a:p>
        </p:txBody>
      </p:sp>
      <p:sp>
        <p:nvSpPr>
          <p:cNvPr id="8" name="AutoShape 8"/>
          <p:cNvSpPr/>
          <p:nvPr/>
        </p:nvSpPr>
        <p:spPr>
          <a:xfrm>
            <a:off x="1016000" y="2159000"/>
            <a:ext cx="2794000" cy="1270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400" b="0" i="0" u="none" strike="noStrike">
                <a:solidFill>
                  <a:srgbClr val="FFFFFF">
                    <a:alpha val="90196"/>
                  </a:srgbClr>
                </a:solidFill>
                <a:latin typeface="Noto Sans SC"/>
                <a:ea typeface="Noto Sans SC"/>
                <a:cs typeface="Noto Sans SC"/>
                <a:sym typeface="Noto Sans SC"/>
              </a:rPr>
              <a:t>将API服务部署到云平台，配置负载均衡与域名解析，确保服务稳定运行并实现公网访问。</a:t>
            </a:r>
            <a:endParaRPr lang="en-US" sz="1100"/>
          </a:p>
        </p:txBody>
      </p:sp>
      <p:sp>
        <p:nvSpPr>
          <p:cNvPr id="9" name="AutoShape 9"/>
          <p:cNvSpPr/>
          <p:nvPr/>
        </p:nvSpPr>
        <p:spPr>
          <a:xfrm>
            <a:off x="4445000" y="1397000"/>
            <a:ext cx="3302000" cy="2540000"/>
          </a:xfrm>
          <a:prstGeom prst="roundRect">
            <a:avLst>
              <a:gd name="adj" fmla="val 5000"/>
            </a:avLst>
          </a:prstGeom>
          <a:solidFill>
            <a:srgbClr val="FFB6C1">
              <a:alpha val="10000"/>
            </a:srgbClr>
          </a:solidFill>
          <a:ln w="12700" cap="flat" cmpd="sng">
            <a:solidFill>
              <a:srgbClr val="FFB6C1">
                <a:alpha val="50000"/>
              </a:srgbClr>
            </a:solidFill>
            <a:prstDash val="solid"/>
            <a:round/>
          </a:ln>
        </p:spPr>
        <p:txBody>
          <a:bodyPr vert="horz" wrap="square" lIns="63500" tIns="63500" rIns="63500" bIns="63500" rtlCol="0" anchor="ctr"/>
          <a:lstStyle/>
          <a:p>
            <a:pPr algn="ctr">
              <a:defRPr/>
            </a:pPr>
            <a:endParaRPr/>
          </a:p>
        </p:txBody>
      </p:sp>
      <p:pic>
        <p:nvPicPr>
          <p:cNvPr id="10" name="Picture 10"/>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699000" y="1651000"/>
            <a:ext cx="406400" cy="406400"/>
          </a:xfrm>
          <a:prstGeom prst="rect">
            <a:avLst/>
          </a:prstGeom>
        </p:spPr>
      </p:pic>
      <p:sp>
        <p:nvSpPr>
          <p:cNvPr id="11" name="AutoShape 11"/>
          <p:cNvSpPr/>
          <p:nvPr/>
        </p:nvSpPr>
        <p:spPr>
          <a:xfrm>
            <a:off x="5207000" y="1651000"/>
            <a:ext cx="254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FFFFFF"/>
                </a:solidFill>
                <a:latin typeface="Noto Sans SC"/>
                <a:ea typeface="Noto Sans SC"/>
                <a:cs typeface="Noto Sans SC"/>
                <a:sym typeface="Noto Sans SC"/>
              </a:rPr>
              <a:t>App发布上架</a:t>
            </a:r>
            <a:endParaRPr lang="en-US" sz="1100"/>
          </a:p>
        </p:txBody>
      </p:sp>
      <p:sp>
        <p:nvSpPr>
          <p:cNvPr id="12" name="AutoShape 12"/>
          <p:cNvSpPr/>
          <p:nvPr/>
        </p:nvSpPr>
        <p:spPr>
          <a:xfrm>
            <a:off x="4699000" y="2159000"/>
            <a:ext cx="2794000" cy="1270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400" b="0" i="0" u="none" strike="noStrike">
                <a:solidFill>
                  <a:srgbClr val="FFFFFF">
                    <a:alpha val="90196"/>
                  </a:srgbClr>
                </a:solidFill>
                <a:latin typeface="Noto Sans SC"/>
                <a:ea typeface="Noto Sans SC"/>
                <a:cs typeface="Noto Sans SC"/>
                <a:sym typeface="Noto Sans SC"/>
              </a:rPr>
              <a:t>完成签名APK打包，提交至应用商店审核。审核通过后正式上架，面向用户开放下载。</a:t>
            </a:r>
            <a:endParaRPr lang="en-US" sz="1100"/>
          </a:p>
        </p:txBody>
      </p:sp>
      <p:sp>
        <p:nvSpPr>
          <p:cNvPr id="13" name="AutoShape 13"/>
          <p:cNvSpPr/>
          <p:nvPr/>
        </p:nvSpPr>
        <p:spPr>
          <a:xfrm>
            <a:off x="8128000" y="1397000"/>
            <a:ext cx="3302000" cy="2540000"/>
          </a:xfrm>
          <a:prstGeom prst="roundRect">
            <a:avLst>
              <a:gd name="adj" fmla="val 5000"/>
            </a:avLst>
          </a:prstGeom>
          <a:solidFill>
            <a:srgbClr val="E6E6FA">
              <a:alpha val="10000"/>
            </a:srgbClr>
          </a:solidFill>
          <a:ln w="12700" cap="flat" cmpd="sng">
            <a:solidFill>
              <a:srgbClr val="E6E6FA">
                <a:alpha val="50000"/>
              </a:srgbClr>
            </a:solidFill>
            <a:prstDash val="solid"/>
            <a:round/>
          </a:ln>
        </p:spPr>
        <p:txBody>
          <a:bodyPr vert="horz" wrap="square" lIns="63500" tIns="63500" rIns="63500" bIns="63500" rtlCol="0" anchor="ctr"/>
          <a:lstStyle/>
          <a:p>
            <a:pPr algn="ctr">
              <a:defRPr/>
            </a:pPr>
            <a:endParaRPr/>
          </a:p>
        </p:txBody>
      </p:sp>
      <p:pic>
        <p:nvPicPr>
          <p:cNvPr id="14" name="Picture 14"/>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8382000" y="1651000"/>
            <a:ext cx="406400" cy="406400"/>
          </a:xfrm>
          <a:prstGeom prst="rect">
            <a:avLst/>
          </a:prstGeom>
        </p:spPr>
      </p:pic>
      <p:sp>
        <p:nvSpPr>
          <p:cNvPr id="15" name="AutoShape 15"/>
          <p:cNvSpPr/>
          <p:nvPr/>
        </p:nvSpPr>
        <p:spPr>
          <a:xfrm>
            <a:off x="8890000" y="1651000"/>
            <a:ext cx="254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FFFFFF"/>
                </a:solidFill>
                <a:latin typeface="Noto Sans SC"/>
                <a:ea typeface="Noto Sans SC"/>
                <a:cs typeface="Noto Sans SC"/>
                <a:sym typeface="Noto Sans SC"/>
              </a:rPr>
              <a:t>监控与运维</a:t>
            </a:r>
            <a:endParaRPr lang="en-US" sz="1100"/>
          </a:p>
        </p:txBody>
      </p:sp>
      <p:sp>
        <p:nvSpPr>
          <p:cNvPr id="16" name="AutoShape 16"/>
          <p:cNvSpPr/>
          <p:nvPr/>
        </p:nvSpPr>
        <p:spPr>
          <a:xfrm>
            <a:off x="8382000" y="2159000"/>
            <a:ext cx="2794000" cy="1270000"/>
          </a:xfrm>
          <a:prstGeom prst="rect">
            <a:avLst/>
          </a:prstGeom>
          <a:noFill/>
          <a:ln w="12700" cap="flat" cmpd="sng">
            <a:noFill/>
            <a:prstDash val="solid"/>
            <a:round/>
          </a:ln>
        </p:spPr>
        <p:txBody>
          <a:bodyPr vert="horz" wrap="square" lIns="0" tIns="0" rIns="0" bIns="0" rtlCol="0" anchor="ctr" anchorCtr="0"/>
          <a:lstStyle/>
          <a:p>
            <a:pPr marL="177800" indent="-177800" algn="l">
              <a:lnSpc>
                <a:spcPct val="108333"/>
              </a:lnSpc>
              <a:buClr>
                <a:srgbClr val="FFFFFF"/>
              </a:buClr>
              <a:buChar char="•"/>
              <a:defRPr/>
            </a:pPr>
            <a:r>
              <a:rPr lang="en-US" sz="1400" b="0" i="0" u="none" strike="noStrike">
                <a:solidFill>
                  <a:srgbClr val="FFFFFF">
                    <a:alpha val="90196"/>
                  </a:srgbClr>
                </a:solidFill>
                <a:latin typeface="Noto Sans SC"/>
                <a:ea typeface="Noto Sans SC"/>
                <a:cs typeface="Noto Sans SC"/>
                <a:sym typeface="Noto Sans SC"/>
              </a:rPr>
              <a:t>使用Grafana/ELK监控性能与错误率</a:t>
            </a:r>
            <a:endParaRPr lang="en-US" sz="1100"/>
          </a:p>
          <a:p>
            <a:pPr marL="177800" indent="-177800" algn="l">
              <a:lnSpc>
                <a:spcPct val="108333"/>
              </a:lnSpc>
              <a:buClr>
                <a:srgbClr val="FFFFFF"/>
              </a:buClr>
              <a:buChar char="•"/>
            </a:pPr>
            <a:r>
              <a:rPr lang="en-US" sz="1400" b="0" i="0" u="none" strike="noStrike">
                <a:solidFill>
                  <a:srgbClr val="FFFFFF">
                    <a:alpha val="90196"/>
                  </a:srgbClr>
                </a:solidFill>
                <a:latin typeface="Noto Sans SC"/>
                <a:ea typeface="Noto Sans SC"/>
                <a:cs typeface="Noto Sans SC"/>
                <a:sym typeface="Noto Sans SC"/>
              </a:rPr>
              <a:t>建立告警机制，及时响应异常</a:t>
            </a:r>
          </a:p>
          <a:p>
            <a:pPr marL="177800" indent="-177800" algn="l">
              <a:lnSpc>
                <a:spcPct val="108333"/>
              </a:lnSpc>
              <a:buClr>
                <a:srgbClr val="FFFFFF"/>
              </a:buClr>
              <a:buChar char="•"/>
            </a:pPr>
            <a:r>
              <a:rPr lang="en-US" sz="1400" b="0" i="0" u="none" strike="noStrike">
                <a:solidFill>
                  <a:srgbClr val="FFFFFF">
                    <a:alpha val="90196"/>
                  </a:srgbClr>
                </a:solidFill>
                <a:latin typeface="Noto Sans SC"/>
                <a:ea typeface="Noto Sans SC"/>
                <a:cs typeface="Noto Sans SC"/>
                <a:sym typeface="Noto Sans SC"/>
              </a:rPr>
              <a:t>定期维护升级，保障系统安全</a:t>
            </a:r>
          </a:p>
        </p:txBody>
      </p:sp>
      <p:sp>
        <p:nvSpPr>
          <p:cNvPr id="17" name="AutoShape 17"/>
          <p:cNvSpPr/>
          <p:nvPr/>
        </p:nvSpPr>
        <p:spPr>
          <a:xfrm>
            <a:off x="762000" y="4318000"/>
            <a:ext cx="10668000" cy="1016000"/>
          </a:xfrm>
          <a:prstGeom prst="roundRect">
            <a:avLst>
              <a:gd name="adj" fmla="val 12500"/>
            </a:avLst>
          </a:prstGeom>
          <a:solidFill>
            <a:srgbClr val="FFFFFF">
              <a:alpha val="8000"/>
            </a:srgbClr>
          </a:solidFill>
          <a:ln w="12700" cap="flat" cmpd="sng">
            <a:solidFill>
              <a:srgbClr val="FFFFFF">
                <a:alpha val="20000"/>
              </a:srgbClr>
            </a:solidFill>
            <a:prstDash val="solid"/>
            <a:round/>
          </a:ln>
        </p:spPr>
        <p:txBody>
          <a:bodyPr vert="horz" wrap="square" lIns="63500" tIns="63500" rIns="63500" bIns="63500" rtlCol="0" anchor="ctr"/>
          <a:lstStyle/>
          <a:p>
            <a:pPr algn="ctr">
              <a:defRPr/>
            </a:pPr>
            <a:endParaRPr/>
          </a:p>
        </p:txBody>
      </p:sp>
      <p:pic>
        <p:nvPicPr>
          <p:cNvPr id="18" name="Picture 18"/>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016000" y="4622800"/>
            <a:ext cx="406400" cy="406400"/>
          </a:xfrm>
          <a:prstGeom prst="rect">
            <a:avLst/>
          </a:prstGeom>
        </p:spPr>
      </p:pic>
      <p:sp>
        <p:nvSpPr>
          <p:cNvPr id="19" name="AutoShape 19"/>
          <p:cNvSpPr/>
          <p:nvPr/>
        </p:nvSpPr>
        <p:spPr>
          <a:xfrm>
            <a:off x="1524000" y="4445000"/>
            <a:ext cx="9652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B6C1"/>
                </a:solidFill>
                <a:latin typeface="Noto Sans SC"/>
                <a:ea typeface="Noto Sans SC"/>
                <a:cs typeface="Noto Sans SC"/>
                <a:sym typeface="Noto Sans SC"/>
              </a:rPr>
              <a:t>学生行动指令：</a:t>
            </a:r>
            <a:r>
              <a:rPr lang="en-US" sz="1600" b="0" i="0" u="none" strike="noStrike">
                <a:solidFill>
                  <a:srgbClr val="FFFFFF"/>
                </a:solidFill>
                <a:latin typeface="Noto Sans SC"/>
                <a:ea typeface="Noto Sans SC"/>
                <a:cs typeface="Noto Sans SC"/>
                <a:sym typeface="Noto Sans SC"/>
              </a:rPr>
              <a:t>请大家将自己的项目部署上线，并建立监控和运维机制，确保系统稳定运行。</a:t>
            </a:r>
            <a:endParaRPr lang="en-US" sz="110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0A192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0A192F">
              <a:alpha val="70000"/>
            </a:srgbClr>
          </a:solidFill>
          <a:ln w="25400" cap="flat" cmpd="sng">
            <a:noFill/>
            <a:prstDash val="solid"/>
            <a:round/>
          </a:ln>
        </p:spPr>
        <p:txBody>
          <a:bodyPr vert="horz" wrap="square" lIns="63500" tIns="63500" rIns="63500" bIns="63500" rtlCol="0" anchor="ctr"/>
          <a:lstStyle/>
          <a:p>
            <a:pPr algn="ctr">
              <a:defRPr/>
            </a:pPr>
            <a:endParaRPr/>
          </a:p>
        </p:txBody>
      </p:sp>
      <p:pic>
        <p:nvPicPr>
          <p:cNvPr id="4" name="Picture 4"/>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791200" y="1524000"/>
            <a:ext cx="609600" cy="609600"/>
          </a:xfrm>
          <a:prstGeom prst="rect">
            <a:avLst/>
          </a:prstGeom>
        </p:spPr>
      </p:pic>
      <p:sp>
        <p:nvSpPr>
          <p:cNvPr id="5" name="AutoShape 5"/>
          <p:cNvSpPr/>
          <p:nvPr/>
        </p:nvSpPr>
        <p:spPr>
          <a:xfrm>
            <a:off x="508000" y="2286000"/>
            <a:ext cx="11176000" cy="635000"/>
          </a:xfrm>
          <a:prstGeom prst="rect">
            <a:avLst/>
          </a:prstGeom>
          <a:noFill/>
          <a:ln w="12700" cap="flat" cmpd="sng">
            <a:noFill/>
            <a:prstDash val="solid"/>
            <a:round/>
          </a:ln>
        </p:spPr>
        <p:txBody>
          <a:bodyPr vert="horz" wrap="none" lIns="0" tIns="0" rIns="0" bIns="0" rtlCol="0" anchor="ctr" anchorCtr="0"/>
          <a:lstStyle/>
          <a:p>
            <a:pPr indent="0" algn="ctr">
              <a:lnSpc>
                <a:spcPct val="125000"/>
              </a:lnSpc>
              <a:defRPr/>
            </a:pPr>
            <a:r>
              <a:rPr lang="en-US" sz="3200" b="1" i="0" u="none" strike="noStrike">
                <a:solidFill>
                  <a:srgbClr val="FFFFFF"/>
                </a:solidFill>
                <a:latin typeface="Noto Sans SC"/>
                <a:ea typeface="Noto Sans SC"/>
                <a:cs typeface="Noto Sans SC"/>
                <a:sym typeface="Noto Sans SC"/>
              </a:rPr>
              <a:t>模块六：课程总结与未来展望</a:t>
            </a:r>
            <a:endParaRPr lang="en-US" sz="1100"/>
          </a:p>
        </p:txBody>
      </p:sp>
      <p:sp>
        <p:nvSpPr>
          <p:cNvPr id="6" name="AutoShape 6"/>
          <p:cNvSpPr/>
          <p:nvPr/>
        </p:nvSpPr>
        <p:spPr>
          <a:xfrm>
            <a:off x="5715000" y="3048000"/>
            <a:ext cx="762000" cy="50800"/>
          </a:xfrm>
          <a:prstGeom prst="roundRect">
            <a:avLst>
              <a:gd name="adj" fmla="val 0"/>
            </a:avLst>
          </a:prstGeom>
          <a:solidFill>
            <a:srgbClr val="00BFFF">
              <a:alpha val="100000"/>
            </a:srgbClr>
          </a:solidFill>
          <a:ln cap="flat" cmpd="sng">
            <a:solidFill>
              <a:srgbClr val="00ACE6">
                <a:alpha val="100000"/>
              </a:srgbClr>
            </a:solidFill>
            <a:prstDash val="solid"/>
            <a:round/>
          </a:ln>
        </p:spPr>
        <p:txBody>
          <a:bodyPr vert="horz" wrap="square" lIns="63500" tIns="63500" rIns="63500" bIns="63500" rtlCol="0" anchor="ctr"/>
          <a:lstStyle/>
          <a:p>
            <a:pPr algn="ctr">
              <a:defRPr/>
            </a:pPr>
            <a:endParaRPr/>
          </a:p>
        </p:txBody>
      </p:sp>
      <p:sp>
        <p:nvSpPr>
          <p:cNvPr id="7" name="AutoShape 7"/>
          <p:cNvSpPr/>
          <p:nvPr/>
        </p:nvSpPr>
        <p:spPr>
          <a:xfrm>
            <a:off x="508000" y="3302000"/>
            <a:ext cx="11176000" cy="508000"/>
          </a:xfrm>
          <a:prstGeom prst="rect">
            <a:avLst/>
          </a:prstGeom>
          <a:noFill/>
          <a:ln w="12700" cap="flat" cmpd="sng">
            <a:noFill/>
            <a:prstDash val="solid"/>
            <a:round/>
          </a:ln>
        </p:spPr>
        <p:txBody>
          <a:bodyPr vert="horz" wrap="none" lIns="0" tIns="0" rIns="0" bIns="0" rtlCol="0" anchor="ctr" anchorCtr="0"/>
          <a:lstStyle/>
          <a:p>
            <a:pPr indent="0" algn="ctr">
              <a:lnSpc>
                <a:spcPct val="125000"/>
              </a:lnSpc>
              <a:defRPr/>
            </a:pPr>
            <a:r>
              <a:rPr lang="en-US" sz="2000" b="0" i="0" u="none" strike="noStrike">
                <a:solidFill>
                  <a:srgbClr val="E6E6FA"/>
                </a:solidFill>
                <a:latin typeface="Noto Sans SC"/>
                <a:ea typeface="Noto Sans SC"/>
                <a:cs typeface="Noto Sans SC"/>
                <a:sym typeface="Noto Sans SC"/>
              </a:rPr>
              <a:t>回顾学习成果，展望项目未来</a:t>
            </a:r>
            <a:endParaRPr lang="en-US" sz="1100"/>
          </a:p>
        </p:txBody>
      </p:sp>
      <p:sp>
        <p:nvSpPr>
          <p:cNvPr id="8" name="AutoShape 8"/>
          <p:cNvSpPr/>
          <p:nvPr/>
        </p:nvSpPr>
        <p:spPr>
          <a:xfrm>
            <a:off x="5334000" y="4318000"/>
            <a:ext cx="1524000" cy="381000"/>
          </a:xfrm>
          <a:prstGeom prst="roundRect">
            <a:avLst>
              <a:gd name="adj" fmla="val 50000"/>
            </a:avLst>
          </a:prstGeom>
          <a:solidFill>
            <a:srgbClr val="00BFFF">
              <a:alpha val="20000"/>
            </a:srgbClr>
          </a:solidFill>
          <a:ln w="12700" cap="flat" cmpd="sng">
            <a:solidFill>
              <a:srgbClr val="00BFFF">
                <a:alpha val="50000"/>
              </a:srgbClr>
            </a:solidFill>
            <a:prstDash val="solid"/>
            <a:round/>
          </a:ln>
        </p:spPr>
        <p:txBody>
          <a:bodyPr vert="horz" wrap="square" lIns="0" tIns="0" rIns="0" bIns="0" rtlCol="0" anchor="ctr" anchorCtr="0"/>
          <a:lstStyle/>
          <a:p>
            <a:pPr indent="0" algn="ctr">
              <a:lnSpc>
                <a:spcPct val="125000"/>
              </a:lnSpc>
              <a:defRPr/>
            </a:pPr>
            <a:r>
              <a:rPr lang="en-US" sz="1200" b="0" i="0" u="none" strike="noStrike">
                <a:solidFill>
                  <a:srgbClr val="FFFFFF"/>
                </a:solidFill>
                <a:latin typeface="Noto Sans SC"/>
                <a:ea typeface="Noto Sans SC"/>
                <a:cs typeface="Noto Sans SC"/>
                <a:sym typeface="Noto Sans SC"/>
              </a:rPr>
              <a:t>SUMMARY</a:t>
            </a:r>
            <a:endParaRPr lang="en-US" sz="110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0A192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0A192F">
              <a:alpha val="70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762000" y="508000"/>
            <a:ext cx="20066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00BFFF"/>
                </a:solidFill>
                <a:latin typeface="Noto Sans SC"/>
                <a:ea typeface="Noto Sans SC"/>
                <a:cs typeface="Noto Sans SC"/>
                <a:sym typeface="Noto Sans SC"/>
              </a:rPr>
              <a:t>课程总结</a:t>
            </a:r>
            <a:endParaRPr lang="en-US" sz="1100"/>
          </a:p>
        </p:txBody>
      </p:sp>
      <p:sp>
        <p:nvSpPr>
          <p:cNvPr id="5" name="AutoShape 5"/>
          <p:cNvSpPr/>
          <p:nvPr/>
        </p:nvSpPr>
        <p:spPr>
          <a:xfrm>
            <a:off x="762000" y="1397000"/>
            <a:ext cx="3302000" cy="2921000"/>
          </a:xfrm>
          <a:prstGeom prst="roundRect">
            <a:avLst>
              <a:gd name="adj" fmla="val 4347"/>
            </a:avLst>
          </a:prstGeom>
          <a:solidFill>
            <a:srgbClr val="FFFFFF">
              <a:alpha val="10000"/>
            </a:srgbClr>
          </a:solidFill>
          <a:ln w="12700" cap="flat" cmpd="sng">
            <a:solidFill>
              <a:srgbClr val="00BFFF">
                <a:alpha val="30000"/>
              </a:srgbClr>
            </a:solidFill>
            <a:prstDash val="solid"/>
            <a:round/>
          </a:ln>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1651000"/>
            <a:ext cx="406400" cy="406400"/>
          </a:xfrm>
          <a:prstGeom prst="rect">
            <a:avLst/>
          </a:prstGeom>
        </p:spPr>
      </p:pic>
      <p:sp>
        <p:nvSpPr>
          <p:cNvPr id="7" name="AutoShape 7"/>
          <p:cNvSpPr/>
          <p:nvPr/>
        </p:nvSpPr>
        <p:spPr>
          <a:xfrm>
            <a:off x="1524000" y="1651000"/>
            <a:ext cx="228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FFFFFF"/>
                </a:solidFill>
                <a:latin typeface="Noto Sans SC"/>
                <a:ea typeface="Noto Sans SC"/>
                <a:cs typeface="Noto Sans SC"/>
                <a:sym typeface="Noto Sans SC"/>
              </a:rPr>
              <a:t>知识收获</a:t>
            </a:r>
            <a:endParaRPr lang="en-US" sz="1100"/>
          </a:p>
        </p:txBody>
      </p:sp>
      <p:sp>
        <p:nvSpPr>
          <p:cNvPr id="8" name="AutoShape 8"/>
          <p:cNvSpPr/>
          <p:nvPr/>
        </p:nvSpPr>
        <p:spPr>
          <a:xfrm>
            <a:off x="1016000" y="2159000"/>
            <a:ext cx="2794000" cy="1905000"/>
          </a:xfrm>
          <a:prstGeom prst="rect">
            <a:avLst/>
          </a:prstGeom>
          <a:noFill/>
          <a:ln w="12700" cap="flat" cmpd="sng">
            <a:noFill/>
            <a:prstDash val="solid"/>
            <a:round/>
          </a:ln>
        </p:spPr>
        <p:txBody>
          <a:bodyPr vert="horz" wrap="square" lIns="0" tIns="0" rIns="0" bIns="0" rtlCol="0" anchor="ctr" anchorCtr="0"/>
          <a:lstStyle/>
          <a:p>
            <a:pPr marL="177800" indent="-177800" algn="l">
              <a:lnSpc>
                <a:spcPct val="125000"/>
              </a:lnSpc>
              <a:buClr>
                <a:srgbClr val="E6E6FA"/>
              </a:buClr>
              <a:buChar char="•"/>
              <a:defRPr/>
            </a:pPr>
            <a:r>
              <a:rPr lang="en-US" sz="1400" b="0" i="0" u="none" strike="noStrike">
                <a:solidFill>
                  <a:srgbClr val="E6E6FA"/>
                </a:solidFill>
                <a:latin typeface="Noto Sans SC"/>
                <a:ea typeface="Noto Sans SC"/>
                <a:cs typeface="Noto Sans SC"/>
                <a:sym typeface="Noto Sans SC"/>
              </a:rPr>
              <a:t>深入掌握模拟来电与视频通话的深度实现</a:t>
            </a:r>
            <a:endParaRPr lang="en-US" sz="1100"/>
          </a:p>
          <a:p>
            <a:pPr marL="177800" indent="-177800" algn="l">
              <a:lnSpc>
                <a:spcPct val="125000"/>
              </a:lnSpc>
              <a:buClr>
                <a:srgbClr val="E6E6FA"/>
              </a:buClr>
              <a:buChar char="•"/>
            </a:pPr>
            <a:r>
              <a:rPr lang="en-US" sz="1400" b="0" i="0" u="none" strike="noStrike">
                <a:solidFill>
                  <a:srgbClr val="E6E6FA"/>
                </a:solidFill>
                <a:latin typeface="Noto Sans SC"/>
                <a:ea typeface="Noto Sans SC"/>
                <a:cs typeface="Noto Sans SC"/>
                <a:sym typeface="Noto Sans SC"/>
              </a:rPr>
              <a:t>学会AI后台服务架构设计与API开发部署</a:t>
            </a:r>
          </a:p>
          <a:p>
            <a:pPr marL="177800" indent="-177800" algn="l">
              <a:lnSpc>
                <a:spcPct val="125000"/>
              </a:lnSpc>
              <a:buClr>
                <a:srgbClr val="E6E6FA"/>
              </a:buClr>
              <a:buChar char="•"/>
            </a:pPr>
            <a:r>
              <a:rPr lang="en-US" sz="1400" b="0" i="0" u="none" strike="noStrike">
                <a:solidFill>
                  <a:srgbClr val="E6E6FA"/>
                </a:solidFill>
                <a:latin typeface="Noto Sans SC"/>
                <a:ea typeface="Noto Sans SC"/>
                <a:cs typeface="Noto Sans SC"/>
                <a:sym typeface="Noto Sans SC"/>
              </a:rPr>
              <a:t>掌握用户数据收集、存储及可视化分析</a:t>
            </a:r>
          </a:p>
        </p:txBody>
      </p:sp>
      <p:sp>
        <p:nvSpPr>
          <p:cNvPr id="9" name="AutoShape 9"/>
          <p:cNvSpPr/>
          <p:nvPr/>
        </p:nvSpPr>
        <p:spPr>
          <a:xfrm>
            <a:off x="4445000" y="1397000"/>
            <a:ext cx="3302000" cy="2921000"/>
          </a:xfrm>
          <a:prstGeom prst="roundRect">
            <a:avLst>
              <a:gd name="adj" fmla="val 4347"/>
            </a:avLst>
          </a:prstGeom>
          <a:solidFill>
            <a:srgbClr val="FFFFFF">
              <a:alpha val="10000"/>
            </a:srgbClr>
          </a:solidFill>
          <a:ln w="12700" cap="flat" cmpd="sng">
            <a:solidFill>
              <a:srgbClr val="FFB6C1">
                <a:alpha val="30000"/>
              </a:srgbClr>
            </a:solidFill>
            <a:prstDash val="solid"/>
            <a:round/>
          </a:ln>
        </p:spPr>
        <p:txBody>
          <a:bodyPr vert="horz" wrap="square" lIns="63500" tIns="63500" rIns="63500" bIns="63500" rtlCol="0" anchor="ctr"/>
          <a:lstStyle/>
          <a:p>
            <a:pPr algn="ctr">
              <a:defRPr/>
            </a:pPr>
            <a:endParaRPr/>
          </a:p>
        </p:txBody>
      </p:sp>
      <p:pic>
        <p:nvPicPr>
          <p:cNvPr id="10" name="Picture 10"/>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699000" y="1651000"/>
            <a:ext cx="406400" cy="406400"/>
          </a:xfrm>
          <a:prstGeom prst="rect">
            <a:avLst/>
          </a:prstGeom>
        </p:spPr>
      </p:pic>
      <p:sp>
        <p:nvSpPr>
          <p:cNvPr id="11" name="AutoShape 11"/>
          <p:cNvSpPr/>
          <p:nvPr/>
        </p:nvSpPr>
        <p:spPr>
          <a:xfrm>
            <a:off x="5207000" y="1651000"/>
            <a:ext cx="228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FFFFFF"/>
                </a:solidFill>
                <a:latin typeface="Noto Sans SC"/>
                <a:ea typeface="Noto Sans SC"/>
                <a:cs typeface="Noto Sans SC"/>
                <a:sym typeface="Noto Sans SC"/>
              </a:rPr>
              <a:t>技能提升</a:t>
            </a:r>
            <a:endParaRPr lang="en-US" sz="1100"/>
          </a:p>
        </p:txBody>
      </p:sp>
      <p:sp>
        <p:nvSpPr>
          <p:cNvPr id="12" name="AutoShape 12"/>
          <p:cNvSpPr/>
          <p:nvPr/>
        </p:nvSpPr>
        <p:spPr>
          <a:xfrm>
            <a:off x="4699000" y="2159000"/>
            <a:ext cx="2794000" cy="1905000"/>
          </a:xfrm>
          <a:prstGeom prst="rect">
            <a:avLst/>
          </a:prstGeom>
          <a:noFill/>
          <a:ln w="12700" cap="flat" cmpd="sng">
            <a:noFill/>
            <a:prstDash val="solid"/>
            <a:round/>
          </a:ln>
        </p:spPr>
        <p:txBody>
          <a:bodyPr vert="horz" wrap="square" lIns="0" tIns="0" rIns="0" bIns="0" rtlCol="0" anchor="ctr" anchorCtr="0"/>
          <a:lstStyle/>
          <a:p>
            <a:pPr marL="177800" indent="-177800" algn="l">
              <a:lnSpc>
                <a:spcPct val="125000"/>
              </a:lnSpc>
              <a:buClr>
                <a:srgbClr val="E6E6FA"/>
              </a:buClr>
              <a:buChar char="•"/>
              <a:defRPr/>
            </a:pPr>
            <a:r>
              <a:rPr lang="en-US" sz="1400" b="0" i="0" u="none" strike="noStrike">
                <a:solidFill>
                  <a:srgbClr val="E6E6FA"/>
                </a:solidFill>
                <a:latin typeface="Noto Sans SC"/>
                <a:ea typeface="Noto Sans SC"/>
                <a:cs typeface="Noto Sans SC"/>
                <a:sym typeface="Noto Sans SC"/>
              </a:rPr>
              <a:t>Android开发、后端API及数据可视化能力进阶</a:t>
            </a:r>
            <a:endParaRPr lang="en-US" sz="1100"/>
          </a:p>
          <a:p>
            <a:pPr marL="177800" indent="-177800" algn="l">
              <a:lnSpc>
                <a:spcPct val="125000"/>
              </a:lnSpc>
              <a:buClr>
                <a:srgbClr val="E6E6FA"/>
              </a:buClr>
              <a:buChar char="•"/>
            </a:pPr>
            <a:r>
              <a:rPr lang="en-US" sz="1400" b="0" i="0" u="none" strike="noStrike">
                <a:solidFill>
                  <a:srgbClr val="E6E6FA"/>
                </a:solidFill>
                <a:latin typeface="Noto Sans SC"/>
                <a:ea typeface="Noto Sans SC"/>
                <a:cs typeface="Noto Sans SC"/>
                <a:sym typeface="Noto Sans SC"/>
              </a:rPr>
              <a:t>增强系统设计与项目整合思维</a:t>
            </a:r>
          </a:p>
          <a:p>
            <a:pPr marL="177800" indent="-177800" algn="l">
              <a:lnSpc>
                <a:spcPct val="125000"/>
              </a:lnSpc>
              <a:buClr>
                <a:srgbClr val="E6E6FA"/>
              </a:buClr>
              <a:buChar char="•"/>
            </a:pPr>
            <a:r>
              <a:rPr lang="en-US" sz="1400" b="0" i="0" u="none" strike="noStrike">
                <a:solidFill>
                  <a:srgbClr val="E6E6FA"/>
                </a:solidFill>
                <a:latin typeface="Noto Sans SC"/>
                <a:ea typeface="Noto Sans SC"/>
                <a:cs typeface="Noto Sans SC"/>
                <a:sym typeface="Noto Sans SC"/>
              </a:rPr>
              <a:t>提升工程实践与测试部署能力</a:t>
            </a:r>
          </a:p>
        </p:txBody>
      </p:sp>
      <p:sp>
        <p:nvSpPr>
          <p:cNvPr id="13" name="AutoShape 13"/>
          <p:cNvSpPr/>
          <p:nvPr/>
        </p:nvSpPr>
        <p:spPr>
          <a:xfrm>
            <a:off x="8128000" y="1397000"/>
            <a:ext cx="3302000" cy="2921000"/>
          </a:xfrm>
          <a:prstGeom prst="roundRect">
            <a:avLst>
              <a:gd name="adj" fmla="val 4347"/>
            </a:avLst>
          </a:prstGeom>
          <a:solidFill>
            <a:srgbClr val="FFFFFF">
              <a:alpha val="10000"/>
            </a:srgbClr>
          </a:solidFill>
          <a:ln w="12700" cap="flat" cmpd="sng">
            <a:solidFill>
              <a:srgbClr val="E6E6FA">
                <a:alpha val="30000"/>
              </a:srgbClr>
            </a:solidFill>
            <a:prstDash val="solid"/>
            <a:round/>
          </a:ln>
        </p:spPr>
        <p:txBody>
          <a:bodyPr vert="horz" wrap="square" lIns="63500" tIns="63500" rIns="63500" bIns="63500" rtlCol="0" anchor="ctr"/>
          <a:lstStyle/>
          <a:p>
            <a:pPr algn="ctr">
              <a:defRPr/>
            </a:pPr>
            <a:endParaRPr/>
          </a:p>
        </p:txBody>
      </p:sp>
      <p:pic>
        <p:nvPicPr>
          <p:cNvPr id="14" name="Picture 14"/>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8382000" y="1651000"/>
            <a:ext cx="406400" cy="406400"/>
          </a:xfrm>
          <a:prstGeom prst="rect">
            <a:avLst/>
          </a:prstGeom>
        </p:spPr>
      </p:pic>
      <p:sp>
        <p:nvSpPr>
          <p:cNvPr id="15" name="AutoShape 15"/>
          <p:cNvSpPr/>
          <p:nvPr/>
        </p:nvSpPr>
        <p:spPr>
          <a:xfrm>
            <a:off x="8890000" y="1651000"/>
            <a:ext cx="228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FFFFFF"/>
                </a:solidFill>
                <a:latin typeface="Noto Sans SC"/>
                <a:ea typeface="Noto Sans SC"/>
                <a:cs typeface="Noto Sans SC"/>
                <a:sym typeface="Noto Sans SC"/>
              </a:rPr>
              <a:t>项目进展</a:t>
            </a:r>
            <a:endParaRPr lang="en-US" sz="1100"/>
          </a:p>
        </p:txBody>
      </p:sp>
      <p:sp>
        <p:nvSpPr>
          <p:cNvPr id="16" name="AutoShape 16"/>
          <p:cNvSpPr/>
          <p:nvPr/>
        </p:nvSpPr>
        <p:spPr>
          <a:xfrm>
            <a:off x="8382000" y="2159000"/>
            <a:ext cx="2794000" cy="1905000"/>
          </a:xfrm>
          <a:prstGeom prst="rect">
            <a:avLst/>
          </a:prstGeom>
          <a:noFill/>
          <a:ln w="12700" cap="flat" cmpd="sng">
            <a:noFill/>
            <a:prstDash val="solid"/>
            <a:round/>
          </a:ln>
        </p:spPr>
        <p:txBody>
          <a:bodyPr vert="horz" wrap="square" lIns="0" tIns="0" rIns="0" bIns="0" rtlCol="0" anchor="ctr" anchorCtr="0"/>
          <a:lstStyle/>
          <a:p>
            <a:pPr marL="177800" indent="-177800" algn="l">
              <a:lnSpc>
                <a:spcPct val="125000"/>
              </a:lnSpc>
              <a:buClr>
                <a:srgbClr val="E6E6FA"/>
              </a:buClr>
              <a:buChar char="•"/>
              <a:defRPr/>
            </a:pPr>
            <a:r>
              <a:rPr lang="en-US" sz="1400" b="0" i="0" u="none" strike="noStrike">
                <a:solidFill>
                  <a:srgbClr val="E6E6FA"/>
                </a:solidFill>
                <a:latin typeface="Noto Sans SC"/>
                <a:ea typeface="Noto Sans SC"/>
                <a:cs typeface="Noto Sans SC"/>
                <a:sym typeface="Noto Sans SC"/>
              </a:rPr>
              <a:t>完成SafeWalk核心功能开发与系统整合</a:t>
            </a:r>
            <a:endParaRPr lang="en-US" sz="1100"/>
          </a:p>
          <a:p>
            <a:pPr marL="177800" indent="-177800" algn="l">
              <a:lnSpc>
                <a:spcPct val="125000"/>
              </a:lnSpc>
              <a:buClr>
                <a:srgbClr val="E6E6FA"/>
              </a:buClr>
              <a:buChar char="•"/>
            </a:pPr>
            <a:r>
              <a:rPr lang="en-US" sz="1400" b="0" i="0" u="none" strike="noStrike">
                <a:solidFill>
                  <a:srgbClr val="E6E6FA"/>
                </a:solidFill>
                <a:latin typeface="Noto Sans SC"/>
                <a:ea typeface="Noto Sans SC"/>
                <a:cs typeface="Noto Sans SC"/>
                <a:sym typeface="Noto Sans SC"/>
              </a:rPr>
              <a:t>项目已具备上线条件</a:t>
            </a:r>
          </a:p>
          <a:p>
            <a:pPr marL="177800" indent="-177800" algn="l">
              <a:lnSpc>
                <a:spcPct val="125000"/>
              </a:lnSpc>
              <a:buClr>
                <a:srgbClr val="E6E6FA"/>
              </a:buClr>
              <a:buChar char="•"/>
            </a:pPr>
            <a:r>
              <a:rPr lang="en-US" sz="1400" b="0" i="0" u="none" strike="noStrike">
                <a:solidFill>
                  <a:srgbClr val="E6E6FA"/>
                </a:solidFill>
                <a:latin typeface="Noto Sans SC"/>
                <a:ea typeface="Noto Sans SC"/>
                <a:cs typeface="Noto Sans SC"/>
                <a:sym typeface="Noto Sans SC"/>
              </a:rPr>
              <a:t>准备提交Technovation Girls竞赛</a:t>
            </a:r>
          </a:p>
        </p:txBody>
      </p:sp>
      <p:sp>
        <p:nvSpPr>
          <p:cNvPr id="17" name="AutoShape 17"/>
          <p:cNvSpPr/>
          <p:nvPr/>
        </p:nvSpPr>
        <p:spPr>
          <a:xfrm>
            <a:off x="762000" y="4699000"/>
            <a:ext cx="10668000" cy="762000"/>
          </a:xfrm>
          <a:prstGeom prst="roundRect">
            <a:avLst>
              <a:gd name="adj" fmla="val 16666"/>
            </a:avLst>
          </a:prstGeom>
          <a:solidFill>
            <a:srgbClr val="00BFFF">
              <a:alpha val="15000"/>
            </a:srgbClr>
          </a:solidFill>
          <a:ln w="12700" cap="flat" cmpd="sng">
            <a:solidFill>
              <a:srgbClr val="00BFFF">
                <a:alpha val="50000"/>
              </a:srgbClr>
            </a:solidFill>
            <a:prstDash val="solid"/>
            <a:round/>
          </a:ln>
        </p:spPr>
        <p:txBody>
          <a:bodyPr vert="horz" wrap="square" lIns="63500" tIns="63500" rIns="63500" bIns="63500" rtlCol="0" anchor="ctr"/>
          <a:lstStyle/>
          <a:p>
            <a:pPr algn="ctr">
              <a:defRPr/>
            </a:pPr>
            <a:endParaRPr/>
          </a:p>
        </p:txBody>
      </p:sp>
      <p:pic>
        <p:nvPicPr>
          <p:cNvPr id="18" name="Picture 18"/>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016000" y="4927600"/>
            <a:ext cx="304800" cy="304800"/>
          </a:xfrm>
          <a:prstGeom prst="rect">
            <a:avLst/>
          </a:prstGeom>
        </p:spPr>
      </p:pic>
      <p:sp>
        <p:nvSpPr>
          <p:cNvPr id="19" name="AutoShape 19"/>
          <p:cNvSpPr/>
          <p:nvPr/>
        </p:nvSpPr>
        <p:spPr>
          <a:xfrm>
            <a:off x="1460500" y="4889500"/>
            <a:ext cx="9652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Noto Sans SC"/>
                <a:ea typeface="Noto Sans SC"/>
                <a:cs typeface="Noto Sans SC"/>
                <a:sym typeface="Noto Sans SC"/>
              </a:rPr>
              <a:t>行动指令：</a:t>
            </a:r>
            <a:r>
              <a:rPr lang="en-US" sz="1600" b="0" i="0" u="none" strike="noStrike">
                <a:solidFill>
                  <a:srgbClr val="E6E6FA"/>
                </a:solidFill>
                <a:latin typeface="Noto Sans SC"/>
                <a:ea typeface="Noto Sans SC"/>
                <a:cs typeface="Noto Sans SC"/>
                <a:sym typeface="Noto Sans SC"/>
              </a:rPr>
              <a:t>请大家回顾本次课程，总结自己在技术、思维和项目协作中的收获与成长。</a:t>
            </a:r>
            <a:endParaRPr lang="en-US" sz="110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0A192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0A192F">
              <a:alpha val="85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762000" y="508000"/>
            <a:ext cx="30226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00BFFF"/>
                </a:solidFill>
                <a:latin typeface="Noto Sans SC"/>
                <a:ea typeface="Noto Sans SC"/>
                <a:cs typeface="Noto Sans SC"/>
                <a:sym typeface="Noto Sans SC"/>
              </a:rPr>
              <a:t>项目未来展望</a:t>
            </a:r>
            <a:endParaRPr lang="en-US" sz="1100"/>
          </a:p>
        </p:txBody>
      </p:sp>
      <p:sp>
        <p:nvSpPr>
          <p:cNvPr id="5" name="AutoShape 5"/>
          <p:cNvSpPr/>
          <p:nvPr/>
        </p:nvSpPr>
        <p:spPr>
          <a:xfrm>
            <a:off x="762000" y="1397000"/>
            <a:ext cx="5080000" cy="1651000"/>
          </a:xfrm>
          <a:prstGeom prst="roundRect">
            <a:avLst>
              <a:gd name="adj" fmla="val 7692"/>
            </a:avLst>
          </a:prstGeom>
          <a:solidFill>
            <a:srgbClr val="FFFFFF">
              <a:alpha val="8000"/>
            </a:srgbClr>
          </a:solidFill>
          <a:ln w="12700" cap="flat" cmpd="sng">
            <a:solidFill>
              <a:srgbClr val="00BFFF">
                <a:alpha val="30000"/>
              </a:srgbClr>
            </a:solidFill>
            <a:prstDash val="solid"/>
            <a:round/>
          </a:ln>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1587500"/>
            <a:ext cx="406400" cy="406400"/>
          </a:xfrm>
          <a:prstGeom prst="rect">
            <a:avLst/>
          </a:prstGeom>
        </p:spPr>
      </p:pic>
      <p:sp>
        <p:nvSpPr>
          <p:cNvPr id="7" name="AutoShape 7"/>
          <p:cNvSpPr/>
          <p:nvPr/>
        </p:nvSpPr>
        <p:spPr>
          <a:xfrm>
            <a:off x="1524000" y="1549400"/>
            <a:ext cx="4191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BFFF"/>
                </a:solidFill>
                <a:latin typeface="Noto Sans SC"/>
                <a:ea typeface="Noto Sans SC"/>
                <a:cs typeface="Noto Sans SC"/>
                <a:sym typeface="Noto Sans SC"/>
              </a:rPr>
              <a:t>功能扩展</a:t>
            </a:r>
            <a:endParaRPr lang="en-US" sz="1100"/>
          </a:p>
        </p:txBody>
      </p:sp>
      <p:sp>
        <p:nvSpPr>
          <p:cNvPr id="8" name="AutoShape 8"/>
          <p:cNvSpPr/>
          <p:nvPr/>
        </p:nvSpPr>
        <p:spPr>
          <a:xfrm>
            <a:off x="1016000" y="1968500"/>
            <a:ext cx="4572000" cy="889000"/>
          </a:xfrm>
          <a:prstGeom prst="rect">
            <a:avLst/>
          </a:prstGeom>
          <a:noFill/>
          <a:ln w="12700" cap="flat" cmpd="sng">
            <a:noFill/>
            <a:prstDash val="solid"/>
            <a:round/>
          </a:ln>
        </p:spPr>
        <p:txBody>
          <a:bodyPr vert="horz" wrap="square" lIns="0" tIns="0" rIns="0" bIns="0" rtlCol="0" anchor="ctr" anchorCtr="0"/>
          <a:lstStyle/>
          <a:p>
            <a:pPr marL="165100" indent="-165100" algn="l">
              <a:lnSpc>
                <a:spcPct val="125000"/>
              </a:lnSpc>
              <a:buClr>
                <a:srgbClr val="FFFFFF"/>
              </a:buClr>
              <a:buChar char="•"/>
              <a:defRPr/>
            </a:pPr>
            <a:r>
              <a:rPr lang="en-US" sz="1300" b="0" i="0" u="none" strike="noStrike">
                <a:solidFill>
                  <a:srgbClr val="FFFFFF"/>
                </a:solidFill>
                <a:latin typeface="Noto Sans SC"/>
                <a:ea typeface="Noto Sans SC"/>
                <a:cs typeface="Noto Sans SC"/>
                <a:sym typeface="Noto Sans SC"/>
              </a:rPr>
              <a:t>增加语音助手，实现自然交互；开发智能路线推荐功能</a:t>
            </a:r>
            <a:endParaRPr lang="en-US" sz="1100"/>
          </a:p>
          <a:p>
            <a:pPr marL="165100" indent="-165100" algn="l">
              <a:lnSpc>
                <a:spcPct val="125000"/>
              </a:lnSpc>
              <a:buClr>
                <a:srgbClr val="FFFFFF"/>
              </a:buClr>
              <a:buChar char="•"/>
            </a:pPr>
            <a:r>
              <a:rPr lang="en-US" sz="1300" b="0" i="0" u="none" strike="noStrike">
                <a:solidFill>
                  <a:srgbClr val="FFFFFF"/>
                </a:solidFill>
                <a:latin typeface="Noto Sans SC"/>
                <a:ea typeface="Noto Sans SC"/>
                <a:cs typeface="Noto Sans SC"/>
                <a:sym typeface="Noto Sans SC"/>
              </a:rPr>
              <a:t>集成一键报警、紧急联系人自动通知等安全服务</a:t>
            </a:r>
          </a:p>
        </p:txBody>
      </p:sp>
      <p:sp>
        <p:nvSpPr>
          <p:cNvPr id="9" name="AutoShape 9"/>
          <p:cNvSpPr/>
          <p:nvPr/>
        </p:nvSpPr>
        <p:spPr>
          <a:xfrm>
            <a:off x="6350000" y="1397000"/>
            <a:ext cx="5080000" cy="1651000"/>
          </a:xfrm>
          <a:prstGeom prst="roundRect">
            <a:avLst>
              <a:gd name="adj" fmla="val 7692"/>
            </a:avLst>
          </a:prstGeom>
          <a:solidFill>
            <a:srgbClr val="FFFFFF">
              <a:alpha val="8000"/>
            </a:srgbClr>
          </a:solidFill>
          <a:ln w="12700" cap="flat" cmpd="sng">
            <a:solidFill>
              <a:srgbClr val="FFB6C1">
                <a:alpha val="30000"/>
              </a:srgbClr>
            </a:solidFill>
            <a:prstDash val="solid"/>
            <a:round/>
          </a:ln>
        </p:spPr>
        <p:txBody>
          <a:bodyPr vert="horz" wrap="square" lIns="63500" tIns="63500" rIns="63500" bIns="63500" rtlCol="0" anchor="ctr"/>
          <a:lstStyle/>
          <a:p>
            <a:pPr algn="ctr">
              <a:defRPr/>
            </a:pPr>
            <a:endParaRPr/>
          </a:p>
        </p:txBody>
      </p:sp>
      <p:pic>
        <p:nvPicPr>
          <p:cNvPr id="10" name="Picture 10"/>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604000" y="1587500"/>
            <a:ext cx="406400" cy="406400"/>
          </a:xfrm>
          <a:prstGeom prst="rect">
            <a:avLst/>
          </a:prstGeom>
        </p:spPr>
      </p:pic>
      <p:sp>
        <p:nvSpPr>
          <p:cNvPr id="11" name="AutoShape 11"/>
          <p:cNvSpPr/>
          <p:nvPr/>
        </p:nvSpPr>
        <p:spPr>
          <a:xfrm>
            <a:off x="7112000" y="1549400"/>
            <a:ext cx="4191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B6C1"/>
                </a:solidFill>
                <a:latin typeface="Noto Sans SC"/>
                <a:ea typeface="Noto Sans SC"/>
                <a:cs typeface="Noto Sans SC"/>
                <a:sym typeface="Noto Sans SC"/>
              </a:rPr>
              <a:t>用户体验优化</a:t>
            </a:r>
            <a:endParaRPr lang="en-US" sz="1100"/>
          </a:p>
        </p:txBody>
      </p:sp>
      <p:sp>
        <p:nvSpPr>
          <p:cNvPr id="12" name="AutoShape 12"/>
          <p:cNvSpPr/>
          <p:nvPr/>
        </p:nvSpPr>
        <p:spPr>
          <a:xfrm>
            <a:off x="6604000" y="1968500"/>
            <a:ext cx="4572000" cy="889000"/>
          </a:xfrm>
          <a:prstGeom prst="rect">
            <a:avLst/>
          </a:prstGeom>
          <a:noFill/>
          <a:ln w="12700" cap="flat" cmpd="sng">
            <a:noFill/>
            <a:prstDash val="solid"/>
            <a:round/>
          </a:ln>
        </p:spPr>
        <p:txBody>
          <a:bodyPr vert="horz" wrap="square" lIns="0" tIns="0" rIns="0" bIns="0" rtlCol="0" anchor="ctr" anchorCtr="0"/>
          <a:lstStyle/>
          <a:p>
            <a:pPr marL="165100" indent="-165100" algn="l">
              <a:lnSpc>
                <a:spcPct val="125000"/>
              </a:lnSpc>
              <a:buClr>
                <a:srgbClr val="FFFFFF"/>
              </a:buClr>
              <a:buChar char="•"/>
              <a:defRPr/>
            </a:pPr>
            <a:r>
              <a:rPr lang="en-US" sz="1300" b="0" i="0" u="none" strike="noStrike">
                <a:solidFill>
                  <a:srgbClr val="FFFFFF"/>
                </a:solidFill>
                <a:latin typeface="Noto Sans SC"/>
                <a:ea typeface="Noto Sans SC"/>
                <a:cs typeface="Noto Sans SC"/>
                <a:sym typeface="Noto Sans SC"/>
              </a:rPr>
              <a:t>基于反馈持续优化界面设计与交互流程</a:t>
            </a:r>
            <a:endParaRPr lang="en-US" sz="1100"/>
          </a:p>
          <a:p>
            <a:pPr marL="165100" indent="-165100" algn="l">
              <a:lnSpc>
                <a:spcPct val="125000"/>
              </a:lnSpc>
              <a:buClr>
                <a:srgbClr val="FFFFFF"/>
              </a:buClr>
              <a:buChar char="•"/>
            </a:pPr>
            <a:r>
              <a:rPr lang="en-US" sz="1300" b="0" i="0" u="none" strike="noStrike">
                <a:solidFill>
                  <a:srgbClr val="FFFFFF"/>
                </a:solidFill>
                <a:latin typeface="Noto Sans SC"/>
                <a:ea typeface="Noto Sans SC"/>
                <a:cs typeface="Noto Sans SC"/>
                <a:sym typeface="Noto Sans SC"/>
              </a:rPr>
              <a:t>提升应用性能稳定性，减少卡顿与崩溃</a:t>
            </a:r>
          </a:p>
        </p:txBody>
      </p:sp>
      <p:sp>
        <p:nvSpPr>
          <p:cNvPr id="13" name="AutoShape 13"/>
          <p:cNvSpPr/>
          <p:nvPr/>
        </p:nvSpPr>
        <p:spPr>
          <a:xfrm>
            <a:off x="762000" y="3238500"/>
            <a:ext cx="5080000" cy="1651000"/>
          </a:xfrm>
          <a:prstGeom prst="roundRect">
            <a:avLst>
              <a:gd name="adj" fmla="val 7692"/>
            </a:avLst>
          </a:prstGeom>
          <a:solidFill>
            <a:srgbClr val="FFFFFF">
              <a:alpha val="8000"/>
            </a:srgbClr>
          </a:solidFill>
          <a:ln w="12700" cap="flat" cmpd="sng">
            <a:solidFill>
              <a:srgbClr val="E6E6FA">
                <a:alpha val="30000"/>
              </a:srgbClr>
            </a:solidFill>
            <a:prstDash val="solid"/>
            <a:round/>
          </a:ln>
        </p:spPr>
        <p:txBody>
          <a:bodyPr vert="horz" wrap="square" lIns="63500" tIns="63500" rIns="63500" bIns="63500" rtlCol="0" anchor="ctr"/>
          <a:lstStyle/>
          <a:p>
            <a:pPr algn="ctr">
              <a:defRPr/>
            </a:pPr>
            <a:endParaRPr/>
          </a:p>
        </p:txBody>
      </p:sp>
      <p:pic>
        <p:nvPicPr>
          <p:cNvPr id="14" name="Picture 14"/>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016000" y="3429000"/>
            <a:ext cx="406400" cy="406400"/>
          </a:xfrm>
          <a:prstGeom prst="rect">
            <a:avLst/>
          </a:prstGeom>
        </p:spPr>
      </p:pic>
      <p:sp>
        <p:nvSpPr>
          <p:cNvPr id="15" name="AutoShape 15"/>
          <p:cNvSpPr/>
          <p:nvPr/>
        </p:nvSpPr>
        <p:spPr>
          <a:xfrm>
            <a:off x="1524000" y="3390900"/>
            <a:ext cx="4191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E6E6FA"/>
                </a:solidFill>
                <a:latin typeface="Noto Sans SC"/>
                <a:ea typeface="Noto Sans SC"/>
                <a:cs typeface="Noto Sans SC"/>
                <a:sym typeface="Noto Sans SC"/>
              </a:rPr>
              <a:t>商业模式探索</a:t>
            </a:r>
            <a:endParaRPr lang="en-US" sz="1100"/>
          </a:p>
        </p:txBody>
      </p:sp>
      <p:sp>
        <p:nvSpPr>
          <p:cNvPr id="16" name="AutoShape 16"/>
          <p:cNvSpPr/>
          <p:nvPr/>
        </p:nvSpPr>
        <p:spPr>
          <a:xfrm>
            <a:off x="1016000" y="3810000"/>
            <a:ext cx="4572000" cy="889000"/>
          </a:xfrm>
          <a:prstGeom prst="rect">
            <a:avLst/>
          </a:prstGeom>
          <a:noFill/>
          <a:ln w="12700" cap="flat" cmpd="sng">
            <a:noFill/>
            <a:prstDash val="solid"/>
            <a:round/>
          </a:ln>
        </p:spPr>
        <p:txBody>
          <a:bodyPr vert="horz" wrap="square" lIns="0" tIns="0" rIns="0" bIns="0" rtlCol="0" anchor="ctr" anchorCtr="0"/>
          <a:lstStyle/>
          <a:p>
            <a:pPr marL="165100" indent="-165100" algn="l">
              <a:lnSpc>
                <a:spcPct val="125000"/>
              </a:lnSpc>
              <a:buClr>
                <a:srgbClr val="FFFFFF"/>
              </a:buClr>
              <a:buChar char="•"/>
              <a:defRPr/>
            </a:pPr>
            <a:r>
              <a:rPr lang="en-US" sz="1300" b="0" i="0" u="none" strike="noStrike">
                <a:solidFill>
                  <a:srgbClr val="FFFFFF"/>
                </a:solidFill>
                <a:latin typeface="Noto Sans SC"/>
                <a:ea typeface="Noto Sans SC"/>
                <a:cs typeface="Noto Sans SC"/>
                <a:sym typeface="Noto Sans SC"/>
              </a:rPr>
              <a:t>探索高级会员、定制化安全方案等增值服务</a:t>
            </a:r>
            <a:endParaRPr lang="en-US" sz="1100"/>
          </a:p>
          <a:p>
            <a:pPr marL="165100" indent="-165100" algn="l">
              <a:lnSpc>
                <a:spcPct val="125000"/>
              </a:lnSpc>
              <a:buClr>
                <a:srgbClr val="FFFFFF"/>
              </a:buClr>
              <a:buChar char="•"/>
            </a:pPr>
            <a:r>
              <a:rPr lang="en-US" sz="1300" b="0" i="0" u="none" strike="noStrike">
                <a:solidFill>
                  <a:srgbClr val="FFFFFF"/>
                </a:solidFill>
                <a:latin typeface="Noto Sans SC"/>
                <a:ea typeface="Noto Sans SC"/>
                <a:cs typeface="Noto Sans SC"/>
                <a:sym typeface="Noto Sans SC"/>
              </a:rPr>
              <a:t>寻求企业与社区合作，扩大用户群体</a:t>
            </a:r>
          </a:p>
        </p:txBody>
      </p:sp>
      <p:sp>
        <p:nvSpPr>
          <p:cNvPr id="17" name="AutoShape 17"/>
          <p:cNvSpPr/>
          <p:nvPr/>
        </p:nvSpPr>
        <p:spPr>
          <a:xfrm>
            <a:off x="6350000" y="3238500"/>
            <a:ext cx="5080000" cy="1651000"/>
          </a:xfrm>
          <a:prstGeom prst="roundRect">
            <a:avLst>
              <a:gd name="adj" fmla="val 7692"/>
            </a:avLst>
          </a:prstGeom>
          <a:solidFill>
            <a:srgbClr val="FFFFFF">
              <a:alpha val="8000"/>
            </a:srgbClr>
          </a:solidFill>
          <a:ln w="12700" cap="flat" cmpd="sng">
            <a:solidFill>
              <a:srgbClr val="00BFFF">
                <a:alpha val="30000"/>
              </a:srgbClr>
            </a:solidFill>
            <a:prstDash val="solid"/>
            <a:round/>
          </a:ln>
        </p:spPr>
        <p:txBody>
          <a:bodyPr vert="horz" wrap="square" lIns="63500" tIns="63500" rIns="63500" bIns="63500" rtlCol="0" anchor="ctr"/>
          <a:lstStyle/>
          <a:p>
            <a:pPr algn="ctr">
              <a:defRPr/>
            </a:pPr>
            <a:endParaRPr/>
          </a:p>
        </p:txBody>
      </p:sp>
      <p:pic>
        <p:nvPicPr>
          <p:cNvPr id="18" name="Picture 18"/>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6604000" y="3429000"/>
            <a:ext cx="406400" cy="406400"/>
          </a:xfrm>
          <a:prstGeom prst="rect">
            <a:avLst/>
          </a:prstGeom>
        </p:spPr>
      </p:pic>
      <p:sp>
        <p:nvSpPr>
          <p:cNvPr id="19" name="AutoShape 19"/>
          <p:cNvSpPr/>
          <p:nvPr/>
        </p:nvSpPr>
        <p:spPr>
          <a:xfrm>
            <a:off x="7112000" y="3390900"/>
            <a:ext cx="4191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BFFF"/>
                </a:solidFill>
                <a:latin typeface="Noto Sans SC"/>
                <a:ea typeface="Noto Sans SC"/>
                <a:cs typeface="Noto Sans SC"/>
                <a:sym typeface="Noto Sans SC"/>
              </a:rPr>
              <a:t>参加竞赛</a:t>
            </a:r>
            <a:endParaRPr lang="en-US" sz="1100"/>
          </a:p>
        </p:txBody>
      </p:sp>
      <p:sp>
        <p:nvSpPr>
          <p:cNvPr id="20" name="AutoShape 20"/>
          <p:cNvSpPr/>
          <p:nvPr/>
        </p:nvSpPr>
        <p:spPr>
          <a:xfrm>
            <a:off x="6604000" y="3810000"/>
            <a:ext cx="4572000" cy="889000"/>
          </a:xfrm>
          <a:prstGeom prst="rect">
            <a:avLst/>
          </a:prstGeom>
          <a:noFill/>
          <a:ln w="12700" cap="flat" cmpd="sng">
            <a:noFill/>
            <a:prstDash val="solid"/>
            <a:round/>
          </a:ln>
        </p:spPr>
        <p:txBody>
          <a:bodyPr vert="horz" wrap="square" lIns="0" tIns="0" rIns="0" bIns="0" rtlCol="0" anchor="ctr" anchorCtr="0"/>
          <a:lstStyle/>
          <a:p>
            <a:pPr marL="165100" indent="-165100" algn="l">
              <a:lnSpc>
                <a:spcPct val="125000"/>
              </a:lnSpc>
              <a:buClr>
                <a:srgbClr val="FFFFFF"/>
              </a:buClr>
              <a:buChar char="•"/>
              <a:defRPr/>
            </a:pPr>
            <a:r>
              <a:rPr lang="en-US" sz="1300" b="0" i="0" u="none" strike="noStrike">
                <a:solidFill>
                  <a:srgbClr val="FFFFFF"/>
                </a:solidFill>
                <a:latin typeface="Noto Sans SC"/>
                <a:ea typeface="Noto Sans SC"/>
                <a:cs typeface="Noto Sans SC"/>
                <a:sym typeface="Noto Sans SC"/>
              </a:rPr>
              <a:t>精心准备演示材料，参加Technovation Girls竞赛</a:t>
            </a:r>
            <a:endParaRPr lang="en-US" sz="1100"/>
          </a:p>
          <a:p>
            <a:pPr marL="165100" indent="-165100" algn="l">
              <a:lnSpc>
                <a:spcPct val="125000"/>
              </a:lnSpc>
              <a:buClr>
                <a:srgbClr val="FFFFFF"/>
              </a:buClr>
              <a:buChar char="•"/>
            </a:pPr>
            <a:r>
              <a:rPr lang="en-US" sz="1300" b="0" i="0" u="none" strike="noStrike">
                <a:solidFill>
                  <a:srgbClr val="FFFFFF"/>
                </a:solidFill>
                <a:latin typeface="Noto Sans SC"/>
                <a:ea typeface="Noto Sans SC"/>
                <a:cs typeface="Noto Sans SC"/>
                <a:sym typeface="Noto Sans SC"/>
              </a:rPr>
              <a:t>展示项目成果，与优秀团队交流学习</a:t>
            </a:r>
          </a:p>
        </p:txBody>
      </p:sp>
      <p:sp>
        <p:nvSpPr>
          <p:cNvPr id="21" name="AutoShape 21"/>
          <p:cNvSpPr/>
          <p:nvPr/>
        </p:nvSpPr>
        <p:spPr>
          <a:xfrm>
            <a:off x="762000" y="5207000"/>
            <a:ext cx="10668000" cy="635000"/>
          </a:xfrm>
          <a:prstGeom prst="roundRect">
            <a:avLst>
              <a:gd name="adj" fmla="val 20000"/>
            </a:avLst>
          </a:prstGeom>
          <a:solidFill>
            <a:srgbClr val="00BFFF">
              <a:alpha val="15000"/>
            </a:srgbClr>
          </a:solidFill>
          <a:ln w="12700" cap="flat" cmpd="sng">
            <a:solidFill>
              <a:srgbClr val="00BFFF">
                <a:alpha val="50000"/>
              </a:srgbClr>
            </a:solidFill>
            <a:prstDash val="solid"/>
            <a:round/>
          </a:ln>
        </p:spPr>
        <p:txBody>
          <a:bodyPr vert="horz" wrap="square" lIns="63500" tIns="63500" rIns="63500" bIns="63500" rtlCol="0" anchor="ctr"/>
          <a:lstStyle/>
          <a:p>
            <a:pPr algn="ctr">
              <a:defRPr/>
            </a:pPr>
            <a:endParaRPr/>
          </a:p>
        </p:txBody>
      </p:sp>
      <p:pic>
        <p:nvPicPr>
          <p:cNvPr id="22" name="Picture 22"/>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1016000" y="5372100"/>
            <a:ext cx="304800" cy="304800"/>
          </a:xfrm>
          <a:prstGeom prst="rect">
            <a:avLst/>
          </a:prstGeom>
        </p:spPr>
      </p:pic>
      <p:sp>
        <p:nvSpPr>
          <p:cNvPr id="23" name="AutoShape 23"/>
          <p:cNvSpPr/>
          <p:nvPr/>
        </p:nvSpPr>
        <p:spPr>
          <a:xfrm>
            <a:off x="1397000" y="5334000"/>
            <a:ext cx="990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Noto Sans SC"/>
                <a:ea typeface="Noto Sans SC"/>
                <a:cs typeface="Noto Sans SC"/>
                <a:sym typeface="Noto Sans SC"/>
              </a:rPr>
              <a:t>行动指令：请大家思考自己项目的未来发展方向，并制定下一步的计划。</a:t>
            </a:r>
            <a:endParaRPr lang="en-US" sz="110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0A192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0A192F">
              <a:alpha val="70000"/>
            </a:srgbClr>
          </a:solidFill>
          <a:ln w="25400" cap="flat" cmpd="sng">
            <a:noFill/>
            <a:prstDash val="solid"/>
            <a:round/>
          </a:ln>
        </p:spPr>
        <p:txBody>
          <a:bodyPr vert="horz" wrap="square" lIns="63500" tIns="63500" rIns="63500" bIns="63500" rtlCol="0" anchor="ctr"/>
          <a:lstStyle/>
          <a:p>
            <a:pPr algn="ctr">
              <a:defRPr/>
            </a:pPr>
            <a:endParaRPr/>
          </a:p>
        </p:txBody>
      </p:sp>
      <p:pic>
        <p:nvPicPr>
          <p:cNvPr id="4" name="Picture 4"/>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689600" y="1524000"/>
            <a:ext cx="812800" cy="812800"/>
          </a:xfrm>
          <a:prstGeom prst="rect">
            <a:avLst/>
          </a:prstGeom>
          <a:effectLst>
            <a:outerShdw blurRad="254000" dir="2700000" algn="tl" rotWithShape="0">
              <a:srgbClr val="00BFFF">
                <a:alpha val="50000"/>
              </a:srgbClr>
            </a:outerShdw>
          </a:effectLst>
        </p:spPr>
      </p:pic>
      <p:sp>
        <p:nvSpPr>
          <p:cNvPr id="5" name="AutoShape 5"/>
          <p:cNvSpPr/>
          <p:nvPr/>
        </p:nvSpPr>
        <p:spPr>
          <a:xfrm>
            <a:off x="4191000" y="2540000"/>
            <a:ext cx="3810000" cy="1016000"/>
          </a:xfrm>
          <a:prstGeom prst="rect">
            <a:avLst/>
          </a:prstGeom>
          <a:noFill/>
          <a:ln w="12700" cap="flat" cmpd="sng">
            <a:noFill/>
            <a:prstDash val="solid"/>
            <a:round/>
          </a:ln>
          <a:effectLst>
            <a:outerShdw blurRad="127000" dist="25400" dir="2700000" algn="tl" rotWithShape="0">
              <a:srgbClr val="00BFFF">
                <a:alpha val="30000"/>
              </a:srgbClr>
            </a:outerShdw>
          </a:effectLst>
        </p:spPr>
        <p:txBody>
          <a:bodyPr vert="horz" wrap="none" lIns="0" tIns="0" rIns="0" bIns="0" rtlCol="0" anchor="ctr" anchorCtr="0"/>
          <a:lstStyle/>
          <a:p>
            <a:pPr indent="0" algn="ctr">
              <a:lnSpc>
                <a:spcPct val="125000"/>
              </a:lnSpc>
              <a:defRPr/>
            </a:pPr>
            <a:r>
              <a:rPr lang="en-US" sz="6400" b="1" i="0" u="none" strike="noStrike">
                <a:solidFill>
                  <a:srgbClr val="FFFFFF"/>
                </a:solidFill>
                <a:latin typeface="SimHei"/>
                <a:ea typeface="SimHei"/>
                <a:cs typeface="SimHei"/>
                <a:sym typeface="SimHei"/>
              </a:rPr>
              <a:t>Q&amp;A</a:t>
            </a:r>
            <a:endParaRPr lang="en-US" sz="1100"/>
          </a:p>
        </p:txBody>
      </p:sp>
      <p:sp>
        <p:nvSpPr>
          <p:cNvPr id="6" name="AutoShape 6"/>
          <p:cNvSpPr/>
          <p:nvPr/>
        </p:nvSpPr>
        <p:spPr>
          <a:xfrm>
            <a:off x="5334000" y="3683000"/>
            <a:ext cx="1524000" cy="50800"/>
          </a:xfrm>
          <a:prstGeom prst="roundRect">
            <a:avLst>
              <a:gd name="adj" fmla="val 0"/>
            </a:avLst>
          </a:prstGeom>
          <a:gradFill rotWithShape="1">
            <a:gsLst>
              <a:gs pos="0">
                <a:srgbClr val="00BFFF">
                  <a:alpha val="100000"/>
                </a:srgbClr>
              </a:gs>
              <a:gs pos="100000">
                <a:srgbClr val="E6E6FA">
                  <a:alpha val="100000"/>
                </a:srgbClr>
              </a:gs>
            </a:gsLst>
            <a:lin ang="0"/>
          </a:gradFill>
          <a:ln w="25400" cap="flat" cmpd="sng">
            <a:noFill/>
            <a:prstDash val="solid"/>
            <a:round/>
          </a:ln>
        </p:spPr>
        <p:txBody>
          <a:bodyPr vert="horz" wrap="square" lIns="63500" tIns="63500" rIns="63500" bIns="63500" rtlCol="0" anchor="ctr"/>
          <a:lstStyle/>
          <a:p>
            <a:pPr algn="ctr">
              <a:defRPr/>
            </a:pPr>
            <a:endParaRPr/>
          </a:p>
        </p:txBody>
      </p:sp>
      <p:sp>
        <p:nvSpPr>
          <p:cNvPr id="7" name="AutoShape 7"/>
          <p:cNvSpPr/>
          <p:nvPr/>
        </p:nvSpPr>
        <p:spPr>
          <a:xfrm>
            <a:off x="3556000" y="3937000"/>
            <a:ext cx="5080000" cy="508000"/>
          </a:xfrm>
          <a:prstGeom prst="rect">
            <a:avLst/>
          </a:prstGeom>
          <a:noFill/>
          <a:ln w="12700" cap="flat" cmpd="sng">
            <a:noFill/>
            <a:prstDash val="solid"/>
            <a:round/>
          </a:ln>
        </p:spPr>
        <p:txBody>
          <a:bodyPr vert="horz" wrap="none" lIns="0" tIns="0" rIns="0" bIns="0" rtlCol="0" anchor="ctr" anchorCtr="0"/>
          <a:lstStyle/>
          <a:p>
            <a:pPr indent="0" algn="ctr">
              <a:lnSpc>
                <a:spcPct val="125000"/>
              </a:lnSpc>
              <a:defRPr/>
            </a:pPr>
            <a:r>
              <a:rPr lang="en-US" sz="2400" b="0" i="0" u="none" strike="noStrike" spc="400">
                <a:solidFill>
                  <a:srgbClr val="E6E6FA"/>
                </a:solidFill>
                <a:latin typeface="SimHei"/>
                <a:ea typeface="SimHei"/>
                <a:cs typeface="SimHei"/>
                <a:sym typeface="SimHei"/>
              </a:rPr>
              <a:t>有问必答</a:t>
            </a:r>
            <a:endParaRPr lang="en-US" sz="1100"/>
          </a:p>
        </p:txBody>
      </p:sp>
      <p:sp>
        <p:nvSpPr>
          <p:cNvPr id="8" name="AutoShape 8"/>
          <p:cNvSpPr/>
          <p:nvPr/>
        </p:nvSpPr>
        <p:spPr>
          <a:xfrm>
            <a:off x="2286000" y="5334000"/>
            <a:ext cx="7620000" cy="381000"/>
          </a:xfrm>
          <a:prstGeom prst="rect">
            <a:avLst/>
          </a:prstGeom>
          <a:noFill/>
          <a:ln w="12700" cap="flat" cmpd="sng">
            <a:noFill/>
            <a:prstDash val="solid"/>
            <a:round/>
          </a:ln>
        </p:spPr>
        <p:txBody>
          <a:bodyPr vert="horz" wrap="none" lIns="0" tIns="0" rIns="0" bIns="0" rtlCol="0" anchor="ctr" anchorCtr="0"/>
          <a:lstStyle/>
          <a:p>
            <a:pPr indent="0" algn="ctr">
              <a:lnSpc>
                <a:spcPct val="125000"/>
              </a:lnSpc>
              <a:defRPr/>
            </a:pPr>
            <a:r>
              <a:rPr lang="en-US" sz="1400" b="0" i="0" u="none" strike="noStrike">
                <a:solidFill>
                  <a:srgbClr val="FFFFFF">
                    <a:alpha val="60000"/>
                  </a:srgbClr>
                </a:solidFill>
                <a:latin typeface="SimHei"/>
                <a:ea typeface="SimHei"/>
                <a:cs typeface="SimHei"/>
                <a:sym typeface="SimHei"/>
              </a:rPr>
              <a:t>欢迎提出问题，我们一起探讨与解决</a:t>
            </a:r>
            <a:endParaRPr lang="en-US" sz="1100"/>
          </a:p>
        </p:txBody>
      </p:sp>
      <p:sp>
        <p:nvSpPr>
          <p:cNvPr id="9" name="AutoShape 9"/>
          <p:cNvSpPr/>
          <p:nvPr/>
        </p:nvSpPr>
        <p:spPr>
          <a:xfrm>
            <a:off x="609600" y="609600"/>
            <a:ext cx="508000" cy="50800"/>
          </a:xfrm>
          <a:prstGeom prst="roundRect">
            <a:avLst>
              <a:gd name="adj" fmla="val 0"/>
            </a:avLst>
          </a:prstGeom>
          <a:solidFill>
            <a:srgbClr val="FFB6C1">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0" name="AutoShape 10"/>
          <p:cNvSpPr/>
          <p:nvPr/>
        </p:nvSpPr>
        <p:spPr>
          <a:xfrm>
            <a:off x="609600" y="609600"/>
            <a:ext cx="50800" cy="508000"/>
          </a:xfrm>
          <a:prstGeom prst="roundRect">
            <a:avLst>
              <a:gd name="adj" fmla="val 0"/>
            </a:avLst>
          </a:prstGeom>
          <a:solidFill>
            <a:srgbClr val="FFB6C1">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1" name="AutoShape 11"/>
          <p:cNvSpPr/>
          <p:nvPr/>
        </p:nvSpPr>
        <p:spPr>
          <a:xfrm>
            <a:off x="11074400" y="5689600"/>
            <a:ext cx="508000" cy="50800"/>
          </a:xfrm>
          <a:prstGeom prst="roundRect">
            <a:avLst>
              <a:gd name="adj" fmla="val 0"/>
            </a:avLst>
          </a:prstGeom>
          <a:solidFill>
            <a:srgbClr val="FFB6C1">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2" name="AutoShape 12"/>
          <p:cNvSpPr/>
          <p:nvPr/>
        </p:nvSpPr>
        <p:spPr>
          <a:xfrm>
            <a:off x="11531600" y="5232400"/>
            <a:ext cx="50800" cy="508000"/>
          </a:xfrm>
          <a:prstGeom prst="roundRect">
            <a:avLst>
              <a:gd name="adj" fmla="val 0"/>
            </a:avLst>
          </a:prstGeom>
          <a:solidFill>
            <a:srgbClr val="FFB6C1">
              <a:alpha val="100000"/>
            </a:srgbClr>
          </a:solidFill>
          <a:ln w="25400" cap="flat" cmpd="sng">
            <a:noFill/>
            <a:prstDash val="solid"/>
            <a:round/>
          </a:ln>
        </p:spPr>
        <p:txBody>
          <a:bodyPr vert="horz" wrap="square" lIns="63500" tIns="63500" rIns="63500" bIns="63500" rtlCol="0" anchor="ctr"/>
          <a:lstStyle/>
          <a:p>
            <a:pPr algn="ctr">
              <a:defRPr/>
            </a:pPr>
            <a:endParaRPr/>
          </a:p>
        </p:txBody>
      </p:sp>
    </p:spTree>
  </p:cSld>
  <p:clrMapOvr>
    <a:masterClrMapping/>
  </p:clrMapOvr>
</p:sld>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3079</Words>
  <Application>Microsoft Office PowerPoint</Application>
  <PresentationFormat>宽屏</PresentationFormat>
  <Paragraphs>525</Paragraphs>
  <Slides>36</Slides>
  <Notes>36</Notes>
  <HiddenSlides>0</HiddenSlides>
  <MMClips>0</MMClips>
  <ScaleCrop>false</ScaleCrop>
  <HeadingPairs>
    <vt:vector size="6" baseType="variant">
      <vt:variant>
        <vt:lpstr>已用的字体</vt:lpstr>
      </vt:variant>
      <vt:variant>
        <vt:i4>5</vt:i4>
      </vt:variant>
      <vt:variant>
        <vt:lpstr>主题</vt:lpstr>
      </vt:variant>
      <vt:variant>
        <vt:i4>2</vt:i4>
      </vt:variant>
      <vt:variant>
        <vt:lpstr>幻灯片标题</vt:lpstr>
      </vt:variant>
      <vt:variant>
        <vt:i4>36</vt:i4>
      </vt:variant>
    </vt:vector>
  </HeadingPairs>
  <TitlesOfParts>
    <vt:vector size="43" baseType="lpstr">
      <vt:lpstr>Noto Sans SC</vt:lpstr>
      <vt:lpstr>SimHei</vt:lpstr>
      <vt:lpstr>Arial</vt:lpstr>
      <vt:lpstr>Consolas</vt:lpstr>
      <vt:lpstr>Roboto Mono</vt:lpstr>
      <vt:lpstr>Office 主题​​</vt:lpstr>
      <vt:lpstr>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PENG GG</cp:lastModifiedBy>
  <cp:revision>1</cp:revision>
  <dcterms:modified xsi:type="dcterms:W3CDTF">2026-03-17T19:37:48Z</dcterms:modified>
</cp:coreProperties>
</file>