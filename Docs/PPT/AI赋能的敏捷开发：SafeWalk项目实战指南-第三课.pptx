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大家好，欢迎来到Technovation Girls第三次课程。在前两节课中，我们已经系统地学习了VibeCoding方法论，理解了人机协作编程的核心思想。今天，我们将进入实战环节，聚焦于我们的SafeWalk项目，深入探讨需求分析与功能设计，并制定出第一阶段的详细开发计划。希望通过今天的学习，大家能够将理论知识应用到实际项目中，迈出开发的关键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我们将按照这六个步骤展开。首先，我们会回顾SafeWalk项目的核心需求，确保大家对项目目标有清晰的认识。接着，我们会将复杂的功能拆解为具体的用户故事。然后，我们会探讨开发所需的技术工具和服务。之后，我们将进入实战环节，设计Sprint 1的开发工作流和任务分配。同时，我们还会学习如何更有效地与AI沟通，并建立验证机制。最后，我们将制定详细的执行计划和风险应对方案。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具体的开发之前，我们先一起回顾一下SafeWalk项目的核心需求。我们的目标是解决女生夜间出行的安全问题，主要针对步行和乘车两个场景。我们设计了两种模式来应对不同的需求：步行模式强调实时守护和AI陪伴，乘车模式则侧重于信息记录和紧急求助。请大家思考一下，在这些功能中，你认为哪一个是最能解决用户痛点、最核心的功能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步行模式的需求拆解成具体的用户故事。用户故事是一种从用户角度描述功能需求的方式，格式是“作为一个...，我想要...，以便于...”。大家可以看到，我们已经列出了几个核心的用户故事，涵盖了从设置行程到安全到达的整个流程。现在，请大家分组讨论，看看还有哪些重要的用户故事我们没有考虑到，可以补充进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样地，我们对乘车模式也进行了用户故事拆解。乘车场景的风险点与步行不同，因此功能设计也有所侧重，比如车牌记录、模拟来电和一键SOS。这些都是针对乘车安全痛点设计的核心功能。请大家同样思考一下，还有哪些用户需求我们可以通过用户故事的形式补充进来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明确了需求之后，我们需要选择合适的工具来实现这些功能。这里列出了我们开发SafeWalk可能用到的几类工具，包括AI编程助手、AI聊天机器人、低代码平台、各类API服务和地图服务。每种工具都有其独特的能力和适用场景。例如，Firebase可以帮助我们快速实现用户认证和数据存储，而Twilio则能帮助我们实现模拟来电功能。大家可以讨论一下，除了Twilio，还有哪些工具或服务可以实现模拟来电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一的工具往往无法完成整个项目，我们需要将不同的工具组合起来，形成一个高效的开发流水线。这个流程从需求分析开始，利用AI进行设计，然后通过低代码平台或AI编程助手实现功能，再集成各种后端服务和地图服务，最后进行测试和优化。每个环节都有相应的工具来提高效率。现在，请大家为自己的团队设计一个工具使用流程图，明确在开发的不同阶段应该使用哪些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现在，我们进入实战环节。我们将第一个开发阶段（Sprint 1）的目标设定为完成步行模式的基础功能，打造一个最小可行产品。这包括用户注册登录、行程设置、位置共享和到达确认这四个核心功能。这个目标是基于我们对核心用户需求的理解而设定的。请大家确认一下，这个目标是否覆盖了你认为最核心的用户需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为了让开发工作更清晰、更高效，我们需要将Sprint 1的任务分解到更细的粒度。这里我们将四个核心功能模块进一步拆解成了具体的技术任务。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例如，用户认证模块不仅仅是写几行代码，还包括项目配置、注册、登录和状态保持等多个步骤。这样的分解有助于团队成员明确自己的职责，并预估每个任务所需的时间。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请大家针对自己负责的任务，思考一下是否还需要进一步细化步骤。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接下来，我们详细讲解用户认证模块的技术实现方案。我们选择Firebase Authentication来快速实现这一功能。整个过程分为八个步骤，从项目配置到界面设计，再到具体的代码实现。每一步都有明确的目标和操作。理解这些步骤，有助于我们更好地向AI提问，或者在遇到问题时快速定位原因。现在，请大家尝试画出用户认证模块的流程图，梳理整个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地图与定位是SafeWalk的核心功能之一。我们将使用Google Maps SDK来实现地图显示，并通过Fused Location Provider API来获取高精度的位置信息。实现这一模块需要完成从获取API Key到显示用户位置的八个步骤。其中，权限请求是非常重要的一环，必须确保用户授予了位置权限，否则功能将无法正常工作。大家可以思考一下，除了显示当前位置，我们还可以如何在地图上绘制出用户的行进路线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位置共享功能的实现依赖于Firebase的实时数据库。这个过程可以分为五步：创建数据库、设计数据结构、用户端上传位置、守护者端监听数据以及更新地图显示。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其中，数据结构的设计和安全规则的设置至关重要，它决定了数据的组织方式和访问权限。大家可以思考一个安全问题：如何确保只有用户指定的守护者才能查看她的实时位置？这涉及到数据库的权限控制。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一个好的提示词是高效利用AI的关键。我们来看一个对比案例。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左边是一个非常模糊的需求，仅仅说“做一个登录页面”，AI无法判断你需要的是网页端还是移动端，也不知道具体的技术栈，所以给出的结果可能完全不符合我们的预期。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而右边，我们通过明确角色（Android开发工程师）、任务（设计登录界面）、技术栈（Jetpack Compose）和输出要求（包含输入框、按钮、布局样式），给出了一个精准的提示词。这样AI就能理解我们的真实意图，生成高质量、可用的代码。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请大家分析这两个提示词的差异，总结一下写出精准提示词的关键要素是什么。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AI不仅能帮我们生成代码，还能成为我们的调试助手。当遇到错误时，我们可以将问题现象和错误日志清晰地描述给AI，它通常能快速定位问题并给出解决方案。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在这个例子中，应用崩溃是因为忘记初始化Firebase，AI准确地指出了问题并提供了代码示例。大家可以回忆一下自己遇到过的编程问题，尝试用清晰的语言向AI描述，看看它能否帮你解决。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进一步提升大家使用AI的效率，这里为大家总结了一些常用的提示词模板。这些模板涵盖了功能实现、代码解释、Bug修复和方案设计等常见场景。大家可以根据自己的需求，选择合适的模板进行修改和使用。例如，当你需要实现一个新功能时，可以直接套用“功能实现模板”，填入具体的角色、功能和技术栈即可。现在，请大家选择一个模板，结合SafeWalk项目进行练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在敏捷开发中，每日站会是一个非常重要的实践。它能帮助团队保持同步，及时发现并解决问题。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站会的核心是三个简单的问题，每个成员都需要回答：昨天做了什么，今天计划做什么，以及遇到了什么障碍。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需要特别注意的是，站会的目的是沟通信息，而不是深入讨论和解决具体问题。如果遇到复杂的技术难题，应该在站会后组织专门的讨论会，以免耽误大家的时间。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现在，请各团队制定自己的每日站会时间表和沟通方式，比如是固定在早上10点用线上会议，还是线下快速讨论。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这里为大家提供了一个Sprint 1的详细时间规划，精确到每一天的任务安排。这个计划基于我们之前的任务分解，为每个功能模块分配了合理的开发时间。当然，这只是一个参考，各团队需要根据自己的实际情况，比如成员的技术水平、学习能力等，来调整这个计划。请大家根据这个详细的时间表，重新审视和调整你们团队的任务安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效的团队协作离不开合适的工具支持。这里推荐了几类常用的协作工具，涵盖了项目管理、代码协作、沟通和文档协作等方面。例如，Trello可以帮助我们可视化任务进度，GitHub是代码协作的标准工具，而Slack则能让团队沟通更顺畅。请各团队根据自己的需求，选择1-2个工具，并制定相应的使用规则，比如如何提交代码、如何在Trello上更新任务状态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为了实现Sprint 1的目标，我们需要将大目标分解为具体的、可执行的小任务。这里给出了一个任务分解的示例，涵盖了从环境搭建到功能实现再到测试的全过程，并为每个任务分配了负责人和预估时间。当然，这只是一个示例，实际的任务分配需要根据你们团队成员的技能和特长来决定。现在，请各团队根据自己的情况，进行任务分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以“用户注册”功能为例，展示如何运用VibeCoding的工作流。首先，我们需要向AI清晰地描述需求，包括功能、使用的技术和平台。然后，AI会生成详细的实现方案和代码示例。最后，我们根据这些信息进行实际的开发和验证。这个过程体现了人机协作的高效性。现在，请大家尝试向AI工具描述“用户登录”功能，看看它会给出什么样的实现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再来看一个更复杂的功能：实时位置共享。这个功能涉及到设备定位、云端数据同步和地图更新等多个环节。通过向AI描述清楚我们的技术栈（Firebase和Google Maps）和最终目标，AI可以帮助我们梳理出清晰的实现思路和关键代码。这大大降低了开发的难度。现在，请大家思考一下，如果要实现“偏离路线提醒”功能，你会如何向AI描述这个需求？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与AI沟通的质量直接决定了我们开发的效率。掌握提示词工程，能够帮助我们更有效地引导AI生成我们需要的结果。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一个好的提示词应该包含四个核心部分：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角色设定：明确AI的身份，让它知道自己该扮演什么专家。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任务描述：清晰、具体地说明你需要它做什么。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背景信息：提供必要的上下文，比如技术栈、平台限制等。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输出要求：告诉它你想要什么格式的结果，是代码、文档还是步骤？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通过这个框架，我们可以让AI更好地理解我们的意图。现在，请大家运用这个框架，尝试为“模拟来电”功能写一个详细的提示词。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AI是强大的助手，但并非完美。我们必须对AI生成的内容进行严格的审查和验证，才能确保项目的质量和安全。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这里提供了一个简单的检查清单，涵盖了功能、语法、逻辑、安全和可读性五个方面：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功能完整性：确保代码实现了所有需求。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语法正确性：检查是否有拼写错误，能否正常运行。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逻辑正确性：确认逻辑符合预期，特别是边界条件。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安全性：这是非常关键的一点，要避免硬编码密钥等风险。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5. 可读性：良好的注释和命名能让团队协作更顺畅。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养成使用检查清单的习惯，可以帮助我们避免很多潜在的问题。请大家使用这个清单，检查一下之前练习中AI生成的代码。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有了任务分解，我们还需要一个清晰的时间规划来确保项目按时完成。这里给出了一个为期两周的Sprint 1时间规划，并设定了几个关键的里程碑。这个规划将帮助我们跟踪进度，确保每个阶段的目标都能按时达成。请各团队根据这个总体框架，制定出更详细的每日或每周计划。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在项目开发过程中，我们总会遇到各种意想不到的风险。提前识别这些风险并制定应对预案，可以帮助我们从容应对挑战，确保项目顺利进行。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这里列出了一些常见的风险及其应对措施：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针对AI生成代码可能存在的Bug，我们需要加强审查和测试，并做好备选方案。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面对新技术的挑战，利用AI工具和社区资源进行学习是高效的方法。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第三方API的不稳定性要求我们准备Plan B，比如备用API。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若进度落后，应果断调整优先级，聚焦核心功能。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当然，每个团队的情况不同，可能会遇到独特的问题。请大家思考一下，你们团队在开发过程中可能会面临哪些其他风险，并讨论相应的应对措施。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的内容就到这里。我们一起回顾了项目需求，拆解了功能，选择了工具，制定了详细的开发计划和风险预案。希望大家都有所收获。接下来，最重要的就是行动起来，将今天的规划付诸实践。请大家写下自己在本次课程中的最大收获，以及接下来最想做的一件事，以此来开启我们的开发之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现在是问答环节，大家对今天的内容有任何疑问，或者在项目开发中遇到了什么问题，都可以提出来，我们一起讨论解决。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3" Type="http://schemas.openxmlformats.org/officeDocument/2006/relationships/image" Target="../media/image6.jpe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3" Type="http://schemas.openxmlformats.org/officeDocument/2006/relationships/image" Target="../media/image6.jpeg"/><Relationship Id="rId7" Type="http://schemas.openxmlformats.org/officeDocument/2006/relationships/image" Target="../media/image24.sv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34.svg"/><Relationship Id="rId5" Type="http://schemas.openxmlformats.org/officeDocument/2006/relationships/image" Target="../media/image30.sv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svg"/><Relationship Id="rId3" Type="http://schemas.openxmlformats.org/officeDocument/2006/relationships/image" Target="../media/image6.jpeg"/><Relationship Id="rId7" Type="http://schemas.openxmlformats.org/officeDocument/2006/relationships/image" Target="../media/image42.svg"/><Relationship Id="rId12" Type="http://schemas.openxmlformats.org/officeDocument/2006/relationships/image" Target="../media/image47.png"/><Relationship Id="rId17" Type="http://schemas.openxmlformats.org/officeDocument/2006/relationships/image" Target="../media/image52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5" Type="http://schemas.openxmlformats.org/officeDocument/2006/relationships/image" Target="../media/image5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50.svg"/><Relationship Id="rId3" Type="http://schemas.openxmlformats.org/officeDocument/2006/relationships/image" Target="../media/image6.jpeg"/><Relationship Id="rId7" Type="http://schemas.openxmlformats.org/officeDocument/2006/relationships/image" Target="../media/image58.svg"/><Relationship Id="rId12" Type="http://schemas.openxmlformats.org/officeDocument/2006/relationships/image" Target="../media/image49.png"/><Relationship Id="rId17" Type="http://schemas.openxmlformats.org/officeDocument/2006/relationships/image" Target="../media/image66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5" Type="http://schemas.openxmlformats.org/officeDocument/2006/relationships/image" Target="../media/image64.sv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svg"/><Relationship Id="rId1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6.svg"/><Relationship Id="rId3" Type="http://schemas.openxmlformats.org/officeDocument/2006/relationships/image" Target="../media/image6.jpeg"/><Relationship Id="rId7" Type="http://schemas.openxmlformats.org/officeDocument/2006/relationships/image" Target="../media/image70.svg"/><Relationship Id="rId12" Type="http://schemas.openxmlformats.org/officeDocument/2006/relationships/image" Target="../media/image35.png"/><Relationship Id="rId17" Type="http://schemas.openxmlformats.org/officeDocument/2006/relationships/image" Target="../media/image76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2.svg"/><Relationship Id="rId5" Type="http://schemas.openxmlformats.org/officeDocument/2006/relationships/image" Target="../media/image68.svg"/><Relationship Id="rId15" Type="http://schemas.openxmlformats.org/officeDocument/2006/relationships/image" Target="../media/image74.svg"/><Relationship Id="rId10" Type="http://schemas.openxmlformats.org/officeDocument/2006/relationships/image" Target="../media/image71.png"/><Relationship Id="rId4" Type="http://schemas.openxmlformats.org/officeDocument/2006/relationships/image" Target="../media/image67.png"/><Relationship Id="rId9" Type="http://schemas.openxmlformats.org/officeDocument/2006/relationships/image" Target="../media/image30.sv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84.svg"/><Relationship Id="rId3" Type="http://schemas.openxmlformats.org/officeDocument/2006/relationships/image" Target="../media/image6.jpeg"/><Relationship Id="rId7" Type="http://schemas.openxmlformats.org/officeDocument/2006/relationships/image" Target="../media/image80.sv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11" Type="http://schemas.openxmlformats.org/officeDocument/2006/relationships/image" Target="../media/image82.svg"/><Relationship Id="rId5" Type="http://schemas.openxmlformats.org/officeDocument/2006/relationships/image" Target="../media/image78.svg"/><Relationship Id="rId10" Type="http://schemas.openxmlformats.org/officeDocument/2006/relationships/image" Target="../media/image81.png"/><Relationship Id="rId4" Type="http://schemas.openxmlformats.org/officeDocument/2006/relationships/image" Target="../media/image77.png"/><Relationship Id="rId9" Type="http://schemas.openxmlformats.org/officeDocument/2006/relationships/image" Target="../media/image7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svg"/><Relationship Id="rId18" Type="http://schemas.openxmlformats.org/officeDocument/2006/relationships/image" Target="../media/image95.png"/><Relationship Id="rId3" Type="http://schemas.openxmlformats.org/officeDocument/2006/relationships/image" Target="../media/image6.jpeg"/><Relationship Id="rId7" Type="http://schemas.openxmlformats.org/officeDocument/2006/relationships/image" Target="../media/image88.svg"/><Relationship Id="rId12" Type="http://schemas.openxmlformats.org/officeDocument/2006/relationships/image" Target="../media/image93.png"/><Relationship Id="rId17" Type="http://schemas.openxmlformats.org/officeDocument/2006/relationships/image" Target="../media/image70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7.png"/><Relationship Id="rId11" Type="http://schemas.openxmlformats.org/officeDocument/2006/relationships/image" Target="../media/image92.svg"/><Relationship Id="rId5" Type="http://schemas.openxmlformats.org/officeDocument/2006/relationships/image" Target="../media/image86.svg"/><Relationship Id="rId15" Type="http://schemas.openxmlformats.org/officeDocument/2006/relationships/image" Target="../media/image58.svg"/><Relationship Id="rId10" Type="http://schemas.openxmlformats.org/officeDocument/2006/relationships/image" Target="../media/image91.png"/><Relationship Id="rId19" Type="http://schemas.openxmlformats.org/officeDocument/2006/relationships/image" Target="../media/image96.svg"/><Relationship Id="rId4" Type="http://schemas.openxmlformats.org/officeDocument/2006/relationships/image" Target="../media/image85.png"/><Relationship Id="rId9" Type="http://schemas.openxmlformats.org/officeDocument/2006/relationships/image" Target="../media/image90.svg"/><Relationship Id="rId1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svg"/><Relationship Id="rId18" Type="http://schemas.openxmlformats.org/officeDocument/2006/relationships/image" Target="../media/image111.png"/><Relationship Id="rId3" Type="http://schemas.openxmlformats.org/officeDocument/2006/relationships/image" Target="../media/image6.jpeg"/><Relationship Id="rId21" Type="http://schemas.openxmlformats.org/officeDocument/2006/relationships/image" Target="../media/image114.svg"/><Relationship Id="rId7" Type="http://schemas.openxmlformats.org/officeDocument/2006/relationships/image" Target="../media/image100.svg"/><Relationship Id="rId12" Type="http://schemas.openxmlformats.org/officeDocument/2006/relationships/image" Target="../media/image105.png"/><Relationship Id="rId17" Type="http://schemas.openxmlformats.org/officeDocument/2006/relationships/image" Target="../media/image110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9.png"/><Relationship Id="rId11" Type="http://schemas.openxmlformats.org/officeDocument/2006/relationships/image" Target="../media/image104.svg"/><Relationship Id="rId5" Type="http://schemas.openxmlformats.org/officeDocument/2006/relationships/image" Target="../media/image98.svg"/><Relationship Id="rId15" Type="http://schemas.openxmlformats.org/officeDocument/2006/relationships/image" Target="../media/image108.svg"/><Relationship Id="rId23" Type="http://schemas.openxmlformats.org/officeDocument/2006/relationships/image" Target="../media/image116.svg"/><Relationship Id="rId10" Type="http://schemas.openxmlformats.org/officeDocument/2006/relationships/image" Target="../media/image103.png"/><Relationship Id="rId19" Type="http://schemas.openxmlformats.org/officeDocument/2006/relationships/image" Target="../media/image112.svg"/><Relationship Id="rId4" Type="http://schemas.openxmlformats.org/officeDocument/2006/relationships/image" Target="../media/image97.png"/><Relationship Id="rId9" Type="http://schemas.openxmlformats.org/officeDocument/2006/relationships/image" Target="../media/image102.sv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10.svg"/><Relationship Id="rId3" Type="http://schemas.openxmlformats.org/officeDocument/2006/relationships/image" Target="../media/image6.jpeg"/><Relationship Id="rId7" Type="http://schemas.openxmlformats.org/officeDocument/2006/relationships/image" Target="../media/image120.sv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9.png"/><Relationship Id="rId11" Type="http://schemas.openxmlformats.org/officeDocument/2006/relationships/image" Target="../media/image124.svg"/><Relationship Id="rId5" Type="http://schemas.openxmlformats.org/officeDocument/2006/relationships/image" Target="../media/image118.sv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6.jpeg"/><Relationship Id="rId7" Type="http://schemas.openxmlformats.org/officeDocument/2006/relationships/image" Target="../media/image12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7.png"/><Relationship Id="rId5" Type="http://schemas.openxmlformats.org/officeDocument/2006/relationships/image" Target="../media/image126.svg"/><Relationship Id="rId4" Type="http://schemas.openxmlformats.org/officeDocument/2006/relationships/image" Target="../media/image125.png"/><Relationship Id="rId9" Type="http://schemas.openxmlformats.org/officeDocument/2006/relationships/image" Target="../media/image1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6.jpeg"/><Relationship Id="rId7" Type="http://schemas.openxmlformats.org/officeDocument/2006/relationships/image" Target="../media/image13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1.png"/><Relationship Id="rId5" Type="http://schemas.openxmlformats.org/officeDocument/2006/relationships/image" Target="../media/image130.svg"/><Relationship Id="rId4" Type="http://schemas.openxmlformats.org/officeDocument/2006/relationships/image" Target="../media/image129.png"/><Relationship Id="rId9" Type="http://schemas.openxmlformats.org/officeDocument/2006/relationships/image" Target="../media/image13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svg"/><Relationship Id="rId3" Type="http://schemas.openxmlformats.org/officeDocument/2006/relationships/image" Target="../media/image6.jpeg"/><Relationship Id="rId7" Type="http://schemas.openxmlformats.org/officeDocument/2006/relationships/image" Target="../media/image138.svg"/><Relationship Id="rId12" Type="http://schemas.openxmlformats.org/officeDocument/2006/relationships/image" Target="../media/image1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7.png"/><Relationship Id="rId11" Type="http://schemas.openxmlformats.org/officeDocument/2006/relationships/image" Target="../media/image142.svg"/><Relationship Id="rId5" Type="http://schemas.openxmlformats.org/officeDocument/2006/relationships/image" Target="../media/image136.sv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6.jpe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148.svg"/><Relationship Id="rId5" Type="http://schemas.openxmlformats.org/officeDocument/2006/relationships/image" Target="../media/image146.svg"/><Relationship Id="rId10" Type="http://schemas.openxmlformats.org/officeDocument/2006/relationships/image" Target="../media/image147.png"/><Relationship Id="rId4" Type="http://schemas.openxmlformats.org/officeDocument/2006/relationships/image" Target="../media/image145.png"/><Relationship Id="rId9" Type="http://schemas.openxmlformats.org/officeDocument/2006/relationships/image" Target="../media/image13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12.svg"/><Relationship Id="rId18" Type="http://schemas.openxmlformats.org/officeDocument/2006/relationships/image" Target="../media/image157.png"/><Relationship Id="rId26" Type="http://schemas.openxmlformats.org/officeDocument/2006/relationships/image" Target="../media/image165.png"/><Relationship Id="rId3" Type="http://schemas.openxmlformats.org/officeDocument/2006/relationships/image" Target="../media/image6.jpeg"/><Relationship Id="rId21" Type="http://schemas.openxmlformats.org/officeDocument/2006/relationships/image" Target="../media/image160.svg"/><Relationship Id="rId7" Type="http://schemas.openxmlformats.org/officeDocument/2006/relationships/image" Target="../media/image152.svg"/><Relationship Id="rId12" Type="http://schemas.openxmlformats.org/officeDocument/2006/relationships/image" Target="../media/image111.png"/><Relationship Id="rId17" Type="http://schemas.openxmlformats.org/officeDocument/2006/relationships/image" Target="../media/image122.svg"/><Relationship Id="rId25" Type="http://schemas.openxmlformats.org/officeDocument/2006/relationships/image" Target="../media/image164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21.png"/><Relationship Id="rId20" Type="http://schemas.openxmlformats.org/officeDocument/2006/relationships/image" Target="../media/image159.png"/><Relationship Id="rId29" Type="http://schemas.openxmlformats.org/officeDocument/2006/relationships/image" Target="../media/image16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1.png"/><Relationship Id="rId11" Type="http://schemas.openxmlformats.org/officeDocument/2006/relationships/image" Target="../media/image154.svg"/><Relationship Id="rId24" Type="http://schemas.openxmlformats.org/officeDocument/2006/relationships/image" Target="../media/image163.png"/><Relationship Id="rId5" Type="http://schemas.openxmlformats.org/officeDocument/2006/relationships/image" Target="../media/image150.svg"/><Relationship Id="rId15" Type="http://schemas.openxmlformats.org/officeDocument/2006/relationships/image" Target="../media/image156.svg"/><Relationship Id="rId23" Type="http://schemas.openxmlformats.org/officeDocument/2006/relationships/image" Target="../media/image162.svg"/><Relationship Id="rId28" Type="http://schemas.openxmlformats.org/officeDocument/2006/relationships/image" Target="../media/image167.png"/><Relationship Id="rId10" Type="http://schemas.openxmlformats.org/officeDocument/2006/relationships/image" Target="../media/image153.png"/><Relationship Id="rId19" Type="http://schemas.openxmlformats.org/officeDocument/2006/relationships/image" Target="../media/image158.svg"/><Relationship Id="rId4" Type="http://schemas.openxmlformats.org/officeDocument/2006/relationships/image" Target="../media/image149.png"/><Relationship Id="rId9" Type="http://schemas.openxmlformats.org/officeDocument/2006/relationships/image" Target="../media/image128.svg"/><Relationship Id="rId14" Type="http://schemas.openxmlformats.org/officeDocument/2006/relationships/image" Target="../media/image155.png"/><Relationship Id="rId22" Type="http://schemas.openxmlformats.org/officeDocument/2006/relationships/image" Target="../media/image161.png"/><Relationship Id="rId27" Type="http://schemas.openxmlformats.org/officeDocument/2006/relationships/image" Target="../media/image16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44.svg"/><Relationship Id="rId3" Type="http://schemas.openxmlformats.org/officeDocument/2006/relationships/image" Target="../media/image6.jpeg"/><Relationship Id="rId7" Type="http://schemas.openxmlformats.org/officeDocument/2006/relationships/image" Target="../media/image170.svg"/><Relationship Id="rId12" Type="http://schemas.openxmlformats.org/officeDocument/2006/relationships/image" Target="../media/image1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9.png"/><Relationship Id="rId11" Type="http://schemas.openxmlformats.org/officeDocument/2006/relationships/image" Target="../media/image152.svg"/><Relationship Id="rId5" Type="http://schemas.openxmlformats.org/officeDocument/2006/relationships/image" Target="../media/image146.svg"/><Relationship Id="rId10" Type="http://schemas.openxmlformats.org/officeDocument/2006/relationships/image" Target="../media/image151.png"/><Relationship Id="rId4" Type="http://schemas.openxmlformats.org/officeDocument/2006/relationships/image" Target="../media/image145.png"/><Relationship Id="rId9" Type="http://schemas.openxmlformats.org/officeDocument/2006/relationships/image" Target="../media/image17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4.svg"/><Relationship Id="rId4" Type="http://schemas.openxmlformats.org/officeDocument/2006/relationships/image" Target="../media/image1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6.jpeg"/><Relationship Id="rId7" Type="http://schemas.openxmlformats.org/officeDocument/2006/relationships/image" Target="../media/image176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5.png"/><Relationship Id="rId11" Type="http://schemas.openxmlformats.org/officeDocument/2006/relationships/image" Target="../media/image178.svg"/><Relationship Id="rId5" Type="http://schemas.openxmlformats.org/officeDocument/2006/relationships/image" Target="../media/image174.svg"/><Relationship Id="rId10" Type="http://schemas.openxmlformats.org/officeDocument/2006/relationships/image" Target="../media/image177.png"/><Relationship Id="rId4" Type="http://schemas.openxmlformats.org/officeDocument/2006/relationships/image" Target="../media/image173.png"/><Relationship Id="rId9" Type="http://schemas.openxmlformats.org/officeDocument/2006/relationships/image" Target="../media/image6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jpeg"/><Relationship Id="rId7" Type="http://schemas.openxmlformats.org/officeDocument/2006/relationships/image" Target="../media/image180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9.png"/><Relationship Id="rId11" Type="http://schemas.openxmlformats.org/officeDocument/2006/relationships/image" Target="../media/image28.svg"/><Relationship Id="rId5" Type="http://schemas.openxmlformats.org/officeDocument/2006/relationships/image" Target="../media/image174.svg"/><Relationship Id="rId10" Type="http://schemas.openxmlformats.org/officeDocument/2006/relationships/image" Target="../media/image27.png"/><Relationship Id="rId4" Type="http://schemas.openxmlformats.org/officeDocument/2006/relationships/image" Target="../media/image173.png"/><Relationship Id="rId9" Type="http://schemas.openxmlformats.org/officeDocument/2006/relationships/image" Target="../media/image3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66.svg"/><Relationship Id="rId3" Type="http://schemas.openxmlformats.org/officeDocument/2006/relationships/image" Target="../media/image6.jpeg"/><Relationship Id="rId7" Type="http://schemas.openxmlformats.org/officeDocument/2006/relationships/image" Target="../media/image182.sv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1.png"/><Relationship Id="rId11" Type="http://schemas.openxmlformats.org/officeDocument/2006/relationships/image" Target="../media/image90.svg"/><Relationship Id="rId5" Type="http://schemas.openxmlformats.org/officeDocument/2006/relationships/image" Target="../media/image3.svg"/><Relationship Id="rId10" Type="http://schemas.openxmlformats.org/officeDocument/2006/relationships/image" Target="../media/image89.png"/><Relationship Id="rId4" Type="http://schemas.openxmlformats.org/officeDocument/2006/relationships/image" Target="../media/image2.png"/><Relationship Id="rId9" Type="http://schemas.openxmlformats.org/officeDocument/2006/relationships/image" Target="../media/image18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52.svg"/><Relationship Id="rId3" Type="http://schemas.openxmlformats.org/officeDocument/2006/relationships/image" Target="../media/image6.jpeg"/><Relationship Id="rId7" Type="http://schemas.openxmlformats.org/officeDocument/2006/relationships/image" Target="../media/image90.svg"/><Relationship Id="rId12" Type="http://schemas.openxmlformats.org/officeDocument/2006/relationships/image" Target="../media/image1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.png"/><Relationship Id="rId11" Type="http://schemas.openxmlformats.org/officeDocument/2006/relationships/image" Target="../media/image188.svg"/><Relationship Id="rId5" Type="http://schemas.openxmlformats.org/officeDocument/2006/relationships/image" Target="../media/image186.svg"/><Relationship Id="rId15" Type="http://schemas.openxmlformats.org/officeDocument/2006/relationships/image" Target="../media/image190.svg"/><Relationship Id="rId10" Type="http://schemas.openxmlformats.org/officeDocument/2006/relationships/image" Target="../media/image187.png"/><Relationship Id="rId4" Type="http://schemas.openxmlformats.org/officeDocument/2006/relationships/image" Target="../media/image185.png"/><Relationship Id="rId9" Type="http://schemas.openxmlformats.org/officeDocument/2006/relationships/image" Target="../media/image120.svg"/><Relationship Id="rId14" Type="http://schemas.openxmlformats.org/officeDocument/2006/relationships/image" Target="../media/image1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6.jpeg"/><Relationship Id="rId7" Type="http://schemas.openxmlformats.org/officeDocument/2006/relationships/image" Target="../media/image19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3.png"/><Relationship Id="rId5" Type="http://schemas.openxmlformats.org/officeDocument/2006/relationships/image" Target="../media/image192.svg"/><Relationship Id="rId4" Type="http://schemas.openxmlformats.org/officeDocument/2006/relationships/image" Target="../media/image191.png"/><Relationship Id="rId9" Type="http://schemas.openxmlformats.org/officeDocument/2006/relationships/image" Target="../media/image196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84.svg"/><Relationship Id="rId3" Type="http://schemas.openxmlformats.org/officeDocument/2006/relationships/image" Target="../media/image6.jpeg"/><Relationship Id="rId7" Type="http://schemas.openxmlformats.org/officeDocument/2006/relationships/image" Target="../media/image198.sv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7.png"/><Relationship Id="rId11" Type="http://schemas.openxmlformats.org/officeDocument/2006/relationships/image" Target="../media/image202.svg"/><Relationship Id="rId5" Type="http://schemas.openxmlformats.org/officeDocument/2006/relationships/image" Target="../media/image140.svg"/><Relationship Id="rId10" Type="http://schemas.openxmlformats.org/officeDocument/2006/relationships/image" Target="../media/image201.png"/><Relationship Id="rId4" Type="http://schemas.openxmlformats.org/officeDocument/2006/relationships/image" Target="../media/image139.png"/><Relationship Id="rId9" Type="http://schemas.openxmlformats.org/officeDocument/2006/relationships/image" Target="../media/image20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6.jpeg"/><Relationship Id="rId7" Type="http://schemas.openxmlformats.org/officeDocument/2006/relationships/image" Target="../media/image160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9.png"/><Relationship Id="rId11" Type="http://schemas.openxmlformats.org/officeDocument/2006/relationships/image" Target="../media/image208.svg"/><Relationship Id="rId5" Type="http://schemas.openxmlformats.org/officeDocument/2006/relationships/image" Target="../media/image204.svg"/><Relationship Id="rId10" Type="http://schemas.openxmlformats.org/officeDocument/2006/relationships/image" Target="../media/image207.png"/><Relationship Id="rId4" Type="http://schemas.openxmlformats.org/officeDocument/2006/relationships/image" Target="../media/image203.png"/><Relationship Id="rId9" Type="http://schemas.openxmlformats.org/officeDocument/2006/relationships/image" Target="../media/image20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0.svg"/><Relationship Id="rId4" Type="http://schemas.openxmlformats.org/officeDocument/2006/relationships/image" Target="../media/image2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58800" y="1778000"/>
            <a:ext cx="11074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SafeWalk项目实战：需求分析与功能设计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2667000"/>
            <a:ext cx="1524000" cy="38100"/>
          </a:xfrm>
          <a:prstGeom prst="roundRect">
            <a:avLst>
              <a:gd name="adj" fmla="val 0"/>
            </a:avLst>
          </a:prstGeom>
          <a:solidFill>
            <a:srgbClr val="FFB6C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Technovation Girls 第三次课程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4064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4292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91000" y="425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讲师</a:t>
            </a:r>
            <a:r>
              <a:rPr 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田老师</a:t>
            </a:r>
            <a:endParaRPr lang="en-US" sz="11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92800" y="571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课程议程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0500" y="1625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1549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项目回顾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1930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SafeWalk双模式核心需求分析与目标确认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92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11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0500" y="3149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3073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功能拆解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3454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步行模式与乘车模式的用户故事与场景分析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445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4635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0500" y="4673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905000" y="4597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905000" y="4978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AI工具链配置与第三方地图服务集成方案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139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40500" y="1587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48500" y="1625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93000" y="1549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开发实战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93000" y="1930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Sprint 1 开发工作流设计与任务分配策略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292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540500" y="311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48500" y="3149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93000" y="3073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能力提升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3454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高效提示词工程技巧与代码验证检查清单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4445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540500" y="4635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8500" y="46736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493000" y="4597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行动部署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493000" y="4978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Sprint 1 详细执行计划与潜在风险预案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SafeWalk项目核心需求回顾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54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核心问题：夜间出行痛点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68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解决女生夜间步行和乘车的安全痛点，填补现有方案在实时性、陪伴感和便捷求助方面的不足。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390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用户价值：有温度的AI陪伴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810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不仅是定位工具，更是提供安全感、陪伴感和便捷求助方式的AI伙伴，守护每一次出行。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397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B6C1">
              <a:alpha val="10000"/>
            </a:srgbClr>
          </a:solidFill>
          <a:ln w="12700" cap="flat" cmpd="sng">
            <a:solidFill>
              <a:srgbClr val="FFB6C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1587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1549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步行模式：有人看着我走到家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1968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实时位置共享 | AI主动关怀 | 超时/偏离路线智能提醒，打造全程实时守护体验。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2385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E6E6FA">
              <a:alpha val="10000"/>
            </a:srgbClr>
          </a:solidFill>
          <a:ln w="12700" cap="flat" cmpd="sng">
            <a:solidFill>
              <a:srgbClr val="E6E6F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429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390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乘车模式：有人知道我上了谁的车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381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车牌识别记录 | 实时位置共享 | 模拟真实来电 | 一键SOS，全方位保障乘车安全。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435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53975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思考：再次阅读项目介绍，你认为哪个功能是用户最需要的核心功能？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步行模式：用户故事拆解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651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5240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作为一名用户，我想要设置步行的起点和终点，以便于APP规划路线。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B6C1">
              <a:alpha val="15000"/>
            </a:srgbClr>
          </a:solidFill>
          <a:ln w="12700" cap="flat" cmpd="sng">
            <a:solidFill>
              <a:srgbClr val="FFB6C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857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27305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作为一名用户，我想要选择我的守护者，以便于分享我的实时位置。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E6E6FA">
              <a:alpha val="15000"/>
            </a:srgbClr>
          </a:solidFill>
          <a:ln w="12700" cap="flat" cmpd="sng">
            <a:solidFill>
              <a:srgbClr val="E6E6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064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39370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作为一名用户，我想要在行程中收到AI的主动关怀，以便于感到安心。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39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1651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75500" y="15240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作为一名用户，我想要在超时未到达或偏离路线时收到提醒，以便于及时采取措施。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603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B6C1">
              <a:alpha val="15000"/>
            </a:srgbClr>
          </a:solidFill>
          <a:ln w="12700" cap="flat" cmpd="sng">
            <a:solidFill>
              <a:srgbClr val="FFB6C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2857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75500" y="27305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作为一名用户，我想要在到达目的地后确认，以便于通知守护者我已安全。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810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E6E6FA">
              <a:alpha val="15000"/>
            </a:srgbClr>
          </a:solidFill>
          <a:ln w="12700" cap="flat" cmpd="sng">
            <a:solidFill>
              <a:srgbClr val="E6E6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4064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75500" y="39370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作为一名守护者，我想要在地图上看到用户的实时位置，以便于了解她的行程。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89000" y="5334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学生行动指令：为步行模式补充更多你认为重要的用户故事。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乘车模式：用户故事拆解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01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24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记录乘车信息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作为一名用户，我想要拍照或输入车牌号，以便于记录乘车信息。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908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730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自动通知守护者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作为一名用户，我想要将乘车信息自动发送给守护者，以便于让他们放心。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114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937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模拟来电脱身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作为一名用户，我想要在感觉不安全时触发模拟来电，以便于找借口脱身。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139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1701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1524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一键SOS求助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作为一名用户，我想要在遇到危险时一键SOS，以便于快速求助。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50000" y="2603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2908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2730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偏离路线预警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作为一名用户，我想要在司机偏离路线时收到提醒，以便于及时警觉。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350000" y="3810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4114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3937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实时位置共享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作为一名守护者，我想要看到用户的乘车路线和实时位置，以便于了解行程。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5435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460500" y="5334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学生行动指令：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为乘车模式补充更多你认为重要的用户故事。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SafeWalk技术选型：AI工具链与服务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397000"/>
          <a:ext cx="9906000" cy="34239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代表工具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主要能力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SafeWalk应用场景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AI编程助手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Trae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代码补全、生成、解释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快速生成基础功能代码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AI聊天机器人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ChatGPT, Claude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需求分析、方案设计、调试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功能设计、编写提示词、解决技术问题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低代码平台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Bubble, Adalo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可视化开发，无需大量代码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快速搭建APP原型界面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API服务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Firebase, Twilio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后端服务、认证、短信/电话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用户认证、数据存储、模拟来电功能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地图服务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Google Maps, 高德地图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地图显示、定位、路线规划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实时位置共享、路线偏离检测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E6E6FA">
              <a:alpha val="15000"/>
            </a:srgbClr>
          </a:solidFill>
          <a:ln w="12700" cap="flat" cmpd="sng">
            <a:solidFill>
              <a:srgbClr val="FFB6C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638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5588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学生行动指令：</a:t>
            </a:r>
            <a:r>
              <a:rPr lang="en-US" sz="18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针对“模拟来电”功能，讨论可以使用哪些工具？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工具组合策略：打造你的AI开发流水线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1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676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2032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使用ChatGPT进行用户故事拆解和功能设计。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1714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1676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界面原型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143500" y="2032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使用低代码平台（如Bubble）快速搭建APP界面。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171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6500" y="1676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功能实现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26500" y="2032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使用AI编程助手（如Copilot）生成具体功能代码。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048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3238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3200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60500" y="3556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集成Firebase等API服务处理数据和用户认证。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445000" y="3048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5500" y="3238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143500" y="3200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地图集成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143500" y="3556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使用Google Maps或高德地图SDK实现定位功能。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28000" y="3048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18500" y="3238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826500" y="3200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测试与优化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26500" y="3556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使用AI工具进行代码审查和调试，提升质量。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4699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49276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460500" y="48895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行动指令：为你的团队设计一个工具使用流程图，明确开发各阶段的工具选择。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566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SafeWalk实战：Sprint 1目标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74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587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8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完成“步行模式”的基础功能开发，实现最小可行产品（MVP）。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13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8000" y="2603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9000" y="3238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用户注册与登录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账号体系搭建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467100" y="2413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83100" y="2603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594100" y="3238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行程设置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起点/终点/预计时间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172200" y="2413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E6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8200" y="2603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299200" y="3238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位置共享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选择守护者实时共享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890000" y="2413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06000" y="2603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17000" y="3238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到达确认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目的地签到反馈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4445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E6E6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46101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60500" y="4572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可在真机运行的APP原型（包含上述所有基础功能）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FFB6C1">
                  <a:alpha val="20000"/>
                </a:srgbClr>
              </a:gs>
              <a:gs pos="100000">
                <a:srgbClr val="00BFFF">
                  <a:alpha val="20000"/>
                </a:srgbClr>
              </a:gs>
            </a:gsLst>
            <a:lin ang="0"/>
          </a:gra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55372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55245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</a:t>
            </a:r>
            <a:r>
              <a:rPr lang="en-US" sz="16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回顾项目介绍，确认Sprint 1目标是否覆盖了最核心的用户需求。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55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1 任务分解（技术细节）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1435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549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524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用户认证模块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19304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创建Firebase项目并配置Android应用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实现邮箱/密码注册与登录功能</a:t>
            </a:r>
          </a:p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实现用户状态保持（记住登录）</a:t>
            </a:r>
          </a:p>
        </p:txBody>
      </p:sp>
      <p:sp>
        <p:nvSpPr>
          <p:cNvPr id="9" name="AutoShape 9"/>
          <p:cNvSpPr/>
          <p:nvPr/>
        </p:nvSpPr>
        <p:spPr>
          <a:xfrm>
            <a:off x="6286500" y="1397000"/>
            <a:ext cx="51435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549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1524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地图与定位模块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19304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集成Google Maps SDK，实现GPS定位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在地图上显示用户当前位置</a:t>
            </a:r>
          </a:p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实现起点和终点的选择与标记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238500"/>
            <a:ext cx="51435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E6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3909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33655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E6FA"/>
                </a:solidFill>
                <a:latin typeface="Poppins"/>
                <a:ea typeface="Poppins"/>
                <a:cs typeface="Poppins"/>
                <a:sym typeface="Poppins"/>
              </a:rPr>
              <a:t>位置共享模块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37719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设计Firebase数据库结构（用户/守护者/行程）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实现位置数据实时上传与监听</a:t>
            </a:r>
          </a:p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在守护者地图上更新用户位置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86500" y="3238500"/>
            <a:ext cx="51435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3909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3655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行程管理模块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37719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实现行程开始/结束的逻辑控制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实现预计到达时间的计算与显示</a:t>
            </a:r>
          </a:p>
          <a:p>
            <a:pPr marL="165100" indent="-165100" algn="l">
              <a:lnSpc>
                <a:spcPct val="125000"/>
              </a:lnSpc>
              <a:buClr>
                <a:srgbClr val="E6E6E6"/>
              </a:buClr>
              <a:buChar char="•"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实现到达目的地的确认与通知逻辑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51435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308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52705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学生行动指令：</a:t>
            </a:r>
            <a:r>
              <a:rPr lang="en-US" sz="16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针对你负责的任务，思考还需要哪些更细的步骤？请列出具体的技术实现点。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技术方案详解：用户认证模块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457200"/>
          </a:xfrm>
          <a:prstGeom prst="roundRect">
            <a:avLst>
              <a:gd name="adj" fmla="val 27777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技术选型：Firebase Authentication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15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930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01. Firebase配置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创建项目，添加Android应用，下载google-services.json文件。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285750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11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28829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02. 启用登录方式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在控制台Authentication页面，启用“Email/Password”提供商。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381000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064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835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03. 添加依赖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在build.gradle文件中添加Firebase Authentication依赖库。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476250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7879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04. 设计注册界面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创建包含邮箱、密码输入框和注册按钮的布局。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350000" y="190500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2159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1930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05. 实现注册逻辑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调用createUserWithEmailAndPassword方法完成注册。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350000" y="285750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3111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28829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06. 设计登录界面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创建包含邮箱、密码输入框和登录按钮的布局。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350000" y="381000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40500" y="4064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85000" y="3835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07. 实现登录逻辑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调用signInWithEmailAndPassword方法完成登录。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350000" y="476250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40500" y="5016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85000" y="47879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08. 状态保持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利用监听器在应用启动时自动检查用户登录状态。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762000" y="5842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B6C1">
              <a:alpha val="15000"/>
            </a:srgbClr>
          </a:solidFill>
          <a:ln w="12700" cap="flat" cmpd="sng">
            <a:solidFill>
              <a:srgbClr val="FFB6C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学生行动指令：尝试画出用户认证模块的流程图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技术方案详解：地图与定位模块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270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2446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技术选型：</a:t>
            </a:r>
            <a:r>
              <a:rPr lang="en-US" sz="16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Google Maps Android SDK, Fused Location Provider API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1841500"/>
            <a:ext cx="5207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070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1905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获取API Key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在Google Cloud Console创建项目并生成Key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2730500"/>
            <a:ext cx="5207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2959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2794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配置项目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将API Key添加到AndroidManifest.xml中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3619500"/>
            <a:ext cx="5207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3848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3683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添加地图视图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布局文件中添加SupportMapFragment或MapView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4508500"/>
            <a:ext cx="5207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4737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572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初始化地图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获取地图实例，设置缩放级别与中心点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1841500"/>
            <a:ext cx="5207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20701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1905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 请求位置权限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声明权限并在运行时动态请求用户授权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23000" y="2730500"/>
            <a:ext cx="5207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13500" y="29591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2794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6. 获取设备位置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使用FusedLocationProviderClient获取最新位置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223000" y="3619500"/>
            <a:ext cx="5207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13500" y="38481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858000" y="3683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7. 显示用户位置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在地图上添加Marker标记当前位置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223000" y="4508500"/>
            <a:ext cx="5207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13500" y="47371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858000" y="4572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8. 实现地图交互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处理点击、缩放、平移等事件提升体验</a:t>
            </a:r>
          </a:p>
        </p:txBody>
      </p:sp>
      <p:sp>
        <p:nvSpPr>
          <p:cNvPr id="32" name="AutoShape 32"/>
          <p:cNvSpPr/>
          <p:nvPr/>
        </p:nvSpPr>
        <p:spPr>
          <a:xfrm>
            <a:off x="762000" y="5588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E6E6FA">
              <a:alpha val="10000"/>
            </a:srgbClr>
          </a:solidFill>
          <a:ln w="12700" cap="flat" cmpd="sng">
            <a:solidFill>
              <a:srgbClr val="E6E6FA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2500" y="57150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333500" y="56896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如何在地图上绘制用户的行进路线？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技术方案详解：位置共享模块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333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技术选型：</a:t>
            </a:r>
            <a:r>
              <a:rPr lang="en-US" sz="16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Firebase Realtime Database (实时数据库)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9685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1463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032000"/>
            <a:ext cx="914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01. 创建数据库：</a:t>
            </a: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在Firebase控制台创建实例，配置安全规则确保仅授权用户访问。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7813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9591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2844800"/>
            <a:ext cx="914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02. 设计数据结构：</a:t>
            </a: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定义路径如</a:t>
            </a:r>
            <a:r>
              <a:rPr lang="en-US" sz="1400" b="0" i="1" u="none" strike="noStrike">
                <a:solidFill>
                  <a:srgbClr val="E6E6FA"/>
                </a:solidFill>
                <a:latin typeface="Poppins"/>
                <a:ea typeface="Poppins"/>
                <a:cs typeface="Poppins"/>
                <a:sym typeface="Poppins"/>
              </a:rPr>
              <a:t>/trips/{tripId}/location</a:t>
            </a: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，存储经纬度与时间戳。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5941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7719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3657600"/>
            <a:ext cx="914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03. 用户端上传位置：</a:t>
            </a: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获取新位置信息后，实时写入数据库指定路径。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4069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5847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4470400"/>
            <a:ext cx="914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04. 守护者端监听数据：</a:t>
            </a: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守护端APP实时监听对应行程ID的数据变化事件。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197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397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5283200"/>
            <a:ext cx="914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05. 更新地图显示：</a:t>
            </a: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监听到变化后读取新经纬度，刷新地图上的用户标记。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B6C1">
              <a:alpha val="15000"/>
            </a:srgbClr>
          </a:solidFill>
          <a:ln w="12700" cap="flat" cmpd="sng">
            <a:solidFill>
              <a:srgbClr val="FFB6C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6159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思考：</a:t>
            </a:r>
            <a:r>
              <a:rPr lang="en-US" sz="1600" b="0" i="0" u="none" strike="noStrike">
                <a:solidFill>
                  <a:srgbClr val="FFE4E1"/>
                </a:solidFill>
                <a:latin typeface="Poppins"/>
                <a:ea typeface="Poppins"/>
                <a:cs typeface="Poppins"/>
                <a:sym typeface="Poppins"/>
              </a:rPr>
              <a:t>如何实现只有指定的守护者才能查看用户的位置？（提示：数据库权限控制）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提示词案例分析：从模糊到精准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B6C1">
              <a:alpha val="10000"/>
            </a:srgbClr>
          </a:solidFill>
          <a:ln w="12700" cap="flat" cmpd="sng">
            <a:solidFill>
              <a:srgbClr val="FFB6C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模糊的需求（Bad Prompt）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03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提问：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“帮我做一个登录页面。”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549">
            <a:off x="1016009" y="2787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921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AI回应：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仅生成简单的HTML页面或基础Android布局，完全忽略了使用Jetpack Compose的技术栈要求，无法直接使用。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587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精准的指令（Good Prompt）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03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提问：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“作为一名Android开发工程师，我需要为APP设计登录界面。请使用Jetpack Compose编写UI代码，包含用户名、密码输入框和登录按钮，并要有合适的布局和样式。”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549">
            <a:off x="6604009" y="3041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3175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AI回应：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生成符合规范的Jetpack Compose代码，包含完整的UI布局、状态管理和交互逻辑，可直接集成到项目中。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E6E6FA">
              <a:alpha val="15000"/>
            </a:srgbClr>
          </a:solidFill>
          <a:ln w="12700" cap="flat" cmpd="sng">
            <a:solidFill>
              <a:srgbClr val="E6E6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2832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270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分析这两个提示词的差异，总结如何通过明确角色、任务、技术栈和输出要求来写出更精准的提示词。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提示词案例分析：利用AI调试代码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B6C1">
              <a:alpha val="10000"/>
            </a:srgbClr>
          </a:solidFill>
          <a:ln w="12700" cap="flat" cmpd="sng">
            <a:solidFill>
              <a:srgbClr val="FFB6C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用户问题描述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032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“我在调用Firebase注册功能时，应用崩溃了，错误日志显示‘FirebaseApp.initializeApp(Context)’未被调用。我该怎么解决？”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58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AI诊断与解决方案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032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根源：Firebase使用前未初始化。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方案：在Application类的onCreate()中添加初始化代码（见代码块），并在Manifest中声明。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89000" y="40005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@Override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void onCreate() {</a:t>
            </a:r>
            <a:r>
              <a:rPr lang="en-US" sz="12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初始化Firebase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super.onCreate();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FirebaseApp.initializeApp(this);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E6E6FA">
              <a:alpha val="15000"/>
            </a:srgbClr>
          </a:solidFill>
          <a:ln w="12700" cap="flat" cmpd="sng">
            <a:solidFill>
              <a:srgbClr val="E6E6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5461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回忆你遇到过的编程问题，尝试用清晰的语言向AI描述并寻求解决方案。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提示词模板库：提升你的开发效率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49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功能实现模板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1905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“作为一名[角色]，请帮我实现[功能名称]功能。我使用的技术栈是[技术栈]。请给出详细的步骤和代码示例。”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E6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587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1549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代码解释模板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048500" y="1905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“请解释这段代码的功能和工作原理：[粘贴代码片段]。”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29845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17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31369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Bug修复模板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500" y="3492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“我遇到了一个问题：[描述问题]。这是相关的代码：[粘贴代码片段]。请帮我找出问题并提供解决方案。”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9845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317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31369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方案设计模板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048500" y="3492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“我需要设计一个[功能/系统]，请帮我分析需求并提出一个技术方案，包括技术选型和实现步骤。”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699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4927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4889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学生行动指令：选择一个模板，结合 SafeWalk 项目进行修改和使用。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敏捷实践：每日站会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5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基本信息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目的：</a:t>
            </a:r>
            <a:r>
              <a:rPr lang="en-US" sz="1300" b="0" i="0" u="none" strike="noStrike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同步进度、识别障碍、调整计划，确保目标达成。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时间：</a:t>
            </a:r>
            <a:r>
              <a:rPr lang="en-US" sz="1300" b="0" i="0" u="none" strike="noStrike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每日固定（如10点），&lt;15分钟。</a:t>
            </a:r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人员：</a:t>
            </a:r>
            <a:r>
              <a:rPr lang="en-US" sz="1300" b="0" i="0" u="none" strike="noStrike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全体团队成员。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1651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65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核心三问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159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E6E6FA"/>
                </a:solidFill>
                <a:latin typeface="Poppins"/>
                <a:ea typeface="Poppins"/>
                <a:cs typeface="Poppins"/>
                <a:sym typeface="Poppins"/>
              </a:rPr>
              <a:t>1. 昨天完成了什么？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E6E6FA"/>
                </a:solidFill>
                <a:latin typeface="Poppins"/>
                <a:ea typeface="Poppins"/>
                <a:cs typeface="Poppins"/>
                <a:sym typeface="Poppins"/>
              </a:rPr>
              <a:t>2. 今天计划做什么？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E6E6FA"/>
                </a:solidFill>
                <a:latin typeface="Poppins"/>
                <a:ea typeface="Poppins"/>
                <a:cs typeface="Poppins"/>
                <a:sym typeface="Poppins"/>
              </a:rPr>
              <a:t>3. 遇到了什么障碍？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E6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1651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65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E6FA"/>
                </a:solidFill>
                <a:latin typeface="Poppins"/>
                <a:ea typeface="Poppins"/>
                <a:cs typeface="Poppins"/>
                <a:sym typeface="Poppins"/>
              </a:rPr>
              <a:t>注意事项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159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• 站会是</a:t>
            </a:r>
            <a:r>
              <a:rPr lang="en-US" sz="13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沟通会议</a:t>
            </a:r>
            <a:r>
              <a:rPr lang="en-US" sz="1300" b="0" i="0" u="none" strike="noStrike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，非问题解决会议。具体问题会后讨论。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• 保持简洁高效，避免冗长讨论，严格控制时间。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546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5085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行动指令：</a:t>
            </a:r>
            <a:r>
              <a:rPr lang="en-US" sz="1600" b="0" i="0" u="none" strike="noStrike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制定你们团队的每日站会时间表和沟通方式（线上/线下）。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092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每日站会是敏捷团队保持节奏、快速响应变化的关键仪式。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1 详细时间规划（按天）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15367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1422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Day 1: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环境搭建与分工 (Firebase/AS)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19939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21336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06500" y="20193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Day 2: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学习Auth文档，编写注册代码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5908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" y="2730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06500" y="2616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Day 3: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完成注册登录功能与真机测试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1877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9000" y="33274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06500" y="32131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Day 4: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集成Google Maps SDK与定位API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7846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9000" y="39243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06500" y="381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Day 5: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实现设备定位与地图标记显示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3815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9000" y="45212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06500" y="44069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Day 6: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设计数据库结构，学习读写操作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9784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9000" y="51181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206500" y="50038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Day 7: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实现位置数据实时上传数据库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13970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0" y="15367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794500" y="1422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Day 8: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守护者端监听并更新用户位置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19939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77000" y="21336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794500" y="20193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Day 9: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实现行程开始、结束与确认逻辑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350000" y="25908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77000" y="27305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794500" y="2616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Day 10: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整体功能联调，修复测试Bug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350000" y="31877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000" y="33274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6794500" y="32131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Day 11-12: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外部测试反馈，优化UI体验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350000" y="3784600"/>
            <a:ext cx="5334000" cy="533400"/>
          </a:xfrm>
          <a:prstGeom prst="roundRect">
            <a:avLst>
              <a:gd name="adj" fmla="val 238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477000" y="3924300"/>
            <a:ext cx="254000" cy="2540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6794500" y="381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Day 13-14:</a:t>
            </a:r>
            <a:r>
              <a:rPr lang="en-US" sz="13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准备演示版本，完善项目文档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35000" y="5842000"/>
            <a:ext cx="10922000" cy="635000"/>
          </a:xfrm>
          <a:prstGeom prst="roundRect">
            <a:avLst>
              <a:gd name="adj" fmla="val 200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25500" y="6007100"/>
            <a:ext cx="304800" cy="3048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1206500" y="5905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</a:t>
            </a: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根据这个详细计划，结合团队成员技术水平，灵活调整任务安排和时间节点。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团队协作工具推荐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4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项目管理工具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1930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Trello：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简单易用的看板工具，适合任务跟踪和可视化管理。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Jira：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功能强大，适合复杂项目的流程管理。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587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54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代码协作工具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112000" y="1930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/ GitLab：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用于代码版本控制和协作开发，支持分支管理和代码审查。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048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E6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20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沟通工具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3581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Slack / Discord：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即时通讯，支持频道分类讨论。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腾讯会议 / Zoom：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用于线上会议和视频沟通。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50000" y="3048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238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20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文档协作工具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3581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Google Docs / Notion：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支持多人实时协作编辑，适合撰写文档和会议记录。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826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054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5016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学生行动指令：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选择1-2个工具，为你们团队的协作制定使用规则。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1 任务分解与分配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109723"/>
              </p:ext>
            </p:extLst>
          </p:nvPr>
        </p:nvGraphicFramePr>
        <p:xfrm>
          <a:off x="762000" y="1397000"/>
          <a:ext cx="7874000" cy="3708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任务内容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预估时间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搭建Firebase项目并配置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2小时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实现用户注册/登录功能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4小时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集成地图SDK并显示地图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3小时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实现实时定位功能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3小时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实现位置共享给守护者</a:t>
                      </a:r>
                      <a:endParaRPr lang="en-US" sz="1100" dirty="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4小时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实现到达确认功能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2小时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整体测试与Bug修复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3小时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E6E6FA">
              <a:alpha val="15000"/>
            </a:srgbClr>
          </a:solidFill>
          <a:ln w="12700" cap="flat" cmpd="sng">
            <a:solidFill>
              <a:srgbClr val="FFB6C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638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5588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根据团队成员的技能，为你的团队分配任务。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AI协作工作流示例：实现用户注册功能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7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需求描述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向ChatGPT描述需求：为SafeWalk APP实现用户注册功能，支持邮箱密码注册及自动登录，使用Firebase在Android平台实现。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FFB6C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1714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67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AI生成方案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159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提供详细步骤：创建Firebase项目、添加应用、启用Auth服务，并生成Android端调用注册接口的示例代码。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E6E6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171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67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实现与验证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159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团队成员基于AI方案编写代码，在真机或模拟器上进行测试，确保注册流程顺畅无误。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7244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572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学生行动指令：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尝试向AI工具描述“用户登录”功能，看看它会给出什么建议。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AI协作工作流示例：实现实时位置共享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2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需求描述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向AI明确技术栈（Firebase + Google Maps）与目标：“实现用户A实时位置在用户B地图上显示”，请求思路与代码。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E6E6FA">
              <a:alpha val="10000"/>
            </a:srgbClr>
          </a:solidFill>
          <a:ln w="12700" cap="flat" cmpd="sng">
            <a:solidFill>
              <a:srgbClr val="E6E6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1651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62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AI生成方案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159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1. 用户A设备GPS定位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2. 实时写入Firebase数据库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3. 用户B监听数据变化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4. 地图实时更新标记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B6C1">
              <a:alpha val="10000"/>
            </a:srgbClr>
          </a:solidFill>
          <a:ln w="12700" cap="flat" cmpd="sng">
            <a:solidFill>
              <a:srgbClr val="FFB6C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1651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62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实现与验证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159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团队成员依据AI提供的代码示例，分别实现位置上传与监听功能，并进行端到端联调测试，确保功能闭环。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7244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699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思考时刻：</a:t>
            </a:r>
            <a:r>
              <a:rPr lang="en-US" sz="18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如何向AI清晰描述“偏离路线提醒”功能的需求？请结合场景、技术栈和预期效果进行构思。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提示词工程：如何与AI有效沟通？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494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角色设定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明确AI身份，如“资深Android开发工程师”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1397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0" y="1587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65600" y="15494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任务描述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576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清晰、具体地说明需要完成的目标与任务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1397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E6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2700" y="1587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70700" y="15494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背景信息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627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提供技术栈、平台、现有代码等上下文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0" y="1397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80500" y="1587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588500" y="15494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输出要求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指定期望格式，如代码、步骤、方案设计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292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304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示例示范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“作为一名资深的Android开发工程师，请帮我实现一个用户注册功能，使用Firebase Authentication，要求包含邮箱和密码验证。请给出详细的步骤和代码示例。”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445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46863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524000" y="4635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行动指令：使用上述框架，为“模拟来电”功能撰写一个完整的提示词。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验证检查清单：确保AI生成内容的正确性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76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功能完整性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代码是否实现了所有要求的功能？是否满足业务需求？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524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1714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1676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语法正确性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159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代码是否有语法错误？能否正常编译运行？无拼写错误？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1524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171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63000" y="1676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逻辑正确性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2159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逻辑是否符合预期？是否考虑了边界条件和异常情况？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175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3365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3327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安全性检查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3810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是否存在安全隐患？如硬编码密钥、未验证的用户输入等。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81500" y="3175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5500" y="3365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143500" y="3327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代码可读性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35500" y="3810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是否有清晰的注释和规范的命名，便于团队理解和维护？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080000"/>
            <a:ext cx="10668000" cy="88900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00BFFF">
                  <a:alpha val="20000"/>
                </a:srgbClr>
              </a:gs>
              <a:gs pos="100000">
                <a:srgbClr val="FFB6C1">
                  <a:alpha val="20000"/>
                </a:srgbClr>
              </a:gs>
            </a:gsLst>
            <a:lin ang="0"/>
          </a:gra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53213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524000" y="5270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行动指令：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使用这个清单，检查你之前让AI生成的任何代码，确保项目质量与安全。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1 时间规划（2周）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第 1 周：基础搭建与核心集成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68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 Firebase 项目配置与环境搭建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开发用户认证模块（注册/登录/权限）</a:t>
            </a: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集成地图 SDK 并实现基础地图显示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B6C1">
              <a:alpha val="15000"/>
            </a:srgbClr>
          </a:solidFill>
          <a:ln w="12700" cap="flat" cmpd="sng">
            <a:solidFill>
              <a:srgbClr val="FFB6C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58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第 2 周：功能开发与测试验收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1968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实现实时定位追踪与位置共享功能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开发到达确认与状态同步机制</a:t>
            </a: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整体功能测试、Bug 修复与版本提交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30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E6FA"/>
                </a:solidFill>
                <a:latin typeface="Poppins"/>
                <a:ea typeface="Poppins"/>
                <a:cs typeface="Poppins"/>
                <a:sym typeface="Poppins"/>
              </a:rPr>
              <a:t>关键里程碑 (Key Milestones)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4057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/>
        </p:nvSpPr>
        <p:spPr>
          <a:xfrm>
            <a:off x="1524000" y="3962400"/>
            <a:ext cx="203200" cy="203200"/>
          </a:xfrm>
          <a:prstGeom prst="ellipse">
            <a:avLst/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425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 3 天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用户认证模块开发与测试完成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191000" y="3962400"/>
            <a:ext cx="203200" cy="203200"/>
          </a:xfrm>
          <a:prstGeom prst="ellipse">
            <a:avLst/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3429000" y="425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 7 天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地图显示与实时定位功能就绪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858000" y="3962400"/>
            <a:ext cx="203200" cy="203200"/>
          </a:xfrm>
          <a:prstGeom prst="ellipse">
            <a:avLst/>
          </a:prstGeom>
          <a:solidFill>
            <a:srgbClr val="FFB6C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096000" y="425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第 10 天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位置共享功能开发完毕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525000" y="3962400"/>
            <a:ext cx="203200" cy="203200"/>
          </a:xfrm>
          <a:prstGeom prst="ellipse">
            <a:avLst/>
          </a:prstGeom>
          <a:solidFill>
            <a:srgbClr val="FFB6C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763000" y="425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6C1"/>
                </a:solidFill>
                <a:latin typeface="Noto Sans SC"/>
                <a:ea typeface="Noto Sans SC"/>
                <a:cs typeface="Noto Sans SC"/>
                <a:sym typeface="Noto Sans SC"/>
              </a:rPr>
              <a:t>第 14 天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所有功能完成并提交测试版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E6E6FA">
              <a:alpha val="10000"/>
            </a:srgbClr>
          </a:solidFill>
          <a:ln w="12700" cap="flat" cmpd="sng">
            <a:solidFill>
              <a:srgbClr val="E6E6FA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689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397000" y="5588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请各团队根据此框架，制定更详细的每日或每周执行计划，确保里程碑按时达成。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风险识别与应对预案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638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24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AI生成代码存在Bug或不符预期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1524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加强代码审查和测试，准备备选方案；将复杂功能拆解，逐步验证。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413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654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2540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团队成员不熟悉新技术(如Firebase)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540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利用AI工具学习文档；寻求导师或社区帮助；安排技术分享会。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6703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3556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第三方API服务中断或收费问题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3556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准备备用API方案（如高德替代Google）；利用免费额度开发测试。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686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4572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开发进度落后于计划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72000" y="4572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调整优先级聚焦核心功能；增加沟通频率，及时解决阻碍问题。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588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715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33500" y="56896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行动指令：</a:t>
            </a:r>
            <a:r>
              <a:rPr lang="en-US" sz="1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思考你的团队可能面临的其他风险，并制定相应的应对措施。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55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课程总结：SafeWalk项目实战规划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429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核心收获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19685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掌握项目需求分析与功能拆解方法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了解AI工具链选型与组合策略</a:t>
            </a:r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制定Sprint 1开发计划与任务分配</a:t>
            </a:r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掌握提示词工程与AI沟通验证机制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1397000"/>
            <a:ext cx="3429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B6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158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530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6C1"/>
                </a:solidFill>
                <a:latin typeface="Poppins"/>
                <a:ea typeface="Poppins"/>
                <a:cs typeface="Poppins"/>
                <a:sym typeface="Poppins"/>
              </a:rPr>
              <a:t>关键行动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19685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立即执行Sprint 1计划，实践所学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定期团队沟通，跟踪进度解决问题</a:t>
            </a:r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记录开发过程中的问题与解决方案</a:t>
            </a:r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完成阶段任务的自我验收与复盘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001000" y="1397000"/>
            <a:ext cx="3429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E6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1587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5725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E6FA"/>
                </a:solidFill>
                <a:latin typeface="Poppins"/>
                <a:ea typeface="Poppins"/>
                <a:cs typeface="Poppins"/>
                <a:sym typeface="Poppins"/>
              </a:rPr>
              <a:t>下一阶段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19685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学习AI关怀功能的实现逻辑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探索模拟来电等高级交互功能</a:t>
            </a:r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优化用户体验与界面交互设计</a:t>
            </a:r>
          </a:p>
          <a:p>
            <a:pPr marL="165100" indent="-1651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准备Sprint 2的迭代规划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003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4826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学生行动指令：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请写下你在本次课程中最大的收获和接下来最想做的一件事，开启你的开发之旅。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9600" y="1651000"/>
            <a:ext cx="812800" cy="812800"/>
          </a:xfrm>
          <a:prstGeom prst="rect">
            <a:avLst/>
          </a:prstGeom>
          <a:effectLst>
            <a:outerShdw blurRad="127000" dir="2700000" algn="tl" rotWithShape="0">
              <a:srgbClr val="00BFFF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191000" y="2540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3429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6E6FA"/>
                </a:solidFill>
                <a:latin typeface="Noto Sans SC"/>
                <a:ea typeface="Noto Sans SC"/>
                <a:cs typeface="Noto Sans SC"/>
                <a:sym typeface="Noto Sans SC"/>
              </a:rPr>
              <a:t>有问题吗？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71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欢迎提出疑问或分享项目经验，我们一起探讨解决方案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34376">
            <a:off x="5461032" y="4057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B6C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2546</Words>
  <Application>Microsoft Office PowerPoint</Application>
  <PresentationFormat>宽屏</PresentationFormat>
  <Paragraphs>463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Noto Sans SC</vt:lpstr>
      <vt:lpstr>Arial</vt:lpstr>
      <vt:lpstr>Poppins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PENG GG</cp:lastModifiedBy>
  <cp:revision>1</cp:revision>
  <dcterms:modified xsi:type="dcterms:W3CDTF">2026-03-17T19:14:08Z</dcterms:modified>
</cp:coreProperties>
</file>