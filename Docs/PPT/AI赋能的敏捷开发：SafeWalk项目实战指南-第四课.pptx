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4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大家好，欢迎来到Technovation Girls第三次课程。在前两节课中，我们已经系统地学习了VibeCoding方法论，理解了人机协作编程的核心思想。今天，我们将进入实战环节，聚焦于我们的SafeWalk项目，深入探讨需求分析与功能设计，并制定出第一阶段的详细开发计划。希望通过今天的学习，大家能够将理论知识应用到实际项目中，迈出开发的关键一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始具体的开发之前，我们先一起回顾一下SafeWalk项目的核心需求。我们的目标是解决女生夜间出行的安全问题，主要针对步行和乘车两个场景。我们设计了两种模式来应对不同的需求：步行模式强调实时守护和AI陪伴，乘车模式则侧重于信息记录和紧急求助。请大家思考一下，在这些功能中，你认为哪一个是最能解决用户痛点、最核心的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现在，我们进入实战环节。我们将第一个开发阶段（Sprint 1）的目标设定为完成步行模式的基础功能，打造一个最小可行产品。这包括用户注册登录、行程设置、位置共享和到达确认这四个核心功能。这个目标是基于我们对核心用户需求的理解而设定的。请大家确认一下，这个目标是否覆盖了你认为最核心的用户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接下来，我们详细讲解用户认证模块的技术实现方案。我们选择Firebase Authentication来快速实现这一功能。整个过程分为八个步骤，从项目配置到界面设计，再到具体的代码实现。每一步都有明确的目标和操作。理解这些步骤，有助于我们更好地向AI提问，或者在遇到问题时快速定位原因。现在，请大家尝试画出用户认证模块的流程图，梳理整个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在Sprint 1开始前，我们需要明确项目的技术选型和工具链。这决定了我们开发的效率和产品的最终质量。</a:t>
            </a:r>
          </a:p>
          <a:p>
            <a:pPr indent="0" algn="l">
              <a:lnSpc>
                <a:spcPct val="100000"/>
              </a:lnSpc>
            </a:pPr>
            <a:r>
              <a:rPr lang="en-US" sz="1400" b="0" i="0" u="none" strike="noStrike">
                <a:solidFill>
                  <a:srgbClr val="000000"/>
                </a:solidFill>
              </a:rPr>
              <a:t>我们选择了Android Studio作为开发工具，Firebase作为后端服务，以及Google Maps API来实现地图功能。同时，我们也会利用AI工具来辅助开发。</a:t>
            </a:r>
          </a:p>
          <a:p>
            <a:pPr indent="0" algn="l">
              <a:lnSpc>
                <a:spcPct val="100000"/>
              </a:lnSpc>
            </a:pPr>
            <a:r>
              <a:rPr lang="en-US" sz="1400" b="0" i="0" u="none" strike="noStrike">
                <a:solidFill>
                  <a:srgbClr val="000000"/>
                </a:solidFill>
              </a:rPr>
              <a:t>请大家确认自己团队的技术栈，并确保每位成员都熟悉这些工具的使用。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高效的团队协作是项目成功的关键。在Sprint 1中，我们建立了明确的任务分配机制、每日站会制度、代码协作规范和沟通渠道。这些机制确保了信息的及时同步和问题的快速解决。请大家回顾自己团队的协作过程，总结经验，为Sprint 2的协作效率提升做好准备。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车牌信息管理是乘车模式的基础功能。它的核心是确保车牌信息的准确录入、安全存储和及时同步。这里我们详细拆解了该模块的功能流程和技术细节，特别是输入验证和数据模型的设计。请大家根据自己所在地区的车牌特点，完成输入验证的正则表达式编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拟来电功能是乘车模式的核心亮点，它能在关键时刻帮助用户摆脱困境。这个模块的实现依赖于第三方云通信服务Twilio。我们详细拆解了其功能流程和技术细节，包括API调用和界面设计。大家可以尝试在Twilio平台上进行测试，熟悉API的使用方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键SOS是保障用户安全的最后一道防线，其设计必须做到快速、可靠。我们详细拆解了该模块的触发流程、通知机制和技术细节。特别是在通知内容的设计上，要确保守护者能第一时间获取关键信息。请大家设计出清晰、有效的SOS通知格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I关怀的关键在于能理解用户的处境并提供恰当的帮助。这里展示了一个用户路线偏离的对话场景。AI不仅能发现异常，还能根据用户的不同回复，提供从路线规划到紧急求助的不同层次的帮助。请大家分析这个场景的设计思路，理解如何让AI的回应更加智能和贴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深夜独行是用户最容易感到不安的场景之一。在这个案例中，AI主动发起关怀，通过聊天来缓解用户的恐惧，并在用户明确表示危险时立即采取行动。这体现了AI关怀从“陪伴”到“守护”的转变。请大家尝试设计其他场景下的对话流程，让AI的关怀更加全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要实现自然的AI对话，我们可以集成OpenAI的ChatGPT API。这里提供了一个简单的Java代码示例，展示了如何构建请求、调用API并处理响应。</a:t>
            </a:r>
          </a:p>
          <a:p>
            <a:pPr indent="0" algn="l">
              <a:lnSpc>
                <a:spcPct val="100000"/>
              </a:lnSpc>
            </a:pPr>
            <a:r>
              <a:rPr lang="en-US" sz="1400" b="0" i="0" u="none" strike="noStrike">
                <a:solidFill>
                  <a:srgbClr val="000000"/>
                </a:solidFill>
              </a:rPr>
              <a:t>左侧的代码展示了核心流程：首先构建包含用户输入和提示词的请求体，然后调用GPT-3.5 Turbo模型，最后从响应中提取AI的回答。</a:t>
            </a:r>
          </a:p>
          <a:p>
            <a:pPr indent="0" algn="l">
              <a:lnSpc>
                <a:spcPct val="100000"/>
              </a:lnSpc>
            </a:pPr>
            <a:r>
              <a:rPr lang="en-US" sz="1400" b="0" i="0" u="none" strike="noStrike">
                <a:solidFill>
                  <a:srgbClr val="000000"/>
                </a:solidFill>
              </a:rPr>
              <a:t>需要特别注意的是，在Android开发中，网络请求不能在主线程中执行，必须使用异步任务或协程；同时要记得在Manifest文件中添加网络权限，并做好错误处理，以提升用户体验。</a:t>
            </a:r>
          </a:p>
          <a:p>
            <a:pPr indent="0" algn="l">
              <a:lnSpc>
                <a:spcPct val="100000"/>
              </a:lnSpc>
            </a:pPr>
            <a:r>
              <a:rPr lang="en-US" sz="1400" b="0" i="0" u="none" strike="noStrike">
                <a:solidFill>
                  <a:srgbClr val="000000"/>
                </a:solidFill>
              </a:rPr>
              <a:t>接下来，请大家参考这个示例，尝试在自己的项目中集成AI对话功能。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优秀的用户体验往往体现在细节之中。在界面设计上，我们需要关注色彩、字体、按钮和信息层级等多个方面，确保用户能够轻松、愉快地使用我们的产品。请大家仔细检查自己APP的界面，从这些细节入手，进行优化和改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燃尽图是敏捷开发中常用的进度跟踪工具，它能帮助我们直观地了解项目的进展情况。通过绘制和分析燃尽图，我们可以及时发现进度偏差，并采取相应的措施。请大家尝试使用燃尽图来管理你们Sprint 2的开发进度。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技术债务是每个软件开发项目都可能面临的问题。如果不及时管理，它会像滚雪球一样越积越多，最终导致项目维护困难，甚至无法继续开发。因此，我们需要学会识别、记录和偿还技术债务。请大家检查自己的代码，看看是否存在需要偿还的技术债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次成功的演示是项目评审的关键。除了产品本身的质量，演示的技巧和表现也同样重要。这里为大家总结了演示前、演示中和演示后的一些注意事项和技巧。希望大家能够充分准备，在评审中展现出团队和产品的最佳状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项目的结束并不意味着学习的结束。通过项目总结与复盘，我们可以回顾整个开发过程，总结成功经验，分析遇到的挑战，并为未来的项目制定改进方向。这是团队成长和个人提升的重要环节。请大家认真组织复盘会议，从这次项目中汲取宝贵的经验教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欢迎来到Sprint 2的规划阶段。这一阶段对我们的项目至关重要，因为我们将实现两个核心功能：乘车模式和AI关怀。这不仅是功能的增加，更是产品理念的升级，从简单的位置共享，升级为主动的、有温度的安全守护。请大家思考，完成这些功能后，我们的产品将在哪些方面得到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始开发之前，我们需要再次深入理解用户需求。这里展示了三个典型的乘车场景用户故事。每个故事背后都反映了用户的核心痛点：信息共享、紧急求助和场景化脱困。理解这些深层需求，是我们设计出优秀功能的前提。请大家选择一个故事，思考如何将用户的愿望转化为具体的产品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用户故事，我们将乘车模式的三个核心功能进一步拆解为具体的技术任务。每个任务都有明确的目标和产出。例如，车牌管理模块不仅要实现手动输入，还要考虑自动识别的可能性。这种细致的拆解有助于我们准确评估工作量，合理分配任务，并确保开发过程的清晰和高效。请大家针对自己负责的模块，继续细化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好的界面设计是良好用户体验的基础。这里展示了乘车模式几个关键界面的低保真原型。这些线框图定义了界面的基本布局和元素位置，帮助我们在编码前就对产品的视觉和交互达成共识。请大家仔细查看这些原型，思考用户在使用过程中可能遇到的交互问题，并提出改进建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实现模拟来电功能有多种技术方案，每种方案都有其优缺点。我们需要根据团队的实际情况做出选择。</a:t>
            </a:r>
          </a:p>
          <a:p>
            <a:pPr indent="0" algn="l">
              <a:lnSpc>
                <a:spcPct val="100000"/>
              </a:lnSpc>
            </a:pPr>
            <a:r>
              <a:rPr lang="en-US" sz="1400" b="0" i="0" u="none" strike="noStrike">
                <a:solidFill>
                  <a:srgbClr val="000000"/>
                </a:solidFill>
              </a:rPr>
              <a:t>Twilio API能提供最真实的体验，但成本和复杂度较高；本地模拟来电实现简单，但功能有限；第三方集成虽然快，但可控性差。</a:t>
            </a:r>
          </a:p>
          <a:p>
            <a:pPr indent="0" algn="l">
              <a:lnSpc>
                <a:spcPct val="100000"/>
              </a:lnSpc>
            </a:pPr>
            <a:r>
              <a:rPr lang="en-US" sz="1400" b="0" i="0" u="none" strike="noStrike">
                <a:solidFill>
                  <a:srgbClr val="000000"/>
                </a:solidFill>
              </a:rPr>
              <a:t>请各团队结合自身的技术能力、时间和预算，讨论并确定最终的技术方案。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为了实现车牌自动识别功能，我们可以利用Google的ML Kit，它提供了强大且易用的文本识别API。整个过程分为六个步骤，从启用服务到处理识别结果。需要注意的是，识别并非100%准确，所以我们必须设计好容错机制，确保用户体验的流畅。大家可以尝试编写这部分的核心代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I关怀功能的核心在于“适时”和“贴心”。我们设计了多种触发机制，确保AI能在用户最需要的时候出现。同时，对话流程的设计也至关重要，要根据用户的不同回复给出恰当、有帮助的回应。这里展示了一个用户长时间静止的对话示例，大家可以尝试设计其他场景下的对话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实现AI对话功能有两种主要思路：规则引擎和大语言模型API。规则引擎简单直接，而大语言模型则更智能。无论选择哪种方案，优秀的提示词设计都至关重要。一个好的提示词能让AI更好地理解其角色和任务，从而生成更符合预期的回复。大家可以尝试为一个具体场景设计提示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测试是确保功能质量的关键环节。这里为乘车模式的核心功能设计了详细的测试用例。每个用例都明确了测试点、执行步骤和预期结果，确保我们能全面验证功能的正确性。请大家为AI关怀功能也设计类似的测试用例，思考如何验证AI的对话逻辑和触发机制是否正常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个优秀的产品不仅功能要强大，细节体验也至关重要。在开发过程中，我们要时刻关注用户体验的优化。例如，在锁屏界面添加快捷操作可以极大提升紧急情况下的使用效率；而个性化的AI设置则能让产品更有温度。请大家从用户的角度出发，思考还有哪些细节可以改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Sprint 2的开发任务更加复杂，良好的项目管理和团队协作至关重要。我们需要通过精细化的任务管理、高效的沟通机制和规范的代码协作，来确保开发过程的顺利进行。请各团队检查并完善自己的管理和协作方式，为Sprint 2的成功奠定基础。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在Sprint 2的开发过程中，我们可能会遇到各种风险。提前识别这些风险并制定应对策略，可以帮助我们从容应对挑战，确保项目顺利进行。这里分析了技术、进度和团队三个方面的主要风险及应对方案。请各团队结合自身情况，进行更全面的风险评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这里为Sprint 2制定了一个详细的两周时间规划，明确了每天的主要任务和里程碑。第一周重点开发乘车模式，第二周则专注于AI关怀功能和整体优化。请各团队根据这个计划，结合自己的实际情况，制定更具体的每日任务清单，确保开发工作有条不紊地进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Sprint 2结束后，我们将迎来重要的评审环节。充分的准备是成功的关键。我们需要准备高质量的演示视频和PPT，清晰地展示我们的成果。同时，也要预测评审中可能遇到的问题，并做好应对准备。请大家从现在开始就着手准备演示材料，并进行内部预演，确保在评审中展现出团队的最佳水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第四次课程到此结束。通过这次课程，我们为Sprint 2的开发做好了充分的准备。现在，SafeWalk项目已经进入了冲刺阶段，距离最终的成功只有一步之遥。希望大家能够全力以赴，完成开发任务，优化产品体验，准备好最终的展示。期待在比赛中看到你们的精彩表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在总结了Sprint 1的经验后，我们迎来了Sprint 2。这一阶段的目标是开发乘车模式的核心功能，并为步行模式增加AI关怀这一亮点功能。这些功能将极大地提升SafeWalk的实用性和用户体验。请大家再次回顾乘车模式的用户故事，思考我们设定的目标是否准确地抓住了用户的核心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为了实现Sprint 2的目标，我们需要将乘车模式的功能进一步拆解为具体的技术任务。这里我们将其分为三个模块：车牌信息管理、模拟来电和一键SOS。每个模块都包含了明确的子任务。例如，模拟来电功能需要我们集成Twilio的API服务。请大家针对自己负责的任务，思考完成它需要哪些具体的技术步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I关怀是SafeWalk的特色功能，它让APP不再是一个冰冷的工具，而是一个有温度的陪伴者。我们需要精心设计触发条件和对话流程，让AI的出现既及时又贴心。例如，在用户感到害怕时，AI能提供实际的帮助。大家可以尝试设计一个对话场景，并思考如何通过提示词让AI理解并执行这个对话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拟来电功能是乘车模式的核心亮点，它能在关键时刻帮助用户摆脱危险。实现这一功能的关键是集成Twilio的API服务。整个过程包括注册账号、购买号码、集成API、设计界面和发起通话等步骤。其中，如何让用户自定义通话内容是提升功能实用性的关键。大家可以思考一下，如何实现让用户录制自己的声音作为通话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最后，我们需要为Sprint 2制定详细的行动部署计划。这包括明确的时间规划、合理的任务分配以及对潜在风险的应对预案。特别是对于AI关怀这样的复杂功能，我们要有分步实现的策略。请各团队根据自身情况，制定出适合自己的Sprint 2执行计划，确保开发工作有序进行。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第四次课程到此结束。在本次课程中，我们完成了从Sprint 1到Sprint 2的过渡，明确了下一阶段的开发任务和目标。</a:t>
            </a:r>
          </a:p>
          <a:p>
            <a:pPr indent="0" algn="l">
              <a:lnSpc>
                <a:spcPct val="100000"/>
              </a:lnSpc>
            </a:pPr>
            <a:r>
              <a:rPr lang="en-US" sz="1400" b="0" i="0" u="none" strike="noStrike">
                <a:solidFill>
                  <a:srgbClr val="000000"/>
                </a:solidFill>
              </a:rPr>
              <a:t>我们回顾了敏捷开发的核心流程，特别是评审与回顾的重要性。对于Sprint 2，我们的目标非常明确：聚焦于乘车模式和AI关怀功能的实现，并攻克了模拟来电等技术难点。</a:t>
            </a:r>
          </a:p>
          <a:p>
            <a:pPr indent="0" algn="l">
              <a:lnSpc>
                <a:spcPct val="100000"/>
              </a:lnSpc>
            </a:pPr>
            <a:r>
              <a:rPr lang="en-US" sz="1400" b="0" i="0" u="none" strike="noStrike">
                <a:solidFill>
                  <a:srgbClr val="000000"/>
                </a:solidFill>
              </a:rPr>
              <a:t>接下来，大家将进入紧张的Sprint 2开发阶段。希望大家能够运用所学的知识，深入探索AI应用，持续优化产品体验。同时，请大家着手准备最终的展示材料。期待在最终的展示中看到你们的精彩成果！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现在是问答环节，大家对今天的内容有任何疑问，或者在项目开发中遇到了什么问题，都可以提出来，我们一起讨论解决。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3" Type="http://schemas.openxmlformats.org/officeDocument/2006/relationships/image" Target="../media/image6.jpeg"/><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image" Target="../media/image6.jpeg"/><Relationship Id="rId7" Type="http://schemas.openxmlformats.org/officeDocument/2006/relationships/image" Target="../media/image20.svg"/><Relationship Id="rId12" Type="http://schemas.openxmlformats.org/officeDocument/2006/relationships/image" Target="../media/image25.png"/><Relationship Id="rId17" Type="http://schemas.openxmlformats.org/officeDocument/2006/relationships/image" Target="../media/image30.svg"/><Relationship Id="rId2" Type="http://schemas.openxmlformats.org/officeDocument/2006/relationships/notesSlide" Target="../notesSlides/notesSlide3.xml"/><Relationship Id="rId16" Type="http://schemas.openxmlformats.org/officeDocument/2006/relationships/image" Target="../media/image29.png"/><Relationship Id="rId1" Type="http://schemas.openxmlformats.org/officeDocument/2006/relationships/slideLayout" Target="../slideLayouts/slideLayout12.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5" Type="http://schemas.openxmlformats.org/officeDocument/2006/relationships/image" Target="../media/image2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svg"/><Relationship Id="rId18" Type="http://schemas.openxmlformats.org/officeDocument/2006/relationships/image" Target="../media/image43.png"/><Relationship Id="rId3" Type="http://schemas.openxmlformats.org/officeDocument/2006/relationships/image" Target="../media/image6.jpeg"/><Relationship Id="rId7" Type="http://schemas.openxmlformats.org/officeDocument/2006/relationships/image" Target="../media/image34.svg"/><Relationship Id="rId12" Type="http://schemas.openxmlformats.org/officeDocument/2006/relationships/image" Target="../media/image39.png"/><Relationship Id="rId17" Type="http://schemas.openxmlformats.org/officeDocument/2006/relationships/image" Target="../media/image20.svg"/><Relationship Id="rId2" Type="http://schemas.openxmlformats.org/officeDocument/2006/relationships/notesSlide" Target="../notesSlides/notesSlide4.xml"/><Relationship Id="rId16" Type="http://schemas.openxmlformats.org/officeDocument/2006/relationships/image" Target="../media/image19.png"/><Relationship Id="rId1" Type="http://schemas.openxmlformats.org/officeDocument/2006/relationships/slideLayout" Target="../slideLayouts/slideLayout12.xml"/><Relationship Id="rId6" Type="http://schemas.openxmlformats.org/officeDocument/2006/relationships/image" Target="../media/image33.png"/><Relationship Id="rId11" Type="http://schemas.openxmlformats.org/officeDocument/2006/relationships/image" Target="../media/image38.svg"/><Relationship Id="rId5" Type="http://schemas.openxmlformats.org/officeDocument/2006/relationships/image" Target="../media/image32.svg"/><Relationship Id="rId15" Type="http://schemas.openxmlformats.org/officeDocument/2006/relationships/image" Target="../media/image42.svg"/><Relationship Id="rId10" Type="http://schemas.openxmlformats.org/officeDocument/2006/relationships/image" Target="../media/image37.png"/><Relationship Id="rId19" Type="http://schemas.openxmlformats.org/officeDocument/2006/relationships/image" Target="../media/image44.svg"/><Relationship Id="rId4" Type="http://schemas.openxmlformats.org/officeDocument/2006/relationships/image" Target="../media/image31.png"/><Relationship Id="rId9" Type="http://schemas.openxmlformats.org/officeDocument/2006/relationships/image" Target="../media/image36.svg"/><Relationship Id="rId14" Type="http://schemas.openxmlformats.org/officeDocument/2006/relationships/image" Target="../media/image41.png"/></Relationships>
</file>

<file path=ppt/slides/_rels/slide5.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svg"/><Relationship Id="rId3" Type="http://schemas.openxmlformats.org/officeDocument/2006/relationships/image" Target="../media/image6.jpeg"/><Relationship Id="rId7" Type="http://schemas.openxmlformats.org/officeDocument/2006/relationships/image" Target="../media/image48.svg"/><Relationship Id="rId12" Type="http://schemas.openxmlformats.org/officeDocument/2006/relationships/image" Target="../media/image53.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47.png"/><Relationship Id="rId11" Type="http://schemas.openxmlformats.org/officeDocument/2006/relationships/image" Target="../media/image52.svg"/><Relationship Id="rId5" Type="http://schemas.openxmlformats.org/officeDocument/2006/relationships/image" Target="../media/image46.svg"/><Relationship Id="rId15" Type="http://schemas.openxmlformats.org/officeDocument/2006/relationships/image" Target="../media/image56.sv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svg"/><Relationship Id="rId14" Type="http://schemas.openxmlformats.org/officeDocument/2006/relationships/image" Target="../media/image55.png"/></Relationships>
</file>

<file path=ppt/slides/_rels/slide6.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svg"/><Relationship Id="rId3" Type="http://schemas.openxmlformats.org/officeDocument/2006/relationships/image" Target="../media/image6.jpeg"/><Relationship Id="rId7" Type="http://schemas.openxmlformats.org/officeDocument/2006/relationships/image" Target="../media/image60.svg"/><Relationship Id="rId12" Type="http://schemas.openxmlformats.org/officeDocument/2006/relationships/image" Target="../media/image6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59.png"/><Relationship Id="rId11" Type="http://schemas.openxmlformats.org/officeDocument/2006/relationships/image" Target="../media/image64.svg"/><Relationship Id="rId5" Type="http://schemas.openxmlformats.org/officeDocument/2006/relationships/image" Target="../media/image58.sv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svg"/></Relationships>
</file>

<file path=ppt/slides/_rels/slide7.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svg"/><Relationship Id="rId3" Type="http://schemas.openxmlformats.org/officeDocument/2006/relationships/image" Target="../media/image6.jpeg"/><Relationship Id="rId7" Type="http://schemas.openxmlformats.org/officeDocument/2006/relationships/image" Target="../media/image70.svg"/><Relationship Id="rId12" Type="http://schemas.openxmlformats.org/officeDocument/2006/relationships/image" Target="../media/image7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69.png"/><Relationship Id="rId11" Type="http://schemas.openxmlformats.org/officeDocument/2006/relationships/image" Target="../media/image74.svg"/><Relationship Id="rId5" Type="http://schemas.openxmlformats.org/officeDocument/2006/relationships/image" Target="../media/image68.sv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svg"/></Relationships>
</file>

<file path=ppt/slides/_rels/slide8.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svg"/><Relationship Id="rId18" Type="http://schemas.openxmlformats.org/officeDocument/2006/relationships/image" Target="../media/image89.png"/><Relationship Id="rId3" Type="http://schemas.openxmlformats.org/officeDocument/2006/relationships/image" Target="../media/image6.jpeg"/><Relationship Id="rId7" Type="http://schemas.openxmlformats.org/officeDocument/2006/relationships/image" Target="../media/image78.svg"/><Relationship Id="rId12" Type="http://schemas.openxmlformats.org/officeDocument/2006/relationships/image" Target="../media/image83.png"/><Relationship Id="rId17" Type="http://schemas.openxmlformats.org/officeDocument/2006/relationships/image" Target="../media/image88.svg"/><Relationship Id="rId2" Type="http://schemas.openxmlformats.org/officeDocument/2006/relationships/notesSlide" Target="../notesSlides/notesSlide8.xml"/><Relationship Id="rId16"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77.png"/><Relationship Id="rId11" Type="http://schemas.openxmlformats.org/officeDocument/2006/relationships/image" Target="../media/image82.svg"/><Relationship Id="rId5" Type="http://schemas.openxmlformats.org/officeDocument/2006/relationships/image" Target="../media/image32.svg"/><Relationship Id="rId15" Type="http://schemas.openxmlformats.org/officeDocument/2006/relationships/image" Target="../media/image86.svg"/><Relationship Id="rId10" Type="http://schemas.openxmlformats.org/officeDocument/2006/relationships/image" Target="../media/image81.png"/><Relationship Id="rId19" Type="http://schemas.openxmlformats.org/officeDocument/2006/relationships/image" Target="../media/image90.svg"/><Relationship Id="rId4" Type="http://schemas.openxmlformats.org/officeDocument/2006/relationships/image" Target="../media/image31.png"/><Relationship Id="rId9" Type="http://schemas.openxmlformats.org/officeDocument/2006/relationships/image" Target="../media/image80.svg"/><Relationship Id="rId14" Type="http://schemas.openxmlformats.org/officeDocument/2006/relationships/image" Target="../media/image85.png"/></Relationships>
</file>

<file path=ppt/slides/_rels/slide9.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svg"/><Relationship Id="rId18" Type="http://schemas.openxmlformats.org/officeDocument/2006/relationships/image" Target="../media/image103.png"/><Relationship Id="rId3" Type="http://schemas.openxmlformats.org/officeDocument/2006/relationships/image" Target="../media/image6.jpeg"/><Relationship Id="rId7" Type="http://schemas.openxmlformats.org/officeDocument/2006/relationships/image" Target="../media/image94.svg"/><Relationship Id="rId12" Type="http://schemas.openxmlformats.org/officeDocument/2006/relationships/image" Target="../media/image99.png"/><Relationship Id="rId17" Type="http://schemas.openxmlformats.org/officeDocument/2006/relationships/image" Target="../media/image36.svg"/><Relationship Id="rId2" Type="http://schemas.openxmlformats.org/officeDocument/2006/relationships/notesSlide" Target="../notesSlides/notesSlide9.xml"/><Relationship Id="rId16" Type="http://schemas.openxmlformats.org/officeDocument/2006/relationships/image" Target="../media/image35.png"/><Relationship Id="rId1" Type="http://schemas.openxmlformats.org/officeDocument/2006/relationships/slideLayout" Target="../slideLayouts/slideLayout12.xml"/><Relationship Id="rId6" Type="http://schemas.openxmlformats.org/officeDocument/2006/relationships/image" Target="../media/image93.png"/><Relationship Id="rId11" Type="http://schemas.openxmlformats.org/officeDocument/2006/relationships/image" Target="../media/image98.svg"/><Relationship Id="rId5" Type="http://schemas.openxmlformats.org/officeDocument/2006/relationships/image" Target="../media/image92.svg"/><Relationship Id="rId15" Type="http://schemas.openxmlformats.org/officeDocument/2006/relationships/image" Target="../media/image102.svg"/><Relationship Id="rId10" Type="http://schemas.openxmlformats.org/officeDocument/2006/relationships/image" Target="../media/image97.png"/><Relationship Id="rId19" Type="http://schemas.openxmlformats.org/officeDocument/2006/relationships/image" Target="../media/image104.svg"/><Relationship Id="rId4" Type="http://schemas.openxmlformats.org/officeDocument/2006/relationships/image" Target="../media/image91.png"/><Relationship Id="rId9" Type="http://schemas.openxmlformats.org/officeDocument/2006/relationships/image" Target="../media/image96.svg"/><Relationship Id="rId14" Type="http://schemas.openxmlformats.org/officeDocument/2006/relationships/image" Target="../media/image101.png"/></Relationships>
</file>

<file path=ppt/slides/_rels/slide10.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6.jpeg"/><Relationship Id="rId7" Type="http://schemas.openxmlformats.org/officeDocument/2006/relationships/image" Target="../media/image108.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07.png"/><Relationship Id="rId11" Type="http://schemas.openxmlformats.org/officeDocument/2006/relationships/image" Target="../media/image16.svg"/><Relationship Id="rId5" Type="http://schemas.openxmlformats.org/officeDocument/2006/relationships/image" Target="../media/image106.svg"/><Relationship Id="rId10" Type="http://schemas.openxmlformats.org/officeDocument/2006/relationships/image" Target="../media/image15.png"/><Relationship Id="rId4" Type="http://schemas.openxmlformats.org/officeDocument/2006/relationships/image" Target="../media/image105.png"/><Relationship Id="rId9" Type="http://schemas.openxmlformats.org/officeDocument/2006/relationships/image" Target="../media/image110.sv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4.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03.png"/><Relationship Id="rId5" Type="http://schemas.openxmlformats.org/officeDocument/2006/relationships/image" Target="../media/image112.svg"/><Relationship Id="rId4" Type="http://schemas.openxmlformats.org/officeDocument/2006/relationships/image" Target="../media/image111.png"/></Relationships>
</file>

<file path=ppt/slides/_rels/slide12.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6.jpeg"/><Relationship Id="rId7" Type="http://schemas.openxmlformats.org/officeDocument/2006/relationships/image" Target="../media/image116.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15.png"/><Relationship Id="rId5" Type="http://schemas.openxmlformats.org/officeDocument/2006/relationships/image" Target="../media/image114.svg"/><Relationship Id="rId4" Type="http://schemas.openxmlformats.org/officeDocument/2006/relationships/image" Target="../media/image113.png"/><Relationship Id="rId9" Type="http://schemas.openxmlformats.org/officeDocument/2006/relationships/image" Target="../media/image118.svg"/></Relationships>
</file>

<file path=ppt/slides/_rels/slide13.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56.svg"/><Relationship Id="rId3" Type="http://schemas.openxmlformats.org/officeDocument/2006/relationships/image" Target="../media/image6.jpeg"/><Relationship Id="rId7" Type="http://schemas.openxmlformats.org/officeDocument/2006/relationships/image" Target="../media/image122.svg"/><Relationship Id="rId12"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21.png"/><Relationship Id="rId11" Type="http://schemas.openxmlformats.org/officeDocument/2006/relationships/image" Target="../media/image124.svg"/><Relationship Id="rId5" Type="http://schemas.openxmlformats.org/officeDocument/2006/relationships/image" Target="../media/image120.svg"/><Relationship Id="rId10" Type="http://schemas.openxmlformats.org/officeDocument/2006/relationships/image" Target="../media/image123.png"/><Relationship Id="rId4" Type="http://schemas.openxmlformats.org/officeDocument/2006/relationships/image" Target="../media/image119.png"/><Relationship Id="rId9" Type="http://schemas.openxmlformats.org/officeDocument/2006/relationships/image" Target="../media/image78.svg"/></Relationships>
</file>

<file path=ppt/slides/_rels/slide14.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image" Target="../media/image6.jpeg"/><Relationship Id="rId7" Type="http://schemas.openxmlformats.org/officeDocument/2006/relationships/image" Target="../media/image104.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03.png"/><Relationship Id="rId11" Type="http://schemas.openxmlformats.org/officeDocument/2006/relationships/image" Target="../media/image130.svg"/><Relationship Id="rId5" Type="http://schemas.openxmlformats.org/officeDocument/2006/relationships/image" Target="../media/image126.svg"/><Relationship Id="rId10" Type="http://schemas.openxmlformats.org/officeDocument/2006/relationships/image" Target="../media/image129.png"/><Relationship Id="rId4" Type="http://schemas.openxmlformats.org/officeDocument/2006/relationships/image" Target="../media/image125.png"/><Relationship Id="rId9" Type="http://schemas.openxmlformats.org/officeDocument/2006/relationships/image" Target="../media/image128.svg"/></Relationships>
</file>

<file path=ppt/slides/_rels/slide15.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6.jpeg"/><Relationship Id="rId7" Type="http://schemas.openxmlformats.org/officeDocument/2006/relationships/image" Target="../media/image132.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31.png"/><Relationship Id="rId11" Type="http://schemas.openxmlformats.org/officeDocument/2006/relationships/image" Target="../media/image136.svg"/><Relationship Id="rId5" Type="http://schemas.openxmlformats.org/officeDocument/2006/relationships/image" Target="../media/image36.svg"/><Relationship Id="rId10" Type="http://schemas.openxmlformats.org/officeDocument/2006/relationships/image" Target="../media/image135.png"/><Relationship Id="rId4" Type="http://schemas.openxmlformats.org/officeDocument/2006/relationships/image" Target="../media/image35.png"/><Relationship Id="rId9" Type="http://schemas.openxmlformats.org/officeDocument/2006/relationships/image" Target="../media/image134.svg"/></Relationships>
</file>

<file path=ppt/slides/_rels/slide16.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6.jpeg"/><Relationship Id="rId7" Type="http://schemas.openxmlformats.org/officeDocument/2006/relationships/image" Target="../media/image136.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35.png"/><Relationship Id="rId11" Type="http://schemas.openxmlformats.org/officeDocument/2006/relationships/image" Target="../media/image142.svg"/><Relationship Id="rId5" Type="http://schemas.openxmlformats.org/officeDocument/2006/relationships/image" Target="../media/image138.svg"/><Relationship Id="rId10" Type="http://schemas.openxmlformats.org/officeDocument/2006/relationships/image" Target="../media/image141.png"/><Relationship Id="rId4" Type="http://schemas.openxmlformats.org/officeDocument/2006/relationships/image" Target="../media/image137.png"/><Relationship Id="rId9" Type="http://schemas.openxmlformats.org/officeDocument/2006/relationships/image" Target="../media/image140.svg"/></Relationships>
</file>

<file path=ppt/slides/_rels/slide17.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svg"/><Relationship Id="rId3" Type="http://schemas.openxmlformats.org/officeDocument/2006/relationships/image" Target="../media/image6.jpeg"/><Relationship Id="rId7" Type="http://schemas.openxmlformats.org/officeDocument/2006/relationships/image" Target="../media/image146.svg"/><Relationship Id="rId12" Type="http://schemas.openxmlformats.org/officeDocument/2006/relationships/image" Target="../media/image151.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45.png"/><Relationship Id="rId11" Type="http://schemas.openxmlformats.org/officeDocument/2006/relationships/image" Target="../media/image150.svg"/><Relationship Id="rId5" Type="http://schemas.openxmlformats.org/officeDocument/2006/relationships/image" Target="../media/image144.svg"/><Relationship Id="rId10" Type="http://schemas.openxmlformats.org/officeDocument/2006/relationships/image" Target="../media/image149.png"/><Relationship Id="rId4" Type="http://schemas.openxmlformats.org/officeDocument/2006/relationships/image" Target="../media/image143.png"/><Relationship Id="rId9" Type="http://schemas.openxmlformats.org/officeDocument/2006/relationships/image" Target="../media/image148.svg"/></Relationships>
</file>

<file path=ppt/slides/_rels/slide18.xml.rels><?xml version="1.0" encoding="UTF-8" standalone="yes"?>
<Relationships xmlns="http://schemas.openxmlformats.org/package/2006/relationships"><Relationship Id="rId8" Type="http://schemas.openxmlformats.org/officeDocument/2006/relationships/image" Target="../media/image157.png"/><Relationship Id="rId3" Type="http://schemas.openxmlformats.org/officeDocument/2006/relationships/image" Target="../media/image6.jpeg"/><Relationship Id="rId7" Type="http://schemas.openxmlformats.org/officeDocument/2006/relationships/image" Target="../media/image156.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55.png"/><Relationship Id="rId11" Type="http://schemas.openxmlformats.org/officeDocument/2006/relationships/image" Target="../media/image66.svg"/><Relationship Id="rId5" Type="http://schemas.openxmlformats.org/officeDocument/2006/relationships/image" Target="../media/image154.svg"/><Relationship Id="rId10" Type="http://schemas.openxmlformats.org/officeDocument/2006/relationships/image" Target="../media/image65.png"/><Relationship Id="rId4" Type="http://schemas.openxmlformats.org/officeDocument/2006/relationships/image" Target="../media/image153.png"/><Relationship Id="rId9" Type="http://schemas.openxmlformats.org/officeDocument/2006/relationships/image" Target="../media/image158.svg"/></Relationships>
</file>

<file path=ppt/slides/_rels/slide19.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6.jpeg"/><Relationship Id="rId7" Type="http://schemas.openxmlformats.org/officeDocument/2006/relationships/image" Target="../media/image110.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109.png"/><Relationship Id="rId11" Type="http://schemas.openxmlformats.org/officeDocument/2006/relationships/image" Target="../media/image130.svg"/><Relationship Id="rId5" Type="http://schemas.openxmlformats.org/officeDocument/2006/relationships/image" Target="../media/image160.svg"/><Relationship Id="rId10" Type="http://schemas.openxmlformats.org/officeDocument/2006/relationships/image" Target="../media/image129.png"/><Relationship Id="rId4" Type="http://schemas.openxmlformats.org/officeDocument/2006/relationships/image" Target="../media/image159.png"/><Relationship Id="rId9" Type="http://schemas.openxmlformats.org/officeDocument/2006/relationships/image" Target="../media/image162.svg"/></Relationships>
</file>

<file path=ppt/slides/_rels/slide20.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6.jpeg"/><Relationship Id="rId7" Type="http://schemas.openxmlformats.org/officeDocument/2006/relationships/image" Target="../media/image166.sv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165.png"/><Relationship Id="rId11" Type="http://schemas.openxmlformats.org/officeDocument/2006/relationships/image" Target="../media/image168.svg"/><Relationship Id="rId5" Type="http://schemas.openxmlformats.org/officeDocument/2006/relationships/image" Target="../media/image164.svg"/><Relationship Id="rId10" Type="http://schemas.openxmlformats.org/officeDocument/2006/relationships/image" Target="../media/image167.png"/><Relationship Id="rId4" Type="http://schemas.openxmlformats.org/officeDocument/2006/relationships/image" Target="../media/image163.png"/><Relationship Id="rId9" Type="http://schemas.openxmlformats.org/officeDocument/2006/relationships/image" Target="../media/image116.svg"/></Relationships>
</file>

<file path=ppt/slides/_rels/slide21.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6.jpeg"/><Relationship Id="rId7" Type="http://schemas.openxmlformats.org/officeDocument/2006/relationships/image" Target="../media/image172.sv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171.png"/><Relationship Id="rId11" Type="http://schemas.openxmlformats.org/officeDocument/2006/relationships/image" Target="../media/image174.svg"/><Relationship Id="rId5" Type="http://schemas.openxmlformats.org/officeDocument/2006/relationships/image" Target="../media/image170.svg"/><Relationship Id="rId10" Type="http://schemas.openxmlformats.org/officeDocument/2006/relationships/image" Target="../media/image173.png"/><Relationship Id="rId4" Type="http://schemas.openxmlformats.org/officeDocument/2006/relationships/image" Target="../media/image169.png"/><Relationship Id="rId9" Type="http://schemas.openxmlformats.org/officeDocument/2006/relationships/image" Target="../media/image162.svg"/></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136.svg"/><Relationship Id="rId4" Type="http://schemas.openxmlformats.org/officeDocument/2006/relationships/image" Target="../media/image135.png"/></Relationships>
</file>

<file path=ppt/slides/_rels/slide23.xml.rels><?xml version="1.0" encoding="UTF-8" standalone="yes"?>
<Relationships xmlns="http://schemas.openxmlformats.org/package/2006/relationships"><Relationship Id="rId8" Type="http://schemas.openxmlformats.org/officeDocument/2006/relationships/image" Target="../media/image177.png"/><Relationship Id="rId13" Type="http://schemas.openxmlformats.org/officeDocument/2006/relationships/image" Target="../media/image36.svg"/><Relationship Id="rId18" Type="http://schemas.openxmlformats.org/officeDocument/2006/relationships/image" Target="../media/image55.png"/><Relationship Id="rId3" Type="http://schemas.openxmlformats.org/officeDocument/2006/relationships/image" Target="../media/image6.jpeg"/><Relationship Id="rId21" Type="http://schemas.openxmlformats.org/officeDocument/2006/relationships/image" Target="../media/image186.svg"/><Relationship Id="rId7" Type="http://schemas.openxmlformats.org/officeDocument/2006/relationships/image" Target="../media/image32.svg"/><Relationship Id="rId12" Type="http://schemas.openxmlformats.org/officeDocument/2006/relationships/image" Target="../media/image35.png"/><Relationship Id="rId17" Type="http://schemas.openxmlformats.org/officeDocument/2006/relationships/image" Target="../media/image184.svg"/><Relationship Id="rId2" Type="http://schemas.openxmlformats.org/officeDocument/2006/relationships/notesSlide" Target="../notesSlides/notesSlide23.xml"/><Relationship Id="rId16" Type="http://schemas.openxmlformats.org/officeDocument/2006/relationships/image" Target="../media/image183.png"/><Relationship Id="rId20" Type="http://schemas.openxmlformats.org/officeDocument/2006/relationships/image" Target="../media/image185.png"/><Relationship Id="rId1" Type="http://schemas.openxmlformats.org/officeDocument/2006/relationships/slideLayout" Target="../slideLayouts/slideLayout12.xml"/><Relationship Id="rId6" Type="http://schemas.openxmlformats.org/officeDocument/2006/relationships/image" Target="../media/image31.png"/><Relationship Id="rId11" Type="http://schemas.openxmlformats.org/officeDocument/2006/relationships/image" Target="../media/image180.svg"/><Relationship Id="rId5" Type="http://schemas.openxmlformats.org/officeDocument/2006/relationships/image" Target="../media/image176.svg"/><Relationship Id="rId15" Type="http://schemas.openxmlformats.org/officeDocument/2006/relationships/image" Target="../media/image182.svg"/><Relationship Id="rId10" Type="http://schemas.openxmlformats.org/officeDocument/2006/relationships/image" Target="../media/image179.png"/><Relationship Id="rId19" Type="http://schemas.openxmlformats.org/officeDocument/2006/relationships/image" Target="../media/image56.svg"/><Relationship Id="rId4" Type="http://schemas.openxmlformats.org/officeDocument/2006/relationships/image" Target="../media/image175.png"/><Relationship Id="rId9" Type="http://schemas.openxmlformats.org/officeDocument/2006/relationships/image" Target="../media/image178.svg"/><Relationship Id="rId14" Type="http://schemas.openxmlformats.org/officeDocument/2006/relationships/image" Target="../media/image181.png"/></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6.jpeg"/><Relationship Id="rId7" Type="http://schemas.openxmlformats.org/officeDocument/2006/relationships/image" Target="../media/image188.sv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187.png"/><Relationship Id="rId11" Type="http://schemas.openxmlformats.org/officeDocument/2006/relationships/image" Target="../media/image104.svg"/><Relationship Id="rId5" Type="http://schemas.openxmlformats.org/officeDocument/2006/relationships/image" Target="../media/image112.svg"/><Relationship Id="rId10" Type="http://schemas.openxmlformats.org/officeDocument/2006/relationships/image" Target="../media/image103.png"/><Relationship Id="rId4" Type="http://schemas.openxmlformats.org/officeDocument/2006/relationships/image" Target="../media/image111.png"/><Relationship Id="rId9" Type="http://schemas.openxmlformats.org/officeDocument/2006/relationships/image" Target="../media/image46.svg"/></Relationships>
</file>

<file path=ppt/slides/_rels/slide2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110.svg"/><Relationship Id="rId3" Type="http://schemas.openxmlformats.org/officeDocument/2006/relationships/image" Target="../media/image6.jpeg"/><Relationship Id="rId7" Type="http://schemas.openxmlformats.org/officeDocument/2006/relationships/image" Target="../media/image192.svg"/><Relationship Id="rId12" Type="http://schemas.openxmlformats.org/officeDocument/2006/relationships/image" Target="../media/image109.png"/><Relationship Id="rId17" Type="http://schemas.openxmlformats.org/officeDocument/2006/relationships/image" Target="../media/image198.svg"/><Relationship Id="rId2" Type="http://schemas.openxmlformats.org/officeDocument/2006/relationships/notesSlide" Target="../notesSlides/notesSlide25.xml"/><Relationship Id="rId16" Type="http://schemas.openxmlformats.org/officeDocument/2006/relationships/image" Target="../media/image197.png"/><Relationship Id="rId1" Type="http://schemas.openxmlformats.org/officeDocument/2006/relationships/slideLayout" Target="../slideLayouts/slideLayout12.xml"/><Relationship Id="rId6" Type="http://schemas.openxmlformats.org/officeDocument/2006/relationships/image" Target="../media/image191.png"/><Relationship Id="rId11" Type="http://schemas.openxmlformats.org/officeDocument/2006/relationships/image" Target="../media/image194.svg"/><Relationship Id="rId5" Type="http://schemas.openxmlformats.org/officeDocument/2006/relationships/image" Target="../media/image190.svg"/><Relationship Id="rId15" Type="http://schemas.openxmlformats.org/officeDocument/2006/relationships/image" Target="../media/image196.svg"/><Relationship Id="rId10" Type="http://schemas.openxmlformats.org/officeDocument/2006/relationships/image" Target="../media/image193.png"/><Relationship Id="rId4" Type="http://schemas.openxmlformats.org/officeDocument/2006/relationships/image" Target="../media/image189.png"/><Relationship Id="rId9" Type="http://schemas.openxmlformats.org/officeDocument/2006/relationships/image" Target="../media/image20.svg"/><Relationship Id="rId14" Type="http://schemas.openxmlformats.org/officeDocument/2006/relationships/image" Target="../media/image195.png"/></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6.xml"/><Relationship Id="rId1" Type="http://schemas.openxmlformats.org/officeDocument/2006/relationships/slideLayout" Target="../slideLayouts/slideLayout12.xml"/><Relationship Id="rId5" Type="http://schemas.openxmlformats.org/officeDocument/2006/relationships/image" Target="../media/image200.svg"/><Relationship Id="rId4" Type="http://schemas.openxmlformats.org/officeDocument/2006/relationships/image" Target="../media/image199.png"/></Relationships>
</file>

<file path=ppt/slides/_rels/slide27.xml.rels><?xml version="1.0" encoding="UTF-8" standalone="yes"?>
<Relationships xmlns="http://schemas.openxmlformats.org/package/2006/relationships"><Relationship Id="rId8" Type="http://schemas.openxmlformats.org/officeDocument/2006/relationships/image" Target="../media/image203.png"/><Relationship Id="rId3" Type="http://schemas.openxmlformats.org/officeDocument/2006/relationships/image" Target="../media/image6.jpeg"/><Relationship Id="rId7" Type="http://schemas.openxmlformats.org/officeDocument/2006/relationships/image" Target="../media/image202.sv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201.png"/><Relationship Id="rId5" Type="http://schemas.openxmlformats.org/officeDocument/2006/relationships/image" Target="../media/image164.svg"/><Relationship Id="rId4" Type="http://schemas.openxmlformats.org/officeDocument/2006/relationships/image" Target="../media/image163.png"/><Relationship Id="rId9" Type="http://schemas.openxmlformats.org/officeDocument/2006/relationships/image" Target="../media/image204.svg"/></Relationships>
</file>

<file path=ppt/slides/_rels/slide28.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6.jpeg"/><Relationship Id="rId7" Type="http://schemas.openxmlformats.org/officeDocument/2006/relationships/image" Target="../media/image206.sv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205.png"/><Relationship Id="rId11" Type="http://schemas.openxmlformats.org/officeDocument/2006/relationships/image" Target="../media/image168.svg"/><Relationship Id="rId5" Type="http://schemas.openxmlformats.org/officeDocument/2006/relationships/image" Target="../media/image58.svg"/><Relationship Id="rId10" Type="http://schemas.openxmlformats.org/officeDocument/2006/relationships/image" Target="../media/image167.png"/><Relationship Id="rId4" Type="http://schemas.openxmlformats.org/officeDocument/2006/relationships/image" Target="../media/image57.png"/><Relationship Id="rId9" Type="http://schemas.openxmlformats.org/officeDocument/2006/relationships/image" Target="../media/image62.svg"/></Relationships>
</file>

<file path=ppt/slides/_rels/slide29.xml.rels><?xml version="1.0" encoding="UTF-8" standalone="yes"?>
<Relationships xmlns="http://schemas.openxmlformats.org/package/2006/relationships"><Relationship Id="rId8" Type="http://schemas.openxmlformats.org/officeDocument/2006/relationships/image" Target="../media/image209.png"/><Relationship Id="rId3" Type="http://schemas.openxmlformats.org/officeDocument/2006/relationships/image" Target="../media/image6.jpeg"/><Relationship Id="rId7" Type="http://schemas.openxmlformats.org/officeDocument/2006/relationships/image" Target="../media/image208.sv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207.png"/><Relationship Id="rId11" Type="http://schemas.openxmlformats.org/officeDocument/2006/relationships/image" Target="../media/image212.svg"/><Relationship Id="rId5" Type="http://schemas.openxmlformats.org/officeDocument/2006/relationships/image" Target="../media/image176.svg"/><Relationship Id="rId10" Type="http://schemas.openxmlformats.org/officeDocument/2006/relationships/image" Target="../media/image211.png"/><Relationship Id="rId4" Type="http://schemas.openxmlformats.org/officeDocument/2006/relationships/image" Target="../media/image175.png"/><Relationship Id="rId9" Type="http://schemas.openxmlformats.org/officeDocument/2006/relationships/image" Target="../media/image210.svg"/></Relationships>
</file>

<file path=ppt/slides/_rels/slide30.xml.rels><?xml version="1.0" encoding="UTF-8" standalone="yes"?>
<Relationships xmlns="http://schemas.openxmlformats.org/package/2006/relationships"><Relationship Id="rId8" Type="http://schemas.openxmlformats.org/officeDocument/2006/relationships/image" Target="../media/image215.png"/><Relationship Id="rId3" Type="http://schemas.openxmlformats.org/officeDocument/2006/relationships/image" Target="../media/image6.jpeg"/><Relationship Id="rId7" Type="http://schemas.openxmlformats.org/officeDocument/2006/relationships/image" Target="../media/image214.sv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213.png"/><Relationship Id="rId5" Type="http://schemas.openxmlformats.org/officeDocument/2006/relationships/image" Target="../media/image170.svg"/><Relationship Id="rId4" Type="http://schemas.openxmlformats.org/officeDocument/2006/relationships/image" Target="../media/image169.png"/><Relationship Id="rId9" Type="http://schemas.openxmlformats.org/officeDocument/2006/relationships/image" Target="../media/image216.svg"/></Relationships>
</file>

<file path=ppt/slides/_rels/slide31.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6.jpeg"/><Relationship Id="rId7" Type="http://schemas.openxmlformats.org/officeDocument/2006/relationships/image" Target="../media/image220.sv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219.png"/><Relationship Id="rId11" Type="http://schemas.openxmlformats.org/officeDocument/2006/relationships/image" Target="../media/image224.svg"/><Relationship Id="rId5" Type="http://schemas.openxmlformats.org/officeDocument/2006/relationships/image" Target="../media/image218.svg"/><Relationship Id="rId10" Type="http://schemas.openxmlformats.org/officeDocument/2006/relationships/image" Target="../media/image223.png"/><Relationship Id="rId4" Type="http://schemas.openxmlformats.org/officeDocument/2006/relationships/image" Target="../media/image217.png"/><Relationship Id="rId9" Type="http://schemas.openxmlformats.org/officeDocument/2006/relationships/image" Target="../media/image222.svg"/></Relationships>
</file>

<file path=ppt/slides/_rels/slide32.xml.rels><?xml version="1.0" encoding="UTF-8" standalone="yes"?>
<Relationships xmlns="http://schemas.openxmlformats.org/package/2006/relationships"><Relationship Id="rId8" Type="http://schemas.openxmlformats.org/officeDocument/2006/relationships/image" Target="../media/image229.png"/><Relationship Id="rId3" Type="http://schemas.openxmlformats.org/officeDocument/2006/relationships/image" Target="../media/image6.jpeg"/><Relationship Id="rId7" Type="http://schemas.openxmlformats.org/officeDocument/2006/relationships/image" Target="../media/image228.sv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227.png"/><Relationship Id="rId11" Type="http://schemas.openxmlformats.org/officeDocument/2006/relationships/image" Target="../media/image76.svg"/><Relationship Id="rId5" Type="http://schemas.openxmlformats.org/officeDocument/2006/relationships/image" Target="../media/image226.svg"/><Relationship Id="rId10" Type="http://schemas.openxmlformats.org/officeDocument/2006/relationships/image" Target="../media/image75.png"/><Relationship Id="rId4" Type="http://schemas.openxmlformats.org/officeDocument/2006/relationships/image" Target="../media/image225.png"/><Relationship Id="rId9" Type="http://schemas.openxmlformats.org/officeDocument/2006/relationships/image" Target="../media/image230.svg"/></Relationships>
</file>

<file path=ppt/slides/_rels/slide3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32.svg"/><Relationship Id="rId3" Type="http://schemas.openxmlformats.org/officeDocument/2006/relationships/image" Target="../media/image6.jpeg"/><Relationship Id="rId7" Type="http://schemas.openxmlformats.org/officeDocument/2006/relationships/image" Target="../media/image170.svg"/><Relationship Id="rId12" Type="http://schemas.openxmlformats.org/officeDocument/2006/relationships/image" Target="../media/image231.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169.png"/><Relationship Id="rId11" Type="http://schemas.openxmlformats.org/officeDocument/2006/relationships/image" Target="../media/image28.svg"/><Relationship Id="rId5" Type="http://schemas.openxmlformats.org/officeDocument/2006/relationships/image" Target="../media/image18.svg"/><Relationship Id="rId10" Type="http://schemas.openxmlformats.org/officeDocument/2006/relationships/image" Target="../media/image27.png"/><Relationship Id="rId4" Type="http://schemas.openxmlformats.org/officeDocument/2006/relationships/image" Target="../media/image17.png"/><Relationship Id="rId9" Type="http://schemas.openxmlformats.org/officeDocument/2006/relationships/image" Target="../media/image12.svg"/></Relationships>
</file>

<file path=ppt/slides/_rels/slide34.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6.jpeg"/><Relationship Id="rId7" Type="http://schemas.openxmlformats.org/officeDocument/2006/relationships/image" Target="../media/image166.sv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165.png"/><Relationship Id="rId11" Type="http://schemas.openxmlformats.org/officeDocument/2006/relationships/image" Target="../media/image16.svg"/><Relationship Id="rId5" Type="http://schemas.openxmlformats.org/officeDocument/2006/relationships/image" Target="../media/image170.svg"/><Relationship Id="rId10" Type="http://schemas.openxmlformats.org/officeDocument/2006/relationships/image" Target="../media/image15.png"/><Relationship Id="rId4" Type="http://schemas.openxmlformats.org/officeDocument/2006/relationships/image" Target="../media/image169.png"/><Relationship Id="rId9" Type="http://schemas.openxmlformats.org/officeDocument/2006/relationships/image" Target="../media/image116.svg"/></Relationships>
</file>

<file path=ppt/slides/_rels/slide35.xml.rels><?xml version="1.0" encoding="UTF-8" standalone="yes"?>
<Relationships xmlns="http://schemas.openxmlformats.org/package/2006/relationships"><Relationship Id="rId8" Type="http://schemas.openxmlformats.org/officeDocument/2006/relationships/image" Target="../media/image235.png"/><Relationship Id="rId3" Type="http://schemas.openxmlformats.org/officeDocument/2006/relationships/image" Target="../media/image6.jpeg"/><Relationship Id="rId7" Type="http://schemas.openxmlformats.org/officeDocument/2006/relationships/image" Target="../media/image234.sv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233.png"/><Relationship Id="rId11" Type="http://schemas.openxmlformats.org/officeDocument/2006/relationships/image" Target="../media/image238.svg"/><Relationship Id="rId5" Type="http://schemas.openxmlformats.org/officeDocument/2006/relationships/image" Target="../media/image112.svg"/><Relationship Id="rId10" Type="http://schemas.openxmlformats.org/officeDocument/2006/relationships/image" Target="../media/image237.png"/><Relationship Id="rId4" Type="http://schemas.openxmlformats.org/officeDocument/2006/relationships/image" Target="../media/image111.png"/><Relationship Id="rId9" Type="http://schemas.openxmlformats.org/officeDocument/2006/relationships/image" Target="../media/image236.svg"/></Relationships>
</file>

<file path=ppt/slides/_rels/slide36.xml.rels><?xml version="1.0" encoding="UTF-8" standalone="yes"?>
<Relationships xmlns="http://schemas.openxmlformats.org/package/2006/relationships"><Relationship Id="rId8" Type="http://schemas.openxmlformats.org/officeDocument/2006/relationships/image" Target="../media/image241.png"/><Relationship Id="rId13" Type="http://schemas.openxmlformats.org/officeDocument/2006/relationships/image" Target="../media/image246.svg"/><Relationship Id="rId18" Type="http://schemas.openxmlformats.org/officeDocument/2006/relationships/image" Target="../media/image65.png"/><Relationship Id="rId3" Type="http://schemas.openxmlformats.org/officeDocument/2006/relationships/image" Target="../media/image6.jpeg"/><Relationship Id="rId7" Type="http://schemas.openxmlformats.org/officeDocument/2006/relationships/image" Target="../media/image3.svg"/><Relationship Id="rId12" Type="http://schemas.openxmlformats.org/officeDocument/2006/relationships/image" Target="../media/image245.png"/><Relationship Id="rId17" Type="http://schemas.openxmlformats.org/officeDocument/2006/relationships/image" Target="../media/image250.svg"/><Relationship Id="rId2" Type="http://schemas.openxmlformats.org/officeDocument/2006/relationships/notesSlide" Target="../notesSlides/notesSlide36.xml"/><Relationship Id="rId16" Type="http://schemas.openxmlformats.org/officeDocument/2006/relationships/image" Target="../media/image249.png"/><Relationship Id="rId1" Type="http://schemas.openxmlformats.org/officeDocument/2006/relationships/slideLayout" Target="../slideLayouts/slideLayout12.xml"/><Relationship Id="rId6" Type="http://schemas.openxmlformats.org/officeDocument/2006/relationships/image" Target="../media/image2.png"/><Relationship Id="rId11" Type="http://schemas.openxmlformats.org/officeDocument/2006/relationships/image" Target="../media/image244.svg"/><Relationship Id="rId5" Type="http://schemas.openxmlformats.org/officeDocument/2006/relationships/image" Target="../media/image240.svg"/><Relationship Id="rId15" Type="http://schemas.openxmlformats.org/officeDocument/2006/relationships/image" Target="../media/image248.svg"/><Relationship Id="rId10" Type="http://schemas.openxmlformats.org/officeDocument/2006/relationships/image" Target="../media/image243.png"/><Relationship Id="rId19" Type="http://schemas.openxmlformats.org/officeDocument/2006/relationships/image" Target="../media/image66.svg"/><Relationship Id="rId4" Type="http://schemas.openxmlformats.org/officeDocument/2006/relationships/image" Target="../media/image239.png"/><Relationship Id="rId9" Type="http://schemas.openxmlformats.org/officeDocument/2006/relationships/image" Target="../media/image242.svg"/><Relationship Id="rId14" Type="http://schemas.openxmlformats.org/officeDocument/2006/relationships/image" Target="../media/image247.png"/></Relationships>
</file>

<file path=ppt/slides/_rels/slide37.xml.rels><?xml version="1.0" encoding="UTF-8" standalone="yes"?>
<Relationships xmlns="http://schemas.openxmlformats.org/package/2006/relationships"><Relationship Id="rId8" Type="http://schemas.openxmlformats.org/officeDocument/2006/relationships/image" Target="../media/image255.png"/><Relationship Id="rId3" Type="http://schemas.openxmlformats.org/officeDocument/2006/relationships/image" Target="../media/image6.jpeg"/><Relationship Id="rId7" Type="http://schemas.openxmlformats.org/officeDocument/2006/relationships/image" Target="../media/image254.sv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253.png"/><Relationship Id="rId11" Type="http://schemas.openxmlformats.org/officeDocument/2006/relationships/image" Target="../media/image142.svg"/><Relationship Id="rId5" Type="http://schemas.openxmlformats.org/officeDocument/2006/relationships/image" Target="../media/image252.svg"/><Relationship Id="rId10" Type="http://schemas.openxmlformats.org/officeDocument/2006/relationships/image" Target="../media/image141.png"/><Relationship Id="rId4" Type="http://schemas.openxmlformats.org/officeDocument/2006/relationships/image" Target="../media/image251.png"/><Relationship Id="rId9" Type="http://schemas.openxmlformats.org/officeDocument/2006/relationships/image" Target="../media/image256.svg"/></Relationships>
</file>

<file path=ppt/slides/_rels/slide38.xml.rels><?xml version="1.0" encoding="UTF-8" standalone="yes"?>
<Relationships xmlns="http://schemas.openxmlformats.org/package/2006/relationships"><Relationship Id="rId8" Type="http://schemas.openxmlformats.org/officeDocument/2006/relationships/image" Target="../media/image261.png"/><Relationship Id="rId3" Type="http://schemas.openxmlformats.org/officeDocument/2006/relationships/image" Target="../media/image6.jpeg"/><Relationship Id="rId7" Type="http://schemas.openxmlformats.org/officeDocument/2006/relationships/image" Target="../media/image260.sv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259.png"/><Relationship Id="rId5" Type="http://schemas.openxmlformats.org/officeDocument/2006/relationships/image" Target="../media/image258.svg"/><Relationship Id="rId4" Type="http://schemas.openxmlformats.org/officeDocument/2006/relationships/image" Target="../media/image257.png"/><Relationship Id="rId9" Type="http://schemas.openxmlformats.org/officeDocument/2006/relationships/image" Target="../media/image262.svg"/></Relationships>
</file>

<file path=ppt/slides/_rels/slide3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9.xml"/><Relationship Id="rId1" Type="http://schemas.openxmlformats.org/officeDocument/2006/relationships/slideLayout" Target="../slideLayouts/slideLayout12.xml"/><Relationship Id="rId5" Type="http://schemas.openxmlformats.org/officeDocument/2006/relationships/image" Target="../media/image264.svg"/><Relationship Id="rId4" Type="http://schemas.openxmlformats.org/officeDocument/2006/relationships/image" Target="../media/image26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50800"/>
          </a:xfrm>
          <a:prstGeom prst="roundRect">
            <a:avLst>
              <a:gd name="adj" fmla="val 0"/>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58800" y="1778000"/>
            <a:ext cx="110744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SafeWalk项目实战：需求分析与功能设计</a:t>
            </a:r>
            <a:endParaRPr lang="en-US" sz="1100"/>
          </a:p>
        </p:txBody>
      </p:sp>
      <p:sp>
        <p:nvSpPr>
          <p:cNvPr id="6" name="AutoShape 6"/>
          <p:cNvSpPr/>
          <p:nvPr/>
        </p:nvSpPr>
        <p:spPr>
          <a:xfrm>
            <a:off x="5334000" y="2667000"/>
            <a:ext cx="1524000" cy="38100"/>
          </a:xfrm>
          <a:prstGeom prst="roundRect">
            <a:avLst>
              <a:gd name="adj" fmla="val 0"/>
            </a:avLst>
          </a:prstGeom>
          <a:solidFill>
            <a:srgbClr val="FFB6C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2921000"/>
            <a:ext cx="1016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E6E6FA"/>
                </a:solidFill>
                <a:latin typeface="Noto Sans SC"/>
                <a:ea typeface="Noto Sans SC"/>
                <a:cs typeface="Noto Sans SC"/>
                <a:sym typeface="Noto Sans SC"/>
              </a:rPr>
              <a:t>Technovation Girls 第四次课程</a:t>
            </a:r>
            <a:endParaRPr lang="en-US" sz="1100"/>
          </a:p>
        </p:txBody>
      </p:sp>
      <p:sp>
        <p:nvSpPr>
          <p:cNvPr id="8" name="AutoShape 8"/>
          <p:cNvSpPr/>
          <p:nvPr/>
        </p:nvSpPr>
        <p:spPr>
          <a:xfrm>
            <a:off x="3556000" y="4064000"/>
            <a:ext cx="5080000" cy="762000"/>
          </a:xfrm>
          <a:prstGeom prst="roundRect">
            <a:avLst>
              <a:gd name="adj" fmla="val 16666"/>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10000" y="4292600"/>
            <a:ext cx="304800" cy="304800"/>
          </a:xfrm>
          <a:prstGeom prst="rect">
            <a:avLst/>
          </a:prstGeom>
        </p:spPr>
      </p:pic>
      <p:sp>
        <p:nvSpPr>
          <p:cNvPr id="10" name="AutoShape 10"/>
          <p:cNvSpPr/>
          <p:nvPr/>
        </p:nvSpPr>
        <p:spPr>
          <a:xfrm>
            <a:off x="4191000" y="4254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a:ea typeface="Noto Sans SC"/>
                <a:cs typeface="Noto Sans SC"/>
                <a:sym typeface="Noto Sans SC"/>
              </a:rPr>
              <a:t>讲师：田老师</a:t>
            </a:r>
            <a:endParaRPr lang="en-US" sz="1100"/>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92800" y="5715000"/>
            <a:ext cx="406400" cy="40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8051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SafeWalk项目核心需求回顾</a:t>
            </a:r>
            <a:endParaRPr lang="en-US" sz="1100"/>
          </a:p>
        </p:txBody>
      </p:sp>
      <p:sp>
        <p:nvSpPr>
          <p:cNvPr id="5" name="AutoShape 5"/>
          <p:cNvSpPr/>
          <p:nvPr/>
        </p:nvSpPr>
        <p:spPr>
          <a:xfrm>
            <a:off x="762000" y="1397000"/>
            <a:ext cx="5080000" cy="1651000"/>
          </a:xfrm>
          <a:prstGeom prst="roundRect">
            <a:avLst>
              <a:gd name="adj" fmla="val 7692"/>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304800" cy="304800"/>
          </a:xfrm>
          <a:prstGeom prst="rect">
            <a:avLst/>
          </a:prstGeom>
        </p:spPr>
      </p:pic>
      <p:sp>
        <p:nvSpPr>
          <p:cNvPr id="7" name="AutoShape 7"/>
          <p:cNvSpPr/>
          <p:nvPr/>
        </p:nvSpPr>
        <p:spPr>
          <a:xfrm>
            <a:off x="1397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核心问题：夜间出行痛点</a:t>
            </a:r>
            <a:endParaRPr lang="en-US" sz="1100"/>
          </a:p>
        </p:txBody>
      </p:sp>
      <p:sp>
        <p:nvSpPr>
          <p:cNvPr id="8" name="AutoShape 8"/>
          <p:cNvSpPr/>
          <p:nvPr/>
        </p:nvSpPr>
        <p:spPr>
          <a:xfrm>
            <a:off x="1016000" y="19685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solidFill>
                <a:latin typeface="Noto Sans SC"/>
                <a:ea typeface="Noto Sans SC"/>
                <a:cs typeface="Noto Sans SC"/>
                <a:sym typeface="Noto Sans SC"/>
              </a:rPr>
              <a:t>解决女生夜间步行和乘车的安全痛点，填补现有方案在实时性、陪伴感和便捷求助方面的不足。</a:t>
            </a:r>
            <a:endParaRPr lang="en-US" sz="1100"/>
          </a:p>
        </p:txBody>
      </p:sp>
      <p:sp>
        <p:nvSpPr>
          <p:cNvPr id="9" name="AutoShape 9"/>
          <p:cNvSpPr/>
          <p:nvPr/>
        </p:nvSpPr>
        <p:spPr>
          <a:xfrm>
            <a:off x="762000" y="3238500"/>
            <a:ext cx="5080000" cy="1651000"/>
          </a:xfrm>
          <a:prstGeom prst="roundRect">
            <a:avLst>
              <a:gd name="adj" fmla="val 7692"/>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429000"/>
            <a:ext cx="304800" cy="304800"/>
          </a:xfrm>
          <a:prstGeom prst="rect">
            <a:avLst/>
          </a:prstGeom>
        </p:spPr>
      </p:pic>
      <p:sp>
        <p:nvSpPr>
          <p:cNvPr id="11" name="AutoShape 11"/>
          <p:cNvSpPr/>
          <p:nvPr/>
        </p:nvSpPr>
        <p:spPr>
          <a:xfrm>
            <a:off x="1397000" y="33909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用户价值：有温度的AI陪伴</a:t>
            </a:r>
            <a:endParaRPr lang="en-US" sz="1100"/>
          </a:p>
        </p:txBody>
      </p:sp>
      <p:sp>
        <p:nvSpPr>
          <p:cNvPr id="12" name="AutoShape 12"/>
          <p:cNvSpPr/>
          <p:nvPr/>
        </p:nvSpPr>
        <p:spPr>
          <a:xfrm>
            <a:off x="1016000" y="3810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solidFill>
                <a:latin typeface="Noto Sans SC"/>
                <a:ea typeface="Noto Sans SC"/>
                <a:cs typeface="Noto Sans SC"/>
                <a:sym typeface="Noto Sans SC"/>
              </a:rPr>
              <a:t>不仅是定位工具，更是提供安全感、陪伴感和便捷求助方式的AI伙伴，守护每一次出行。</a:t>
            </a:r>
            <a:endParaRPr lang="en-US" sz="1100"/>
          </a:p>
        </p:txBody>
      </p:sp>
      <p:sp>
        <p:nvSpPr>
          <p:cNvPr id="13" name="AutoShape 13"/>
          <p:cNvSpPr/>
          <p:nvPr/>
        </p:nvSpPr>
        <p:spPr>
          <a:xfrm>
            <a:off x="6223000" y="1397000"/>
            <a:ext cx="5207000" cy="1651000"/>
          </a:xfrm>
          <a:prstGeom prst="roundRect">
            <a:avLst>
              <a:gd name="adj" fmla="val 7692"/>
            </a:avLst>
          </a:prstGeom>
          <a:solidFill>
            <a:srgbClr val="FFB6C1">
              <a:alpha val="10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1587500"/>
            <a:ext cx="304800" cy="304800"/>
          </a:xfrm>
          <a:prstGeom prst="rect">
            <a:avLst/>
          </a:prstGeom>
        </p:spPr>
      </p:pic>
      <p:sp>
        <p:nvSpPr>
          <p:cNvPr id="15" name="AutoShape 15"/>
          <p:cNvSpPr/>
          <p:nvPr/>
        </p:nvSpPr>
        <p:spPr>
          <a:xfrm>
            <a:off x="6858000" y="1549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B6C1"/>
                </a:solidFill>
                <a:latin typeface="Noto Sans SC"/>
                <a:ea typeface="Noto Sans SC"/>
                <a:cs typeface="Noto Sans SC"/>
                <a:sym typeface="Noto Sans SC"/>
              </a:rPr>
              <a:t>步行模式：有人看着我走到家</a:t>
            </a:r>
            <a:endParaRPr lang="en-US" sz="1100"/>
          </a:p>
        </p:txBody>
      </p:sp>
      <p:sp>
        <p:nvSpPr>
          <p:cNvPr id="16" name="AutoShape 16"/>
          <p:cNvSpPr/>
          <p:nvPr/>
        </p:nvSpPr>
        <p:spPr>
          <a:xfrm>
            <a:off x="6477000" y="1968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solidFill>
                <a:latin typeface="Noto Sans SC"/>
                <a:ea typeface="Noto Sans SC"/>
                <a:cs typeface="Noto Sans SC"/>
                <a:sym typeface="Noto Sans SC"/>
              </a:rPr>
              <a:t>实时位置共享 | AI主动关怀 | 超时/偏离路线智能提醒，打造全程实时守护体验。</a:t>
            </a:r>
            <a:endParaRPr lang="en-US" sz="1100"/>
          </a:p>
        </p:txBody>
      </p:sp>
      <p:sp>
        <p:nvSpPr>
          <p:cNvPr id="17" name="AutoShape 17"/>
          <p:cNvSpPr/>
          <p:nvPr/>
        </p:nvSpPr>
        <p:spPr>
          <a:xfrm>
            <a:off x="6223000" y="3238500"/>
            <a:ext cx="5207000" cy="1651000"/>
          </a:xfrm>
          <a:prstGeom prst="roundRect">
            <a:avLst>
              <a:gd name="adj" fmla="val 7692"/>
            </a:avLst>
          </a:prstGeom>
          <a:solidFill>
            <a:srgbClr val="E6E6FA">
              <a:alpha val="10000"/>
            </a:srgbClr>
          </a:solidFill>
          <a:ln w="12700" cap="flat" cmpd="sng">
            <a:solidFill>
              <a:srgbClr val="E6E6FA">
                <a:alpha val="5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3429000"/>
            <a:ext cx="304800" cy="304800"/>
          </a:xfrm>
          <a:prstGeom prst="rect">
            <a:avLst/>
          </a:prstGeom>
        </p:spPr>
      </p:pic>
      <p:sp>
        <p:nvSpPr>
          <p:cNvPr id="19" name="AutoShape 19"/>
          <p:cNvSpPr/>
          <p:nvPr/>
        </p:nvSpPr>
        <p:spPr>
          <a:xfrm>
            <a:off x="6858000" y="33909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E6E6FA"/>
                </a:solidFill>
                <a:latin typeface="Noto Sans SC"/>
                <a:ea typeface="Noto Sans SC"/>
                <a:cs typeface="Noto Sans SC"/>
                <a:sym typeface="Noto Sans SC"/>
              </a:rPr>
              <a:t>乘车模式：有人知道我上了谁的车</a:t>
            </a:r>
            <a:endParaRPr lang="en-US" sz="1100"/>
          </a:p>
        </p:txBody>
      </p:sp>
      <p:sp>
        <p:nvSpPr>
          <p:cNvPr id="20" name="AutoShape 20"/>
          <p:cNvSpPr/>
          <p:nvPr/>
        </p:nvSpPr>
        <p:spPr>
          <a:xfrm>
            <a:off x="6477000" y="38100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solidFill>
                <a:latin typeface="Noto Sans SC"/>
                <a:ea typeface="Noto Sans SC"/>
                <a:cs typeface="Noto Sans SC"/>
                <a:sym typeface="Noto Sans SC"/>
              </a:rPr>
              <a:t>车牌识别记录 | 实时位置共享 | 模拟真实来电 | 一键SOS，全方位保障乘车安全。</a:t>
            </a:r>
            <a:endParaRPr lang="en-US" sz="1100"/>
          </a:p>
        </p:txBody>
      </p:sp>
      <p:sp>
        <p:nvSpPr>
          <p:cNvPr id="21" name="AutoShape 21"/>
          <p:cNvSpPr/>
          <p:nvPr/>
        </p:nvSpPr>
        <p:spPr>
          <a:xfrm>
            <a:off x="762000" y="5207000"/>
            <a:ext cx="10668000" cy="762000"/>
          </a:xfrm>
          <a:prstGeom prst="roundRect">
            <a:avLst>
              <a:gd name="adj" fmla="val 16666"/>
            </a:avLst>
          </a:prstGeom>
          <a:solidFill>
            <a:srgbClr val="FFFFFF">
              <a:alpha val="10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435600"/>
            <a:ext cx="304800" cy="304800"/>
          </a:xfrm>
          <a:prstGeom prst="rect">
            <a:avLst/>
          </a:prstGeom>
        </p:spPr>
      </p:pic>
      <p:sp>
        <p:nvSpPr>
          <p:cNvPr id="23" name="AutoShape 23"/>
          <p:cNvSpPr/>
          <p:nvPr/>
        </p:nvSpPr>
        <p:spPr>
          <a:xfrm>
            <a:off x="1460500" y="5397500"/>
            <a:ext cx="977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思考：再次阅读项目介绍，你认为哪个功能是用户最需要的核心功能？</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566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SafeWalk实战：Sprint 1目标</a:t>
            </a:r>
            <a:endParaRPr lang="en-US" sz="1100"/>
          </a:p>
        </p:txBody>
      </p:sp>
      <p:sp>
        <p:nvSpPr>
          <p:cNvPr id="5" name="AutoShape 5"/>
          <p:cNvSpPr/>
          <p:nvPr/>
        </p:nvSpPr>
        <p:spPr>
          <a:xfrm>
            <a:off x="762000" y="1397000"/>
            <a:ext cx="10668000" cy="762000"/>
          </a:xfrm>
          <a:prstGeom prst="roundRect">
            <a:avLst>
              <a:gd name="adj" fmla="val 16666"/>
            </a:avLst>
          </a:prstGeom>
          <a:solidFill>
            <a:srgbClr val="00BFFF">
              <a:alpha val="15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74800"/>
            <a:ext cx="406400" cy="406400"/>
          </a:xfrm>
          <a:prstGeom prst="rect">
            <a:avLst/>
          </a:prstGeom>
        </p:spPr>
      </p:pic>
      <p:sp>
        <p:nvSpPr>
          <p:cNvPr id="7" name="AutoShape 7"/>
          <p:cNvSpPr/>
          <p:nvPr/>
        </p:nvSpPr>
        <p:spPr>
          <a:xfrm>
            <a:off x="1587500" y="1587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核心目标：</a:t>
            </a:r>
            <a:r>
              <a:rPr lang="en-US" sz="1800" b="0" i="0" u="none" strike="noStrike">
                <a:solidFill>
                  <a:srgbClr val="DCDCDC"/>
                </a:solidFill>
                <a:latin typeface="Noto Sans SC"/>
                <a:ea typeface="Noto Sans SC"/>
                <a:cs typeface="Noto Sans SC"/>
                <a:sym typeface="Noto Sans SC"/>
              </a:rPr>
              <a:t>完成“步行模式”的基础功能开发，实现最小可行产品（MVP）。</a:t>
            </a:r>
            <a:endParaRPr lang="en-US" sz="1100"/>
          </a:p>
        </p:txBody>
      </p:sp>
      <p:sp>
        <p:nvSpPr>
          <p:cNvPr id="8" name="AutoShape 8"/>
          <p:cNvSpPr/>
          <p:nvPr/>
        </p:nvSpPr>
        <p:spPr>
          <a:xfrm>
            <a:off x="762000" y="2413000"/>
            <a:ext cx="2540000" cy="1778000"/>
          </a:xfrm>
          <a:prstGeom prst="roundRect">
            <a:avLst>
              <a:gd name="adj" fmla="val 7142"/>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78000" y="2603500"/>
            <a:ext cx="508000" cy="508000"/>
          </a:xfrm>
          <a:prstGeom prst="rect">
            <a:avLst/>
          </a:prstGeom>
        </p:spPr>
      </p:pic>
      <p:sp>
        <p:nvSpPr>
          <p:cNvPr id="10" name="AutoShape 10"/>
          <p:cNvSpPr/>
          <p:nvPr/>
        </p:nvSpPr>
        <p:spPr>
          <a:xfrm>
            <a:off x="889000" y="3238500"/>
            <a:ext cx="228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用户注册与登录</a:t>
            </a:r>
            <a:endParaRPr lang="en-US" sz="1100"/>
          </a:p>
          <a:p>
            <a:pPr indent="0" algn="ctr">
              <a:lnSpc>
                <a:spcPct val="125000"/>
              </a:lnSpc>
            </a:pPr>
            <a:r>
              <a:rPr lang="en-US" sz="1200" b="0" i="0" u="none" strike="noStrike">
                <a:solidFill>
                  <a:srgbClr val="C8C8C8"/>
                </a:solidFill>
                <a:latin typeface="Noto Sans SC"/>
                <a:ea typeface="Noto Sans SC"/>
                <a:cs typeface="Noto Sans SC"/>
                <a:sym typeface="Noto Sans SC"/>
              </a:rPr>
              <a:t>账号体系搭建</a:t>
            </a:r>
          </a:p>
        </p:txBody>
      </p:sp>
      <p:sp>
        <p:nvSpPr>
          <p:cNvPr id="11" name="AutoShape 11"/>
          <p:cNvSpPr/>
          <p:nvPr/>
        </p:nvSpPr>
        <p:spPr>
          <a:xfrm>
            <a:off x="3467100" y="2413000"/>
            <a:ext cx="2540000" cy="1778000"/>
          </a:xfrm>
          <a:prstGeom prst="roundRect">
            <a:avLst>
              <a:gd name="adj" fmla="val 7142"/>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483100" y="2603500"/>
            <a:ext cx="508000" cy="508000"/>
          </a:xfrm>
          <a:prstGeom prst="rect">
            <a:avLst/>
          </a:prstGeom>
        </p:spPr>
      </p:pic>
      <p:sp>
        <p:nvSpPr>
          <p:cNvPr id="13" name="AutoShape 13"/>
          <p:cNvSpPr/>
          <p:nvPr/>
        </p:nvSpPr>
        <p:spPr>
          <a:xfrm>
            <a:off x="3594100" y="3238500"/>
            <a:ext cx="228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行程设置</a:t>
            </a:r>
            <a:endParaRPr lang="en-US" sz="1100"/>
          </a:p>
          <a:p>
            <a:pPr indent="0" algn="ctr">
              <a:lnSpc>
                <a:spcPct val="125000"/>
              </a:lnSpc>
            </a:pPr>
            <a:r>
              <a:rPr lang="en-US" sz="1200" b="0" i="0" u="none" strike="noStrike">
                <a:solidFill>
                  <a:srgbClr val="C8C8C8"/>
                </a:solidFill>
                <a:latin typeface="Noto Sans SC"/>
                <a:ea typeface="Noto Sans SC"/>
                <a:cs typeface="Noto Sans SC"/>
                <a:sym typeface="Noto Sans SC"/>
              </a:rPr>
              <a:t>起点/终点/预计时间</a:t>
            </a:r>
          </a:p>
        </p:txBody>
      </p:sp>
      <p:sp>
        <p:nvSpPr>
          <p:cNvPr id="14" name="AutoShape 14"/>
          <p:cNvSpPr/>
          <p:nvPr/>
        </p:nvSpPr>
        <p:spPr>
          <a:xfrm>
            <a:off x="6172200" y="2413000"/>
            <a:ext cx="2540000" cy="1778000"/>
          </a:xfrm>
          <a:prstGeom prst="roundRect">
            <a:avLst>
              <a:gd name="adj" fmla="val 7142"/>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188200" y="2603500"/>
            <a:ext cx="508000" cy="508000"/>
          </a:xfrm>
          <a:prstGeom prst="rect">
            <a:avLst/>
          </a:prstGeom>
        </p:spPr>
      </p:pic>
      <p:sp>
        <p:nvSpPr>
          <p:cNvPr id="16" name="AutoShape 16"/>
          <p:cNvSpPr/>
          <p:nvPr/>
        </p:nvSpPr>
        <p:spPr>
          <a:xfrm>
            <a:off x="6299200" y="3238500"/>
            <a:ext cx="228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位置共享</a:t>
            </a:r>
            <a:endParaRPr lang="en-US" sz="1100"/>
          </a:p>
          <a:p>
            <a:pPr indent="0" algn="ctr">
              <a:lnSpc>
                <a:spcPct val="125000"/>
              </a:lnSpc>
            </a:pPr>
            <a:r>
              <a:rPr lang="en-US" sz="1200" b="0" i="0" u="none" strike="noStrike">
                <a:solidFill>
                  <a:srgbClr val="C8C8C8"/>
                </a:solidFill>
                <a:latin typeface="Noto Sans SC"/>
                <a:ea typeface="Noto Sans SC"/>
                <a:cs typeface="Noto Sans SC"/>
                <a:sym typeface="Noto Sans SC"/>
              </a:rPr>
              <a:t>选择守护者实时共享</a:t>
            </a:r>
          </a:p>
        </p:txBody>
      </p:sp>
      <p:sp>
        <p:nvSpPr>
          <p:cNvPr id="17" name="AutoShape 17"/>
          <p:cNvSpPr/>
          <p:nvPr/>
        </p:nvSpPr>
        <p:spPr>
          <a:xfrm>
            <a:off x="8890000" y="2413000"/>
            <a:ext cx="2540000" cy="1778000"/>
          </a:xfrm>
          <a:prstGeom prst="roundRect">
            <a:avLst>
              <a:gd name="adj" fmla="val 7142"/>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906000" y="2603500"/>
            <a:ext cx="508000" cy="508000"/>
          </a:xfrm>
          <a:prstGeom prst="rect">
            <a:avLst/>
          </a:prstGeom>
        </p:spPr>
      </p:pic>
      <p:sp>
        <p:nvSpPr>
          <p:cNvPr id="19" name="AutoShape 19"/>
          <p:cNvSpPr/>
          <p:nvPr/>
        </p:nvSpPr>
        <p:spPr>
          <a:xfrm>
            <a:off x="9017000" y="3238500"/>
            <a:ext cx="228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到达确认</a:t>
            </a:r>
            <a:endParaRPr lang="en-US" sz="1100"/>
          </a:p>
          <a:p>
            <a:pPr indent="0" algn="ctr">
              <a:lnSpc>
                <a:spcPct val="125000"/>
              </a:lnSpc>
            </a:pPr>
            <a:r>
              <a:rPr lang="en-US" sz="1200" b="0" i="0" u="none" strike="noStrike">
                <a:solidFill>
                  <a:srgbClr val="C8C8C8"/>
                </a:solidFill>
                <a:latin typeface="Noto Sans SC"/>
                <a:ea typeface="Noto Sans SC"/>
                <a:cs typeface="Noto Sans SC"/>
                <a:sym typeface="Noto Sans SC"/>
              </a:rPr>
              <a:t>目的地签到反馈</a:t>
            </a:r>
          </a:p>
        </p:txBody>
      </p:sp>
      <p:sp>
        <p:nvSpPr>
          <p:cNvPr id="20" name="AutoShape 20"/>
          <p:cNvSpPr/>
          <p:nvPr/>
        </p:nvSpPr>
        <p:spPr>
          <a:xfrm>
            <a:off x="762000" y="4445000"/>
            <a:ext cx="10668000" cy="635000"/>
          </a:xfrm>
          <a:prstGeom prst="roundRect">
            <a:avLst>
              <a:gd name="adj" fmla="val 20000"/>
            </a:avLst>
          </a:prstGeom>
          <a:solidFill>
            <a:srgbClr val="E6E6FA">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16000" y="4610100"/>
            <a:ext cx="304800" cy="304800"/>
          </a:xfrm>
          <a:prstGeom prst="rect">
            <a:avLst/>
          </a:prstGeom>
        </p:spPr>
      </p:pic>
      <p:sp>
        <p:nvSpPr>
          <p:cNvPr id="22" name="AutoShape 22"/>
          <p:cNvSpPr/>
          <p:nvPr/>
        </p:nvSpPr>
        <p:spPr>
          <a:xfrm>
            <a:off x="1460500" y="45720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E6FA"/>
                </a:solidFill>
                <a:latin typeface="Noto Sans SC"/>
                <a:ea typeface="Noto Sans SC"/>
                <a:cs typeface="Noto Sans SC"/>
                <a:sym typeface="Noto Sans SC"/>
              </a:rPr>
              <a:t>交付物：</a:t>
            </a:r>
            <a:r>
              <a:rPr lang="en-US" sz="1600" b="0" i="0" u="none" strike="noStrike">
                <a:solidFill>
                  <a:srgbClr val="DCDCDC"/>
                </a:solidFill>
                <a:latin typeface="Noto Sans SC"/>
                <a:ea typeface="Noto Sans SC"/>
                <a:cs typeface="Noto Sans SC"/>
                <a:sym typeface="Noto Sans SC"/>
              </a:rPr>
              <a:t>可在真机运行的APP原型（包含上述所有基础功能）</a:t>
            </a:r>
            <a:endParaRPr lang="en-US" sz="1100"/>
          </a:p>
        </p:txBody>
      </p:sp>
      <p:sp>
        <p:nvSpPr>
          <p:cNvPr id="23" name="AutoShape 23"/>
          <p:cNvSpPr/>
          <p:nvPr/>
        </p:nvSpPr>
        <p:spPr>
          <a:xfrm>
            <a:off x="762000" y="5334000"/>
            <a:ext cx="10668000" cy="762000"/>
          </a:xfrm>
          <a:prstGeom prst="roundRect">
            <a:avLst>
              <a:gd name="adj" fmla="val 16666"/>
            </a:avLst>
          </a:prstGeom>
          <a:gradFill rotWithShape="1">
            <a:gsLst>
              <a:gs pos="0">
                <a:srgbClr val="FFB6C1">
                  <a:alpha val="20000"/>
                </a:srgbClr>
              </a:gs>
              <a:gs pos="100000">
                <a:srgbClr val="00BFFF">
                  <a:alpha val="20000"/>
                </a:srgbClr>
              </a:gs>
            </a:gsLst>
            <a:lin ang="0"/>
          </a:gra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16000" y="5537200"/>
            <a:ext cx="355600" cy="355600"/>
          </a:xfrm>
          <a:prstGeom prst="rect">
            <a:avLst/>
          </a:prstGeom>
        </p:spPr>
      </p:pic>
      <p:sp>
        <p:nvSpPr>
          <p:cNvPr id="25" name="AutoShape 25"/>
          <p:cNvSpPr/>
          <p:nvPr/>
        </p:nvSpPr>
        <p:spPr>
          <a:xfrm>
            <a:off x="1524000" y="55245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F0F0F0"/>
                </a:solidFill>
                <a:latin typeface="Noto Sans SC"/>
                <a:ea typeface="Noto Sans SC"/>
                <a:cs typeface="Noto Sans SC"/>
                <a:sym typeface="Noto Sans SC"/>
              </a:rPr>
              <a:t>回顾项目介绍，确认Sprint 1目标是否覆盖了最核心的用户需求。</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技术方案详解：用户认证模块</a:t>
            </a:r>
            <a:endParaRPr lang="en-US" sz="1100"/>
          </a:p>
        </p:txBody>
      </p:sp>
      <p:sp>
        <p:nvSpPr>
          <p:cNvPr id="5" name="AutoShape 5"/>
          <p:cNvSpPr/>
          <p:nvPr/>
        </p:nvSpPr>
        <p:spPr>
          <a:xfrm>
            <a:off x="762000" y="1270000"/>
            <a:ext cx="10668000" cy="457200"/>
          </a:xfrm>
          <a:prstGeom prst="roundRect">
            <a:avLst>
              <a:gd name="adj" fmla="val 27777"/>
            </a:avLst>
          </a:prstGeom>
          <a:solidFill>
            <a:srgbClr val="00BFFF">
              <a:alpha val="15000"/>
            </a:srgbClr>
          </a:solidFill>
          <a:ln w="12700" cap="flat" cmpd="sng">
            <a:solidFill>
              <a:srgbClr val="00BFFF">
                <a:alpha val="100000"/>
              </a:srgbClr>
            </a:solidFill>
            <a:prstDash val="solid"/>
            <a:round/>
          </a:ln>
        </p:spPr>
        <p:txBody>
          <a:bodyPr vert="horz" wrap="square" lIns="0" tIns="0" rIns="0" bIns="0" rtlCol="0" anchor="ctr" anchorCtr="0"/>
          <a:lstStyle/>
          <a:p>
            <a:pPr marL="127000" indent="0" algn="ctr">
              <a:lnSpc>
                <a:spcPct val="125000"/>
              </a:lnSpc>
              <a:defRPr/>
            </a:pPr>
            <a:r>
              <a:rPr lang="en-US" sz="1600" b="1" i="0" u="none" strike="noStrike">
                <a:solidFill>
                  <a:srgbClr val="FFFFFF"/>
                </a:solidFill>
                <a:latin typeface="Poppins"/>
                <a:ea typeface="Poppins"/>
                <a:cs typeface="Poppins"/>
                <a:sym typeface="Poppins"/>
              </a:rPr>
              <a:t>技术选型：Firebase Authentication</a:t>
            </a:r>
            <a:endParaRPr lang="en-US" sz="1100"/>
          </a:p>
        </p:txBody>
      </p:sp>
      <p:sp>
        <p:nvSpPr>
          <p:cNvPr id="6" name="AutoShape 6"/>
          <p:cNvSpPr/>
          <p:nvPr/>
        </p:nvSpPr>
        <p:spPr>
          <a:xfrm>
            <a:off x="762000" y="1905000"/>
            <a:ext cx="5080000" cy="825500"/>
          </a:xfrm>
          <a:prstGeom prst="roundRect">
            <a:avLst>
              <a:gd name="adj" fmla="val 15384"/>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159000"/>
            <a:ext cx="304800" cy="304800"/>
          </a:xfrm>
          <a:prstGeom prst="rect">
            <a:avLst/>
          </a:prstGeom>
        </p:spPr>
      </p:pic>
      <p:sp>
        <p:nvSpPr>
          <p:cNvPr id="8" name="AutoShape 8"/>
          <p:cNvSpPr/>
          <p:nvPr/>
        </p:nvSpPr>
        <p:spPr>
          <a:xfrm>
            <a:off x="1397000" y="19304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Poppins"/>
                <a:ea typeface="Poppins"/>
                <a:cs typeface="Poppins"/>
                <a:sym typeface="Poppins"/>
              </a:rPr>
              <a:t>01. Firebase配置</a:t>
            </a:r>
            <a:endParaRPr lang="en-US" sz="1100"/>
          </a:p>
          <a:p>
            <a:pPr indent="0" algn="l">
              <a:lnSpc>
                <a:spcPct val="125000"/>
              </a:lnSpc>
            </a:pPr>
            <a:r>
              <a:rPr lang="en-US" sz="1200" b="0" i="0" u="none" strike="noStrike">
                <a:solidFill>
                  <a:srgbClr val="FFFFFF">
                    <a:alpha val="80000"/>
                  </a:srgbClr>
                </a:solidFill>
                <a:latin typeface="Poppins"/>
                <a:ea typeface="Poppins"/>
                <a:cs typeface="Poppins"/>
                <a:sym typeface="Poppins"/>
              </a:rPr>
              <a:t>创建项目，添加Android应用，下载google-services.json文件。</a:t>
            </a:r>
          </a:p>
        </p:txBody>
      </p:sp>
      <p:sp>
        <p:nvSpPr>
          <p:cNvPr id="9" name="AutoShape 9"/>
          <p:cNvSpPr/>
          <p:nvPr/>
        </p:nvSpPr>
        <p:spPr>
          <a:xfrm>
            <a:off x="762000" y="2857500"/>
            <a:ext cx="5080000" cy="825500"/>
          </a:xfrm>
          <a:prstGeom prst="roundRect">
            <a:avLst>
              <a:gd name="adj" fmla="val 15384"/>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111500"/>
            <a:ext cx="304800" cy="304800"/>
          </a:xfrm>
          <a:prstGeom prst="rect">
            <a:avLst/>
          </a:prstGeom>
        </p:spPr>
      </p:pic>
      <p:sp>
        <p:nvSpPr>
          <p:cNvPr id="11" name="AutoShape 11"/>
          <p:cNvSpPr/>
          <p:nvPr/>
        </p:nvSpPr>
        <p:spPr>
          <a:xfrm>
            <a:off x="1397000" y="28829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Poppins"/>
                <a:ea typeface="Poppins"/>
                <a:cs typeface="Poppins"/>
                <a:sym typeface="Poppins"/>
              </a:rPr>
              <a:t>02. 启用登录方式</a:t>
            </a:r>
            <a:endParaRPr lang="en-US" sz="1100"/>
          </a:p>
          <a:p>
            <a:pPr indent="0" algn="l">
              <a:lnSpc>
                <a:spcPct val="125000"/>
              </a:lnSpc>
            </a:pPr>
            <a:r>
              <a:rPr lang="en-US" sz="1200" b="0" i="0" u="none" strike="noStrike">
                <a:solidFill>
                  <a:srgbClr val="FFFFFF">
                    <a:alpha val="80000"/>
                  </a:srgbClr>
                </a:solidFill>
                <a:latin typeface="Poppins"/>
                <a:ea typeface="Poppins"/>
                <a:cs typeface="Poppins"/>
                <a:sym typeface="Poppins"/>
              </a:rPr>
              <a:t>在控制台Authentication页面，启用“Email/Password”提供商。</a:t>
            </a:r>
          </a:p>
        </p:txBody>
      </p:sp>
      <p:sp>
        <p:nvSpPr>
          <p:cNvPr id="12" name="AutoShape 12"/>
          <p:cNvSpPr/>
          <p:nvPr/>
        </p:nvSpPr>
        <p:spPr>
          <a:xfrm>
            <a:off x="762000" y="3810000"/>
            <a:ext cx="5080000" cy="825500"/>
          </a:xfrm>
          <a:prstGeom prst="roundRect">
            <a:avLst>
              <a:gd name="adj" fmla="val 15384"/>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064000"/>
            <a:ext cx="304800" cy="304800"/>
          </a:xfrm>
          <a:prstGeom prst="rect">
            <a:avLst/>
          </a:prstGeom>
        </p:spPr>
      </p:pic>
      <p:sp>
        <p:nvSpPr>
          <p:cNvPr id="14" name="AutoShape 14"/>
          <p:cNvSpPr/>
          <p:nvPr/>
        </p:nvSpPr>
        <p:spPr>
          <a:xfrm>
            <a:off x="1397000" y="38354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Poppins"/>
                <a:ea typeface="Poppins"/>
                <a:cs typeface="Poppins"/>
                <a:sym typeface="Poppins"/>
              </a:rPr>
              <a:t>03. 添加依赖</a:t>
            </a:r>
            <a:endParaRPr lang="en-US" sz="1100"/>
          </a:p>
          <a:p>
            <a:pPr indent="0" algn="l">
              <a:lnSpc>
                <a:spcPct val="125000"/>
              </a:lnSpc>
            </a:pPr>
            <a:r>
              <a:rPr lang="en-US" sz="1200" b="0" i="0" u="none" strike="noStrike">
                <a:solidFill>
                  <a:srgbClr val="FFFFFF">
                    <a:alpha val="80000"/>
                  </a:srgbClr>
                </a:solidFill>
                <a:latin typeface="Poppins"/>
                <a:ea typeface="Poppins"/>
                <a:cs typeface="Poppins"/>
                <a:sym typeface="Poppins"/>
              </a:rPr>
              <a:t>在build.gradle文件中添加Firebase Authentication依赖库。</a:t>
            </a:r>
          </a:p>
        </p:txBody>
      </p:sp>
      <p:sp>
        <p:nvSpPr>
          <p:cNvPr id="15" name="AutoShape 15"/>
          <p:cNvSpPr/>
          <p:nvPr/>
        </p:nvSpPr>
        <p:spPr>
          <a:xfrm>
            <a:off x="762000" y="4762500"/>
            <a:ext cx="5080000" cy="825500"/>
          </a:xfrm>
          <a:prstGeom prst="roundRect">
            <a:avLst>
              <a:gd name="adj" fmla="val 15384"/>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5016500"/>
            <a:ext cx="304800" cy="304800"/>
          </a:xfrm>
          <a:prstGeom prst="rect">
            <a:avLst/>
          </a:prstGeom>
        </p:spPr>
      </p:pic>
      <p:sp>
        <p:nvSpPr>
          <p:cNvPr id="17" name="AutoShape 17"/>
          <p:cNvSpPr/>
          <p:nvPr/>
        </p:nvSpPr>
        <p:spPr>
          <a:xfrm>
            <a:off x="1397000" y="47879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Poppins"/>
                <a:ea typeface="Poppins"/>
                <a:cs typeface="Poppins"/>
                <a:sym typeface="Poppins"/>
              </a:rPr>
              <a:t>04. 设计注册界面</a:t>
            </a:r>
            <a:endParaRPr lang="en-US" sz="1100"/>
          </a:p>
          <a:p>
            <a:pPr indent="0" algn="l">
              <a:lnSpc>
                <a:spcPct val="125000"/>
              </a:lnSpc>
            </a:pPr>
            <a:r>
              <a:rPr lang="en-US" sz="1200" b="0" i="0" u="none" strike="noStrike">
                <a:solidFill>
                  <a:srgbClr val="FFFFFF">
                    <a:alpha val="80000"/>
                  </a:srgbClr>
                </a:solidFill>
                <a:latin typeface="Poppins"/>
                <a:ea typeface="Poppins"/>
                <a:cs typeface="Poppins"/>
                <a:sym typeface="Poppins"/>
              </a:rPr>
              <a:t>创建包含邮箱、密码输入框和注册按钮的布局。</a:t>
            </a:r>
          </a:p>
        </p:txBody>
      </p:sp>
      <p:sp>
        <p:nvSpPr>
          <p:cNvPr id="18" name="AutoShape 18"/>
          <p:cNvSpPr/>
          <p:nvPr/>
        </p:nvSpPr>
        <p:spPr>
          <a:xfrm>
            <a:off x="6350000" y="1905000"/>
            <a:ext cx="5080000" cy="825500"/>
          </a:xfrm>
          <a:prstGeom prst="roundRect">
            <a:avLst>
              <a:gd name="adj" fmla="val 15384"/>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40500" y="2159000"/>
            <a:ext cx="304800" cy="304800"/>
          </a:xfrm>
          <a:prstGeom prst="rect">
            <a:avLst/>
          </a:prstGeom>
        </p:spPr>
      </p:pic>
      <p:sp>
        <p:nvSpPr>
          <p:cNvPr id="20" name="AutoShape 20"/>
          <p:cNvSpPr/>
          <p:nvPr/>
        </p:nvSpPr>
        <p:spPr>
          <a:xfrm>
            <a:off x="6985000" y="19304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Poppins"/>
                <a:ea typeface="Poppins"/>
                <a:cs typeface="Poppins"/>
                <a:sym typeface="Poppins"/>
              </a:rPr>
              <a:t>05. 实现注册逻辑</a:t>
            </a:r>
            <a:endParaRPr lang="en-US" sz="1100"/>
          </a:p>
          <a:p>
            <a:pPr indent="0" algn="l">
              <a:lnSpc>
                <a:spcPct val="125000"/>
              </a:lnSpc>
            </a:pPr>
            <a:r>
              <a:rPr lang="en-US" sz="1200" b="0" i="0" u="none" strike="noStrike">
                <a:solidFill>
                  <a:srgbClr val="FFFFFF">
                    <a:alpha val="80000"/>
                  </a:srgbClr>
                </a:solidFill>
                <a:latin typeface="Poppins"/>
                <a:ea typeface="Poppins"/>
                <a:cs typeface="Poppins"/>
                <a:sym typeface="Poppins"/>
              </a:rPr>
              <a:t>调用createUserWithEmailAndPassword方法完成注册。</a:t>
            </a:r>
          </a:p>
        </p:txBody>
      </p:sp>
      <p:sp>
        <p:nvSpPr>
          <p:cNvPr id="21" name="AutoShape 21"/>
          <p:cNvSpPr/>
          <p:nvPr/>
        </p:nvSpPr>
        <p:spPr>
          <a:xfrm>
            <a:off x="6350000" y="2857500"/>
            <a:ext cx="5080000" cy="825500"/>
          </a:xfrm>
          <a:prstGeom prst="roundRect">
            <a:avLst>
              <a:gd name="adj" fmla="val 15384"/>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40500" y="3111500"/>
            <a:ext cx="304800" cy="304800"/>
          </a:xfrm>
          <a:prstGeom prst="rect">
            <a:avLst/>
          </a:prstGeom>
        </p:spPr>
      </p:pic>
      <p:sp>
        <p:nvSpPr>
          <p:cNvPr id="23" name="AutoShape 23"/>
          <p:cNvSpPr/>
          <p:nvPr/>
        </p:nvSpPr>
        <p:spPr>
          <a:xfrm>
            <a:off x="6985000" y="28829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Poppins"/>
                <a:ea typeface="Poppins"/>
                <a:cs typeface="Poppins"/>
                <a:sym typeface="Poppins"/>
              </a:rPr>
              <a:t>06. 设计登录界面</a:t>
            </a:r>
            <a:endParaRPr lang="en-US" sz="1100"/>
          </a:p>
          <a:p>
            <a:pPr indent="0" algn="l">
              <a:lnSpc>
                <a:spcPct val="125000"/>
              </a:lnSpc>
            </a:pPr>
            <a:r>
              <a:rPr lang="en-US" sz="1200" b="0" i="0" u="none" strike="noStrike">
                <a:solidFill>
                  <a:srgbClr val="FFFFFF">
                    <a:alpha val="80000"/>
                  </a:srgbClr>
                </a:solidFill>
                <a:latin typeface="Poppins"/>
                <a:ea typeface="Poppins"/>
                <a:cs typeface="Poppins"/>
                <a:sym typeface="Poppins"/>
              </a:rPr>
              <a:t>创建包含邮箱、密码输入框和登录按钮的布局。</a:t>
            </a:r>
          </a:p>
        </p:txBody>
      </p:sp>
      <p:sp>
        <p:nvSpPr>
          <p:cNvPr id="24" name="AutoShape 24"/>
          <p:cNvSpPr/>
          <p:nvPr/>
        </p:nvSpPr>
        <p:spPr>
          <a:xfrm>
            <a:off x="6350000" y="3810000"/>
            <a:ext cx="5080000" cy="825500"/>
          </a:xfrm>
          <a:prstGeom prst="roundRect">
            <a:avLst>
              <a:gd name="adj" fmla="val 15384"/>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540500" y="4064000"/>
            <a:ext cx="304800" cy="304800"/>
          </a:xfrm>
          <a:prstGeom prst="rect">
            <a:avLst/>
          </a:prstGeom>
        </p:spPr>
      </p:pic>
      <p:sp>
        <p:nvSpPr>
          <p:cNvPr id="26" name="AutoShape 26"/>
          <p:cNvSpPr/>
          <p:nvPr/>
        </p:nvSpPr>
        <p:spPr>
          <a:xfrm>
            <a:off x="6985000" y="38354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Poppins"/>
                <a:ea typeface="Poppins"/>
                <a:cs typeface="Poppins"/>
                <a:sym typeface="Poppins"/>
              </a:rPr>
              <a:t>07. 实现登录逻辑</a:t>
            </a:r>
            <a:endParaRPr lang="en-US" sz="1100"/>
          </a:p>
          <a:p>
            <a:pPr indent="0" algn="l">
              <a:lnSpc>
                <a:spcPct val="125000"/>
              </a:lnSpc>
            </a:pPr>
            <a:r>
              <a:rPr lang="en-US" sz="1200" b="0" i="0" u="none" strike="noStrike">
                <a:solidFill>
                  <a:srgbClr val="FFFFFF">
                    <a:alpha val="80000"/>
                  </a:srgbClr>
                </a:solidFill>
                <a:latin typeface="Poppins"/>
                <a:ea typeface="Poppins"/>
                <a:cs typeface="Poppins"/>
                <a:sym typeface="Poppins"/>
              </a:rPr>
              <a:t>调用signInWithEmailAndPassword方法完成登录。</a:t>
            </a:r>
          </a:p>
        </p:txBody>
      </p:sp>
      <p:sp>
        <p:nvSpPr>
          <p:cNvPr id="27" name="AutoShape 27"/>
          <p:cNvSpPr/>
          <p:nvPr/>
        </p:nvSpPr>
        <p:spPr>
          <a:xfrm>
            <a:off x="6350000" y="4762500"/>
            <a:ext cx="5080000" cy="825500"/>
          </a:xfrm>
          <a:prstGeom prst="roundRect">
            <a:avLst>
              <a:gd name="adj" fmla="val 15384"/>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0500" y="5016500"/>
            <a:ext cx="304800" cy="304800"/>
          </a:xfrm>
          <a:prstGeom prst="rect">
            <a:avLst/>
          </a:prstGeom>
        </p:spPr>
      </p:pic>
      <p:sp>
        <p:nvSpPr>
          <p:cNvPr id="29" name="AutoShape 29"/>
          <p:cNvSpPr/>
          <p:nvPr/>
        </p:nvSpPr>
        <p:spPr>
          <a:xfrm>
            <a:off x="6985000" y="47879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Poppins"/>
                <a:ea typeface="Poppins"/>
                <a:cs typeface="Poppins"/>
                <a:sym typeface="Poppins"/>
              </a:rPr>
              <a:t>08. 状态保持</a:t>
            </a:r>
            <a:endParaRPr lang="en-US" sz="1100"/>
          </a:p>
          <a:p>
            <a:pPr indent="0" algn="l">
              <a:lnSpc>
                <a:spcPct val="125000"/>
              </a:lnSpc>
            </a:pPr>
            <a:r>
              <a:rPr lang="en-US" sz="1200" b="0" i="0" u="none" strike="noStrike">
                <a:solidFill>
                  <a:srgbClr val="FFFFFF">
                    <a:alpha val="80000"/>
                  </a:srgbClr>
                </a:solidFill>
                <a:latin typeface="Poppins"/>
                <a:ea typeface="Poppins"/>
                <a:cs typeface="Poppins"/>
                <a:sym typeface="Poppins"/>
              </a:rPr>
              <a:t>利用监听器在应用启动时自动检查用户登录状态。</a:t>
            </a:r>
          </a:p>
        </p:txBody>
      </p:sp>
      <p:sp>
        <p:nvSpPr>
          <p:cNvPr id="30" name="AutoShape 30"/>
          <p:cNvSpPr/>
          <p:nvPr/>
        </p:nvSpPr>
        <p:spPr>
          <a:xfrm>
            <a:off x="762000" y="5842000"/>
            <a:ext cx="10668000" cy="508000"/>
          </a:xfrm>
          <a:prstGeom prst="roundRect">
            <a:avLst>
              <a:gd name="adj" fmla="val 25000"/>
            </a:avLst>
          </a:prstGeom>
          <a:solidFill>
            <a:srgbClr val="FFB6C1">
              <a:alpha val="15000"/>
            </a:srgbClr>
          </a:solidFill>
          <a:ln w="12700" cap="flat" cmpd="sng">
            <a:solidFill>
              <a:srgbClr val="FFB6C1">
                <a:alpha val="100000"/>
              </a:srgbClr>
            </a:solidFill>
            <a:prstDash val="solid"/>
            <a:round/>
          </a:ln>
        </p:spPr>
        <p:txBody>
          <a:bodyPr vert="horz" wrap="square" lIns="0" tIns="0" rIns="0" bIns="0" rtlCol="0" anchor="ctr" anchorCtr="0"/>
          <a:lstStyle/>
          <a:p>
            <a:pPr marL="127000" indent="0" algn="ctr">
              <a:lnSpc>
                <a:spcPct val="125000"/>
              </a:lnSpc>
              <a:defRPr/>
            </a:pPr>
            <a:r>
              <a:rPr lang="en-US" sz="1600" b="1" i="0" u="none" strike="noStrike">
                <a:solidFill>
                  <a:srgbClr val="FFFFFF"/>
                </a:solidFill>
                <a:latin typeface="Poppins"/>
                <a:ea typeface="Poppins"/>
                <a:cs typeface="Poppins"/>
                <a:sym typeface="Poppins"/>
              </a:rPr>
              <a:t>学生行动指令：尝试画出用户认证模块的流程图</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Sprint 1 技术选型与工具链</a:t>
            </a:r>
            <a:endParaRPr lang="en-US" sz="1100"/>
          </a:p>
        </p:txBody>
      </p:sp>
      <p:sp>
        <p:nvSpPr>
          <p:cNvPr id="5" name="AutoShape 5"/>
          <p:cNvSpPr/>
          <p:nvPr/>
        </p:nvSpPr>
        <p:spPr>
          <a:xfrm>
            <a:off x="762000" y="1397000"/>
            <a:ext cx="3429000" cy="1651000"/>
          </a:xfrm>
          <a:prstGeom prst="roundRect">
            <a:avLst>
              <a:gd name="adj" fmla="val 7692"/>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587500"/>
            <a:ext cx="304800" cy="304800"/>
          </a:xfrm>
          <a:prstGeom prst="rect">
            <a:avLst/>
          </a:prstGeom>
        </p:spPr>
      </p:pic>
      <p:sp>
        <p:nvSpPr>
          <p:cNvPr id="7" name="AutoShape 7"/>
          <p:cNvSpPr/>
          <p:nvPr/>
        </p:nvSpPr>
        <p:spPr>
          <a:xfrm>
            <a:off x="1333500" y="15494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前端开发</a:t>
            </a:r>
            <a:endParaRPr lang="en-US" sz="1100"/>
          </a:p>
        </p:txBody>
      </p:sp>
      <p:sp>
        <p:nvSpPr>
          <p:cNvPr id="8" name="AutoShape 8"/>
          <p:cNvSpPr/>
          <p:nvPr/>
        </p:nvSpPr>
        <p:spPr>
          <a:xfrm>
            <a:off x="952500" y="19685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DCDCDC"/>
                </a:solidFill>
                <a:latin typeface="Poppins"/>
                <a:ea typeface="Poppins"/>
                <a:cs typeface="Poppins"/>
                <a:sym typeface="Poppins"/>
              </a:rPr>
              <a:t>工具：</a:t>
            </a:r>
            <a:r>
              <a:rPr lang="en-US" sz="1200" b="0" i="0" u="none" strike="noStrike">
                <a:solidFill>
                  <a:srgbClr val="FFFFFF"/>
                </a:solidFill>
                <a:latin typeface="Poppins"/>
                <a:ea typeface="Poppins"/>
                <a:cs typeface="Poppins"/>
                <a:sym typeface="Poppins"/>
              </a:rPr>
              <a:t>Android Studio</a:t>
            </a:r>
            <a:endParaRPr lang="en-US" sz="1100"/>
          </a:p>
          <a:p>
            <a:pPr indent="0" algn="l">
              <a:lnSpc>
                <a:spcPct val="100000"/>
              </a:lnSpc>
            </a:pPr>
            <a:r>
              <a:rPr lang="en-US" sz="1200" b="1" i="0" u="none" strike="noStrike">
                <a:solidFill>
                  <a:srgbClr val="DCDCDC"/>
                </a:solidFill>
                <a:latin typeface="Poppins"/>
                <a:ea typeface="Poppins"/>
                <a:cs typeface="Poppins"/>
                <a:sym typeface="Poppins"/>
              </a:rPr>
              <a:t>语言：</a:t>
            </a:r>
            <a:r>
              <a:rPr lang="en-US" sz="1200" b="0" i="0" u="none" strike="noStrike">
                <a:solidFill>
                  <a:srgbClr val="FFFFFF"/>
                </a:solidFill>
                <a:latin typeface="Poppins"/>
                <a:ea typeface="Poppins"/>
                <a:cs typeface="Poppins"/>
                <a:sym typeface="Poppins"/>
              </a:rPr>
              <a:t>Java / Kotlin</a:t>
            </a:r>
          </a:p>
          <a:p>
            <a:pPr indent="0" algn="l">
              <a:lnSpc>
                <a:spcPct val="100000"/>
              </a:lnSpc>
            </a:pPr>
            <a:r>
              <a:rPr lang="en-US" sz="1200" b="1" i="0" u="none" strike="noStrike">
                <a:solidFill>
                  <a:srgbClr val="DCDCDC"/>
                </a:solidFill>
                <a:latin typeface="Poppins"/>
                <a:ea typeface="Poppins"/>
                <a:cs typeface="Poppins"/>
                <a:sym typeface="Poppins"/>
              </a:rPr>
              <a:t>用途：</a:t>
            </a:r>
            <a:r>
              <a:rPr lang="en-US" sz="1200" b="0" i="0" u="none" strike="noStrike">
                <a:solidFill>
                  <a:srgbClr val="FFFFFF"/>
                </a:solidFill>
                <a:latin typeface="Poppins"/>
                <a:ea typeface="Poppins"/>
                <a:cs typeface="Poppins"/>
                <a:sym typeface="Poppins"/>
              </a:rPr>
              <a:t>构建核心界面与逻辑</a:t>
            </a:r>
          </a:p>
        </p:txBody>
      </p:sp>
      <p:sp>
        <p:nvSpPr>
          <p:cNvPr id="9" name="AutoShape 9"/>
          <p:cNvSpPr/>
          <p:nvPr/>
        </p:nvSpPr>
        <p:spPr>
          <a:xfrm>
            <a:off x="4381500" y="1397000"/>
            <a:ext cx="3429000" cy="1651000"/>
          </a:xfrm>
          <a:prstGeom prst="roundRect">
            <a:avLst>
              <a:gd name="adj" fmla="val 7692"/>
            </a:avLst>
          </a:prstGeom>
          <a:solidFill>
            <a:srgbClr val="FFB6C1">
              <a:alpha val="10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1587500"/>
            <a:ext cx="304800" cy="304800"/>
          </a:xfrm>
          <a:prstGeom prst="rect">
            <a:avLst/>
          </a:prstGeom>
        </p:spPr>
      </p:pic>
      <p:sp>
        <p:nvSpPr>
          <p:cNvPr id="11" name="AutoShape 11"/>
          <p:cNvSpPr/>
          <p:nvPr/>
        </p:nvSpPr>
        <p:spPr>
          <a:xfrm>
            <a:off x="4953000" y="15494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后端服务</a:t>
            </a:r>
            <a:endParaRPr lang="en-US" sz="1100"/>
          </a:p>
        </p:txBody>
      </p:sp>
      <p:sp>
        <p:nvSpPr>
          <p:cNvPr id="12" name="AutoShape 12"/>
          <p:cNvSpPr/>
          <p:nvPr/>
        </p:nvSpPr>
        <p:spPr>
          <a:xfrm>
            <a:off x="4572000" y="19685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DCDCDC"/>
                </a:solidFill>
                <a:latin typeface="Poppins"/>
                <a:ea typeface="Poppins"/>
                <a:cs typeface="Poppins"/>
                <a:sym typeface="Poppins"/>
              </a:rPr>
              <a:t>平台：</a:t>
            </a:r>
            <a:r>
              <a:rPr lang="en-US" sz="1200" b="0" i="0" u="none" strike="noStrike">
                <a:solidFill>
                  <a:srgbClr val="FFFFFF"/>
                </a:solidFill>
                <a:latin typeface="Poppins"/>
                <a:ea typeface="Poppins"/>
                <a:cs typeface="Poppins"/>
                <a:sym typeface="Poppins"/>
              </a:rPr>
              <a:t>Firebase</a:t>
            </a:r>
            <a:endParaRPr lang="en-US" sz="1100"/>
          </a:p>
          <a:p>
            <a:pPr indent="0" algn="l">
              <a:lnSpc>
                <a:spcPct val="100000"/>
              </a:lnSpc>
            </a:pPr>
            <a:r>
              <a:rPr lang="en-US" sz="1200" b="1" i="0" u="none" strike="noStrike">
                <a:solidFill>
                  <a:srgbClr val="DCDCDC"/>
                </a:solidFill>
                <a:latin typeface="Poppins"/>
                <a:ea typeface="Poppins"/>
                <a:cs typeface="Poppins"/>
                <a:sym typeface="Poppins"/>
              </a:rPr>
              <a:t>核心：</a:t>
            </a:r>
            <a:r>
              <a:rPr lang="en-US" sz="1200" b="0" i="0" u="none" strike="noStrike">
                <a:solidFill>
                  <a:srgbClr val="FFFFFF"/>
                </a:solidFill>
                <a:latin typeface="Poppins"/>
                <a:ea typeface="Poppins"/>
                <a:cs typeface="Poppins"/>
                <a:sym typeface="Poppins"/>
              </a:rPr>
              <a:t>Auth / DB / FCM</a:t>
            </a:r>
          </a:p>
          <a:p>
            <a:pPr indent="0" algn="l">
              <a:lnSpc>
                <a:spcPct val="100000"/>
              </a:lnSpc>
            </a:pPr>
            <a:r>
              <a:rPr lang="en-US" sz="1200" b="1" i="0" u="none" strike="noStrike">
                <a:solidFill>
                  <a:srgbClr val="DCDCDC"/>
                </a:solidFill>
                <a:latin typeface="Poppins"/>
                <a:ea typeface="Poppins"/>
                <a:cs typeface="Poppins"/>
                <a:sym typeface="Poppins"/>
              </a:rPr>
              <a:t>用途：</a:t>
            </a:r>
            <a:r>
              <a:rPr lang="en-US" sz="1200" b="0" i="0" u="none" strike="noStrike">
                <a:solidFill>
                  <a:srgbClr val="FFFFFF"/>
                </a:solidFill>
                <a:latin typeface="Poppins"/>
                <a:ea typeface="Poppins"/>
                <a:cs typeface="Poppins"/>
                <a:sym typeface="Poppins"/>
              </a:rPr>
              <a:t>用户管理与实时同步</a:t>
            </a:r>
          </a:p>
        </p:txBody>
      </p:sp>
      <p:sp>
        <p:nvSpPr>
          <p:cNvPr id="13" name="AutoShape 13"/>
          <p:cNvSpPr/>
          <p:nvPr/>
        </p:nvSpPr>
        <p:spPr>
          <a:xfrm>
            <a:off x="8001000" y="1397000"/>
            <a:ext cx="3429000" cy="1651000"/>
          </a:xfrm>
          <a:prstGeom prst="roundRect">
            <a:avLst>
              <a:gd name="adj" fmla="val 7692"/>
            </a:avLst>
          </a:prstGeom>
          <a:solidFill>
            <a:srgbClr val="E6E6FA">
              <a:alpha val="10000"/>
            </a:srgbClr>
          </a:solidFill>
          <a:ln w="12700" cap="flat" cmpd="sng">
            <a:solidFill>
              <a:srgbClr val="E6E6FA">
                <a:alpha val="5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1587500"/>
            <a:ext cx="304800" cy="304800"/>
          </a:xfrm>
          <a:prstGeom prst="rect">
            <a:avLst/>
          </a:prstGeom>
        </p:spPr>
      </p:pic>
      <p:sp>
        <p:nvSpPr>
          <p:cNvPr id="15" name="AutoShape 15"/>
          <p:cNvSpPr/>
          <p:nvPr/>
        </p:nvSpPr>
        <p:spPr>
          <a:xfrm>
            <a:off x="8572500" y="15494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地图与定位</a:t>
            </a:r>
            <a:endParaRPr lang="en-US" sz="1100"/>
          </a:p>
        </p:txBody>
      </p:sp>
      <p:sp>
        <p:nvSpPr>
          <p:cNvPr id="16" name="AutoShape 16"/>
          <p:cNvSpPr/>
          <p:nvPr/>
        </p:nvSpPr>
        <p:spPr>
          <a:xfrm>
            <a:off x="8191500" y="19685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DCDCDC"/>
                </a:solidFill>
                <a:latin typeface="Poppins"/>
                <a:ea typeface="Poppins"/>
                <a:cs typeface="Poppins"/>
                <a:sym typeface="Poppins"/>
              </a:rPr>
              <a:t>API：</a:t>
            </a:r>
            <a:r>
              <a:rPr lang="en-US" sz="1200" b="0" i="0" u="none" strike="noStrike">
                <a:solidFill>
                  <a:srgbClr val="FFFFFF"/>
                </a:solidFill>
                <a:latin typeface="Poppins"/>
                <a:ea typeface="Poppins"/>
                <a:cs typeface="Poppins"/>
                <a:sym typeface="Poppins"/>
              </a:rPr>
              <a:t>Google Maps SDK</a:t>
            </a:r>
            <a:endParaRPr lang="en-US" sz="1100"/>
          </a:p>
          <a:p>
            <a:pPr indent="0" algn="l">
              <a:lnSpc>
                <a:spcPct val="100000"/>
              </a:lnSpc>
            </a:pPr>
            <a:r>
              <a:rPr lang="en-US" sz="1200" b="1" i="0" u="none" strike="noStrike">
                <a:solidFill>
                  <a:srgbClr val="DCDCDC"/>
                </a:solidFill>
                <a:latin typeface="Poppins"/>
                <a:ea typeface="Poppins"/>
                <a:cs typeface="Poppins"/>
                <a:sym typeface="Poppins"/>
              </a:rPr>
              <a:t>功能：</a:t>
            </a:r>
            <a:r>
              <a:rPr lang="en-US" sz="1200" b="0" i="0" u="none" strike="noStrike">
                <a:solidFill>
                  <a:srgbClr val="FFFFFF"/>
                </a:solidFill>
                <a:latin typeface="Poppins"/>
                <a:ea typeface="Poppins"/>
                <a:cs typeface="Poppins"/>
                <a:sym typeface="Poppins"/>
              </a:rPr>
              <a:t>定位、路线、围栏</a:t>
            </a:r>
          </a:p>
          <a:p>
            <a:pPr indent="0" algn="l">
              <a:lnSpc>
                <a:spcPct val="100000"/>
              </a:lnSpc>
            </a:pPr>
            <a:r>
              <a:rPr lang="en-US" sz="1200" b="1" i="0" u="none" strike="noStrike">
                <a:solidFill>
                  <a:srgbClr val="DCDCDC"/>
                </a:solidFill>
                <a:latin typeface="Poppins"/>
                <a:ea typeface="Poppins"/>
                <a:cs typeface="Poppins"/>
                <a:sym typeface="Poppins"/>
              </a:rPr>
              <a:t>用途：</a:t>
            </a:r>
            <a:r>
              <a:rPr lang="en-US" sz="1200" b="0" i="0" u="none" strike="noStrike">
                <a:solidFill>
                  <a:srgbClr val="FFFFFF"/>
                </a:solidFill>
                <a:latin typeface="Poppins"/>
                <a:ea typeface="Poppins"/>
                <a:cs typeface="Poppins"/>
                <a:sym typeface="Poppins"/>
              </a:rPr>
              <a:t>实现地图可视化展示</a:t>
            </a:r>
          </a:p>
        </p:txBody>
      </p:sp>
      <p:sp>
        <p:nvSpPr>
          <p:cNvPr id="17" name="AutoShape 17"/>
          <p:cNvSpPr/>
          <p:nvPr/>
        </p:nvSpPr>
        <p:spPr>
          <a:xfrm>
            <a:off x="762000" y="3238500"/>
            <a:ext cx="3429000" cy="1651000"/>
          </a:xfrm>
          <a:prstGeom prst="roundRect">
            <a:avLst>
              <a:gd name="adj" fmla="val 7692"/>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3429000"/>
            <a:ext cx="304800" cy="304800"/>
          </a:xfrm>
          <a:prstGeom prst="rect">
            <a:avLst/>
          </a:prstGeom>
        </p:spPr>
      </p:pic>
      <p:sp>
        <p:nvSpPr>
          <p:cNvPr id="19" name="AutoShape 19"/>
          <p:cNvSpPr/>
          <p:nvPr/>
        </p:nvSpPr>
        <p:spPr>
          <a:xfrm>
            <a:off x="1333500" y="33909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AI辅助工具</a:t>
            </a:r>
            <a:endParaRPr lang="en-US" sz="1100"/>
          </a:p>
        </p:txBody>
      </p:sp>
      <p:sp>
        <p:nvSpPr>
          <p:cNvPr id="20" name="AutoShape 20"/>
          <p:cNvSpPr/>
          <p:nvPr/>
        </p:nvSpPr>
        <p:spPr>
          <a:xfrm>
            <a:off x="952500" y="3810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DCDCDC"/>
                </a:solidFill>
                <a:latin typeface="Poppins"/>
                <a:ea typeface="Poppins"/>
                <a:cs typeface="Poppins"/>
                <a:sym typeface="Poppins"/>
              </a:rPr>
              <a:t>工具：</a:t>
            </a:r>
            <a:r>
              <a:rPr lang="en-US" sz="1200" b="0" i="0" u="none" strike="noStrike">
                <a:solidFill>
                  <a:srgbClr val="FFFFFF"/>
                </a:solidFill>
                <a:latin typeface="Poppins"/>
                <a:ea typeface="Poppins"/>
                <a:cs typeface="Poppins"/>
                <a:sym typeface="Poppins"/>
              </a:rPr>
              <a:t>ChatGPT API</a:t>
            </a:r>
            <a:endParaRPr lang="en-US" sz="1100"/>
          </a:p>
          <a:p>
            <a:pPr indent="0" algn="l">
              <a:lnSpc>
                <a:spcPct val="100000"/>
              </a:lnSpc>
            </a:pPr>
            <a:r>
              <a:rPr lang="en-US" sz="1200" b="1" i="0" u="none" strike="noStrike">
                <a:solidFill>
                  <a:srgbClr val="DCDCDC"/>
                </a:solidFill>
                <a:latin typeface="Poppins"/>
                <a:ea typeface="Poppins"/>
                <a:cs typeface="Poppins"/>
                <a:sym typeface="Poppins"/>
              </a:rPr>
              <a:t>场景：</a:t>
            </a:r>
            <a:r>
              <a:rPr lang="en-US" sz="1200" b="0" i="0" u="none" strike="noStrike">
                <a:solidFill>
                  <a:srgbClr val="FFFFFF"/>
                </a:solidFill>
                <a:latin typeface="Poppins"/>
                <a:ea typeface="Poppins"/>
                <a:cs typeface="Poppins"/>
                <a:sym typeface="Poppins"/>
              </a:rPr>
              <a:t>需求分析、代码示例</a:t>
            </a:r>
          </a:p>
          <a:p>
            <a:pPr indent="0" algn="l">
              <a:lnSpc>
                <a:spcPct val="100000"/>
              </a:lnSpc>
            </a:pPr>
            <a:r>
              <a:rPr lang="en-US" sz="1200" b="1" i="0" u="none" strike="noStrike">
                <a:solidFill>
                  <a:srgbClr val="DCDCDC"/>
                </a:solidFill>
                <a:latin typeface="Poppins"/>
                <a:ea typeface="Poppins"/>
                <a:cs typeface="Poppins"/>
                <a:sym typeface="Poppins"/>
              </a:rPr>
              <a:t>用途：</a:t>
            </a:r>
            <a:r>
              <a:rPr lang="en-US" sz="1200" b="0" i="0" u="none" strike="noStrike">
                <a:solidFill>
                  <a:srgbClr val="FFFFFF"/>
                </a:solidFill>
                <a:latin typeface="Poppins"/>
                <a:ea typeface="Poppins"/>
                <a:cs typeface="Poppins"/>
                <a:sym typeface="Poppins"/>
              </a:rPr>
              <a:t>提升开发效率与质量</a:t>
            </a:r>
          </a:p>
        </p:txBody>
      </p:sp>
      <p:sp>
        <p:nvSpPr>
          <p:cNvPr id="21" name="AutoShape 21"/>
          <p:cNvSpPr/>
          <p:nvPr/>
        </p:nvSpPr>
        <p:spPr>
          <a:xfrm>
            <a:off x="4381500" y="3238500"/>
            <a:ext cx="3429000" cy="1651000"/>
          </a:xfrm>
          <a:prstGeom prst="roundRect">
            <a:avLst>
              <a:gd name="adj" fmla="val 7692"/>
            </a:avLst>
          </a:prstGeom>
          <a:solidFill>
            <a:srgbClr val="FFB6C1">
              <a:alpha val="10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72000" y="3429000"/>
            <a:ext cx="304800" cy="304800"/>
          </a:xfrm>
          <a:prstGeom prst="rect">
            <a:avLst/>
          </a:prstGeom>
        </p:spPr>
      </p:pic>
      <p:sp>
        <p:nvSpPr>
          <p:cNvPr id="23" name="AutoShape 23"/>
          <p:cNvSpPr/>
          <p:nvPr/>
        </p:nvSpPr>
        <p:spPr>
          <a:xfrm>
            <a:off x="4953000" y="33909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Poppins"/>
                <a:ea typeface="Poppins"/>
                <a:cs typeface="Poppins"/>
                <a:sym typeface="Poppins"/>
              </a:rPr>
              <a:t>项目管理</a:t>
            </a:r>
            <a:endParaRPr lang="en-US" sz="1100"/>
          </a:p>
        </p:txBody>
      </p:sp>
      <p:sp>
        <p:nvSpPr>
          <p:cNvPr id="24" name="AutoShape 24"/>
          <p:cNvSpPr/>
          <p:nvPr/>
        </p:nvSpPr>
        <p:spPr>
          <a:xfrm>
            <a:off x="4572000" y="3810000"/>
            <a:ext cx="3048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DCDCDC"/>
                </a:solidFill>
                <a:latin typeface="Poppins"/>
                <a:ea typeface="Poppins"/>
                <a:cs typeface="Poppins"/>
                <a:sym typeface="Poppins"/>
              </a:rPr>
              <a:t>工具：</a:t>
            </a:r>
            <a:r>
              <a:rPr lang="en-US" sz="1200" b="0" i="0" u="none" strike="noStrike">
                <a:solidFill>
                  <a:srgbClr val="FFFFFF"/>
                </a:solidFill>
                <a:latin typeface="Poppins"/>
                <a:ea typeface="Poppins"/>
                <a:cs typeface="Poppins"/>
                <a:sym typeface="Poppins"/>
              </a:rPr>
              <a:t>Trello / Jira</a:t>
            </a:r>
            <a:endParaRPr lang="en-US" sz="1100"/>
          </a:p>
          <a:p>
            <a:pPr indent="0" algn="l">
              <a:lnSpc>
                <a:spcPct val="100000"/>
              </a:lnSpc>
            </a:pPr>
            <a:r>
              <a:rPr lang="en-US" sz="1200" b="1" i="0" u="none" strike="noStrike">
                <a:solidFill>
                  <a:srgbClr val="DCDCDC"/>
                </a:solidFill>
                <a:latin typeface="Poppins"/>
                <a:ea typeface="Poppins"/>
                <a:cs typeface="Poppins"/>
                <a:sym typeface="Poppins"/>
              </a:rPr>
              <a:t>功能：</a:t>
            </a:r>
            <a:r>
              <a:rPr lang="en-US" sz="1200" b="0" i="0" u="none" strike="noStrike">
                <a:solidFill>
                  <a:srgbClr val="FFFFFF"/>
                </a:solidFill>
                <a:latin typeface="Poppins"/>
                <a:ea typeface="Poppins"/>
                <a:cs typeface="Poppins"/>
                <a:sym typeface="Poppins"/>
              </a:rPr>
              <a:t>任务分解、进度跟踪</a:t>
            </a:r>
          </a:p>
          <a:p>
            <a:pPr indent="0" algn="l">
              <a:lnSpc>
                <a:spcPct val="100000"/>
              </a:lnSpc>
            </a:pPr>
            <a:r>
              <a:rPr lang="en-US" sz="1200" b="1" i="0" u="none" strike="noStrike">
                <a:solidFill>
                  <a:srgbClr val="DCDCDC"/>
                </a:solidFill>
                <a:latin typeface="Poppins"/>
                <a:ea typeface="Poppins"/>
                <a:cs typeface="Poppins"/>
                <a:sym typeface="Poppins"/>
              </a:rPr>
              <a:t>用途：</a:t>
            </a:r>
            <a:r>
              <a:rPr lang="en-US" sz="1200" b="0" i="0" u="none" strike="noStrike">
                <a:solidFill>
                  <a:srgbClr val="FFFFFF"/>
                </a:solidFill>
                <a:latin typeface="Poppins"/>
                <a:ea typeface="Poppins"/>
                <a:cs typeface="Poppins"/>
                <a:sym typeface="Poppins"/>
              </a:rPr>
              <a:t>高效团队协作管理</a:t>
            </a:r>
          </a:p>
        </p:txBody>
      </p:sp>
      <p:sp>
        <p:nvSpPr>
          <p:cNvPr id="25" name="AutoShape 25"/>
          <p:cNvSpPr/>
          <p:nvPr/>
        </p:nvSpPr>
        <p:spPr>
          <a:xfrm>
            <a:off x="762000" y="5207000"/>
            <a:ext cx="10668000" cy="762000"/>
          </a:xfrm>
          <a:prstGeom prst="roundRect">
            <a:avLst>
              <a:gd name="adj" fmla="val 16666"/>
            </a:avLst>
          </a:prstGeom>
          <a:solidFill>
            <a:srgbClr val="FFFFFF">
              <a:alpha val="10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16000" y="5435600"/>
            <a:ext cx="304800" cy="304800"/>
          </a:xfrm>
          <a:prstGeom prst="rect">
            <a:avLst/>
          </a:prstGeom>
        </p:spPr>
      </p:pic>
      <p:sp>
        <p:nvSpPr>
          <p:cNvPr id="27" name="AutoShape 27"/>
          <p:cNvSpPr/>
          <p:nvPr/>
        </p:nvSpPr>
        <p:spPr>
          <a:xfrm>
            <a:off x="1460500" y="5334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行动指令：</a:t>
            </a:r>
            <a:r>
              <a:rPr lang="en-US" sz="1600" b="0" i="0" u="none" strike="noStrike">
                <a:solidFill>
                  <a:srgbClr val="DCDCDC"/>
                </a:solidFill>
                <a:latin typeface="Poppins"/>
                <a:ea typeface="Poppins"/>
                <a:cs typeface="Poppins"/>
                <a:sym typeface="Poppins"/>
              </a:rPr>
              <a:t>确认团队在Sprint 1中使用的技术栈和工具是否与计划一致，并记录下来。</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9055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Sprint 1 团队协作与沟通机制</a:t>
            </a:r>
            <a:endParaRPr lang="en-US" sz="1100"/>
          </a:p>
        </p:txBody>
      </p:sp>
      <p:sp>
        <p:nvSpPr>
          <p:cNvPr id="5" name="AutoShape 5"/>
          <p:cNvSpPr/>
          <p:nvPr/>
        </p:nvSpPr>
        <p:spPr>
          <a:xfrm>
            <a:off x="762000" y="1397000"/>
            <a:ext cx="5207000" cy="1651000"/>
          </a:xfrm>
          <a:prstGeom prst="roundRect">
            <a:avLst>
              <a:gd name="adj" fmla="val 7692"/>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406400" cy="406400"/>
          </a:xfrm>
          <a:prstGeom prst="rect">
            <a:avLst/>
          </a:prstGeom>
        </p:spPr>
      </p:pic>
      <p:sp>
        <p:nvSpPr>
          <p:cNvPr id="7" name="AutoShape 7"/>
          <p:cNvSpPr/>
          <p:nvPr/>
        </p:nvSpPr>
        <p:spPr>
          <a:xfrm>
            <a:off x="1524000" y="1549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Poppins"/>
                <a:ea typeface="Poppins"/>
                <a:cs typeface="Poppins"/>
                <a:sym typeface="Poppins"/>
              </a:rPr>
              <a:t>任务分配机制</a:t>
            </a:r>
            <a:endParaRPr lang="en-US" sz="1100"/>
          </a:p>
        </p:txBody>
      </p:sp>
      <p:sp>
        <p:nvSpPr>
          <p:cNvPr id="8" name="AutoShape 8"/>
          <p:cNvSpPr/>
          <p:nvPr/>
        </p:nvSpPr>
        <p:spPr>
          <a:xfrm>
            <a:off x="1016000" y="1968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 按技能分配用户认证、地图定位等任务，明确负责人</a:t>
            </a:r>
            <a:endParaRPr lang="en-US" sz="1100"/>
          </a:p>
          <a:p>
            <a:pPr indent="0" algn="l">
              <a:lnSpc>
                <a:spcPct val="100000"/>
              </a:lnSpc>
            </a:pPr>
            <a:r>
              <a:rPr lang="en-US" sz="1300" b="0" i="0" u="none" strike="noStrike">
                <a:solidFill>
                  <a:srgbClr val="FFFFFF">
                    <a:alpha val="90196"/>
                  </a:srgbClr>
                </a:solidFill>
                <a:latin typeface="Noto Sans SC"/>
                <a:ea typeface="Noto Sans SC"/>
                <a:cs typeface="Noto Sans SC"/>
                <a:sym typeface="Noto Sans SC"/>
              </a:rPr>
              <a:t>• 设定清晰的交付时间节点，确保进度可控</a:t>
            </a:r>
          </a:p>
        </p:txBody>
      </p:sp>
      <p:sp>
        <p:nvSpPr>
          <p:cNvPr id="9" name="AutoShape 9"/>
          <p:cNvSpPr/>
          <p:nvPr/>
        </p:nvSpPr>
        <p:spPr>
          <a:xfrm>
            <a:off x="6223000" y="1397000"/>
            <a:ext cx="5207000" cy="1651000"/>
          </a:xfrm>
          <a:prstGeom prst="roundRect">
            <a:avLst>
              <a:gd name="adj" fmla="val 7692"/>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587500"/>
            <a:ext cx="406400" cy="406400"/>
          </a:xfrm>
          <a:prstGeom prst="rect">
            <a:avLst/>
          </a:prstGeom>
        </p:spPr>
      </p:pic>
      <p:sp>
        <p:nvSpPr>
          <p:cNvPr id="11" name="AutoShape 11"/>
          <p:cNvSpPr/>
          <p:nvPr/>
        </p:nvSpPr>
        <p:spPr>
          <a:xfrm>
            <a:off x="6985000" y="1549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Poppins"/>
                <a:ea typeface="Poppins"/>
                <a:cs typeface="Poppins"/>
                <a:sym typeface="Poppins"/>
              </a:rPr>
              <a:t>每日站会制度</a:t>
            </a:r>
            <a:endParaRPr lang="en-US" sz="1100"/>
          </a:p>
        </p:txBody>
      </p:sp>
      <p:sp>
        <p:nvSpPr>
          <p:cNvPr id="12" name="AutoShape 12"/>
          <p:cNvSpPr/>
          <p:nvPr/>
        </p:nvSpPr>
        <p:spPr>
          <a:xfrm>
            <a:off x="6477000" y="1968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 每日固定时间（如10点）进行15分钟简短同步</a:t>
            </a:r>
            <a:endParaRPr lang="en-US" sz="1100"/>
          </a:p>
          <a:p>
            <a:pPr indent="0" algn="l">
              <a:lnSpc>
                <a:spcPct val="100000"/>
              </a:lnSpc>
            </a:pPr>
            <a:r>
              <a:rPr lang="en-US" sz="1300" b="0" i="0" u="none" strike="noStrike">
                <a:solidFill>
                  <a:srgbClr val="FFFFFF">
                    <a:alpha val="90196"/>
                  </a:srgbClr>
                </a:solidFill>
                <a:latin typeface="Noto Sans SC"/>
                <a:ea typeface="Noto Sans SC"/>
                <a:cs typeface="Noto Sans SC"/>
                <a:sym typeface="Noto Sans SC"/>
              </a:rPr>
              <a:t>• 同步内容：昨日成果、今日计划、遇到的阻碍</a:t>
            </a:r>
          </a:p>
        </p:txBody>
      </p:sp>
      <p:sp>
        <p:nvSpPr>
          <p:cNvPr id="13" name="AutoShape 13"/>
          <p:cNvSpPr/>
          <p:nvPr/>
        </p:nvSpPr>
        <p:spPr>
          <a:xfrm>
            <a:off x="762000" y="3175000"/>
            <a:ext cx="5207000" cy="1651000"/>
          </a:xfrm>
          <a:prstGeom prst="roundRect">
            <a:avLst>
              <a:gd name="adj" fmla="val 7692"/>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365500"/>
            <a:ext cx="406400" cy="406400"/>
          </a:xfrm>
          <a:prstGeom prst="rect">
            <a:avLst/>
          </a:prstGeom>
        </p:spPr>
      </p:pic>
      <p:sp>
        <p:nvSpPr>
          <p:cNvPr id="15" name="AutoShape 15"/>
          <p:cNvSpPr/>
          <p:nvPr/>
        </p:nvSpPr>
        <p:spPr>
          <a:xfrm>
            <a:off x="1524000" y="3327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Poppins"/>
                <a:ea typeface="Poppins"/>
                <a:cs typeface="Poppins"/>
                <a:sym typeface="Poppins"/>
              </a:rPr>
              <a:t>代码协作规范</a:t>
            </a:r>
            <a:endParaRPr lang="en-US" sz="1100"/>
          </a:p>
        </p:txBody>
      </p:sp>
      <p:sp>
        <p:nvSpPr>
          <p:cNvPr id="16" name="AutoShape 16"/>
          <p:cNvSpPr/>
          <p:nvPr/>
        </p:nvSpPr>
        <p:spPr>
          <a:xfrm>
            <a:off x="1016000" y="3746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 使用Git分支管理（Master/Develop/Feature）</a:t>
            </a:r>
            <a:endParaRPr lang="en-US" sz="1100"/>
          </a:p>
          <a:p>
            <a:pPr indent="0" algn="l">
              <a:lnSpc>
                <a:spcPct val="100000"/>
              </a:lnSpc>
            </a:pPr>
            <a:r>
              <a:rPr lang="en-US" sz="1300" b="0" i="0" u="none" strike="noStrike">
                <a:solidFill>
                  <a:srgbClr val="FFFFFF">
                    <a:alpha val="90196"/>
                  </a:srgbClr>
                </a:solidFill>
                <a:latin typeface="Noto Sans SC"/>
                <a:ea typeface="Noto Sans SC"/>
                <a:cs typeface="Noto Sans SC"/>
                <a:sym typeface="Noto Sans SC"/>
              </a:rPr>
              <a:t>• 功能完成后提交代码，必须进行代码审查(Code Review)</a:t>
            </a:r>
          </a:p>
        </p:txBody>
      </p:sp>
      <p:sp>
        <p:nvSpPr>
          <p:cNvPr id="17" name="AutoShape 17"/>
          <p:cNvSpPr/>
          <p:nvPr/>
        </p:nvSpPr>
        <p:spPr>
          <a:xfrm>
            <a:off x="6223000" y="3175000"/>
            <a:ext cx="5207000" cy="1651000"/>
          </a:xfrm>
          <a:prstGeom prst="roundRect">
            <a:avLst>
              <a:gd name="adj" fmla="val 7692"/>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3365500"/>
            <a:ext cx="406400" cy="406400"/>
          </a:xfrm>
          <a:prstGeom prst="rect">
            <a:avLst/>
          </a:prstGeom>
        </p:spPr>
      </p:pic>
      <p:sp>
        <p:nvSpPr>
          <p:cNvPr id="19" name="AutoShape 19"/>
          <p:cNvSpPr/>
          <p:nvPr/>
        </p:nvSpPr>
        <p:spPr>
          <a:xfrm>
            <a:off x="6985000" y="3327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Poppins"/>
                <a:ea typeface="Poppins"/>
                <a:cs typeface="Poppins"/>
                <a:sym typeface="Poppins"/>
              </a:rPr>
              <a:t>沟通工具矩阵</a:t>
            </a:r>
            <a:endParaRPr lang="en-US" sz="1100"/>
          </a:p>
        </p:txBody>
      </p:sp>
      <p:sp>
        <p:nvSpPr>
          <p:cNvPr id="20" name="AutoShape 20"/>
          <p:cNvSpPr/>
          <p:nvPr/>
        </p:nvSpPr>
        <p:spPr>
          <a:xfrm>
            <a:off x="6477000" y="3746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 即时沟通：Slack/微信工作群（日常交流）</a:t>
            </a:r>
            <a:endParaRPr lang="en-US" sz="1100"/>
          </a:p>
          <a:p>
            <a:pPr indent="0" algn="l">
              <a:lnSpc>
                <a:spcPct val="100000"/>
              </a:lnSpc>
            </a:pPr>
            <a:r>
              <a:rPr lang="en-US" sz="1300" b="0" i="0" u="none" strike="noStrike">
                <a:solidFill>
                  <a:srgbClr val="FFFFFF">
                    <a:alpha val="90196"/>
                  </a:srgbClr>
                </a:solidFill>
                <a:latin typeface="Noto Sans SC"/>
                <a:ea typeface="Noto Sans SC"/>
                <a:cs typeface="Noto Sans SC"/>
                <a:sym typeface="Noto Sans SC"/>
              </a:rPr>
              <a:t>• 视频会议：Zoom/腾讯会议（周会与技术讨论）</a:t>
            </a:r>
          </a:p>
        </p:txBody>
      </p:sp>
      <p:sp>
        <p:nvSpPr>
          <p:cNvPr id="21" name="AutoShape 21"/>
          <p:cNvSpPr/>
          <p:nvPr/>
        </p:nvSpPr>
        <p:spPr>
          <a:xfrm>
            <a:off x="762000" y="5016500"/>
            <a:ext cx="10668000" cy="762000"/>
          </a:xfrm>
          <a:prstGeom prst="roundRect">
            <a:avLst>
              <a:gd name="adj" fmla="val 16666"/>
            </a:avLst>
          </a:prstGeom>
          <a:solidFill>
            <a:srgbClr val="FFB6C1">
              <a:alpha val="15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245100"/>
            <a:ext cx="304800" cy="304800"/>
          </a:xfrm>
          <a:prstGeom prst="rect">
            <a:avLst/>
          </a:prstGeom>
        </p:spPr>
      </p:pic>
      <p:sp>
        <p:nvSpPr>
          <p:cNvPr id="23" name="AutoShape 23"/>
          <p:cNvSpPr/>
          <p:nvPr/>
        </p:nvSpPr>
        <p:spPr>
          <a:xfrm>
            <a:off x="1460500" y="5143500"/>
            <a:ext cx="990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行动指令：</a:t>
            </a:r>
            <a:r>
              <a:rPr lang="en-US" sz="1500" b="0" i="0" u="none" strike="noStrike">
                <a:solidFill>
                  <a:srgbClr val="FFFFFF">
                    <a:alpha val="90196"/>
                  </a:srgbClr>
                </a:solidFill>
                <a:latin typeface="Noto Sans SC"/>
                <a:ea typeface="Noto Sans SC"/>
                <a:cs typeface="Noto Sans SC"/>
                <a:sym typeface="Noto Sans SC"/>
              </a:rPr>
              <a:t>评估团队在Sprint 1中的协作效率，思考哪些沟通机制可以进一步改进。</a:t>
            </a:r>
            <a:endParaRPr lang="en-US" sz="1100"/>
          </a:p>
        </p:txBody>
      </p:sp>
      <p:sp>
        <p:nvSpPr>
          <p:cNvPr id="24" name="AutoShape 24"/>
          <p:cNvSpPr/>
          <p:nvPr/>
        </p:nvSpPr>
        <p:spPr>
          <a:xfrm>
            <a:off x="762000" y="5969000"/>
            <a:ext cx="10668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50196"/>
                  </a:srgbClr>
                </a:solidFill>
                <a:latin typeface="Noto Sans SC"/>
                <a:ea typeface="Noto Sans SC"/>
                <a:cs typeface="Noto Sans SC"/>
                <a:sym typeface="Noto Sans SC"/>
              </a:rPr>
              <a:t>资源支持：项目管理工具模板、Git协作指南文档</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1074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乘车模式功能拆解：车牌信息管理模块详解</a:t>
            </a:r>
            <a:endParaRPr lang="en-US" sz="1100"/>
          </a:p>
        </p:txBody>
      </p:sp>
      <p:sp>
        <p:nvSpPr>
          <p:cNvPr id="5" name="AutoShape 5"/>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▍核心功能流程</a:t>
            </a:r>
            <a:endParaRPr lang="en-US" sz="1100"/>
          </a:p>
        </p:txBody>
      </p:sp>
      <p:sp>
        <p:nvSpPr>
          <p:cNvPr id="6" name="AutoShape 6"/>
          <p:cNvSpPr/>
          <p:nvPr/>
        </p:nvSpPr>
        <p:spPr>
          <a:xfrm>
            <a:off x="762000" y="1714500"/>
            <a:ext cx="2476500" cy="1270000"/>
          </a:xfrm>
          <a:prstGeom prst="roundRect">
            <a:avLst>
              <a:gd name="adj" fmla="val 10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841500"/>
            <a:ext cx="304800" cy="304800"/>
          </a:xfrm>
          <a:prstGeom prst="rect">
            <a:avLst/>
          </a:prstGeom>
        </p:spPr>
      </p:pic>
      <p:sp>
        <p:nvSpPr>
          <p:cNvPr id="8" name="AutoShape 8"/>
          <p:cNvSpPr/>
          <p:nvPr/>
        </p:nvSpPr>
        <p:spPr>
          <a:xfrm>
            <a:off x="1333500" y="1841500"/>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信息录入</a:t>
            </a:r>
            <a:endParaRPr lang="en-US" sz="1100"/>
          </a:p>
        </p:txBody>
      </p:sp>
      <p:sp>
        <p:nvSpPr>
          <p:cNvPr id="9" name="AutoShape 9"/>
          <p:cNvSpPr/>
          <p:nvPr/>
        </p:nvSpPr>
        <p:spPr>
          <a:xfrm>
            <a:off x="952500" y="2222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支持手动输入或拍照识别，快速录入车牌号码。</a:t>
            </a:r>
            <a:endParaRPr lang="en-US" sz="1100"/>
          </a:p>
        </p:txBody>
      </p:sp>
      <p:sp>
        <p:nvSpPr>
          <p:cNvPr id="10" name="AutoShape 10"/>
          <p:cNvSpPr/>
          <p:nvPr/>
        </p:nvSpPr>
        <p:spPr>
          <a:xfrm>
            <a:off x="3429000" y="1714500"/>
            <a:ext cx="2476500" cy="1270000"/>
          </a:xfrm>
          <a:prstGeom prst="roundRect">
            <a:avLst>
              <a:gd name="adj" fmla="val 10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9500" y="1841500"/>
            <a:ext cx="304800" cy="304800"/>
          </a:xfrm>
          <a:prstGeom prst="rect">
            <a:avLst/>
          </a:prstGeom>
        </p:spPr>
      </p:pic>
      <p:sp>
        <p:nvSpPr>
          <p:cNvPr id="12" name="AutoShape 12"/>
          <p:cNvSpPr/>
          <p:nvPr/>
        </p:nvSpPr>
        <p:spPr>
          <a:xfrm>
            <a:off x="4000500" y="1841500"/>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格式验证</a:t>
            </a:r>
            <a:endParaRPr lang="en-US" sz="1100"/>
          </a:p>
        </p:txBody>
      </p:sp>
      <p:sp>
        <p:nvSpPr>
          <p:cNvPr id="13" name="AutoShape 13"/>
          <p:cNvSpPr/>
          <p:nvPr/>
        </p:nvSpPr>
        <p:spPr>
          <a:xfrm>
            <a:off x="3619500" y="2222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利用正则表达式校验输入，确保符合规范。</a:t>
            </a:r>
            <a:endParaRPr lang="en-US" sz="1100"/>
          </a:p>
        </p:txBody>
      </p:sp>
      <p:sp>
        <p:nvSpPr>
          <p:cNvPr id="14" name="AutoShape 14"/>
          <p:cNvSpPr/>
          <p:nvPr/>
        </p:nvSpPr>
        <p:spPr>
          <a:xfrm>
            <a:off x="6096000" y="1714500"/>
            <a:ext cx="2476500" cy="1270000"/>
          </a:xfrm>
          <a:prstGeom prst="roundRect">
            <a:avLst>
              <a:gd name="adj" fmla="val 10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86500" y="1841500"/>
            <a:ext cx="304800" cy="304800"/>
          </a:xfrm>
          <a:prstGeom prst="rect">
            <a:avLst/>
          </a:prstGeom>
        </p:spPr>
      </p:pic>
      <p:sp>
        <p:nvSpPr>
          <p:cNvPr id="16" name="AutoShape 16"/>
          <p:cNvSpPr/>
          <p:nvPr/>
        </p:nvSpPr>
        <p:spPr>
          <a:xfrm>
            <a:off x="6667500" y="1841500"/>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数据存储</a:t>
            </a:r>
            <a:endParaRPr lang="en-US" sz="1100"/>
          </a:p>
        </p:txBody>
      </p:sp>
      <p:sp>
        <p:nvSpPr>
          <p:cNvPr id="17" name="AutoShape 17"/>
          <p:cNvSpPr/>
          <p:nvPr/>
        </p:nvSpPr>
        <p:spPr>
          <a:xfrm>
            <a:off x="6286500" y="2222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与行程ID绑定，加密存储于本地及Firebase云端。</a:t>
            </a:r>
            <a:endParaRPr lang="en-US" sz="1100"/>
          </a:p>
        </p:txBody>
      </p:sp>
      <p:sp>
        <p:nvSpPr>
          <p:cNvPr id="18" name="AutoShape 18"/>
          <p:cNvSpPr/>
          <p:nvPr/>
        </p:nvSpPr>
        <p:spPr>
          <a:xfrm>
            <a:off x="8763000" y="1714500"/>
            <a:ext cx="2476500" cy="1270000"/>
          </a:xfrm>
          <a:prstGeom prst="roundRect">
            <a:avLst>
              <a:gd name="adj" fmla="val 10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53500" y="1841500"/>
            <a:ext cx="304800" cy="304800"/>
          </a:xfrm>
          <a:prstGeom prst="rect">
            <a:avLst/>
          </a:prstGeom>
        </p:spPr>
      </p:pic>
      <p:sp>
        <p:nvSpPr>
          <p:cNvPr id="20" name="AutoShape 20"/>
          <p:cNvSpPr/>
          <p:nvPr/>
        </p:nvSpPr>
        <p:spPr>
          <a:xfrm>
            <a:off x="9334500" y="1841500"/>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信息同步</a:t>
            </a:r>
            <a:endParaRPr lang="en-US" sz="1100"/>
          </a:p>
        </p:txBody>
      </p:sp>
      <p:sp>
        <p:nvSpPr>
          <p:cNvPr id="21" name="AutoShape 21"/>
          <p:cNvSpPr/>
          <p:nvPr/>
        </p:nvSpPr>
        <p:spPr>
          <a:xfrm>
            <a:off x="8953500" y="2222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通过FCM实时推送车牌与行程信息给守护者。</a:t>
            </a:r>
            <a:endParaRPr lang="en-US" sz="1100"/>
          </a:p>
        </p:txBody>
      </p:sp>
      <p:sp>
        <p:nvSpPr>
          <p:cNvPr id="22" name="AutoShape 22"/>
          <p:cNvSpPr/>
          <p:nvPr/>
        </p:nvSpPr>
        <p:spPr>
          <a:xfrm>
            <a:off x="762000" y="3175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▍关键技术细节</a:t>
            </a:r>
            <a:endParaRPr lang="en-US" sz="1100"/>
          </a:p>
        </p:txBody>
      </p:sp>
      <p:sp>
        <p:nvSpPr>
          <p:cNvPr id="23" name="AutoShape 23"/>
          <p:cNvSpPr/>
          <p:nvPr/>
        </p:nvSpPr>
        <p:spPr>
          <a:xfrm>
            <a:off x="762000" y="3619500"/>
            <a:ext cx="5143500" cy="1397000"/>
          </a:xfrm>
          <a:prstGeom prst="roundRect">
            <a:avLst>
              <a:gd name="adj" fmla="val 9090"/>
            </a:avLst>
          </a:prstGeom>
          <a:solidFill>
            <a:srgbClr val="FFB6C1">
              <a:alpha val="10000"/>
            </a:srgbClr>
          </a:solidFill>
          <a:ln w="12700" cap="flat" cmpd="sng">
            <a:solidFill>
              <a:srgbClr val="FFB6C1">
                <a:alpha val="4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952500" y="37465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输入验证 (Regex)</a:t>
            </a:r>
            <a:endParaRPr lang="en-US" sz="1100"/>
          </a:p>
        </p:txBody>
      </p:sp>
      <p:sp>
        <p:nvSpPr>
          <p:cNvPr id="25" name="AutoShape 25"/>
          <p:cNvSpPr/>
          <p:nvPr/>
        </p:nvSpPr>
        <p:spPr>
          <a:xfrm>
            <a:off x="952500" y="41275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FFFFFF">
                    <a:alpha val="90196"/>
                  </a:srgbClr>
                </a:solidFill>
                <a:latin typeface="Consolas"/>
                <a:ea typeface="Consolas"/>
                <a:cs typeface="Consolas"/>
                <a:sym typeface="Consolas"/>
              </a:rPr>
              <a:t>/^[京津沪渝冀豫云辽黑湘皖鲁新苏浙赣鄂桂甘晋蒙陕吉闽贵粤青藏川宁琼使领A-Z]{1}[A-Z]{1}[A-Z0-9]{4}[A-Z0-9挂学警港澳]{1}$/</a:t>
            </a:r>
            <a:endParaRPr lang="en-US" sz="1100"/>
          </a:p>
        </p:txBody>
      </p:sp>
      <p:sp>
        <p:nvSpPr>
          <p:cNvPr id="26" name="AutoShape 26"/>
          <p:cNvSpPr/>
          <p:nvPr/>
        </p:nvSpPr>
        <p:spPr>
          <a:xfrm>
            <a:off x="6096000" y="3619500"/>
            <a:ext cx="5143500" cy="1397000"/>
          </a:xfrm>
          <a:prstGeom prst="roundRect">
            <a:avLst>
              <a:gd name="adj" fmla="val 9090"/>
            </a:avLst>
          </a:prstGeom>
          <a:solidFill>
            <a:srgbClr val="E6E6FA">
              <a:alpha val="10000"/>
            </a:srgbClr>
          </a:solidFill>
          <a:ln w="12700" cap="flat" cmpd="sng">
            <a:solidFill>
              <a:srgbClr val="E6E6FA">
                <a:alpha val="40000"/>
              </a:srgbClr>
            </a:solid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286500" y="37465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E6FA"/>
                </a:solidFill>
                <a:latin typeface="Noto Sans SC"/>
                <a:ea typeface="Noto Sans SC"/>
                <a:cs typeface="Noto Sans SC"/>
                <a:sym typeface="Noto Sans SC"/>
              </a:rPr>
              <a:t>数据模型 (Trip Class)</a:t>
            </a:r>
            <a:endParaRPr lang="en-US" sz="1100"/>
          </a:p>
        </p:txBody>
      </p:sp>
      <p:sp>
        <p:nvSpPr>
          <p:cNvPr id="28" name="AutoShape 28"/>
          <p:cNvSpPr/>
          <p:nvPr/>
        </p:nvSpPr>
        <p:spPr>
          <a:xfrm>
            <a:off x="6286500" y="41275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90196"/>
                  </a:srgbClr>
                </a:solidFill>
                <a:latin typeface="Consolas"/>
                <a:ea typeface="Consolas"/>
                <a:cs typeface="Consolas"/>
                <a:sym typeface="Consolas"/>
              </a:rPr>
              <a:t>class Trip {</a:t>
            </a:r>
            <a:endParaRPr lang="en-US" sz="1100"/>
          </a:p>
          <a:p>
            <a:pPr indent="0" algn="l">
              <a:lnSpc>
                <a:spcPct val="125000"/>
              </a:lnSpc>
            </a:pPr>
            <a:r>
              <a:rPr lang="en-US" sz="1200" b="0" i="0" u="none" strike="noStrike">
                <a:solidFill>
                  <a:srgbClr val="FFFFFF">
                    <a:alpha val="90196"/>
                  </a:srgbClr>
                </a:solidFill>
                <a:latin typeface="Consolas"/>
                <a:ea typeface="Consolas"/>
                <a:cs typeface="Consolas"/>
                <a:sym typeface="Consolas"/>
              </a:rPr>
              <a:t>tripId: string; startTime: Date; endTime: Date;</a:t>
            </a:r>
          </a:p>
          <a:p>
            <a:pPr indent="0" algn="l">
              <a:lnSpc>
                <a:spcPct val="125000"/>
              </a:lnSpc>
            </a:pPr>
            <a:r>
              <a:rPr lang="en-US" sz="1200" b="0" i="0" u="none" strike="noStrike">
                <a:solidFill>
                  <a:srgbClr val="FFFFFF">
                    <a:alpha val="90196"/>
                  </a:srgbClr>
                </a:solidFill>
                <a:latin typeface="Consolas"/>
                <a:ea typeface="Consolas"/>
                <a:cs typeface="Consolas"/>
                <a:sym typeface="Consolas"/>
              </a:rPr>
              <a:t>startLocation: Location; endLocation: Location; carPlateNumber: string;</a:t>
            </a:r>
          </a:p>
          <a:p>
            <a:pPr indent="0" algn="l">
              <a:lnSpc>
                <a:spcPct val="125000"/>
              </a:lnSpc>
            </a:pPr>
            <a:r>
              <a:rPr lang="en-US" sz="1200" b="0" i="0" u="none" strike="noStrike">
                <a:solidFill>
                  <a:srgbClr val="FFFFFF">
                    <a:alpha val="90196"/>
                  </a:srgbClr>
                </a:solidFill>
                <a:latin typeface="Consolas"/>
                <a:ea typeface="Consolas"/>
                <a:cs typeface="Consolas"/>
                <a:sym typeface="Consolas"/>
              </a:rPr>
              <a:t>}</a:t>
            </a:r>
          </a:p>
        </p:txBody>
      </p:sp>
      <p:sp>
        <p:nvSpPr>
          <p:cNvPr id="29" name="AutoShape 29"/>
          <p:cNvSpPr/>
          <p:nvPr/>
        </p:nvSpPr>
        <p:spPr>
          <a:xfrm>
            <a:off x="762000" y="5334000"/>
            <a:ext cx="10668000" cy="762000"/>
          </a:xfrm>
          <a:prstGeom prst="roundRect">
            <a:avLst>
              <a:gd name="adj" fmla="val 16666"/>
            </a:avLst>
          </a:prstGeom>
          <a:gradFill rotWithShape="1">
            <a:gsLst>
              <a:gs pos="0">
                <a:srgbClr val="00BFFF">
                  <a:alpha val="20000"/>
                </a:srgbClr>
              </a:gs>
              <a:gs pos="100000">
                <a:srgbClr val="FFB6C1">
                  <a:alpha val="20000"/>
                </a:srgbClr>
              </a:gs>
            </a:gsLst>
            <a:lin ang="0"/>
          </a:gra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537200"/>
            <a:ext cx="355600" cy="355600"/>
          </a:xfrm>
          <a:prstGeom prst="rect">
            <a:avLst/>
          </a:prstGeom>
        </p:spPr>
      </p:pic>
      <p:sp>
        <p:nvSpPr>
          <p:cNvPr id="31" name="AutoShape 31"/>
          <p:cNvSpPr/>
          <p:nvPr/>
        </p:nvSpPr>
        <p:spPr>
          <a:xfrm>
            <a:off x="1524000" y="5524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学生行动指令：</a:t>
            </a:r>
            <a:r>
              <a:rPr lang="en-US" sz="1600" b="0" i="0" u="none" strike="noStrike">
                <a:solidFill>
                  <a:srgbClr val="FFFFFF">
                    <a:alpha val="90196"/>
                  </a:srgbClr>
                </a:solidFill>
                <a:latin typeface="Noto Sans SC"/>
                <a:ea typeface="Noto Sans SC"/>
                <a:cs typeface="Noto Sans SC"/>
                <a:sym typeface="Noto Sans SC"/>
              </a:rPr>
              <a:t>根据你们所在地区的车牌格式，编写一个对应的正则表达式用于输入验证。</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9055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乘车模式功能拆解：模拟来电模块详解</a:t>
            </a:r>
            <a:endParaRPr lang="en-US" sz="1100"/>
          </a:p>
        </p:txBody>
      </p:sp>
      <p:sp>
        <p:nvSpPr>
          <p:cNvPr id="5" name="AutoShape 5"/>
          <p:cNvSpPr/>
          <p:nvPr/>
        </p:nvSpPr>
        <p:spPr>
          <a:xfrm>
            <a:off x="762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功能流程</a:t>
            </a:r>
            <a:endParaRPr lang="en-US" sz="1100"/>
          </a:p>
        </p:txBody>
      </p:sp>
      <p:sp>
        <p:nvSpPr>
          <p:cNvPr id="6" name="AutoShape 6"/>
          <p:cNvSpPr/>
          <p:nvPr/>
        </p:nvSpPr>
        <p:spPr>
          <a:xfrm>
            <a:off x="762000" y="1905000"/>
            <a:ext cx="5080000" cy="762000"/>
          </a:xfrm>
          <a:prstGeom prst="roundRect">
            <a:avLst>
              <a:gd name="adj" fmla="val 16666"/>
            </a:avLst>
          </a:prstGeom>
          <a:solidFill>
            <a:srgbClr val="FFF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133600"/>
            <a:ext cx="304800" cy="304800"/>
          </a:xfrm>
          <a:prstGeom prst="rect">
            <a:avLst/>
          </a:prstGeom>
        </p:spPr>
      </p:pic>
      <p:sp>
        <p:nvSpPr>
          <p:cNvPr id="8" name="AutoShape 8"/>
          <p:cNvSpPr/>
          <p:nvPr/>
        </p:nvSpPr>
        <p:spPr>
          <a:xfrm>
            <a:off x="1397000" y="1968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1. 设置来电信息</a:t>
            </a:r>
            <a:endParaRPr lang="en-US" sz="1100"/>
          </a:p>
          <a:p>
            <a:pPr indent="0" algn="l">
              <a:lnSpc>
                <a:spcPct val="125000"/>
              </a:lnSpc>
            </a:pPr>
            <a:r>
              <a:rPr lang="en-US" sz="1200" b="0" i="0" u="none" strike="noStrike">
                <a:solidFill>
                  <a:srgbClr val="FFFFFF">
                    <a:alpha val="70196"/>
                  </a:srgbClr>
                </a:solidFill>
                <a:latin typeface="Noto Sans SC"/>
                <a:ea typeface="Noto Sans SC"/>
                <a:cs typeface="Noto Sans SC"/>
                <a:sym typeface="Noto Sans SC"/>
              </a:rPr>
              <a:t>用户在APP中设置显示名称（如“妈妈”）和通话内容</a:t>
            </a:r>
          </a:p>
        </p:txBody>
      </p:sp>
      <p:sp>
        <p:nvSpPr>
          <p:cNvPr id="9" name="AutoShape 9"/>
          <p:cNvSpPr/>
          <p:nvPr/>
        </p:nvSpPr>
        <p:spPr>
          <a:xfrm>
            <a:off x="762000" y="2794000"/>
            <a:ext cx="5080000" cy="762000"/>
          </a:xfrm>
          <a:prstGeom prst="roundRect">
            <a:avLst>
              <a:gd name="adj" fmla="val 16666"/>
            </a:avLst>
          </a:prstGeom>
          <a:solidFill>
            <a:srgbClr val="FFF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022600"/>
            <a:ext cx="304800" cy="304800"/>
          </a:xfrm>
          <a:prstGeom prst="rect">
            <a:avLst/>
          </a:prstGeom>
        </p:spPr>
      </p:pic>
      <p:sp>
        <p:nvSpPr>
          <p:cNvPr id="11" name="AutoShape 11"/>
          <p:cNvSpPr/>
          <p:nvPr/>
        </p:nvSpPr>
        <p:spPr>
          <a:xfrm>
            <a:off x="1397000" y="2857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2. 触发模拟来电</a:t>
            </a:r>
            <a:endParaRPr lang="en-US" sz="1100"/>
          </a:p>
          <a:p>
            <a:pPr indent="0" algn="l">
              <a:lnSpc>
                <a:spcPct val="125000"/>
              </a:lnSpc>
            </a:pPr>
            <a:r>
              <a:rPr lang="en-US" sz="1200" b="0" i="0" u="none" strike="noStrike">
                <a:solidFill>
                  <a:srgbClr val="FFFFFF">
                    <a:alpha val="70196"/>
                  </a:srgbClr>
                </a:solidFill>
                <a:latin typeface="Noto Sans SC"/>
                <a:ea typeface="Noto Sans SC"/>
                <a:cs typeface="Noto Sans SC"/>
                <a:sym typeface="Noto Sans SC"/>
              </a:rPr>
              <a:t>点击界面上醒目的紧急按钮，启动模拟流程</a:t>
            </a:r>
          </a:p>
        </p:txBody>
      </p:sp>
      <p:sp>
        <p:nvSpPr>
          <p:cNvPr id="12" name="AutoShape 12"/>
          <p:cNvSpPr/>
          <p:nvPr/>
        </p:nvSpPr>
        <p:spPr>
          <a:xfrm>
            <a:off x="762000" y="3683000"/>
            <a:ext cx="5080000" cy="762000"/>
          </a:xfrm>
          <a:prstGeom prst="roundRect">
            <a:avLst>
              <a:gd name="adj" fmla="val 16666"/>
            </a:avLst>
          </a:prstGeom>
          <a:solidFill>
            <a:srgbClr val="FFF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3911600"/>
            <a:ext cx="304800" cy="304800"/>
          </a:xfrm>
          <a:prstGeom prst="rect">
            <a:avLst/>
          </a:prstGeom>
        </p:spPr>
      </p:pic>
      <p:sp>
        <p:nvSpPr>
          <p:cNvPr id="14" name="AutoShape 14"/>
          <p:cNvSpPr/>
          <p:nvPr/>
        </p:nvSpPr>
        <p:spPr>
          <a:xfrm>
            <a:off x="1397000" y="3746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3. 发起通话请求</a:t>
            </a:r>
            <a:endParaRPr lang="en-US" sz="1100"/>
          </a:p>
          <a:p>
            <a:pPr indent="0" algn="l">
              <a:lnSpc>
                <a:spcPct val="125000"/>
              </a:lnSpc>
            </a:pPr>
            <a:r>
              <a:rPr lang="en-US" sz="1200" b="0" i="0" u="none" strike="noStrike">
                <a:solidFill>
                  <a:srgbClr val="FFFFFF">
                    <a:alpha val="70196"/>
                  </a:srgbClr>
                </a:solidFill>
                <a:latin typeface="Noto Sans SC"/>
                <a:ea typeface="Noto Sans SC"/>
                <a:cs typeface="Noto Sans SC"/>
                <a:sym typeface="Noto Sans SC"/>
              </a:rPr>
              <a:t>APP调用Twilio API，向用户手机发起真实来电</a:t>
            </a:r>
          </a:p>
        </p:txBody>
      </p:sp>
      <p:sp>
        <p:nvSpPr>
          <p:cNvPr id="15" name="AutoShape 15"/>
          <p:cNvSpPr/>
          <p:nvPr/>
        </p:nvSpPr>
        <p:spPr>
          <a:xfrm>
            <a:off x="762000" y="4572000"/>
            <a:ext cx="5080000" cy="762000"/>
          </a:xfrm>
          <a:prstGeom prst="roundRect">
            <a:avLst>
              <a:gd name="adj" fmla="val 16666"/>
            </a:avLst>
          </a:prstGeom>
          <a:solidFill>
            <a:srgbClr val="FFF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4800600"/>
            <a:ext cx="304800" cy="304800"/>
          </a:xfrm>
          <a:prstGeom prst="rect">
            <a:avLst/>
          </a:prstGeom>
        </p:spPr>
      </p:pic>
      <p:sp>
        <p:nvSpPr>
          <p:cNvPr id="17" name="AutoShape 17"/>
          <p:cNvSpPr/>
          <p:nvPr/>
        </p:nvSpPr>
        <p:spPr>
          <a:xfrm>
            <a:off x="1397000" y="4635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4. 接听与播放</a:t>
            </a:r>
            <a:endParaRPr lang="en-US" sz="1100"/>
          </a:p>
          <a:p>
            <a:pPr indent="0" algn="l">
              <a:lnSpc>
                <a:spcPct val="125000"/>
              </a:lnSpc>
            </a:pPr>
            <a:r>
              <a:rPr lang="en-US" sz="1200" b="0" i="0" u="none" strike="noStrike">
                <a:solidFill>
                  <a:srgbClr val="FFFFFF">
                    <a:alpha val="70196"/>
                  </a:srgbClr>
                </a:solidFill>
                <a:latin typeface="Noto Sans SC"/>
                <a:ea typeface="Noto Sans SC"/>
                <a:cs typeface="Noto Sans SC"/>
                <a:sym typeface="Noto Sans SC"/>
              </a:rPr>
              <a:t>接听后自动播放预设录音，实现“假装有人来电”</a:t>
            </a:r>
          </a:p>
        </p:txBody>
      </p:sp>
      <p:sp>
        <p:nvSpPr>
          <p:cNvPr id="18" name="AutoShape 18"/>
          <p:cNvSpPr/>
          <p:nvPr/>
        </p:nvSpPr>
        <p:spPr>
          <a:xfrm>
            <a:off x="6350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B6C1"/>
                </a:solidFill>
                <a:latin typeface="Noto Sans SC"/>
                <a:ea typeface="Noto Sans SC"/>
                <a:cs typeface="Noto Sans SC"/>
                <a:sym typeface="Noto Sans SC"/>
              </a:rPr>
              <a:t>技术细节</a:t>
            </a:r>
            <a:endParaRPr lang="en-US" sz="1100"/>
          </a:p>
        </p:txBody>
      </p:sp>
      <p:sp>
        <p:nvSpPr>
          <p:cNvPr id="19" name="AutoShape 19"/>
          <p:cNvSpPr/>
          <p:nvPr/>
        </p:nvSpPr>
        <p:spPr>
          <a:xfrm>
            <a:off x="6350000" y="1905000"/>
            <a:ext cx="5080000" cy="952500"/>
          </a:xfrm>
          <a:prstGeom prst="roundRect">
            <a:avLst>
              <a:gd name="adj" fmla="val 13333"/>
            </a:avLst>
          </a:prstGeom>
          <a:solidFill>
            <a:srgbClr val="FFB6C1">
              <a:alpha val="10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40500" y="2197100"/>
            <a:ext cx="355600" cy="355600"/>
          </a:xfrm>
          <a:prstGeom prst="rect">
            <a:avLst/>
          </a:prstGeom>
        </p:spPr>
      </p:pic>
      <p:sp>
        <p:nvSpPr>
          <p:cNvPr id="21" name="AutoShape 21"/>
          <p:cNvSpPr/>
          <p:nvPr/>
        </p:nvSpPr>
        <p:spPr>
          <a:xfrm>
            <a:off x="6985000" y="1968500"/>
            <a:ext cx="4318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API调用机制</a:t>
            </a:r>
            <a:endParaRPr lang="en-US" sz="1100"/>
          </a:p>
          <a:p>
            <a:pPr indent="0" algn="l">
              <a:lnSpc>
                <a:spcPct val="125000"/>
              </a:lnSpc>
            </a:pPr>
            <a:r>
              <a:rPr lang="en-US" sz="1200" b="0" i="0" u="none" strike="noStrike">
                <a:solidFill>
                  <a:srgbClr val="FFFFFF">
                    <a:alpha val="70196"/>
                  </a:srgbClr>
                </a:solidFill>
                <a:latin typeface="Noto Sans SC"/>
                <a:ea typeface="Noto Sans SC"/>
                <a:cs typeface="Noto Sans SC"/>
                <a:sym typeface="Noto Sans SC"/>
              </a:rPr>
              <a:t>使用Twilio REST API调用`Calls`资源，配置`From`、`To`及包含TwiML内容的`Url`。</a:t>
            </a:r>
          </a:p>
        </p:txBody>
      </p:sp>
      <p:sp>
        <p:nvSpPr>
          <p:cNvPr id="22" name="AutoShape 22"/>
          <p:cNvSpPr/>
          <p:nvPr/>
        </p:nvSpPr>
        <p:spPr>
          <a:xfrm>
            <a:off x="6350000" y="2984500"/>
            <a:ext cx="5080000" cy="952500"/>
          </a:xfrm>
          <a:prstGeom prst="roundRect">
            <a:avLst>
              <a:gd name="adj" fmla="val 13333"/>
            </a:avLst>
          </a:prstGeom>
          <a:solidFill>
            <a:srgbClr val="E6E6FA">
              <a:alpha val="10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40500" y="3276600"/>
            <a:ext cx="355600" cy="355600"/>
          </a:xfrm>
          <a:prstGeom prst="rect">
            <a:avLst/>
          </a:prstGeom>
        </p:spPr>
      </p:pic>
      <p:sp>
        <p:nvSpPr>
          <p:cNvPr id="24" name="AutoShape 24"/>
          <p:cNvSpPr/>
          <p:nvPr/>
        </p:nvSpPr>
        <p:spPr>
          <a:xfrm>
            <a:off x="6985000" y="3048000"/>
            <a:ext cx="4318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交互界面设计</a:t>
            </a:r>
            <a:endParaRPr lang="en-US" sz="1100"/>
          </a:p>
          <a:p>
            <a:pPr indent="0" algn="l">
              <a:lnSpc>
                <a:spcPct val="125000"/>
              </a:lnSpc>
            </a:pPr>
            <a:r>
              <a:rPr lang="en-US" sz="1200" b="0" i="0" u="none" strike="noStrike">
                <a:solidFill>
                  <a:srgbClr val="FFFFFF">
                    <a:alpha val="70196"/>
                  </a:srgbClr>
                </a:solidFill>
                <a:latin typeface="Noto Sans SC"/>
                <a:ea typeface="Noto Sans SC"/>
                <a:cs typeface="Noto Sans SC"/>
                <a:sym typeface="Noto Sans SC"/>
              </a:rPr>
              <a:t>设计悬浮紧急按钮，确保用户在任何场景下都能快速触达，减少操作步骤。</a:t>
            </a:r>
          </a:p>
        </p:txBody>
      </p:sp>
      <p:sp>
        <p:nvSpPr>
          <p:cNvPr id="25" name="AutoShape 25"/>
          <p:cNvSpPr/>
          <p:nvPr/>
        </p:nvSpPr>
        <p:spPr>
          <a:xfrm>
            <a:off x="6350000" y="4064000"/>
            <a:ext cx="5080000" cy="952500"/>
          </a:xfrm>
          <a:prstGeom prst="roundRect">
            <a:avLst>
              <a:gd name="adj" fmla="val 13333"/>
            </a:avLst>
          </a:prstGeom>
          <a:solidFill>
            <a:srgbClr val="FFB6C1">
              <a:alpha val="10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540500" y="4356100"/>
            <a:ext cx="355600" cy="355600"/>
          </a:xfrm>
          <a:prstGeom prst="rect">
            <a:avLst/>
          </a:prstGeom>
        </p:spPr>
      </p:pic>
      <p:sp>
        <p:nvSpPr>
          <p:cNvPr id="27" name="AutoShape 27"/>
          <p:cNvSpPr/>
          <p:nvPr/>
        </p:nvSpPr>
        <p:spPr>
          <a:xfrm>
            <a:off x="6985000" y="4127500"/>
            <a:ext cx="4318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隐私安全保障</a:t>
            </a:r>
            <a:endParaRPr lang="en-US" sz="1100"/>
          </a:p>
          <a:p>
            <a:pPr indent="0" algn="l">
              <a:lnSpc>
                <a:spcPct val="125000"/>
              </a:lnSpc>
            </a:pPr>
            <a:r>
              <a:rPr lang="en-US" sz="1200" b="0" i="0" u="none" strike="noStrike">
                <a:solidFill>
                  <a:srgbClr val="FFFFFF">
                    <a:alpha val="70196"/>
                  </a:srgbClr>
                </a:solidFill>
                <a:latin typeface="Noto Sans SC"/>
                <a:ea typeface="Noto Sans SC"/>
                <a:cs typeface="Noto Sans SC"/>
                <a:sym typeface="Noto Sans SC"/>
              </a:rPr>
              <a:t>通话内容仅在用户本地设置和存储，不会上传至服务器，确保数据隐私。</a:t>
            </a:r>
          </a:p>
        </p:txBody>
      </p:sp>
      <p:sp>
        <p:nvSpPr>
          <p:cNvPr id="28" name="AutoShape 28"/>
          <p:cNvSpPr/>
          <p:nvPr/>
        </p:nvSpPr>
        <p:spPr>
          <a:xfrm>
            <a:off x="762000" y="5588000"/>
            <a:ext cx="10668000" cy="635000"/>
          </a:xfrm>
          <a:prstGeom prst="roundRect">
            <a:avLst>
              <a:gd name="adj" fmla="val 20000"/>
            </a:avLst>
          </a:prstGeom>
          <a:gradFill rotWithShape="1">
            <a:gsLst>
              <a:gs pos="0">
                <a:srgbClr val="00BFFF">
                  <a:alpha val="20000"/>
                </a:srgbClr>
              </a:gs>
              <a:gs pos="100000">
                <a:srgbClr val="FFB6C1">
                  <a:alpha val="20000"/>
                </a:srgbClr>
              </a:gs>
            </a:gsLst>
            <a:lin ang="0"/>
          </a:gra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9" name="Picture 29"/>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16000" y="5753100"/>
            <a:ext cx="304800" cy="304800"/>
          </a:xfrm>
          <a:prstGeom prst="rect">
            <a:avLst/>
          </a:prstGeom>
        </p:spPr>
      </p:pic>
      <p:sp>
        <p:nvSpPr>
          <p:cNvPr id="30" name="AutoShape 30"/>
          <p:cNvSpPr/>
          <p:nvPr/>
        </p:nvSpPr>
        <p:spPr>
          <a:xfrm>
            <a:off x="1460500" y="57150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FFFFFF">
                    <a:alpha val="90196"/>
                  </a:srgbClr>
                </a:solidFill>
                <a:latin typeface="Noto Sans SC"/>
                <a:ea typeface="Noto Sans SC"/>
                <a:cs typeface="Noto Sans SC"/>
                <a:sym typeface="Noto Sans SC"/>
              </a:rPr>
              <a:t>尝试在Twilio控制台中创建一个简单的TwiML文件，并调用API发起一次测试通话。</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9055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乘车模式功能拆解：一键SOS模块详解</a:t>
            </a:r>
            <a:endParaRPr lang="en-US" sz="1100"/>
          </a:p>
        </p:txBody>
      </p:sp>
      <p:sp>
        <p:nvSpPr>
          <p:cNvPr id="5" name="AutoShape 5"/>
          <p:cNvSpPr/>
          <p:nvPr/>
        </p:nvSpPr>
        <p:spPr>
          <a:xfrm>
            <a:off x="762000" y="1397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功能执行流程</a:t>
            </a:r>
            <a:endParaRPr lang="en-US" sz="1100"/>
          </a:p>
        </p:txBody>
      </p:sp>
      <p:sp>
        <p:nvSpPr>
          <p:cNvPr id="6" name="AutoShape 6"/>
          <p:cNvSpPr/>
          <p:nvPr/>
        </p:nvSpPr>
        <p:spPr>
          <a:xfrm>
            <a:off x="762000" y="1905000"/>
            <a:ext cx="2540000" cy="1524000"/>
          </a:xfrm>
          <a:prstGeom prst="roundRect">
            <a:avLst>
              <a:gd name="adj" fmla="val 8333"/>
            </a:avLst>
          </a:prstGeom>
          <a:solidFill>
            <a:srgbClr val="00BFFF">
              <a:alpha val="10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095500"/>
            <a:ext cx="406400" cy="406400"/>
          </a:xfrm>
          <a:prstGeom prst="rect">
            <a:avLst/>
          </a:prstGeom>
        </p:spPr>
      </p:pic>
      <p:sp>
        <p:nvSpPr>
          <p:cNvPr id="8" name="AutoShape 8"/>
          <p:cNvSpPr/>
          <p:nvPr/>
        </p:nvSpPr>
        <p:spPr>
          <a:xfrm>
            <a:off x="1397000" y="2133600"/>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1. 触发SOS</a:t>
            </a:r>
            <a:endParaRPr lang="en-US" sz="1100"/>
          </a:p>
        </p:txBody>
      </p:sp>
      <p:sp>
        <p:nvSpPr>
          <p:cNvPr id="9" name="AutoShape 9"/>
          <p:cNvSpPr/>
          <p:nvPr/>
        </p:nvSpPr>
        <p:spPr>
          <a:xfrm>
            <a:off x="952500" y="26035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80000"/>
                  </a:srgbClr>
                </a:solidFill>
                <a:latin typeface="Noto Sans SC"/>
                <a:ea typeface="Noto Sans SC"/>
                <a:cs typeface="Noto Sans SC"/>
                <a:sym typeface="Noto Sans SC"/>
              </a:rPr>
              <a:t>紧急情况下长按按钮3秒钟，系统立即响应。</a:t>
            </a:r>
            <a:endParaRPr lang="en-US" sz="1100"/>
          </a:p>
        </p:txBody>
      </p:sp>
      <p:sp>
        <p:nvSpPr>
          <p:cNvPr id="10" name="AutoShape 10"/>
          <p:cNvSpPr/>
          <p:nvPr/>
        </p:nvSpPr>
        <p:spPr>
          <a:xfrm>
            <a:off x="3467100" y="1905000"/>
            <a:ext cx="2540000" cy="1524000"/>
          </a:xfrm>
          <a:prstGeom prst="roundRect">
            <a:avLst>
              <a:gd name="adj" fmla="val 8333"/>
            </a:avLst>
          </a:prstGeom>
          <a:solidFill>
            <a:srgbClr val="FFB6C1">
              <a:alpha val="10000"/>
            </a:srgbClr>
          </a:solidFill>
          <a:ln w="12700" cap="flat" cmpd="sng">
            <a:solidFill>
              <a:srgbClr val="FFB6C1">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57600" y="2095500"/>
            <a:ext cx="406400" cy="406400"/>
          </a:xfrm>
          <a:prstGeom prst="rect">
            <a:avLst/>
          </a:prstGeom>
        </p:spPr>
      </p:pic>
      <p:sp>
        <p:nvSpPr>
          <p:cNvPr id="12" name="AutoShape 12"/>
          <p:cNvSpPr/>
          <p:nvPr/>
        </p:nvSpPr>
        <p:spPr>
          <a:xfrm>
            <a:off x="4102100" y="2133600"/>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2. 确认与反馈</a:t>
            </a:r>
            <a:endParaRPr lang="en-US" sz="1100"/>
          </a:p>
        </p:txBody>
      </p:sp>
      <p:sp>
        <p:nvSpPr>
          <p:cNvPr id="13" name="AutoShape 13"/>
          <p:cNvSpPr/>
          <p:nvPr/>
        </p:nvSpPr>
        <p:spPr>
          <a:xfrm>
            <a:off x="3657600" y="26035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80000"/>
                  </a:srgbClr>
                </a:solidFill>
                <a:latin typeface="Noto Sans SC"/>
                <a:ea typeface="Noto Sans SC"/>
                <a:cs typeface="Noto Sans SC"/>
                <a:sym typeface="Noto Sans SC"/>
              </a:rPr>
              <a:t>弹出确认对话框，并提供震动反馈，有效防止误触。</a:t>
            </a:r>
            <a:endParaRPr lang="en-US" sz="1100"/>
          </a:p>
        </p:txBody>
      </p:sp>
      <p:sp>
        <p:nvSpPr>
          <p:cNvPr id="14" name="AutoShape 14"/>
          <p:cNvSpPr/>
          <p:nvPr/>
        </p:nvSpPr>
        <p:spPr>
          <a:xfrm>
            <a:off x="6172200" y="1905000"/>
            <a:ext cx="2540000" cy="1524000"/>
          </a:xfrm>
          <a:prstGeom prst="roundRect">
            <a:avLst>
              <a:gd name="adj" fmla="val 8333"/>
            </a:avLst>
          </a:prstGeom>
          <a:solidFill>
            <a:srgbClr val="00BFFF">
              <a:alpha val="10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62700" y="2095500"/>
            <a:ext cx="406400" cy="406400"/>
          </a:xfrm>
          <a:prstGeom prst="rect">
            <a:avLst/>
          </a:prstGeom>
        </p:spPr>
      </p:pic>
      <p:sp>
        <p:nvSpPr>
          <p:cNvPr id="16" name="AutoShape 16"/>
          <p:cNvSpPr/>
          <p:nvPr/>
        </p:nvSpPr>
        <p:spPr>
          <a:xfrm>
            <a:off x="6807200" y="2133600"/>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3. 发送紧急通知</a:t>
            </a:r>
            <a:endParaRPr lang="en-US" sz="1100"/>
          </a:p>
        </p:txBody>
      </p:sp>
      <p:sp>
        <p:nvSpPr>
          <p:cNvPr id="17" name="AutoShape 17"/>
          <p:cNvSpPr/>
          <p:nvPr/>
        </p:nvSpPr>
        <p:spPr>
          <a:xfrm>
            <a:off x="6362700" y="26035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80000"/>
                  </a:srgbClr>
                </a:solidFill>
                <a:latin typeface="Noto Sans SC"/>
                <a:ea typeface="Noto Sans SC"/>
                <a:cs typeface="Noto Sans SC"/>
                <a:sym typeface="Noto Sans SC"/>
              </a:rPr>
              <a:t>通过FCM发送高优先级通知，包含实时位置、车牌和时间。</a:t>
            </a:r>
            <a:endParaRPr lang="en-US" sz="1100"/>
          </a:p>
        </p:txBody>
      </p:sp>
      <p:sp>
        <p:nvSpPr>
          <p:cNvPr id="18" name="AutoShape 18"/>
          <p:cNvSpPr/>
          <p:nvPr/>
        </p:nvSpPr>
        <p:spPr>
          <a:xfrm>
            <a:off x="8890000" y="1905000"/>
            <a:ext cx="2540000" cy="1524000"/>
          </a:xfrm>
          <a:prstGeom prst="roundRect">
            <a:avLst>
              <a:gd name="adj" fmla="val 8333"/>
            </a:avLst>
          </a:prstGeom>
          <a:solidFill>
            <a:srgbClr val="FFB6C1">
              <a:alpha val="10000"/>
            </a:srgbClr>
          </a:solidFill>
          <a:ln w="12700" cap="flat" cmpd="sng">
            <a:solidFill>
              <a:srgbClr val="FFB6C1">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80500" y="2095500"/>
            <a:ext cx="406400" cy="406400"/>
          </a:xfrm>
          <a:prstGeom prst="rect">
            <a:avLst/>
          </a:prstGeom>
        </p:spPr>
      </p:pic>
      <p:sp>
        <p:nvSpPr>
          <p:cNvPr id="20" name="AutoShape 20"/>
          <p:cNvSpPr/>
          <p:nvPr/>
        </p:nvSpPr>
        <p:spPr>
          <a:xfrm>
            <a:off x="9525000" y="2133600"/>
            <a:ext cx="177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4. 附加功能</a:t>
            </a:r>
            <a:endParaRPr lang="en-US" sz="1100"/>
          </a:p>
        </p:txBody>
      </p:sp>
      <p:sp>
        <p:nvSpPr>
          <p:cNvPr id="21" name="AutoShape 21"/>
          <p:cNvSpPr/>
          <p:nvPr/>
        </p:nvSpPr>
        <p:spPr>
          <a:xfrm>
            <a:off x="9080500" y="26035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80000"/>
                  </a:srgbClr>
                </a:solidFill>
                <a:latin typeface="Noto Sans SC"/>
                <a:ea typeface="Noto Sans SC"/>
                <a:cs typeface="Noto Sans SC"/>
                <a:sym typeface="Noto Sans SC"/>
              </a:rPr>
              <a:t>自动启动录音和拍照功能，记录现场情况作为证据。</a:t>
            </a:r>
            <a:endParaRPr lang="en-US" sz="1100"/>
          </a:p>
        </p:txBody>
      </p:sp>
      <p:sp>
        <p:nvSpPr>
          <p:cNvPr id="22" name="AutoShape 22"/>
          <p:cNvSpPr/>
          <p:nvPr/>
        </p:nvSpPr>
        <p:spPr>
          <a:xfrm>
            <a:off x="762000" y="3683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Noto Sans SC"/>
                <a:ea typeface="Noto Sans SC"/>
                <a:cs typeface="Noto Sans SC"/>
                <a:sym typeface="Noto Sans SC"/>
              </a:rPr>
              <a:t>核心技术细节</a:t>
            </a:r>
            <a:endParaRPr lang="en-US" sz="1100"/>
          </a:p>
        </p:txBody>
      </p:sp>
      <p:sp>
        <p:nvSpPr>
          <p:cNvPr id="23" name="AutoShape 23"/>
          <p:cNvSpPr/>
          <p:nvPr/>
        </p:nvSpPr>
        <p:spPr>
          <a:xfrm>
            <a:off x="762000" y="4191000"/>
            <a:ext cx="3467100" cy="1016000"/>
          </a:xfrm>
          <a:prstGeom prst="roundRect">
            <a:avLst>
              <a:gd name="adj" fmla="val 12500"/>
            </a:avLst>
          </a:prstGeom>
          <a:solidFill>
            <a:srgbClr val="FFFFFF">
              <a:alpha val="5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4381500"/>
            <a:ext cx="304800" cy="304800"/>
          </a:xfrm>
          <a:prstGeom prst="rect">
            <a:avLst/>
          </a:prstGeom>
        </p:spPr>
      </p:pic>
      <p:sp>
        <p:nvSpPr>
          <p:cNvPr id="25" name="AutoShape 25"/>
          <p:cNvSpPr/>
          <p:nvPr/>
        </p:nvSpPr>
        <p:spPr>
          <a:xfrm>
            <a:off x="1333500" y="43434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触发机制</a:t>
            </a:r>
            <a:endParaRPr lang="en-US" sz="1100"/>
          </a:p>
        </p:txBody>
      </p:sp>
      <p:sp>
        <p:nvSpPr>
          <p:cNvPr id="26" name="AutoShape 26"/>
          <p:cNvSpPr/>
          <p:nvPr/>
        </p:nvSpPr>
        <p:spPr>
          <a:xfrm>
            <a:off x="1333500" y="46736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使用OnLongClickListener监听，设置3秒触发阈值。</a:t>
            </a:r>
            <a:endParaRPr lang="en-US" sz="1100"/>
          </a:p>
        </p:txBody>
      </p:sp>
      <p:sp>
        <p:nvSpPr>
          <p:cNvPr id="27" name="AutoShape 27"/>
          <p:cNvSpPr/>
          <p:nvPr/>
        </p:nvSpPr>
        <p:spPr>
          <a:xfrm>
            <a:off x="4356100" y="4191000"/>
            <a:ext cx="3467100" cy="1016000"/>
          </a:xfrm>
          <a:prstGeom prst="roundRect">
            <a:avLst>
              <a:gd name="adj" fmla="val 12500"/>
            </a:avLst>
          </a:prstGeom>
          <a:solidFill>
            <a:srgbClr val="FFFFFF">
              <a:alpha val="5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546600" y="4381500"/>
            <a:ext cx="304800" cy="304800"/>
          </a:xfrm>
          <a:prstGeom prst="rect">
            <a:avLst/>
          </a:prstGeom>
        </p:spPr>
      </p:pic>
      <p:sp>
        <p:nvSpPr>
          <p:cNvPr id="29" name="AutoShape 29"/>
          <p:cNvSpPr/>
          <p:nvPr/>
        </p:nvSpPr>
        <p:spPr>
          <a:xfrm>
            <a:off x="4927600" y="43434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通知优先级</a:t>
            </a:r>
            <a:endParaRPr lang="en-US" sz="1100"/>
          </a:p>
        </p:txBody>
      </p:sp>
      <p:sp>
        <p:nvSpPr>
          <p:cNvPr id="30" name="AutoShape 30"/>
          <p:cNvSpPr/>
          <p:nvPr/>
        </p:nvSpPr>
        <p:spPr>
          <a:xfrm>
            <a:off x="4927600" y="46736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FCM设置priority为high，确保通知即时送达。</a:t>
            </a:r>
            <a:endParaRPr lang="en-US" sz="1100"/>
          </a:p>
        </p:txBody>
      </p:sp>
      <p:sp>
        <p:nvSpPr>
          <p:cNvPr id="31" name="AutoShape 31"/>
          <p:cNvSpPr/>
          <p:nvPr/>
        </p:nvSpPr>
        <p:spPr>
          <a:xfrm>
            <a:off x="7950200" y="4191000"/>
            <a:ext cx="3467100" cy="1016000"/>
          </a:xfrm>
          <a:prstGeom prst="roundRect">
            <a:avLst>
              <a:gd name="adj" fmla="val 12500"/>
            </a:avLst>
          </a:prstGeom>
          <a:solidFill>
            <a:srgbClr val="FFFFFF">
              <a:alpha val="5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140700" y="4381500"/>
            <a:ext cx="304800" cy="304800"/>
          </a:xfrm>
          <a:prstGeom prst="rect">
            <a:avLst/>
          </a:prstGeom>
        </p:spPr>
      </p:pic>
      <p:sp>
        <p:nvSpPr>
          <p:cNvPr id="33" name="AutoShape 33"/>
          <p:cNvSpPr/>
          <p:nvPr/>
        </p:nvSpPr>
        <p:spPr>
          <a:xfrm>
            <a:off x="8521700" y="43434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数据封装</a:t>
            </a:r>
            <a:endParaRPr lang="en-US" sz="1100"/>
          </a:p>
        </p:txBody>
      </p:sp>
      <p:sp>
        <p:nvSpPr>
          <p:cNvPr id="34" name="AutoShape 34"/>
          <p:cNvSpPr/>
          <p:nvPr/>
        </p:nvSpPr>
        <p:spPr>
          <a:xfrm>
            <a:off x="8521700" y="46736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将位置、车牌等信息封装成JSON格式作为data字段。</a:t>
            </a:r>
            <a:endParaRPr lang="en-US" sz="1100"/>
          </a:p>
        </p:txBody>
      </p:sp>
      <p:sp>
        <p:nvSpPr>
          <p:cNvPr id="35" name="AutoShape 35"/>
          <p:cNvSpPr/>
          <p:nvPr/>
        </p:nvSpPr>
        <p:spPr>
          <a:xfrm>
            <a:off x="762000" y="5461000"/>
            <a:ext cx="10668000" cy="762000"/>
          </a:xfrm>
          <a:prstGeom prst="roundRect">
            <a:avLst>
              <a:gd name="adj" fmla="val 16666"/>
            </a:avLst>
          </a:prstGeom>
          <a:gradFill rotWithShape="1">
            <a:gsLst>
              <a:gs pos="0">
                <a:srgbClr val="00BFFF">
                  <a:alpha val="20000"/>
                </a:srgbClr>
              </a:gs>
              <a:gs pos="100000">
                <a:srgbClr val="FFB6C1">
                  <a:alpha val="20000"/>
                </a:srgbClr>
              </a:gs>
            </a:gsLst>
            <a:lin ang="0"/>
          </a:gradFill>
          <a:ln w="12700" cap="flat" cmpd="sng">
            <a:solidFill>
              <a:srgbClr val="E6E6FA">
                <a:alpha val="100000"/>
              </a:srgbClr>
            </a:solidFill>
            <a:prstDash val="solid"/>
            <a:round/>
          </a:ln>
        </p:spPr>
        <p:txBody>
          <a:bodyPr vert="horz" wrap="square" lIns="63500" tIns="63500" rIns="63500" bIns="63500" rtlCol="0" anchor="ctr"/>
          <a:lstStyle/>
          <a:p>
            <a:pPr algn="ctr">
              <a:defRPr/>
            </a:pPr>
            <a:endParaRPr/>
          </a:p>
        </p:txBody>
      </p:sp>
      <p:pic>
        <p:nvPicPr>
          <p:cNvPr id="36" name="Picture 36"/>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16000" y="5664200"/>
            <a:ext cx="355600" cy="355600"/>
          </a:xfrm>
          <a:prstGeom prst="rect">
            <a:avLst/>
          </a:prstGeom>
        </p:spPr>
      </p:pic>
      <p:sp>
        <p:nvSpPr>
          <p:cNvPr id="37" name="AutoShape 37"/>
          <p:cNvSpPr/>
          <p:nvPr/>
        </p:nvSpPr>
        <p:spPr>
          <a:xfrm>
            <a:off x="1460500" y="56515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行动指令：</a:t>
            </a:r>
            <a:endParaRPr lang="en-US" sz="1100"/>
          </a:p>
        </p:txBody>
      </p:sp>
      <p:sp>
        <p:nvSpPr>
          <p:cNvPr id="38" name="AutoShape 38"/>
          <p:cNvSpPr/>
          <p:nvPr/>
        </p:nvSpPr>
        <p:spPr>
          <a:xfrm>
            <a:off x="3048000" y="56515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设计SOS紧急通知的内容格式，确保信息完整、清晰，便于守护者快速了解情况。</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9550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AI关怀对话场景案例库（一）：路线偏离</a:t>
            </a:r>
            <a:endParaRPr lang="en-US" sz="1100"/>
          </a:p>
        </p:txBody>
      </p:sp>
      <p:sp>
        <p:nvSpPr>
          <p:cNvPr id="4" name="AutoShape 4"/>
          <p:cNvSpPr/>
          <p:nvPr/>
        </p:nvSpPr>
        <p:spPr>
          <a:xfrm>
            <a:off x="762000" y="1270000"/>
            <a:ext cx="10668000" cy="508000"/>
          </a:xfrm>
          <a:prstGeom prst="roundRect">
            <a:avLst>
              <a:gd name="adj" fmla="val 25000"/>
            </a:avLst>
          </a:prstGeom>
          <a:solidFill>
            <a:srgbClr val="000000">
              <a:alpha val="60000"/>
            </a:srgbClr>
          </a:solidFill>
          <a:ln w="12700" cap="flat" cmpd="sng">
            <a:solidFill>
              <a:srgbClr val="00B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BFFF"/>
                </a:solidFill>
                <a:latin typeface="Noto Sans SC"/>
                <a:ea typeface="Noto Sans SC"/>
                <a:cs typeface="Noto Sans SC"/>
                <a:sym typeface="Noto Sans SC"/>
              </a:rPr>
              <a:t>触发条件：</a:t>
            </a:r>
            <a:r>
              <a:rPr lang="en-US" sz="1600" b="0" i="0" u="none" strike="noStrike">
                <a:solidFill>
                  <a:srgbClr val="FFFFFF"/>
                </a:solidFill>
                <a:latin typeface="Noto Sans SC"/>
                <a:ea typeface="Noto Sans SC"/>
                <a:cs typeface="Noto Sans SC"/>
                <a:sym typeface="Noto Sans SC"/>
              </a:rPr>
              <a:t>系统检测到用户当前位置偏离预设路线超过500米。</a:t>
            </a:r>
            <a:endParaRPr lang="en-US" sz="1100"/>
          </a:p>
        </p:txBody>
      </p:sp>
      <p:sp>
        <p:nvSpPr>
          <p:cNvPr id="5" name="AutoShape 5"/>
          <p:cNvSpPr/>
          <p:nvPr/>
        </p:nvSpPr>
        <p:spPr>
          <a:xfrm>
            <a:off x="762000" y="1968500"/>
            <a:ext cx="3429000" cy="2413000"/>
          </a:xfrm>
          <a:prstGeom prst="roundRect">
            <a:avLst>
              <a:gd name="adj" fmla="val 5263"/>
            </a:avLst>
          </a:prstGeom>
          <a:solidFill>
            <a:srgbClr val="E6E6FA">
              <a:alpha val="10000"/>
            </a:srgbClr>
          </a:solidFill>
          <a:ln w="12700" cap="flat" cmpd="sng">
            <a:solidFill>
              <a:srgbClr val="E6E6FA">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095500"/>
            <a:ext cx="304800" cy="304800"/>
          </a:xfrm>
          <a:prstGeom prst="rect">
            <a:avLst/>
          </a:prstGeom>
        </p:spPr>
      </p:pic>
      <p:sp>
        <p:nvSpPr>
          <p:cNvPr id="7" name="AutoShape 7"/>
          <p:cNvSpPr/>
          <p:nvPr/>
        </p:nvSpPr>
        <p:spPr>
          <a:xfrm>
            <a:off x="1333500" y="20574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E6FA"/>
                </a:solidFill>
                <a:latin typeface="Noto Sans SC"/>
                <a:ea typeface="Noto Sans SC"/>
                <a:cs typeface="Noto Sans SC"/>
                <a:sym typeface="Noto Sans SC"/>
              </a:rPr>
              <a:t>情况一：抄近路</a:t>
            </a:r>
            <a:endParaRPr lang="en-US" sz="1100"/>
          </a:p>
        </p:txBody>
      </p:sp>
      <p:sp>
        <p:nvSpPr>
          <p:cNvPr id="8" name="AutoShape 8"/>
          <p:cNvSpPr/>
          <p:nvPr/>
        </p:nvSpPr>
        <p:spPr>
          <a:xfrm>
            <a:off x="889000" y="2476500"/>
            <a:ext cx="3175000" cy="177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B4B4B4"/>
                </a:solidFill>
                <a:latin typeface="Noto Sans SC"/>
                <a:ea typeface="Noto Sans SC"/>
                <a:cs typeface="Noto Sans SC"/>
                <a:sym typeface="Noto Sans SC"/>
              </a:rPr>
              <a:t>用户：</a:t>
            </a:r>
            <a:r>
              <a:rPr lang="en-US" sz="1200" b="0" i="0" u="none" strike="noStrike">
                <a:solidFill>
                  <a:srgbClr val="FFFFFF"/>
                </a:solidFill>
                <a:latin typeface="Noto Sans SC"/>
                <a:ea typeface="Noto Sans SC"/>
                <a:cs typeface="Noto Sans SC"/>
                <a:sym typeface="Noto Sans SC"/>
              </a:rPr>
              <a:t>“没事，我只是想抄个近路。”</a:t>
            </a:r>
            <a:endParaRPr lang="en-US" sz="1100"/>
          </a:p>
          <a:p>
            <a:pPr indent="0" algn="l">
              <a:lnSpc>
                <a:spcPct val="100000"/>
              </a:lnSpc>
            </a:pPr>
            <a:r>
              <a:rPr lang="en-US" sz="1200" b="0" i="0" u="none" strike="noStrike">
                <a:solidFill>
                  <a:srgbClr val="00BFFF"/>
                </a:solidFill>
                <a:latin typeface="Noto Sans SC"/>
                <a:ea typeface="Noto Sans SC"/>
                <a:cs typeface="Noto Sans SC"/>
                <a:sym typeface="Noto Sans SC"/>
              </a:rPr>
              <a:t>AI：</a:t>
            </a:r>
            <a:r>
              <a:rPr lang="en-US" sz="1200" b="0" i="0" u="none" strike="noStrike">
                <a:solidFill>
                  <a:srgbClr val="FFFFFF"/>
                </a:solidFill>
                <a:latin typeface="Noto Sans SC"/>
                <a:ea typeface="Noto Sans SC"/>
                <a:cs typeface="Noto Sans SC"/>
                <a:sym typeface="Noto Sans SC"/>
              </a:rPr>
              <a:t>“好的。不过这条小路较偏僻，请注意安全。我会持续关注你的位置，异常时立即通知守护者。”</a:t>
            </a:r>
          </a:p>
        </p:txBody>
      </p:sp>
      <p:sp>
        <p:nvSpPr>
          <p:cNvPr id="9" name="AutoShape 9"/>
          <p:cNvSpPr/>
          <p:nvPr/>
        </p:nvSpPr>
        <p:spPr>
          <a:xfrm>
            <a:off x="4381500" y="1968500"/>
            <a:ext cx="3429000" cy="2413000"/>
          </a:xfrm>
          <a:prstGeom prst="roundRect">
            <a:avLst>
              <a:gd name="adj" fmla="val 5263"/>
            </a:avLst>
          </a:prstGeom>
          <a:solidFill>
            <a:srgbClr val="00BFFF">
              <a:alpha val="10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2095500"/>
            <a:ext cx="304800" cy="304800"/>
          </a:xfrm>
          <a:prstGeom prst="rect">
            <a:avLst/>
          </a:prstGeom>
        </p:spPr>
      </p:pic>
      <p:sp>
        <p:nvSpPr>
          <p:cNvPr id="11" name="AutoShape 11"/>
          <p:cNvSpPr/>
          <p:nvPr/>
        </p:nvSpPr>
        <p:spPr>
          <a:xfrm>
            <a:off x="4953000" y="20574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情况二：迷路</a:t>
            </a:r>
            <a:endParaRPr lang="en-US" sz="1100"/>
          </a:p>
        </p:txBody>
      </p:sp>
      <p:sp>
        <p:nvSpPr>
          <p:cNvPr id="12" name="AutoShape 12"/>
          <p:cNvSpPr/>
          <p:nvPr/>
        </p:nvSpPr>
        <p:spPr>
          <a:xfrm>
            <a:off x="4508500" y="2476500"/>
            <a:ext cx="3175000" cy="177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B4B4B4"/>
                </a:solidFill>
                <a:latin typeface="Noto Sans SC"/>
                <a:ea typeface="Noto Sans SC"/>
                <a:cs typeface="Noto Sans SC"/>
                <a:sym typeface="Noto Sans SC"/>
              </a:rPr>
              <a:t>用户：</a:t>
            </a:r>
            <a:r>
              <a:rPr lang="en-US" sz="1200" b="0" i="0" u="none" strike="noStrike">
                <a:solidFill>
                  <a:srgbClr val="FFFFFF"/>
                </a:solidFill>
                <a:latin typeface="Noto Sans SC"/>
                <a:ea typeface="Noto Sans SC"/>
                <a:cs typeface="Noto Sans SC"/>
                <a:sym typeface="Noto Sans SC"/>
              </a:rPr>
              <a:t>“我迷路了，不知道该往哪走。”</a:t>
            </a:r>
            <a:endParaRPr lang="en-US" sz="1100"/>
          </a:p>
          <a:p>
            <a:pPr indent="0" algn="l">
              <a:lnSpc>
                <a:spcPct val="100000"/>
              </a:lnSpc>
            </a:pPr>
            <a:r>
              <a:rPr lang="en-US" sz="1200" b="0" i="0" u="none" strike="noStrike">
                <a:solidFill>
                  <a:srgbClr val="00BFFF"/>
                </a:solidFill>
                <a:latin typeface="Noto Sans SC"/>
                <a:ea typeface="Noto Sans SC"/>
                <a:cs typeface="Noto Sans SC"/>
                <a:sym typeface="Noto Sans SC"/>
              </a:rPr>
              <a:t>AI：</a:t>
            </a:r>
            <a:r>
              <a:rPr lang="en-US" sz="1200" b="0" i="0" u="none" strike="noStrike">
                <a:solidFill>
                  <a:srgbClr val="FFFFFF"/>
                </a:solidFill>
                <a:latin typeface="Noto Sans SC"/>
                <a:ea typeface="Noto Sans SC"/>
                <a:cs typeface="Noto Sans SC"/>
                <a:sym typeface="Noto Sans SC"/>
              </a:rPr>
              <a:t>“别担心，已为你重新规划路线。需要我现在联系守护者告知你迷路了吗？”</a:t>
            </a:r>
          </a:p>
        </p:txBody>
      </p:sp>
      <p:sp>
        <p:nvSpPr>
          <p:cNvPr id="13" name="AutoShape 13"/>
          <p:cNvSpPr/>
          <p:nvPr/>
        </p:nvSpPr>
        <p:spPr>
          <a:xfrm>
            <a:off x="8001000" y="1968500"/>
            <a:ext cx="3429000" cy="2413000"/>
          </a:xfrm>
          <a:prstGeom prst="roundRect">
            <a:avLst>
              <a:gd name="adj" fmla="val 5263"/>
            </a:avLst>
          </a:prstGeom>
          <a:solidFill>
            <a:srgbClr val="FFB6C1">
              <a:alpha val="10000"/>
            </a:srgbClr>
          </a:solidFill>
          <a:ln w="12700" cap="flat" cmpd="sng">
            <a:solidFill>
              <a:srgbClr val="FFB6C1">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2095500"/>
            <a:ext cx="304800" cy="304800"/>
          </a:xfrm>
          <a:prstGeom prst="rect">
            <a:avLst/>
          </a:prstGeom>
        </p:spPr>
      </p:pic>
      <p:sp>
        <p:nvSpPr>
          <p:cNvPr id="15" name="AutoShape 15"/>
          <p:cNvSpPr/>
          <p:nvPr/>
        </p:nvSpPr>
        <p:spPr>
          <a:xfrm>
            <a:off x="8572500" y="20574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情况三：被跟踪（紧急）</a:t>
            </a:r>
            <a:endParaRPr lang="en-US" sz="1100"/>
          </a:p>
        </p:txBody>
      </p:sp>
      <p:sp>
        <p:nvSpPr>
          <p:cNvPr id="16" name="AutoShape 16"/>
          <p:cNvSpPr/>
          <p:nvPr/>
        </p:nvSpPr>
        <p:spPr>
          <a:xfrm>
            <a:off x="8128000" y="2476500"/>
            <a:ext cx="3175000" cy="1778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B4B4B4"/>
                </a:solidFill>
                <a:latin typeface="Noto Sans SC"/>
                <a:ea typeface="Noto Sans SC"/>
                <a:cs typeface="Noto Sans SC"/>
                <a:sym typeface="Noto Sans SC"/>
              </a:rPr>
              <a:t>用户：</a:t>
            </a:r>
            <a:r>
              <a:rPr lang="en-US" sz="1200" b="0" i="0" u="none" strike="noStrike">
                <a:solidFill>
                  <a:srgbClr val="FFFFFF"/>
                </a:solidFill>
                <a:latin typeface="Noto Sans SC"/>
                <a:ea typeface="Noto Sans SC"/>
                <a:cs typeface="Noto Sans SC"/>
                <a:sym typeface="Noto Sans SC"/>
              </a:rPr>
              <a:t>“有人跟踪我，我在故意绕路。”</a:t>
            </a:r>
            <a:endParaRPr lang="en-US" sz="1100"/>
          </a:p>
          <a:p>
            <a:pPr indent="0" algn="l">
              <a:lnSpc>
                <a:spcPct val="100000"/>
              </a:lnSpc>
            </a:pPr>
            <a:r>
              <a:rPr lang="en-US" sz="1200" b="0" i="0" u="none" strike="noStrike">
                <a:solidFill>
                  <a:srgbClr val="FFB6C1"/>
                </a:solidFill>
                <a:latin typeface="Noto Sans SC"/>
                <a:ea typeface="Noto Sans SC"/>
                <a:cs typeface="Noto Sans SC"/>
                <a:sym typeface="Noto Sans SC"/>
              </a:rPr>
              <a:t>AI：</a:t>
            </a:r>
            <a:r>
              <a:rPr lang="en-US" sz="1200" b="0" i="0" u="none" strike="noStrike">
                <a:solidFill>
                  <a:srgbClr val="FFFFFF"/>
                </a:solidFill>
                <a:latin typeface="Noto Sans SC"/>
                <a:ea typeface="Noto Sans SC"/>
                <a:cs typeface="Noto Sans SC"/>
                <a:sym typeface="Noto Sans SC"/>
              </a:rPr>
              <a:t>“请保持冷静，前往人多/亮灯处。已向守护者发送紧急求助并开启录音。请坚持住！”</a:t>
            </a:r>
          </a:p>
        </p:txBody>
      </p:sp>
      <p:sp>
        <p:nvSpPr>
          <p:cNvPr id="17" name="AutoShape 17"/>
          <p:cNvSpPr/>
          <p:nvPr/>
        </p:nvSpPr>
        <p:spPr>
          <a:xfrm>
            <a:off x="762000" y="4572000"/>
            <a:ext cx="10668000" cy="1016000"/>
          </a:xfrm>
          <a:prstGeom prst="roundRect">
            <a:avLst>
              <a:gd name="adj" fmla="val 12500"/>
            </a:avLst>
          </a:prstGeom>
          <a:solidFill>
            <a:srgbClr val="00BFFF">
              <a:alpha val="20000"/>
            </a:srgbClr>
          </a:solidFill>
          <a:ln w="12700" cap="flat" cmpd="sng">
            <a:solidFill>
              <a:srgbClr val="00BFFF">
                <a:alpha val="100000"/>
              </a:srgbClr>
            </a:solidFill>
            <a:prstDash val="dash"/>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889500"/>
            <a:ext cx="381000" cy="381000"/>
          </a:xfrm>
          <a:prstGeom prst="rect">
            <a:avLst/>
          </a:prstGeom>
        </p:spPr>
      </p:pic>
      <p:sp>
        <p:nvSpPr>
          <p:cNvPr id="19" name="AutoShape 19"/>
          <p:cNvSpPr/>
          <p:nvPr/>
        </p:nvSpPr>
        <p:spPr>
          <a:xfrm>
            <a:off x="1524000" y="4699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学生行动指令：</a:t>
            </a:r>
            <a:endParaRPr lang="en-US" sz="1100"/>
          </a:p>
          <a:p>
            <a:pPr indent="0" algn="l">
              <a:lnSpc>
                <a:spcPct val="125000"/>
              </a:lnSpc>
            </a:pPr>
            <a:r>
              <a:rPr lang="en-US" sz="1400" b="0" i="0" u="none" strike="noStrike">
                <a:solidFill>
                  <a:srgbClr val="FFFFFF"/>
                </a:solidFill>
                <a:latin typeface="Noto Sans SC"/>
                <a:ea typeface="Noto Sans SC"/>
                <a:cs typeface="Noto Sans SC"/>
                <a:sym typeface="Noto Sans SC"/>
              </a:rPr>
              <a:t>分析这个对话场景的设计逻辑，思考AI是如何根据用户的不同回复调整应对策略的（从温和提醒到紧急救援的梯度变化）。</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AI关怀对话场景案例库（二）：深夜独行</a:t>
            </a:r>
            <a:endParaRPr lang="en-US" sz="1100"/>
          </a:p>
        </p:txBody>
      </p:sp>
      <p:sp>
        <p:nvSpPr>
          <p:cNvPr id="5" name="AutoShape 5"/>
          <p:cNvSpPr/>
          <p:nvPr/>
        </p:nvSpPr>
        <p:spPr>
          <a:xfrm>
            <a:off x="762000" y="1270000"/>
            <a:ext cx="10668000" cy="508000"/>
          </a:xfrm>
          <a:prstGeom prst="roundRect">
            <a:avLst>
              <a:gd name="adj" fmla="val 25000"/>
            </a:avLst>
          </a:prstGeom>
          <a:solidFill>
            <a:srgbClr val="00BFFF">
              <a:alpha val="20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397000"/>
            <a:ext cx="254000" cy="254000"/>
          </a:xfrm>
          <a:prstGeom prst="rect">
            <a:avLst/>
          </a:prstGeom>
        </p:spPr>
      </p:pic>
      <p:sp>
        <p:nvSpPr>
          <p:cNvPr id="7" name="AutoShape 7"/>
          <p:cNvSpPr/>
          <p:nvPr/>
        </p:nvSpPr>
        <p:spPr>
          <a:xfrm>
            <a:off x="1333500" y="1371600"/>
            <a:ext cx="990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触发条件：</a:t>
            </a:r>
            <a:r>
              <a:rPr lang="en-US" sz="1400" b="0" i="0" u="none" strike="noStrike">
                <a:solidFill>
                  <a:srgbClr val="DCDCDC"/>
                </a:solidFill>
                <a:latin typeface="Noto Sans SC"/>
                <a:ea typeface="Noto Sans SC"/>
                <a:cs typeface="Noto Sans SC"/>
                <a:sym typeface="Noto Sans SC"/>
              </a:rPr>
              <a:t>时间在晚上11点之后，且用户正在偏僻路段独自步行，AI主动发起关怀。</a:t>
            </a:r>
            <a:endParaRPr lang="en-US" sz="1100"/>
          </a:p>
        </p:txBody>
      </p:sp>
      <p:sp>
        <p:nvSpPr>
          <p:cNvPr id="8" name="AutoShape 8"/>
          <p:cNvSpPr/>
          <p:nvPr/>
        </p:nvSpPr>
        <p:spPr>
          <a:xfrm>
            <a:off x="762000" y="2032000"/>
            <a:ext cx="3378200" cy="2286000"/>
          </a:xfrm>
          <a:prstGeom prst="roundRect">
            <a:avLst>
              <a:gd name="adj" fmla="val 5555"/>
            </a:avLst>
          </a:prstGeom>
          <a:solidFill>
            <a:srgbClr val="FFFFFF">
              <a:alpha val="5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89000" y="2159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B6C1"/>
                </a:solidFill>
                <a:latin typeface="Noto Sans SC"/>
                <a:ea typeface="Noto Sans SC"/>
                <a:cs typeface="Noto Sans SC"/>
                <a:sym typeface="Noto Sans SC"/>
              </a:rPr>
              <a:t>场景一：用户表示安全</a:t>
            </a:r>
            <a:endParaRPr lang="en-US" sz="1100"/>
          </a:p>
        </p:txBody>
      </p:sp>
      <p:sp>
        <p:nvSpPr>
          <p:cNvPr id="10" name="AutoShape 10"/>
          <p:cNvSpPr/>
          <p:nvPr/>
        </p:nvSpPr>
        <p:spPr>
          <a:xfrm>
            <a:off x="889000" y="2603500"/>
            <a:ext cx="31242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00BFFF"/>
                </a:solidFill>
                <a:latin typeface="Noto Sans SC"/>
                <a:ea typeface="Noto Sans SC"/>
                <a:cs typeface="Noto Sans SC"/>
                <a:sym typeface="Noto Sans SC"/>
              </a:rPr>
              <a:t>AI：</a:t>
            </a:r>
            <a:r>
              <a:rPr lang="en-US" sz="1200" b="0" i="0" u="none" strike="noStrike">
                <a:solidFill>
                  <a:srgbClr val="E6E6E6"/>
                </a:solidFill>
                <a:latin typeface="Noto Sans SC"/>
                <a:ea typeface="Noto Sans SC"/>
                <a:cs typeface="Noto Sans SC"/>
                <a:sym typeface="Noto Sans SC"/>
              </a:rPr>
              <a:t>“很晚了，还在外面吗？要不要我陪你聊天直到安全到家？”</a:t>
            </a:r>
            <a:endParaRPr lang="en-US" sz="1100"/>
          </a:p>
          <a:p>
            <a:pPr indent="0" algn="l">
              <a:lnSpc>
                <a:spcPct val="100000"/>
              </a:lnSpc>
            </a:pPr>
            <a:r>
              <a:rPr lang="en-US" sz="1200" b="1" i="0" u="none" strike="noStrike">
                <a:solidFill>
                  <a:srgbClr val="FFB6C1"/>
                </a:solidFill>
                <a:latin typeface="Noto Sans SC"/>
                <a:ea typeface="Noto Sans SC"/>
                <a:cs typeface="Noto Sans SC"/>
                <a:sym typeface="Noto Sans SC"/>
              </a:rPr>
              <a:t>用户：</a:t>
            </a:r>
            <a:r>
              <a:rPr lang="en-US" sz="1200" b="0" i="0" u="none" strike="noStrike">
                <a:solidFill>
                  <a:srgbClr val="E6E6E6"/>
                </a:solidFill>
                <a:latin typeface="Noto Sans SC"/>
                <a:ea typeface="Noto Sans SC"/>
                <a:cs typeface="Noto Sans SC"/>
                <a:sym typeface="Noto Sans SC"/>
              </a:rPr>
              <a:t>“我没事，马上就到家了。”</a:t>
            </a:r>
          </a:p>
          <a:p>
            <a:pPr indent="0" algn="l">
              <a:lnSpc>
                <a:spcPct val="100000"/>
              </a:lnSpc>
            </a:pPr>
            <a:r>
              <a:rPr lang="en-US" sz="1200" b="1" i="0" u="none" strike="noStrike">
                <a:solidFill>
                  <a:srgbClr val="00BFFF"/>
                </a:solidFill>
                <a:latin typeface="Noto Sans SC"/>
                <a:ea typeface="Noto Sans SC"/>
                <a:cs typeface="Noto Sans SC"/>
                <a:sym typeface="Noto Sans SC"/>
              </a:rPr>
              <a:t>AI：</a:t>
            </a:r>
            <a:r>
              <a:rPr lang="en-US" sz="1200" b="0" i="0" u="none" strike="noStrike">
                <a:solidFill>
                  <a:srgbClr val="E6E6E6"/>
                </a:solidFill>
                <a:latin typeface="Noto Sans SC"/>
                <a:ea typeface="Noto Sans SC"/>
                <a:cs typeface="Noto Sans SC"/>
                <a:sym typeface="Noto Sans SC"/>
              </a:rPr>
              <a:t>“好的，注意安全，到家记得报平安哦。”</a:t>
            </a:r>
          </a:p>
        </p:txBody>
      </p:sp>
      <p:sp>
        <p:nvSpPr>
          <p:cNvPr id="11" name="AutoShape 11"/>
          <p:cNvSpPr/>
          <p:nvPr/>
        </p:nvSpPr>
        <p:spPr>
          <a:xfrm>
            <a:off x="4406900" y="2032000"/>
            <a:ext cx="3378200" cy="2286000"/>
          </a:xfrm>
          <a:prstGeom prst="roundRect">
            <a:avLst>
              <a:gd name="adj" fmla="val 5555"/>
            </a:avLst>
          </a:prstGeom>
          <a:solidFill>
            <a:srgbClr val="FFFFFF">
              <a:alpha val="5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533900" y="2159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E6E6FA"/>
                </a:solidFill>
                <a:latin typeface="Noto Sans SC"/>
                <a:ea typeface="Noto Sans SC"/>
                <a:cs typeface="Noto Sans SC"/>
                <a:sym typeface="Noto Sans SC"/>
              </a:rPr>
              <a:t>场景二：用户感到害怕</a:t>
            </a:r>
            <a:endParaRPr lang="en-US" sz="1100"/>
          </a:p>
        </p:txBody>
      </p:sp>
      <p:sp>
        <p:nvSpPr>
          <p:cNvPr id="13" name="AutoShape 13"/>
          <p:cNvSpPr/>
          <p:nvPr/>
        </p:nvSpPr>
        <p:spPr>
          <a:xfrm>
            <a:off x="4533900" y="2603500"/>
            <a:ext cx="31242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FFB6C1"/>
                </a:solidFill>
                <a:latin typeface="Noto Sans SC"/>
                <a:ea typeface="Noto Sans SC"/>
                <a:cs typeface="Noto Sans SC"/>
                <a:sym typeface="Noto Sans SC"/>
              </a:rPr>
              <a:t>用户：</a:t>
            </a:r>
            <a:r>
              <a:rPr lang="en-US" sz="1200" b="0" i="0" u="none" strike="noStrike">
                <a:solidFill>
                  <a:srgbClr val="E6E6E6"/>
                </a:solidFill>
                <a:latin typeface="Noto Sans SC"/>
                <a:ea typeface="Noto Sans SC"/>
                <a:cs typeface="Noto Sans SC"/>
                <a:sym typeface="Noto Sans SC"/>
              </a:rPr>
              <a:t>“我有点害怕，路上没什么人。”</a:t>
            </a:r>
            <a:endParaRPr lang="en-US" sz="1100"/>
          </a:p>
          <a:p>
            <a:pPr indent="0" algn="l">
              <a:lnSpc>
                <a:spcPct val="100000"/>
              </a:lnSpc>
            </a:pPr>
            <a:r>
              <a:rPr lang="en-US" sz="1200" b="1" i="0" u="none" strike="noStrike">
                <a:solidFill>
                  <a:srgbClr val="00BFFF"/>
                </a:solidFill>
                <a:latin typeface="Noto Sans SC"/>
                <a:ea typeface="Noto Sans SC"/>
                <a:cs typeface="Noto Sans SC"/>
                <a:sym typeface="Noto Sans SC"/>
              </a:rPr>
              <a:t>AI：</a:t>
            </a:r>
            <a:r>
              <a:rPr lang="en-US" sz="1200" b="0" i="0" u="none" strike="noStrike">
                <a:solidFill>
                  <a:srgbClr val="E6E6E6"/>
                </a:solidFill>
                <a:latin typeface="Noto Sans SC"/>
                <a:ea typeface="Noto Sans SC"/>
                <a:cs typeface="Noto Sans SC"/>
                <a:sym typeface="Noto Sans SC"/>
              </a:rPr>
              <a:t>“别害怕，已通知守护者。我们聊点轻松的话题分散注意力吧？”</a:t>
            </a:r>
          </a:p>
        </p:txBody>
      </p:sp>
      <p:sp>
        <p:nvSpPr>
          <p:cNvPr id="14" name="AutoShape 14"/>
          <p:cNvSpPr/>
          <p:nvPr/>
        </p:nvSpPr>
        <p:spPr>
          <a:xfrm>
            <a:off x="8051800" y="2032000"/>
            <a:ext cx="3378200" cy="2286000"/>
          </a:xfrm>
          <a:prstGeom prst="roundRect">
            <a:avLst>
              <a:gd name="adj" fmla="val 5555"/>
            </a:avLst>
          </a:prstGeom>
          <a:solidFill>
            <a:srgbClr val="FFFFFF">
              <a:alpha val="5000"/>
            </a:srgbClr>
          </a:solidFill>
          <a:ln w="12700" cap="flat" cmpd="sng">
            <a:solidFill>
              <a:srgbClr val="FF6464">
                <a:alpha val="5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178800" y="2159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6464"/>
                </a:solidFill>
                <a:latin typeface="Noto Sans SC"/>
                <a:ea typeface="Noto Sans SC"/>
                <a:cs typeface="Noto Sans SC"/>
                <a:sym typeface="Noto Sans SC"/>
              </a:rPr>
              <a:t>场景三：用户遭遇危险</a:t>
            </a:r>
            <a:endParaRPr lang="en-US" sz="1100"/>
          </a:p>
        </p:txBody>
      </p:sp>
      <p:sp>
        <p:nvSpPr>
          <p:cNvPr id="16" name="AutoShape 16"/>
          <p:cNvSpPr/>
          <p:nvPr/>
        </p:nvSpPr>
        <p:spPr>
          <a:xfrm>
            <a:off x="8178800" y="2603500"/>
            <a:ext cx="3124200" cy="152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FFB6C1"/>
                </a:solidFill>
                <a:latin typeface="Noto Sans SC"/>
                <a:ea typeface="Noto Sans SC"/>
                <a:cs typeface="Noto Sans SC"/>
                <a:sym typeface="Noto Sans SC"/>
              </a:rPr>
              <a:t>用户：</a:t>
            </a:r>
            <a:r>
              <a:rPr lang="en-US" sz="1200" b="0" i="0" u="none" strike="noStrike">
                <a:solidFill>
                  <a:srgbClr val="E6E6E6"/>
                </a:solidFill>
                <a:latin typeface="Noto Sans SC"/>
                <a:ea typeface="Noto Sans SC"/>
                <a:cs typeface="Noto Sans SC"/>
                <a:sym typeface="Noto Sans SC"/>
              </a:rPr>
              <a:t>“我听到后面有人跟着我！”</a:t>
            </a:r>
            <a:endParaRPr lang="en-US" sz="1100"/>
          </a:p>
          <a:p>
            <a:pPr indent="0" algn="l">
              <a:lnSpc>
                <a:spcPct val="100000"/>
              </a:lnSpc>
            </a:pPr>
            <a:r>
              <a:rPr lang="en-US" sz="1200" b="1" i="0" u="none" strike="noStrike">
                <a:solidFill>
                  <a:srgbClr val="00BFFF"/>
                </a:solidFill>
                <a:latin typeface="Noto Sans SC"/>
                <a:ea typeface="Noto Sans SC"/>
                <a:cs typeface="Noto Sans SC"/>
                <a:sym typeface="Noto Sans SC"/>
              </a:rPr>
              <a:t>AI：</a:t>
            </a:r>
            <a:r>
              <a:rPr lang="en-US" sz="1200" b="0" i="0" u="none" strike="noStrike">
                <a:solidFill>
                  <a:srgbClr val="E6E6E6"/>
                </a:solidFill>
                <a:latin typeface="Noto Sans SC"/>
                <a:ea typeface="Noto Sans SC"/>
                <a:cs typeface="Noto Sans SC"/>
                <a:sym typeface="Noto Sans SC"/>
              </a:rPr>
              <a:t>“立刻跑向人多的地方！已发送实时位置给守护者并启动紧急录音！”</a:t>
            </a:r>
          </a:p>
        </p:txBody>
      </p:sp>
      <p:sp>
        <p:nvSpPr>
          <p:cNvPr id="17" name="AutoShape 17"/>
          <p:cNvSpPr/>
          <p:nvPr/>
        </p:nvSpPr>
        <p:spPr>
          <a:xfrm>
            <a:off x="762000" y="4572000"/>
            <a:ext cx="10668000" cy="889000"/>
          </a:xfrm>
          <a:prstGeom prst="roundRect">
            <a:avLst>
              <a:gd name="adj" fmla="val 14285"/>
            </a:avLst>
          </a:prstGeom>
          <a:solidFill>
            <a:srgbClr val="FFB6C1">
              <a:alpha val="15000"/>
            </a:srgbClr>
          </a:solidFill>
          <a:ln w="12700" cap="flat" cmpd="sng">
            <a:solidFill>
              <a:srgbClr val="FFB6C1">
                <a:alpha val="80000"/>
              </a:srgbClr>
            </a:solidFill>
            <a:prstDash val="dash"/>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864100"/>
            <a:ext cx="304800" cy="304800"/>
          </a:xfrm>
          <a:prstGeom prst="rect">
            <a:avLst/>
          </a:prstGeom>
        </p:spPr>
      </p:pic>
      <p:sp>
        <p:nvSpPr>
          <p:cNvPr id="19" name="AutoShape 19"/>
          <p:cNvSpPr/>
          <p:nvPr/>
        </p:nvSpPr>
        <p:spPr>
          <a:xfrm>
            <a:off x="1397000" y="4699000"/>
            <a:ext cx="9906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学生行动指令：</a:t>
            </a:r>
            <a:endParaRPr lang="en-US" sz="1100"/>
          </a:p>
          <a:p>
            <a:pPr indent="0" algn="l">
              <a:lnSpc>
                <a:spcPct val="125000"/>
              </a:lnSpc>
            </a:pPr>
            <a:r>
              <a:rPr lang="en-US" sz="1400" b="0" i="0" u="none" strike="noStrike">
                <a:solidFill>
                  <a:srgbClr val="FFFFFF"/>
                </a:solidFill>
                <a:latin typeface="Noto Sans SC"/>
                <a:ea typeface="Noto Sans SC"/>
                <a:cs typeface="Noto Sans SC"/>
                <a:sym typeface="Noto Sans SC"/>
              </a:rPr>
              <a:t>选择一个新的场景（如用户长时间停留、情绪低落等），设计一个完整的AI关怀对话流程，体现“陪伴”与“守护”的平衡。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4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技术实现：集成ChatGPT API（代码示例）</a:t>
            </a:r>
            <a:endParaRPr lang="en-US" sz="1100"/>
          </a:p>
        </p:txBody>
      </p:sp>
      <p:sp>
        <p:nvSpPr>
          <p:cNvPr id="5" name="AutoShape 5"/>
          <p:cNvSpPr/>
          <p:nvPr/>
        </p:nvSpPr>
        <p:spPr>
          <a:xfrm>
            <a:off x="762000" y="1397000"/>
            <a:ext cx="5588000" cy="2667000"/>
          </a:xfrm>
          <a:prstGeom prst="roundRect">
            <a:avLst>
              <a:gd name="adj" fmla="val 4761"/>
            </a:avLst>
          </a:prstGeom>
          <a:solidFill>
            <a:srgbClr val="1E293B">
              <a:alpha val="90000"/>
            </a:srgbClr>
          </a:solidFill>
          <a:ln w="12700" cap="flat" cmpd="sng">
            <a:solidFill>
              <a:srgbClr val="00BFFF">
                <a:alpha val="100000"/>
              </a:srgbClr>
            </a:solidFill>
            <a:prstDash val="solid"/>
            <a:round/>
          </a:ln>
          <a:effectLst>
            <a:outerShdw blurRad="127000" dist="50800" dir="5400000" algn="tl" rotWithShape="0">
              <a:srgbClr val="000000">
                <a:alpha val="30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889000" y="1524000"/>
            <a:ext cx="5334000" cy="241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C678DD"/>
                </a:solidFill>
                <a:latin typeface="Consolas"/>
                <a:ea typeface="Consolas"/>
                <a:cs typeface="Consolas"/>
                <a:sym typeface="Consolas"/>
              </a:rPr>
              <a:t>// 1. 构建请求体与提示词</a:t>
            </a:r>
            <a:endParaRPr lang="en-US" sz="1100"/>
          </a:p>
          <a:p>
            <a:pPr indent="0" algn="l">
              <a:lnSpc>
                <a:spcPct val="100000"/>
              </a:lnSpc>
            </a:pPr>
            <a:r>
              <a:rPr lang="en-US" sz="1100" b="0" i="0" u="none" strike="noStrike">
                <a:solidFill>
                  <a:srgbClr val="E06C75"/>
                </a:solidFill>
                <a:latin typeface="Consolas"/>
                <a:ea typeface="Consolas"/>
                <a:cs typeface="Consolas"/>
                <a:sym typeface="Consolas"/>
              </a:rPr>
              <a:t>String</a:t>
            </a:r>
            <a:r>
              <a:rPr lang="en-US" sz="1100" b="0" i="0" u="none" strike="noStrike">
                <a:solidFill>
                  <a:srgbClr val="E2E8F0"/>
                </a:solidFill>
                <a:latin typeface="Consolas"/>
                <a:ea typeface="Consolas"/>
                <a:cs typeface="Consolas"/>
                <a:sym typeface="Consolas"/>
              </a:rPr>
              <a:t>prompt =</a:t>
            </a:r>
            <a:r>
              <a:rPr lang="en-US" sz="1100" b="0" i="0" u="none" strike="noStrike">
                <a:solidFill>
                  <a:srgbClr val="98C379"/>
                </a:solidFill>
                <a:latin typeface="Consolas"/>
                <a:ea typeface="Consolas"/>
                <a:cs typeface="Consolas"/>
                <a:sym typeface="Consolas"/>
              </a:rPr>
              <a:t>"你是安全助手，用户说：" + msg;</a:t>
            </a:r>
          </a:p>
          <a:p>
            <a:pPr indent="0" algn="l">
              <a:lnSpc>
                <a:spcPct val="100000"/>
              </a:lnSpc>
            </a:pPr>
            <a:r>
              <a:rPr lang="en-US" sz="1100" b="0" i="0" u="none" strike="noStrike">
                <a:solidFill>
                  <a:srgbClr val="C678DD"/>
                </a:solidFill>
                <a:latin typeface="Consolas"/>
                <a:ea typeface="Consolas"/>
                <a:cs typeface="Consolas"/>
                <a:sym typeface="Consolas"/>
              </a:rPr>
              <a:t>// 2. 创建请求对象 (GPT-3.5 Turbo)</a:t>
            </a:r>
          </a:p>
          <a:p>
            <a:pPr indent="0" algn="l">
              <a:lnSpc>
                <a:spcPct val="100000"/>
              </a:lnSpc>
            </a:pPr>
            <a:r>
              <a:rPr lang="en-US" sz="1100" b="0" i="0" u="none" strike="noStrike">
                <a:solidFill>
                  <a:srgbClr val="E06C75"/>
                </a:solidFill>
                <a:latin typeface="Consolas"/>
                <a:ea typeface="Consolas"/>
                <a:cs typeface="Consolas"/>
                <a:sym typeface="Consolas"/>
              </a:rPr>
              <a:t>var</a:t>
            </a:r>
            <a:r>
              <a:rPr lang="en-US" sz="1100" b="0" i="0" u="none" strike="noStrike">
                <a:solidFill>
                  <a:srgbClr val="E2E8F0"/>
                </a:solidFill>
                <a:latin typeface="Consolas"/>
                <a:ea typeface="Consolas"/>
                <a:cs typeface="Consolas"/>
                <a:sym typeface="Consolas"/>
              </a:rPr>
              <a:t>request = ChatCompletionRequest.builder()</a:t>
            </a:r>
          </a:p>
          <a:p>
            <a:pPr indent="0" algn="l">
              <a:lnSpc>
                <a:spcPct val="100000"/>
              </a:lnSpc>
            </a:pPr>
            <a:r>
              <a:rPr lang="en-US" sz="1100" b="0" i="0" u="none" strike="noStrike">
                <a:solidFill>
                  <a:srgbClr val="E2E8F0"/>
                </a:solidFill>
                <a:latin typeface="Consolas"/>
                <a:ea typeface="Consolas"/>
                <a:cs typeface="Consolas"/>
                <a:sym typeface="Consolas"/>
              </a:rPr>
              <a:t>.model(</a:t>
            </a:r>
            <a:r>
              <a:rPr lang="en-US" sz="1100" b="0" i="0" u="none" strike="noStrike">
                <a:solidFill>
                  <a:srgbClr val="98C379"/>
                </a:solidFill>
                <a:latin typeface="Consolas"/>
                <a:ea typeface="Consolas"/>
                <a:cs typeface="Consolas"/>
                <a:sym typeface="Consolas"/>
              </a:rPr>
              <a:t>"gpt-3.5-turbo"</a:t>
            </a:r>
            <a:r>
              <a:rPr lang="en-US" sz="1100" b="0" i="0" u="none" strike="noStrike">
                <a:solidFill>
                  <a:srgbClr val="E2E8F0"/>
                </a:solidFill>
                <a:latin typeface="Consolas"/>
                <a:ea typeface="Consolas"/>
                <a:cs typeface="Consolas"/>
                <a:sym typeface="Consolas"/>
              </a:rPr>
              <a:t>).messages(msgList).build();</a:t>
            </a:r>
          </a:p>
          <a:p>
            <a:pPr indent="0" algn="l">
              <a:lnSpc>
                <a:spcPct val="100000"/>
              </a:lnSpc>
            </a:pPr>
            <a:r>
              <a:rPr lang="en-US" sz="1100" b="0" i="0" u="none" strike="noStrike">
                <a:solidFill>
                  <a:srgbClr val="C678DD"/>
                </a:solidFill>
                <a:latin typeface="Consolas"/>
                <a:ea typeface="Consolas"/>
                <a:cs typeface="Consolas"/>
                <a:sym typeface="Consolas"/>
              </a:rPr>
              <a:t>// 3. 调用API并处理响应</a:t>
            </a:r>
          </a:p>
          <a:p>
            <a:pPr indent="0" algn="l">
              <a:lnSpc>
                <a:spcPct val="100000"/>
              </a:lnSpc>
            </a:pPr>
            <a:r>
              <a:rPr lang="en-US" sz="1100" b="0" i="0" u="none" strike="noStrike">
                <a:solidFill>
                  <a:srgbClr val="E06C75"/>
                </a:solidFill>
                <a:latin typeface="Consolas"/>
                <a:ea typeface="Consolas"/>
                <a:cs typeface="Consolas"/>
                <a:sym typeface="Consolas"/>
              </a:rPr>
              <a:t>ChatCompletionResponse</a:t>
            </a:r>
            <a:r>
              <a:rPr lang="en-US" sz="1100" b="0" i="0" u="none" strike="noStrike">
                <a:solidFill>
                  <a:srgbClr val="E2E8F0"/>
                </a:solidFill>
                <a:latin typeface="Consolas"/>
                <a:ea typeface="Consolas"/>
                <a:cs typeface="Consolas"/>
                <a:sym typeface="Consolas"/>
              </a:rPr>
              <a:t>res = client.createChatCompletion(request);</a:t>
            </a:r>
          </a:p>
          <a:p>
            <a:pPr indent="0" algn="l">
              <a:lnSpc>
                <a:spcPct val="100000"/>
              </a:lnSpc>
            </a:pPr>
            <a:r>
              <a:rPr lang="en-US" sz="1100" b="0" i="0" u="none" strike="noStrike">
                <a:solidFill>
                  <a:srgbClr val="E2E8F0"/>
                </a:solidFill>
                <a:latin typeface="Consolas"/>
                <a:ea typeface="Consolas"/>
                <a:cs typeface="Consolas"/>
                <a:sym typeface="Consolas"/>
              </a:rPr>
              <a:t>String aiReply = res.getChoices().get(0).getMessage().getContent();</a:t>
            </a:r>
          </a:p>
        </p:txBody>
      </p:sp>
      <p:sp>
        <p:nvSpPr>
          <p:cNvPr id="7" name="AutoShape 7"/>
          <p:cNvSpPr/>
          <p:nvPr/>
        </p:nvSpPr>
        <p:spPr>
          <a:xfrm>
            <a:off x="6604000" y="1397000"/>
            <a:ext cx="4826000" cy="1206500"/>
          </a:xfrm>
          <a:prstGeom prst="roundRect">
            <a:avLst>
              <a:gd name="adj" fmla="val 10526"/>
            </a:avLst>
          </a:prstGeom>
          <a:solidFill>
            <a:srgbClr val="FFFFFF">
              <a:alpha val="5000"/>
            </a:srgbClr>
          </a:solidFill>
          <a:ln w="12700" cap="flat" cmpd="sng">
            <a:solidFill>
              <a:srgbClr val="FFB6C1">
                <a:alpha val="10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94500" y="1524000"/>
            <a:ext cx="304800" cy="304800"/>
          </a:xfrm>
          <a:prstGeom prst="rect">
            <a:avLst/>
          </a:prstGeom>
        </p:spPr>
      </p:pic>
      <p:sp>
        <p:nvSpPr>
          <p:cNvPr id="9" name="AutoShape 9"/>
          <p:cNvSpPr/>
          <p:nvPr/>
        </p:nvSpPr>
        <p:spPr>
          <a:xfrm>
            <a:off x="7175500" y="14986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核心思路</a:t>
            </a:r>
            <a:endParaRPr lang="en-US" sz="1100"/>
          </a:p>
        </p:txBody>
      </p:sp>
      <p:sp>
        <p:nvSpPr>
          <p:cNvPr id="10" name="AutoShape 10"/>
          <p:cNvSpPr/>
          <p:nvPr/>
        </p:nvSpPr>
        <p:spPr>
          <a:xfrm>
            <a:off x="6794500" y="1879600"/>
            <a:ext cx="4445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E2E8F0"/>
                </a:solidFill>
                <a:latin typeface="Noto Sans SC"/>
                <a:ea typeface="Noto Sans SC"/>
                <a:cs typeface="Noto Sans SC"/>
                <a:sym typeface="Noto Sans SC"/>
              </a:rPr>
              <a:t>将用户输入与预设提示词组合，发送至ChatGPT API，解析JSON响应并提取内容展示给用户。</a:t>
            </a:r>
            <a:endParaRPr lang="en-US" sz="1100"/>
          </a:p>
        </p:txBody>
      </p:sp>
      <p:sp>
        <p:nvSpPr>
          <p:cNvPr id="11" name="AutoShape 11"/>
          <p:cNvSpPr/>
          <p:nvPr/>
        </p:nvSpPr>
        <p:spPr>
          <a:xfrm>
            <a:off x="6604000" y="2730500"/>
            <a:ext cx="4826000" cy="1333500"/>
          </a:xfrm>
          <a:prstGeom prst="roundRect">
            <a:avLst>
              <a:gd name="adj" fmla="val 9523"/>
            </a:avLst>
          </a:prstGeom>
          <a:solidFill>
            <a:srgbClr val="FFFFFF">
              <a:alpha val="5000"/>
            </a:srgbClr>
          </a:solidFill>
          <a:ln w="12700" cap="flat" cmpd="sng">
            <a:solidFill>
              <a:srgbClr val="E6E6FA">
                <a:alpha val="10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94500" y="2857500"/>
            <a:ext cx="304800" cy="304800"/>
          </a:xfrm>
          <a:prstGeom prst="rect">
            <a:avLst/>
          </a:prstGeom>
        </p:spPr>
      </p:pic>
      <p:sp>
        <p:nvSpPr>
          <p:cNvPr id="13" name="AutoShape 13"/>
          <p:cNvSpPr/>
          <p:nvPr/>
        </p:nvSpPr>
        <p:spPr>
          <a:xfrm>
            <a:off x="7175500" y="28321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E6FA"/>
                </a:solidFill>
                <a:latin typeface="Noto Sans SC"/>
                <a:ea typeface="Noto Sans SC"/>
                <a:cs typeface="Noto Sans SC"/>
                <a:sym typeface="Noto Sans SC"/>
              </a:rPr>
              <a:t>关键注意事项</a:t>
            </a:r>
            <a:endParaRPr lang="en-US" sz="1100"/>
          </a:p>
        </p:txBody>
      </p:sp>
      <p:sp>
        <p:nvSpPr>
          <p:cNvPr id="14" name="AutoShape 14"/>
          <p:cNvSpPr/>
          <p:nvPr/>
        </p:nvSpPr>
        <p:spPr>
          <a:xfrm>
            <a:off x="6794500" y="3213100"/>
            <a:ext cx="4445000" cy="762000"/>
          </a:xfrm>
          <a:prstGeom prst="rect">
            <a:avLst/>
          </a:prstGeom>
          <a:noFill/>
          <a:ln w="12700" cap="flat" cmpd="sng">
            <a:noFill/>
            <a:prstDash val="solid"/>
            <a:round/>
          </a:ln>
        </p:spPr>
        <p:txBody>
          <a:bodyPr vert="horz" wrap="square" lIns="0" tIns="0" rIns="0" bIns="0" rtlCol="0" anchor="ctr" anchorCtr="0"/>
          <a:lstStyle/>
          <a:p>
            <a:pPr marL="152400" indent="-152400" algn="l">
              <a:lnSpc>
                <a:spcPct val="100000"/>
              </a:lnSpc>
              <a:buClr>
                <a:srgbClr val="E2E8F0"/>
              </a:buClr>
              <a:buChar char="•"/>
              <a:defRPr/>
            </a:pPr>
            <a:r>
              <a:rPr lang="en-US" sz="1200" b="1" i="0" u="none" strike="noStrike">
                <a:solidFill>
                  <a:srgbClr val="E2E8F0"/>
                </a:solidFill>
                <a:latin typeface="Noto Sans SC"/>
                <a:ea typeface="Noto Sans SC"/>
                <a:cs typeface="Noto Sans SC"/>
                <a:sym typeface="Noto Sans SC"/>
              </a:rPr>
              <a:t>权限：</a:t>
            </a:r>
            <a:r>
              <a:rPr lang="en-US" sz="1200" b="0" i="0" u="none" strike="noStrike">
                <a:solidFill>
                  <a:srgbClr val="E2E8F0"/>
                </a:solidFill>
                <a:latin typeface="Noto Sans SC"/>
                <a:ea typeface="Noto Sans SC"/>
                <a:cs typeface="Noto Sans SC"/>
                <a:sym typeface="Noto Sans SC"/>
              </a:rPr>
              <a:t>AndroidManifest中添加 INTERNET 权限</a:t>
            </a:r>
            <a:endParaRPr lang="en-US" sz="1100"/>
          </a:p>
          <a:p>
            <a:pPr marL="152400" indent="-152400" algn="l">
              <a:lnSpc>
                <a:spcPct val="100000"/>
              </a:lnSpc>
              <a:buClr>
                <a:srgbClr val="E2E8F0"/>
              </a:buClr>
              <a:buChar char="•"/>
            </a:pPr>
            <a:r>
              <a:rPr lang="en-US" sz="1200" b="1" i="0" u="none" strike="noStrike">
                <a:solidFill>
                  <a:srgbClr val="E2E8F0"/>
                </a:solidFill>
                <a:latin typeface="Noto Sans SC"/>
                <a:ea typeface="Noto Sans SC"/>
                <a:cs typeface="Noto Sans SC"/>
                <a:sym typeface="Noto Sans SC"/>
              </a:rPr>
              <a:t>线程：</a:t>
            </a:r>
            <a:r>
              <a:rPr lang="en-US" sz="1200" b="0" i="0" u="none" strike="noStrike">
                <a:solidFill>
                  <a:srgbClr val="E2E8F0"/>
                </a:solidFill>
                <a:latin typeface="Noto Sans SC"/>
                <a:ea typeface="Noto Sans SC"/>
                <a:cs typeface="Noto Sans SC"/>
                <a:sym typeface="Noto Sans SC"/>
              </a:rPr>
              <a:t>网络请求必须在后台线程执行 (AsyncTask/Coroutines)</a:t>
            </a:r>
          </a:p>
          <a:p>
            <a:pPr marL="152400" indent="-152400" algn="l">
              <a:lnSpc>
                <a:spcPct val="100000"/>
              </a:lnSpc>
              <a:buClr>
                <a:srgbClr val="E2E8F0"/>
              </a:buClr>
              <a:buChar char="•"/>
            </a:pPr>
            <a:r>
              <a:rPr lang="en-US" sz="1200" b="1" i="0" u="none" strike="noStrike">
                <a:solidFill>
                  <a:srgbClr val="E2E8F0"/>
                </a:solidFill>
                <a:latin typeface="Noto Sans SC"/>
                <a:ea typeface="Noto Sans SC"/>
                <a:cs typeface="Noto Sans SC"/>
                <a:sym typeface="Noto Sans SC"/>
              </a:rPr>
              <a:t>异常：</a:t>
            </a:r>
            <a:r>
              <a:rPr lang="en-US" sz="1200" b="0" i="0" u="none" strike="noStrike">
                <a:solidFill>
                  <a:srgbClr val="E2E8F0"/>
                </a:solidFill>
                <a:latin typeface="Noto Sans SC"/>
                <a:ea typeface="Noto Sans SC"/>
                <a:cs typeface="Noto Sans SC"/>
                <a:sym typeface="Noto Sans SC"/>
              </a:rPr>
              <a:t>处理API调用失败与网络超时</a:t>
            </a:r>
          </a:p>
        </p:txBody>
      </p:sp>
      <p:sp>
        <p:nvSpPr>
          <p:cNvPr id="15" name="AutoShape 15"/>
          <p:cNvSpPr/>
          <p:nvPr/>
        </p:nvSpPr>
        <p:spPr>
          <a:xfrm>
            <a:off x="762000" y="4318000"/>
            <a:ext cx="10668000" cy="762000"/>
          </a:xfrm>
          <a:prstGeom prst="roundRect">
            <a:avLst>
              <a:gd name="adj" fmla="val 16666"/>
            </a:avLst>
          </a:prstGeom>
          <a:solidFill>
            <a:srgbClr val="00BFFF">
              <a:alpha val="15000"/>
            </a:srgbClr>
          </a:solidFill>
          <a:ln w="12700" cap="flat" cmpd="sng">
            <a:solidFill>
              <a:srgbClr val="00BFFF">
                <a:alpha val="100000"/>
              </a:srgbClr>
            </a:solidFill>
            <a:prstDash val="solid"/>
            <a:round/>
          </a:ln>
          <a:effectLst>
            <a:outerShdw blurRad="101600" dist="25400" dir="5400000" algn="tl" rotWithShape="0">
              <a:srgbClr val="00BFFF">
                <a:alpha val="20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521200"/>
            <a:ext cx="355600" cy="355600"/>
          </a:xfrm>
          <a:prstGeom prst="rect">
            <a:avLst/>
          </a:prstGeom>
        </p:spPr>
      </p:pic>
      <p:sp>
        <p:nvSpPr>
          <p:cNvPr id="17" name="AutoShape 17"/>
          <p:cNvSpPr/>
          <p:nvPr/>
        </p:nvSpPr>
        <p:spPr>
          <a:xfrm>
            <a:off x="1524000" y="4508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学生行动指令：尝试编写代码，实现一个简单的调用ChatGPT API的功能</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35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用户体验优化：界面设计细节</a:t>
            </a:r>
            <a:endParaRPr lang="en-US" sz="1100"/>
          </a:p>
        </p:txBody>
      </p:sp>
      <p:sp>
        <p:nvSpPr>
          <p:cNvPr id="5" name="AutoShape 5"/>
          <p:cNvSpPr/>
          <p:nvPr/>
        </p:nvSpPr>
        <p:spPr>
          <a:xfrm>
            <a:off x="762000" y="1397000"/>
            <a:ext cx="5080000" cy="1397000"/>
          </a:xfrm>
          <a:prstGeom prst="roundRect">
            <a:avLst>
              <a:gd name="adj" fmla="val 909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406400" cy="406400"/>
          </a:xfrm>
          <a:prstGeom prst="rect">
            <a:avLst/>
          </a:prstGeom>
        </p:spPr>
      </p:pic>
      <p:sp>
        <p:nvSpPr>
          <p:cNvPr id="7" name="AutoShape 7"/>
          <p:cNvSpPr/>
          <p:nvPr/>
        </p:nvSpPr>
        <p:spPr>
          <a:xfrm>
            <a:off x="1524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色彩搭配策略</a:t>
            </a:r>
            <a:endParaRPr lang="en-US" sz="1100"/>
          </a:p>
        </p:txBody>
      </p:sp>
      <p:sp>
        <p:nvSpPr>
          <p:cNvPr id="8" name="AutoShape 8"/>
          <p:cNvSpPr/>
          <p:nvPr/>
        </p:nvSpPr>
        <p:spPr>
          <a:xfrm>
            <a:off x="1524000" y="19304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E5E7EB"/>
                </a:solidFill>
                <a:latin typeface="Noto Sans SC"/>
                <a:ea typeface="Noto Sans SC"/>
                <a:cs typeface="Noto Sans SC"/>
                <a:sym typeface="Noto Sans SC"/>
              </a:rPr>
              <a:t>采用科技蓝与柔和粉营造氛围，避免高饱和度刺眼颜色；重要按钮（如SOS）使用醒目的红色突出显示。</a:t>
            </a:r>
            <a:endParaRPr lang="en-US" sz="1100"/>
          </a:p>
        </p:txBody>
      </p:sp>
      <p:sp>
        <p:nvSpPr>
          <p:cNvPr id="9" name="AutoShape 9"/>
          <p:cNvSpPr/>
          <p:nvPr/>
        </p:nvSpPr>
        <p:spPr>
          <a:xfrm>
            <a:off x="6096000" y="1397000"/>
            <a:ext cx="5080000" cy="1397000"/>
          </a:xfrm>
          <a:prstGeom prst="roundRect">
            <a:avLst>
              <a:gd name="adj" fmla="val 909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50000" y="1587500"/>
            <a:ext cx="406400" cy="406400"/>
          </a:xfrm>
          <a:prstGeom prst="rect">
            <a:avLst/>
          </a:prstGeom>
        </p:spPr>
      </p:pic>
      <p:sp>
        <p:nvSpPr>
          <p:cNvPr id="11" name="AutoShape 11"/>
          <p:cNvSpPr/>
          <p:nvPr/>
        </p:nvSpPr>
        <p:spPr>
          <a:xfrm>
            <a:off x="6858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字体与可读性</a:t>
            </a:r>
            <a:endParaRPr lang="en-US" sz="1100"/>
          </a:p>
        </p:txBody>
      </p:sp>
      <p:sp>
        <p:nvSpPr>
          <p:cNvPr id="12" name="AutoShape 12"/>
          <p:cNvSpPr/>
          <p:nvPr/>
        </p:nvSpPr>
        <p:spPr>
          <a:xfrm>
            <a:off x="6858000" y="19304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E5E7EB"/>
                </a:solidFill>
                <a:latin typeface="Noto Sans SC"/>
                <a:ea typeface="Noto Sans SC"/>
                <a:cs typeface="Noto Sans SC"/>
                <a:sym typeface="Noto Sans SC"/>
              </a:rPr>
              <a:t>选用清晰易读的无衬线字体（如思源黑体）；重要信息加粗或放大，辅助文字缩小以避免干扰。</a:t>
            </a:r>
            <a:endParaRPr lang="en-US" sz="1100"/>
          </a:p>
        </p:txBody>
      </p:sp>
      <p:sp>
        <p:nvSpPr>
          <p:cNvPr id="13" name="AutoShape 13"/>
          <p:cNvSpPr/>
          <p:nvPr/>
        </p:nvSpPr>
        <p:spPr>
          <a:xfrm>
            <a:off x="762000" y="3048000"/>
            <a:ext cx="5080000" cy="1397000"/>
          </a:xfrm>
          <a:prstGeom prst="roundRect">
            <a:avLst>
              <a:gd name="adj" fmla="val 909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238500"/>
            <a:ext cx="406400" cy="406400"/>
          </a:xfrm>
          <a:prstGeom prst="rect">
            <a:avLst/>
          </a:prstGeom>
        </p:spPr>
      </p:pic>
      <p:sp>
        <p:nvSpPr>
          <p:cNvPr id="15" name="AutoShape 15"/>
          <p:cNvSpPr/>
          <p:nvPr/>
        </p:nvSpPr>
        <p:spPr>
          <a:xfrm>
            <a:off x="1524000" y="3200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交互按钮设计</a:t>
            </a:r>
            <a:endParaRPr lang="en-US" sz="1100"/>
          </a:p>
        </p:txBody>
      </p:sp>
      <p:sp>
        <p:nvSpPr>
          <p:cNvPr id="16" name="AutoShape 16"/>
          <p:cNvSpPr/>
          <p:nvPr/>
        </p:nvSpPr>
        <p:spPr>
          <a:xfrm>
            <a:off x="1524000" y="35814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E5E7EB"/>
                </a:solidFill>
                <a:latin typeface="Noto Sans SC"/>
                <a:ea typeface="Noto Sans SC"/>
                <a:cs typeface="Noto Sans SC"/>
                <a:sym typeface="Noto Sans SC"/>
              </a:rPr>
              <a:t>按钮尺寸适中便于触控，提供明确的视觉反馈（如变色、震动）；保持界面简洁，避免过多按钮。</a:t>
            </a:r>
            <a:endParaRPr lang="en-US" sz="1100"/>
          </a:p>
        </p:txBody>
      </p:sp>
      <p:sp>
        <p:nvSpPr>
          <p:cNvPr id="17" name="AutoShape 17"/>
          <p:cNvSpPr/>
          <p:nvPr/>
        </p:nvSpPr>
        <p:spPr>
          <a:xfrm>
            <a:off x="6096000" y="3048000"/>
            <a:ext cx="5080000" cy="1397000"/>
          </a:xfrm>
          <a:prstGeom prst="roundRect">
            <a:avLst>
              <a:gd name="adj" fmla="val 909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50000" y="3238500"/>
            <a:ext cx="406400" cy="406400"/>
          </a:xfrm>
          <a:prstGeom prst="rect">
            <a:avLst/>
          </a:prstGeom>
        </p:spPr>
      </p:pic>
      <p:sp>
        <p:nvSpPr>
          <p:cNvPr id="19" name="AutoShape 19"/>
          <p:cNvSpPr/>
          <p:nvPr/>
        </p:nvSpPr>
        <p:spPr>
          <a:xfrm>
            <a:off x="6858000" y="3200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信息层级规划</a:t>
            </a:r>
            <a:endParaRPr lang="en-US" sz="1100"/>
          </a:p>
        </p:txBody>
      </p:sp>
      <p:sp>
        <p:nvSpPr>
          <p:cNvPr id="20" name="AutoShape 20"/>
          <p:cNvSpPr/>
          <p:nvPr/>
        </p:nvSpPr>
        <p:spPr>
          <a:xfrm>
            <a:off x="6858000" y="35814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E5E7EB"/>
                </a:solidFill>
                <a:latin typeface="Noto Sans SC"/>
                <a:ea typeface="Noto Sans SC"/>
                <a:cs typeface="Noto Sans SC"/>
                <a:sym typeface="Noto Sans SC"/>
              </a:rPr>
              <a:t>将关键信息（位置、状态）置于视觉焦点；利用分组和留白区分功能模块，引导用户视觉流程。</a:t>
            </a:r>
            <a:endParaRPr lang="en-US" sz="1100"/>
          </a:p>
        </p:txBody>
      </p:sp>
      <p:sp>
        <p:nvSpPr>
          <p:cNvPr id="21" name="AutoShape 21"/>
          <p:cNvSpPr/>
          <p:nvPr/>
        </p:nvSpPr>
        <p:spPr>
          <a:xfrm>
            <a:off x="762000" y="4699000"/>
            <a:ext cx="10668000" cy="1016000"/>
          </a:xfrm>
          <a:prstGeom prst="roundRect">
            <a:avLst>
              <a:gd name="adj" fmla="val 12500"/>
            </a:avLst>
          </a:prstGeom>
          <a:gradFill rotWithShape="1">
            <a:gsLst>
              <a:gs pos="0">
                <a:srgbClr val="00BFFF">
                  <a:alpha val="20000"/>
                </a:srgbClr>
              </a:gs>
              <a:gs pos="100000">
                <a:srgbClr val="FFB6C1">
                  <a:alpha val="20000"/>
                </a:srgbClr>
              </a:gs>
            </a:gsLst>
            <a:lin ang="0"/>
          </a:gra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4978400"/>
            <a:ext cx="457200" cy="457200"/>
          </a:xfrm>
          <a:prstGeom prst="rect">
            <a:avLst/>
          </a:prstGeom>
        </p:spPr>
      </p:pic>
      <p:sp>
        <p:nvSpPr>
          <p:cNvPr id="23" name="AutoShape 23"/>
          <p:cNvSpPr/>
          <p:nvPr/>
        </p:nvSpPr>
        <p:spPr>
          <a:xfrm>
            <a:off x="1651000" y="4826000"/>
            <a:ext cx="889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E5E7EB"/>
                </a:solidFill>
                <a:latin typeface="Noto Sans SC"/>
                <a:ea typeface="Noto Sans SC"/>
                <a:cs typeface="Noto Sans SC"/>
                <a:sym typeface="Noto Sans SC"/>
              </a:rPr>
              <a:t>审视你们APP的界面设计，从色彩、字体、按钮和信息层级四个方面找出至少一处可以优化的细节。</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项目管理：使用燃尽图跟踪进度</a:t>
            </a:r>
            <a:endParaRPr lang="en-US" sz="1100"/>
          </a:p>
        </p:txBody>
      </p:sp>
      <p:sp>
        <p:nvSpPr>
          <p:cNvPr id="5" name="AutoShape 5"/>
          <p:cNvSpPr/>
          <p:nvPr/>
        </p:nvSpPr>
        <p:spPr>
          <a:xfrm>
            <a:off x="762000" y="1524000"/>
            <a:ext cx="3302000" cy="2794000"/>
          </a:xfrm>
          <a:prstGeom prst="roundRect">
            <a:avLst>
              <a:gd name="adj" fmla="val 4545"/>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406400" cy="406400"/>
          </a:xfrm>
          <a:prstGeom prst="rect">
            <a:avLst/>
          </a:prstGeom>
        </p:spPr>
      </p:pic>
      <p:sp>
        <p:nvSpPr>
          <p:cNvPr id="7" name="AutoShape 7"/>
          <p:cNvSpPr/>
          <p:nvPr/>
        </p:nvSpPr>
        <p:spPr>
          <a:xfrm>
            <a:off x="1524000" y="1752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什么是燃尽图</a:t>
            </a:r>
            <a:endParaRPr lang="en-US" sz="1100"/>
          </a:p>
        </p:txBody>
      </p:sp>
      <p:sp>
        <p:nvSpPr>
          <p:cNvPr id="8" name="AutoShape 8"/>
          <p:cNvSpPr/>
          <p:nvPr/>
        </p:nvSpPr>
        <p:spPr>
          <a:xfrm>
            <a:off x="1016000" y="2286000"/>
            <a:ext cx="2794000" cy="1651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90196"/>
                  </a:srgbClr>
                </a:solidFill>
                <a:latin typeface="Noto Sans SC"/>
                <a:ea typeface="Noto Sans SC"/>
                <a:cs typeface="Noto Sans SC"/>
                <a:sym typeface="Noto Sans SC"/>
              </a:rPr>
              <a:t>燃尽图（Burndown Chart）是一个直观的项目管理工具，用于展示在Sprint中剩余工作量随时间的变化趋势，帮助团队掌握进度。</a:t>
            </a:r>
            <a:endParaRPr lang="en-US" sz="1100"/>
          </a:p>
        </p:txBody>
      </p:sp>
      <p:sp>
        <p:nvSpPr>
          <p:cNvPr id="9" name="AutoShape 9"/>
          <p:cNvSpPr/>
          <p:nvPr/>
        </p:nvSpPr>
        <p:spPr>
          <a:xfrm>
            <a:off x="4445000" y="1524000"/>
            <a:ext cx="3302000" cy="2794000"/>
          </a:xfrm>
          <a:prstGeom prst="roundRect">
            <a:avLst>
              <a:gd name="adj" fmla="val 4545"/>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778000"/>
            <a:ext cx="406400" cy="406400"/>
          </a:xfrm>
          <a:prstGeom prst="rect">
            <a:avLst/>
          </a:prstGeom>
        </p:spPr>
      </p:pic>
      <p:sp>
        <p:nvSpPr>
          <p:cNvPr id="11" name="AutoShape 11"/>
          <p:cNvSpPr/>
          <p:nvPr/>
        </p:nvSpPr>
        <p:spPr>
          <a:xfrm>
            <a:off x="5207000" y="1752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如何绘制</a:t>
            </a:r>
            <a:endParaRPr lang="en-US" sz="1100"/>
          </a:p>
        </p:txBody>
      </p:sp>
      <p:sp>
        <p:nvSpPr>
          <p:cNvPr id="12" name="AutoShape 12"/>
          <p:cNvSpPr/>
          <p:nvPr/>
        </p:nvSpPr>
        <p:spPr>
          <a:xfrm>
            <a:off x="4699000" y="2286000"/>
            <a:ext cx="2794000" cy="1651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FFFFFF"/>
              </a:buClr>
              <a:buChar char="•"/>
              <a:defRPr/>
            </a:pPr>
            <a:r>
              <a:rPr lang="en-US" sz="1400" b="1" i="0" u="none" strike="noStrike">
                <a:solidFill>
                  <a:srgbClr val="FFFFFF">
                    <a:alpha val="90196"/>
                  </a:srgbClr>
                </a:solidFill>
                <a:latin typeface="Noto Sans SC"/>
                <a:ea typeface="Noto Sans SC"/>
                <a:cs typeface="Noto Sans SC"/>
                <a:sym typeface="Noto Sans SC"/>
              </a:rPr>
              <a:t>纵轴(Y)</a:t>
            </a:r>
            <a:r>
              <a:rPr lang="en-US" sz="1400" b="0" i="0" u="none" strike="noStrike">
                <a:solidFill>
                  <a:srgbClr val="FFFFFF">
                    <a:alpha val="90196"/>
                  </a:srgbClr>
                </a:solidFill>
                <a:latin typeface="Noto Sans SC"/>
                <a:ea typeface="Noto Sans SC"/>
                <a:cs typeface="Noto Sans SC"/>
                <a:sym typeface="Noto Sans SC"/>
              </a:rPr>
              <a:t>：剩余工作量(故事点/任务数)</a:t>
            </a:r>
            <a:endParaRPr lang="en-US" sz="1100"/>
          </a:p>
          <a:p>
            <a:pPr marL="177800" indent="-177800" algn="l">
              <a:lnSpc>
                <a:spcPct val="108333"/>
              </a:lnSpc>
              <a:buClr>
                <a:srgbClr val="FFFFFF"/>
              </a:buClr>
              <a:buChar char="•"/>
            </a:pPr>
            <a:r>
              <a:rPr lang="en-US" sz="1400" b="1" i="0" u="none" strike="noStrike">
                <a:solidFill>
                  <a:srgbClr val="FFFFFF">
                    <a:alpha val="90196"/>
                  </a:srgbClr>
                </a:solidFill>
                <a:latin typeface="Noto Sans SC"/>
                <a:ea typeface="Noto Sans SC"/>
                <a:cs typeface="Noto Sans SC"/>
                <a:sym typeface="Noto Sans SC"/>
              </a:rPr>
              <a:t>横轴(X)</a:t>
            </a:r>
            <a:r>
              <a:rPr lang="en-US" sz="1400" b="0" i="0" u="none" strike="noStrike">
                <a:solidFill>
                  <a:srgbClr val="FFFFFF">
                    <a:alpha val="90196"/>
                  </a:srgbClr>
                </a:solidFill>
                <a:latin typeface="Noto Sans SC"/>
                <a:ea typeface="Noto Sans SC"/>
                <a:cs typeface="Noto Sans SC"/>
                <a:sym typeface="Noto Sans SC"/>
              </a:rPr>
              <a:t>：Sprint天数</a:t>
            </a:r>
          </a:p>
          <a:p>
            <a:pPr marL="177800" indent="-177800" algn="l">
              <a:lnSpc>
                <a:spcPct val="108333"/>
              </a:lnSpc>
              <a:buClr>
                <a:srgbClr val="FFFFFF"/>
              </a:buClr>
              <a:buChar char="•"/>
            </a:pPr>
            <a:r>
              <a:rPr lang="en-US" sz="1400" b="1" i="0" u="none" strike="noStrike">
                <a:solidFill>
                  <a:srgbClr val="FFFFFF">
                    <a:alpha val="90196"/>
                  </a:srgbClr>
                </a:solidFill>
                <a:latin typeface="Noto Sans SC"/>
                <a:ea typeface="Noto Sans SC"/>
                <a:cs typeface="Noto Sans SC"/>
                <a:sym typeface="Noto Sans SC"/>
              </a:rPr>
              <a:t>理想线</a:t>
            </a:r>
            <a:r>
              <a:rPr lang="en-US" sz="1400" b="0" i="0" u="none" strike="noStrike">
                <a:solidFill>
                  <a:srgbClr val="FFFFFF">
                    <a:alpha val="90196"/>
                  </a:srgbClr>
                </a:solidFill>
                <a:latin typeface="Noto Sans SC"/>
                <a:ea typeface="Noto Sans SC"/>
                <a:cs typeface="Noto Sans SC"/>
                <a:sym typeface="Noto Sans SC"/>
              </a:rPr>
              <a:t>：从满到零的直线</a:t>
            </a:r>
          </a:p>
          <a:p>
            <a:pPr marL="177800" indent="-177800" algn="l">
              <a:lnSpc>
                <a:spcPct val="108333"/>
              </a:lnSpc>
              <a:buClr>
                <a:srgbClr val="FFFFFF"/>
              </a:buClr>
              <a:buChar char="•"/>
            </a:pPr>
            <a:r>
              <a:rPr lang="en-US" sz="1400" b="1" i="0" u="none" strike="noStrike">
                <a:solidFill>
                  <a:srgbClr val="FFFFFF">
                    <a:alpha val="90196"/>
                  </a:srgbClr>
                </a:solidFill>
                <a:latin typeface="Noto Sans SC"/>
                <a:ea typeface="Noto Sans SC"/>
                <a:cs typeface="Noto Sans SC"/>
                <a:sym typeface="Noto Sans SC"/>
              </a:rPr>
              <a:t>实际线</a:t>
            </a:r>
            <a:r>
              <a:rPr lang="en-US" sz="1400" b="0" i="0" u="none" strike="noStrike">
                <a:solidFill>
                  <a:srgbClr val="FFFFFF">
                    <a:alpha val="90196"/>
                  </a:srgbClr>
                </a:solidFill>
                <a:latin typeface="Noto Sans SC"/>
                <a:ea typeface="Noto Sans SC"/>
                <a:cs typeface="Noto Sans SC"/>
                <a:sym typeface="Noto Sans SC"/>
              </a:rPr>
              <a:t>：每日实际剩余曲线</a:t>
            </a:r>
          </a:p>
        </p:txBody>
      </p:sp>
      <p:sp>
        <p:nvSpPr>
          <p:cNvPr id="13" name="AutoShape 13"/>
          <p:cNvSpPr/>
          <p:nvPr/>
        </p:nvSpPr>
        <p:spPr>
          <a:xfrm>
            <a:off x="8128000" y="1524000"/>
            <a:ext cx="3302000" cy="2794000"/>
          </a:xfrm>
          <a:prstGeom prst="roundRect">
            <a:avLst>
              <a:gd name="adj" fmla="val 4545"/>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778000"/>
            <a:ext cx="406400" cy="406400"/>
          </a:xfrm>
          <a:prstGeom prst="rect">
            <a:avLst/>
          </a:prstGeom>
        </p:spPr>
      </p:pic>
      <p:sp>
        <p:nvSpPr>
          <p:cNvPr id="15" name="AutoShape 15"/>
          <p:cNvSpPr/>
          <p:nvPr/>
        </p:nvSpPr>
        <p:spPr>
          <a:xfrm>
            <a:off x="8890000" y="1752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Noto Sans SC"/>
                <a:ea typeface="Noto Sans SC"/>
                <a:cs typeface="Noto Sans SC"/>
                <a:sym typeface="Noto Sans SC"/>
              </a:rPr>
              <a:t>如何解读</a:t>
            </a:r>
            <a:endParaRPr lang="en-US" sz="1100"/>
          </a:p>
        </p:txBody>
      </p:sp>
      <p:sp>
        <p:nvSpPr>
          <p:cNvPr id="16" name="AutoShape 16"/>
          <p:cNvSpPr/>
          <p:nvPr/>
        </p:nvSpPr>
        <p:spPr>
          <a:xfrm>
            <a:off x="8382000" y="2286000"/>
            <a:ext cx="2794000" cy="1651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FFFFFF"/>
              </a:buClr>
              <a:buChar char="•"/>
              <a:defRPr/>
            </a:pPr>
            <a:r>
              <a:rPr lang="en-US" sz="1400" b="1" i="0" u="none" strike="noStrike">
                <a:solidFill>
                  <a:srgbClr val="FFFFFF">
                    <a:alpha val="90196"/>
                  </a:srgbClr>
                </a:solidFill>
                <a:latin typeface="Noto Sans SC"/>
                <a:ea typeface="Noto Sans SC"/>
                <a:cs typeface="Noto Sans SC"/>
                <a:sym typeface="Noto Sans SC"/>
              </a:rPr>
              <a:t>低于理想线</a:t>
            </a:r>
            <a:r>
              <a:rPr lang="en-US" sz="1400" b="0" i="0" u="none" strike="noStrike">
                <a:solidFill>
                  <a:srgbClr val="FFFFFF">
                    <a:alpha val="90196"/>
                  </a:srgbClr>
                </a:solidFill>
                <a:latin typeface="Noto Sans SC"/>
                <a:ea typeface="Noto Sans SC"/>
                <a:cs typeface="Noto Sans SC"/>
                <a:sym typeface="Noto Sans SC"/>
              </a:rPr>
              <a:t>：进度超前，效率高</a:t>
            </a:r>
            <a:endParaRPr lang="en-US" sz="1100"/>
          </a:p>
          <a:p>
            <a:pPr marL="177800" indent="-177800" algn="l">
              <a:lnSpc>
                <a:spcPct val="108333"/>
              </a:lnSpc>
              <a:buClr>
                <a:srgbClr val="FFFFFF"/>
              </a:buClr>
              <a:buChar char="•"/>
            </a:pPr>
            <a:r>
              <a:rPr lang="en-US" sz="1400" b="1" i="0" u="none" strike="noStrike">
                <a:solidFill>
                  <a:srgbClr val="FFFFFF">
                    <a:alpha val="90196"/>
                  </a:srgbClr>
                </a:solidFill>
                <a:latin typeface="Noto Sans SC"/>
                <a:ea typeface="Noto Sans SC"/>
                <a:cs typeface="Noto Sans SC"/>
                <a:sym typeface="Noto Sans SC"/>
              </a:rPr>
              <a:t>高于理想线</a:t>
            </a:r>
            <a:r>
              <a:rPr lang="en-US" sz="1400" b="0" i="0" u="none" strike="noStrike">
                <a:solidFill>
                  <a:srgbClr val="FFFFFF">
                    <a:alpha val="90196"/>
                  </a:srgbClr>
                </a:solidFill>
                <a:latin typeface="Noto Sans SC"/>
                <a:ea typeface="Noto Sans SC"/>
                <a:cs typeface="Noto Sans SC"/>
                <a:sym typeface="Noto Sans SC"/>
              </a:rPr>
              <a:t>：进度落后，需追赶</a:t>
            </a:r>
          </a:p>
          <a:p>
            <a:pPr marL="177800" indent="-177800" algn="l">
              <a:lnSpc>
                <a:spcPct val="108333"/>
              </a:lnSpc>
              <a:buClr>
                <a:srgbClr val="FFFFFF"/>
              </a:buClr>
              <a:buChar char="•"/>
            </a:pPr>
            <a:r>
              <a:rPr lang="en-US" sz="1400" b="1" i="0" u="none" strike="noStrike">
                <a:solidFill>
                  <a:srgbClr val="FFFFFF">
                    <a:alpha val="90196"/>
                  </a:srgbClr>
                </a:solidFill>
                <a:latin typeface="Noto Sans SC"/>
                <a:ea typeface="Noto Sans SC"/>
                <a:cs typeface="Noto Sans SC"/>
                <a:sym typeface="Noto Sans SC"/>
              </a:rPr>
              <a:t>波动较大</a:t>
            </a:r>
            <a:r>
              <a:rPr lang="en-US" sz="1400" b="0" i="0" u="none" strike="noStrike">
                <a:solidFill>
                  <a:srgbClr val="FFFFFF">
                    <a:alpha val="90196"/>
                  </a:srgbClr>
                </a:solidFill>
                <a:latin typeface="Noto Sans SC"/>
                <a:ea typeface="Noto Sans SC"/>
                <a:cs typeface="Noto Sans SC"/>
                <a:sym typeface="Noto Sans SC"/>
              </a:rPr>
              <a:t>：估算不准或效率不稳</a:t>
            </a:r>
          </a:p>
        </p:txBody>
      </p:sp>
      <p:sp>
        <p:nvSpPr>
          <p:cNvPr id="17" name="AutoShape 17"/>
          <p:cNvSpPr/>
          <p:nvPr/>
        </p:nvSpPr>
        <p:spPr>
          <a:xfrm>
            <a:off x="762000" y="4826000"/>
            <a:ext cx="10668000" cy="762000"/>
          </a:xfrm>
          <a:prstGeom prst="roundRect">
            <a:avLst>
              <a:gd name="adj" fmla="val 16666"/>
            </a:avLst>
          </a:prstGeom>
          <a:solidFill>
            <a:srgbClr val="00BFFF">
              <a:alpha val="15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054600"/>
            <a:ext cx="304800" cy="304800"/>
          </a:xfrm>
          <a:prstGeom prst="rect">
            <a:avLst/>
          </a:prstGeom>
        </p:spPr>
      </p:pic>
      <p:sp>
        <p:nvSpPr>
          <p:cNvPr id="19" name="AutoShape 19"/>
          <p:cNvSpPr/>
          <p:nvPr/>
        </p:nvSpPr>
        <p:spPr>
          <a:xfrm>
            <a:off x="1460500" y="5016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FFFFFF">
                    <a:alpha val="90196"/>
                  </a:srgbClr>
                </a:solidFill>
                <a:latin typeface="Noto Sans SC"/>
                <a:ea typeface="Noto Sans SC"/>
                <a:cs typeface="Noto Sans SC"/>
                <a:sym typeface="Noto Sans SC"/>
              </a:rPr>
              <a:t>尝试为你们团队的 Sprint 2 绘制一张燃尽图，跟踪项目进度。</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风险识别与应对：技术债务管理</a:t>
            </a:r>
            <a:endParaRPr lang="en-US" sz="1100"/>
          </a:p>
        </p:txBody>
      </p:sp>
      <p:sp>
        <p:nvSpPr>
          <p:cNvPr id="5" name="AutoShape 5"/>
          <p:cNvSpPr/>
          <p:nvPr/>
        </p:nvSpPr>
        <p:spPr>
          <a:xfrm>
            <a:off x="762000" y="1397000"/>
            <a:ext cx="3302000" cy="2540000"/>
          </a:xfrm>
          <a:prstGeom prst="roundRect">
            <a:avLst>
              <a:gd name="adj" fmla="val 5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51000"/>
            <a:ext cx="406400" cy="406400"/>
          </a:xfrm>
          <a:prstGeom prst="rect">
            <a:avLst/>
          </a:prstGeom>
        </p:spPr>
      </p:pic>
      <p:sp>
        <p:nvSpPr>
          <p:cNvPr id="7" name="AutoShape 7"/>
          <p:cNvSpPr/>
          <p:nvPr/>
        </p:nvSpPr>
        <p:spPr>
          <a:xfrm>
            <a:off x="1524000" y="1651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什么是技术债务</a:t>
            </a:r>
            <a:endParaRPr lang="en-US" sz="1100"/>
          </a:p>
        </p:txBody>
      </p:sp>
      <p:sp>
        <p:nvSpPr>
          <p:cNvPr id="8" name="AutoShape 8"/>
          <p:cNvSpPr/>
          <p:nvPr/>
        </p:nvSpPr>
        <p:spPr>
          <a:xfrm>
            <a:off x="1016000" y="2159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FFFFFF">
                    <a:alpha val="90196"/>
                  </a:srgbClr>
                </a:solidFill>
                <a:latin typeface="Noto Sans SC"/>
                <a:ea typeface="Noto Sans SC"/>
                <a:cs typeface="Noto Sans SC"/>
                <a:sym typeface="Noto Sans SC"/>
              </a:rPr>
              <a:t>指为了快速实现功能而采取的不完善方案。短期内加快开发速度，但长期会带来额外维护成本和潜在风险。</a:t>
            </a:r>
            <a:endParaRPr lang="en-US" sz="1100"/>
          </a:p>
        </p:txBody>
      </p:sp>
      <p:sp>
        <p:nvSpPr>
          <p:cNvPr id="9" name="AutoShape 9"/>
          <p:cNvSpPr/>
          <p:nvPr/>
        </p:nvSpPr>
        <p:spPr>
          <a:xfrm>
            <a:off x="4445000" y="1397000"/>
            <a:ext cx="3302000" cy="2540000"/>
          </a:xfrm>
          <a:prstGeom prst="roundRect">
            <a:avLst>
              <a:gd name="adj" fmla="val 5000"/>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651000"/>
            <a:ext cx="406400" cy="406400"/>
          </a:xfrm>
          <a:prstGeom prst="rect">
            <a:avLst/>
          </a:prstGeom>
        </p:spPr>
      </p:pic>
      <p:sp>
        <p:nvSpPr>
          <p:cNvPr id="11" name="AutoShape 11"/>
          <p:cNvSpPr/>
          <p:nvPr/>
        </p:nvSpPr>
        <p:spPr>
          <a:xfrm>
            <a:off x="5207000" y="1651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常见来源</a:t>
            </a:r>
            <a:endParaRPr lang="en-US" sz="1100"/>
          </a:p>
        </p:txBody>
      </p:sp>
      <p:sp>
        <p:nvSpPr>
          <p:cNvPr id="12" name="AutoShape 12"/>
          <p:cNvSpPr/>
          <p:nvPr/>
        </p:nvSpPr>
        <p:spPr>
          <a:xfrm>
            <a:off x="4699000" y="2159000"/>
            <a:ext cx="2794000" cy="1524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08333"/>
              </a:lnSpc>
              <a:buClr>
                <a:srgbClr val="FFFFFF"/>
              </a:buClr>
              <a:buChar char="•"/>
              <a:defRPr/>
            </a:pPr>
            <a:r>
              <a:rPr lang="en-US" sz="1300" b="0" i="0" u="none" strike="noStrike">
                <a:solidFill>
                  <a:srgbClr val="FFFFFF">
                    <a:alpha val="90196"/>
                  </a:srgbClr>
                </a:solidFill>
                <a:latin typeface="Noto Sans SC"/>
                <a:ea typeface="Noto Sans SC"/>
                <a:cs typeface="Noto Sans SC"/>
                <a:sym typeface="Noto Sans SC"/>
              </a:rPr>
              <a:t>缺乏代码审查，质量不高</a:t>
            </a:r>
            <a:endParaRPr lang="en-US" sz="1100"/>
          </a:p>
          <a:p>
            <a:pPr marL="165100" indent="-165100" algn="l">
              <a:lnSpc>
                <a:spcPct val="108333"/>
              </a:lnSpc>
              <a:buClr>
                <a:srgbClr val="FFFFFF"/>
              </a:buClr>
              <a:buChar char="•"/>
            </a:pPr>
            <a:r>
              <a:rPr lang="en-US" sz="1300" b="0" i="0" u="none" strike="noStrike">
                <a:solidFill>
                  <a:srgbClr val="FFFFFF">
                    <a:alpha val="90196"/>
                  </a:srgbClr>
                </a:solidFill>
                <a:latin typeface="Noto Sans SC"/>
                <a:ea typeface="Noto Sans SC"/>
                <a:cs typeface="Noto Sans SC"/>
                <a:sym typeface="Noto Sans SC"/>
              </a:rPr>
              <a:t>文档缺失，维护困难</a:t>
            </a:r>
          </a:p>
          <a:p>
            <a:pPr marL="165100" indent="-165100" algn="l">
              <a:lnSpc>
                <a:spcPct val="108333"/>
              </a:lnSpc>
              <a:buClr>
                <a:srgbClr val="FFFFFF"/>
              </a:buClr>
              <a:buChar char="•"/>
            </a:pPr>
            <a:r>
              <a:rPr lang="en-US" sz="1300" b="0" i="0" u="none" strike="noStrike">
                <a:solidFill>
                  <a:srgbClr val="FFFFFF">
                    <a:alpha val="90196"/>
                  </a:srgbClr>
                </a:solidFill>
                <a:latin typeface="Noto Sans SC"/>
                <a:ea typeface="Noto Sans SC"/>
                <a:cs typeface="Noto Sans SC"/>
                <a:sym typeface="Noto Sans SC"/>
              </a:rPr>
              <a:t>过度设计或设计不足</a:t>
            </a:r>
          </a:p>
          <a:p>
            <a:pPr marL="165100" indent="-165100" algn="l">
              <a:lnSpc>
                <a:spcPct val="108333"/>
              </a:lnSpc>
              <a:buClr>
                <a:srgbClr val="FFFFFF"/>
              </a:buClr>
              <a:buChar char="•"/>
            </a:pPr>
            <a:r>
              <a:rPr lang="en-US" sz="1300" b="0" i="0" u="none" strike="noStrike">
                <a:solidFill>
                  <a:srgbClr val="FFFFFF">
                    <a:alpha val="90196"/>
                  </a:srgbClr>
                </a:solidFill>
                <a:latin typeface="Noto Sans SC"/>
                <a:ea typeface="Noto Sans SC"/>
                <a:cs typeface="Noto Sans SC"/>
                <a:sym typeface="Noto Sans SC"/>
              </a:rPr>
              <a:t>临时解决方案（赶进度）</a:t>
            </a:r>
          </a:p>
        </p:txBody>
      </p:sp>
      <p:sp>
        <p:nvSpPr>
          <p:cNvPr id="13" name="AutoShape 13"/>
          <p:cNvSpPr/>
          <p:nvPr/>
        </p:nvSpPr>
        <p:spPr>
          <a:xfrm>
            <a:off x="8128000" y="1397000"/>
            <a:ext cx="3302000" cy="2540000"/>
          </a:xfrm>
          <a:prstGeom prst="roundRect">
            <a:avLst>
              <a:gd name="adj" fmla="val 5000"/>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651000"/>
            <a:ext cx="406400" cy="406400"/>
          </a:xfrm>
          <a:prstGeom prst="rect">
            <a:avLst/>
          </a:prstGeom>
        </p:spPr>
      </p:pic>
      <p:sp>
        <p:nvSpPr>
          <p:cNvPr id="15" name="AutoShape 15"/>
          <p:cNvSpPr/>
          <p:nvPr/>
        </p:nvSpPr>
        <p:spPr>
          <a:xfrm>
            <a:off x="8890000" y="1651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Noto Sans SC"/>
                <a:ea typeface="Noto Sans SC"/>
                <a:cs typeface="Noto Sans SC"/>
                <a:sym typeface="Noto Sans SC"/>
              </a:rPr>
              <a:t>管理策略</a:t>
            </a:r>
            <a:endParaRPr lang="en-US" sz="1100"/>
          </a:p>
        </p:txBody>
      </p:sp>
      <p:sp>
        <p:nvSpPr>
          <p:cNvPr id="16" name="AutoShape 16"/>
          <p:cNvSpPr/>
          <p:nvPr/>
        </p:nvSpPr>
        <p:spPr>
          <a:xfrm>
            <a:off x="8382000" y="2159000"/>
            <a:ext cx="2794000" cy="1524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08333"/>
              </a:lnSpc>
              <a:buClr>
                <a:srgbClr val="FFFFFF"/>
              </a:buClr>
              <a:buChar char="•"/>
              <a:defRPr/>
            </a:pPr>
            <a:r>
              <a:rPr lang="en-US" sz="1300" b="1" i="0" u="none" strike="noStrike">
                <a:solidFill>
                  <a:srgbClr val="FFFFFF">
                    <a:alpha val="90196"/>
                  </a:srgbClr>
                </a:solidFill>
                <a:latin typeface="Noto Sans SC"/>
                <a:ea typeface="Noto Sans SC"/>
                <a:cs typeface="Noto Sans SC"/>
                <a:sym typeface="Noto Sans SC"/>
              </a:rPr>
              <a:t>识别：</a:t>
            </a:r>
            <a:r>
              <a:rPr lang="en-US" sz="1300" b="0" i="0" u="none" strike="noStrike">
                <a:solidFill>
                  <a:srgbClr val="FFFFFF">
                    <a:alpha val="90196"/>
                  </a:srgbClr>
                </a:solidFill>
                <a:latin typeface="Noto Sans SC"/>
                <a:ea typeface="Noto Sans SC"/>
                <a:cs typeface="Noto Sans SC"/>
                <a:sym typeface="Noto Sans SC"/>
              </a:rPr>
              <a:t>定期代码审查与重构</a:t>
            </a:r>
            <a:endParaRPr lang="en-US" sz="1100"/>
          </a:p>
          <a:p>
            <a:pPr marL="165100" indent="-165100" algn="l">
              <a:lnSpc>
                <a:spcPct val="108333"/>
              </a:lnSpc>
              <a:buClr>
                <a:srgbClr val="FFFFFF"/>
              </a:buClr>
              <a:buChar char="•"/>
            </a:pPr>
            <a:r>
              <a:rPr lang="en-US" sz="1300" b="1" i="0" u="none" strike="noStrike">
                <a:solidFill>
                  <a:srgbClr val="FFFFFF">
                    <a:alpha val="90196"/>
                  </a:srgbClr>
                </a:solidFill>
                <a:latin typeface="Noto Sans SC"/>
                <a:ea typeface="Noto Sans SC"/>
                <a:cs typeface="Noto Sans SC"/>
                <a:sym typeface="Noto Sans SC"/>
              </a:rPr>
              <a:t>记录：</a:t>
            </a:r>
            <a:r>
              <a:rPr lang="en-US" sz="1300" b="0" i="0" u="none" strike="noStrike">
                <a:solidFill>
                  <a:srgbClr val="FFFFFF">
                    <a:alpha val="90196"/>
                  </a:srgbClr>
                </a:solidFill>
                <a:latin typeface="Noto Sans SC"/>
                <a:ea typeface="Noto Sans SC"/>
                <a:cs typeface="Noto Sans SC"/>
                <a:sym typeface="Noto Sans SC"/>
              </a:rPr>
              <a:t>列入Backlog并排序</a:t>
            </a:r>
          </a:p>
          <a:p>
            <a:pPr marL="165100" indent="-165100" algn="l">
              <a:lnSpc>
                <a:spcPct val="108333"/>
              </a:lnSpc>
              <a:buClr>
                <a:srgbClr val="FFFFFF"/>
              </a:buClr>
              <a:buChar char="•"/>
            </a:pPr>
            <a:r>
              <a:rPr lang="en-US" sz="1300" b="1" i="0" u="none" strike="noStrike">
                <a:solidFill>
                  <a:srgbClr val="FFFFFF">
                    <a:alpha val="90196"/>
                  </a:srgbClr>
                </a:solidFill>
                <a:latin typeface="Noto Sans SC"/>
                <a:ea typeface="Noto Sans SC"/>
                <a:cs typeface="Noto Sans SC"/>
                <a:sym typeface="Noto Sans SC"/>
              </a:rPr>
              <a:t>偿还：</a:t>
            </a:r>
            <a:r>
              <a:rPr lang="en-US" sz="1300" b="0" i="0" u="none" strike="noStrike">
                <a:solidFill>
                  <a:srgbClr val="FFFFFF">
                    <a:alpha val="90196"/>
                  </a:srgbClr>
                </a:solidFill>
                <a:latin typeface="Noto Sans SC"/>
                <a:ea typeface="Noto Sans SC"/>
                <a:cs typeface="Noto Sans SC"/>
                <a:sym typeface="Noto Sans SC"/>
              </a:rPr>
              <a:t>Sprint中安排专门时间</a:t>
            </a:r>
          </a:p>
        </p:txBody>
      </p:sp>
      <p:sp>
        <p:nvSpPr>
          <p:cNvPr id="17" name="AutoShape 17"/>
          <p:cNvSpPr/>
          <p:nvPr/>
        </p:nvSpPr>
        <p:spPr>
          <a:xfrm>
            <a:off x="762000" y="4318000"/>
            <a:ext cx="10668000" cy="1016000"/>
          </a:xfrm>
          <a:prstGeom prst="roundRect">
            <a:avLst>
              <a:gd name="adj" fmla="val 12500"/>
            </a:avLst>
          </a:prstGeom>
          <a:solidFill>
            <a:srgbClr val="00BFFF">
              <a:alpha val="10000"/>
            </a:srgbClr>
          </a:solidFill>
          <a:ln w="12700" cap="flat" cmpd="sng">
            <a:solidFill>
              <a:srgbClr val="00BFFF">
                <a:alpha val="100000"/>
              </a:srgbClr>
            </a:solidFill>
            <a:prstDash val="dash"/>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597400"/>
            <a:ext cx="457200" cy="457200"/>
          </a:xfrm>
          <a:prstGeom prst="rect">
            <a:avLst/>
          </a:prstGeom>
        </p:spPr>
      </p:pic>
      <p:sp>
        <p:nvSpPr>
          <p:cNvPr id="19" name="AutoShape 19"/>
          <p:cNvSpPr/>
          <p:nvPr/>
        </p:nvSpPr>
        <p:spPr>
          <a:xfrm>
            <a:off x="1651000" y="4445000"/>
            <a:ext cx="889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学生行动指令：</a:t>
            </a:r>
            <a:r>
              <a:rPr lang="en-US" sz="1600" b="0" i="0" u="none" strike="noStrike">
                <a:solidFill>
                  <a:srgbClr val="FFFFFF">
                    <a:alpha val="90196"/>
                  </a:srgbClr>
                </a:solidFill>
                <a:latin typeface="Noto Sans SC"/>
                <a:ea typeface="Noto Sans SC"/>
                <a:cs typeface="Noto Sans SC"/>
                <a:sym typeface="Noto Sans SC"/>
              </a:rPr>
              <a:t>检查你们团队在Sprint 1中编写的代码，识别可能存在的技术债务，并讨论如何偿还。</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成果展示与评审：演示技巧与注意事项</a:t>
            </a:r>
            <a:endParaRPr lang="en-US" sz="1100"/>
          </a:p>
        </p:txBody>
      </p:sp>
      <p:sp>
        <p:nvSpPr>
          <p:cNvPr id="5" name="AutoShape 5"/>
          <p:cNvSpPr/>
          <p:nvPr/>
        </p:nvSpPr>
        <p:spPr>
          <a:xfrm>
            <a:off x="762000" y="1397000"/>
            <a:ext cx="3302000" cy="2921000"/>
          </a:xfrm>
          <a:prstGeom prst="roundRect">
            <a:avLst>
              <a:gd name="adj" fmla="val 4347"/>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51000"/>
            <a:ext cx="406400" cy="406400"/>
          </a:xfrm>
          <a:prstGeom prst="rect">
            <a:avLst/>
          </a:prstGeom>
        </p:spPr>
      </p:pic>
      <p:sp>
        <p:nvSpPr>
          <p:cNvPr id="7" name="AutoShape 7"/>
          <p:cNvSpPr/>
          <p:nvPr/>
        </p:nvSpPr>
        <p:spPr>
          <a:xfrm>
            <a:off x="1524000" y="1625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Poppins"/>
                <a:ea typeface="Poppins"/>
                <a:cs typeface="Poppins"/>
                <a:sym typeface="Poppins"/>
              </a:rPr>
              <a:t>演示前准备</a:t>
            </a:r>
            <a:endParaRPr lang="en-US" sz="1100"/>
          </a:p>
        </p:txBody>
      </p:sp>
      <p:sp>
        <p:nvSpPr>
          <p:cNvPr id="8" name="AutoShape 8"/>
          <p:cNvSpPr/>
          <p:nvPr/>
        </p:nvSpPr>
        <p:spPr>
          <a:xfrm>
            <a:off x="1016000" y="2159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FFFFFF"/>
                </a:solidFill>
                <a:latin typeface="Noto Sans SC"/>
                <a:ea typeface="Noto Sans SC"/>
                <a:cs typeface="Noto Sans SC"/>
                <a:sym typeface="Noto Sans SC"/>
              </a:rPr>
              <a:t>反复演练：</a:t>
            </a:r>
            <a:r>
              <a:rPr lang="en-US" sz="1200" b="0" i="0" u="none" strike="noStrike">
                <a:solidFill>
                  <a:srgbClr val="FFFFFF">
                    <a:alpha val="80000"/>
                  </a:srgbClr>
                </a:solidFill>
                <a:latin typeface="Noto Sans SC"/>
                <a:ea typeface="Noto Sans SC"/>
                <a:cs typeface="Noto Sans SC"/>
                <a:sym typeface="Noto Sans SC"/>
              </a:rPr>
              <a:t>多次演练流程，确保流畅无误，控制时间。</a:t>
            </a:r>
            <a:endParaRPr lang="en-US" sz="1100"/>
          </a:p>
          <a:p>
            <a:pPr indent="0" algn="l">
              <a:lnSpc>
                <a:spcPct val="108333"/>
              </a:lnSpc>
            </a:pPr>
            <a:r>
              <a:rPr lang="en-US" sz="1400" b="1" i="0" u="none" strike="noStrike">
                <a:solidFill>
                  <a:srgbClr val="FFFFFF"/>
                </a:solidFill>
                <a:latin typeface="Noto Sans SC"/>
                <a:ea typeface="Noto Sans SC"/>
                <a:cs typeface="Noto Sans SC"/>
                <a:sym typeface="Noto Sans SC"/>
              </a:rPr>
              <a:t>备用方案：</a:t>
            </a:r>
            <a:r>
              <a:rPr lang="en-US" sz="1200" b="0" i="0" u="none" strike="noStrike">
                <a:solidFill>
                  <a:srgbClr val="FFFFFF">
                    <a:alpha val="80000"/>
                  </a:srgbClr>
                </a:solidFill>
                <a:latin typeface="Noto Sans SC"/>
                <a:ea typeface="Noto Sans SC"/>
                <a:cs typeface="Noto Sans SC"/>
                <a:sym typeface="Noto Sans SC"/>
              </a:rPr>
              <a:t>准备备用设备和视频备份，以防故障。</a:t>
            </a:r>
          </a:p>
          <a:p>
            <a:pPr indent="0" algn="l">
              <a:lnSpc>
                <a:spcPct val="108333"/>
              </a:lnSpc>
            </a:pPr>
            <a:r>
              <a:rPr lang="en-US" sz="1400" b="1" i="0" u="none" strike="noStrike">
                <a:solidFill>
                  <a:srgbClr val="FFFFFF"/>
                </a:solidFill>
                <a:latin typeface="Noto Sans SC"/>
                <a:ea typeface="Noto Sans SC"/>
                <a:cs typeface="Noto Sans SC"/>
                <a:sym typeface="Noto Sans SC"/>
              </a:rPr>
              <a:t>预测问题：</a:t>
            </a:r>
            <a:r>
              <a:rPr lang="en-US" sz="1200" b="0" i="0" u="none" strike="noStrike">
                <a:solidFill>
                  <a:srgbClr val="FFFFFF">
                    <a:alpha val="80000"/>
                  </a:srgbClr>
                </a:solidFill>
                <a:latin typeface="Noto Sans SC"/>
                <a:ea typeface="Noto Sans SC"/>
                <a:cs typeface="Noto Sans SC"/>
                <a:sym typeface="Noto Sans SC"/>
              </a:rPr>
              <a:t>预判评审问题，准备简洁清晰的答案。</a:t>
            </a:r>
          </a:p>
        </p:txBody>
      </p:sp>
      <p:sp>
        <p:nvSpPr>
          <p:cNvPr id="9" name="AutoShape 9"/>
          <p:cNvSpPr/>
          <p:nvPr/>
        </p:nvSpPr>
        <p:spPr>
          <a:xfrm>
            <a:off x="4445000" y="1397000"/>
            <a:ext cx="3302000" cy="2921000"/>
          </a:xfrm>
          <a:prstGeom prst="roundRect">
            <a:avLst>
              <a:gd name="adj" fmla="val 4347"/>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651000"/>
            <a:ext cx="406400" cy="406400"/>
          </a:xfrm>
          <a:prstGeom prst="rect">
            <a:avLst/>
          </a:prstGeom>
        </p:spPr>
      </p:pic>
      <p:sp>
        <p:nvSpPr>
          <p:cNvPr id="11" name="AutoShape 11"/>
          <p:cNvSpPr/>
          <p:nvPr/>
        </p:nvSpPr>
        <p:spPr>
          <a:xfrm>
            <a:off x="5207000" y="1625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B6C1"/>
                </a:solidFill>
                <a:latin typeface="Poppins"/>
                <a:ea typeface="Poppins"/>
                <a:cs typeface="Poppins"/>
                <a:sym typeface="Poppins"/>
              </a:rPr>
              <a:t>演示过程中</a:t>
            </a:r>
            <a:endParaRPr lang="en-US" sz="1100"/>
          </a:p>
        </p:txBody>
      </p:sp>
      <p:sp>
        <p:nvSpPr>
          <p:cNvPr id="12" name="AutoShape 12"/>
          <p:cNvSpPr/>
          <p:nvPr/>
        </p:nvSpPr>
        <p:spPr>
          <a:xfrm>
            <a:off x="4699000" y="2159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FFFFFF"/>
                </a:solidFill>
                <a:latin typeface="Noto Sans SC"/>
                <a:ea typeface="Noto Sans SC"/>
                <a:cs typeface="Noto Sans SC"/>
                <a:sym typeface="Noto Sans SC"/>
              </a:rPr>
              <a:t>自信表达：</a:t>
            </a:r>
            <a:r>
              <a:rPr lang="en-US" sz="1200" b="0" i="0" u="none" strike="noStrike">
                <a:solidFill>
                  <a:srgbClr val="FFFFFF">
                    <a:alpha val="80000"/>
                  </a:srgbClr>
                </a:solidFill>
                <a:latin typeface="Noto Sans SC"/>
                <a:ea typeface="Noto Sans SC"/>
                <a:cs typeface="Noto Sans SC"/>
                <a:sym typeface="Noto Sans SC"/>
              </a:rPr>
              <a:t>语速适中，逻辑清晰，确保评审听懂。</a:t>
            </a:r>
            <a:endParaRPr lang="en-US" sz="1100"/>
          </a:p>
          <a:p>
            <a:pPr indent="0" algn="l">
              <a:lnSpc>
                <a:spcPct val="108333"/>
              </a:lnSpc>
            </a:pPr>
            <a:r>
              <a:rPr lang="en-US" sz="1400" b="1" i="0" u="none" strike="noStrike">
                <a:solidFill>
                  <a:srgbClr val="FFFFFF"/>
                </a:solidFill>
                <a:latin typeface="Noto Sans SC"/>
                <a:ea typeface="Noto Sans SC"/>
                <a:cs typeface="Noto Sans SC"/>
                <a:sym typeface="Noto Sans SC"/>
              </a:rPr>
              <a:t>突出重点：</a:t>
            </a:r>
            <a:r>
              <a:rPr lang="en-US" sz="1200" b="0" i="0" u="none" strike="noStrike">
                <a:solidFill>
                  <a:srgbClr val="FFFFFF">
                    <a:alpha val="80000"/>
                  </a:srgbClr>
                </a:solidFill>
                <a:latin typeface="Noto Sans SC"/>
                <a:ea typeface="Noto Sans SC"/>
                <a:cs typeface="Noto Sans SC"/>
                <a:sym typeface="Noto Sans SC"/>
              </a:rPr>
              <a:t>聚焦核心功能与创新点，避免次要细节。</a:t>
            </a:r>
          </a:p>
          <a:p>
            <a:pPr indent="0" algn="l">
              <a:lnSpc>
                <a:spcPct val="108333"/>
              </a:lnSpc>
            </a:pPr>
            <a:r>
              <a:rPr lang="en-US" sz="1400" b="1" i="0" u="none" strike="noStrike">
                <a:solidFill>
                  <a:srgbClr val="FFFFFF"/>
                </a:solidFill>
                <a:latin typeface="Noto Sans SC"/>
                <a:ea typeface="Noto Sans SC"/>
                <a:cs typeface="Noto Sans SC"/>
                <a:sym typeface="Noto Sans SC"/>
              </a:rPr>
              <a:t>互动交流：</a:t>
            </a:r>
            <a:r>
              <a:rPr lang="en-US" sz="1200" b="0" i="0" u="none" strike="noStrike">
                <a:solidFill>
                  <a:srgbClr val="FFFFFF">
                    <a:alpha val="80000"/>
                  </a:srgbClr>
                </a:solidFill>
                <a:latin typeface="Noto Sans SC"/>
                <a:ea typeface="Noto Sans SC"/>
                <a:cs typeface="Noto Sans SC"/>
                <a:sym typeface="Noto Sans SC"/>
              </a:rPr>
              <a:t>积极回应意见，展现团队专业素养。</a:t>
            </a:r>
          </a:p>
        </p:txBody>
      </p:sp>
      <p:sp>
        <p:nvSpPr>
          <p:cNvPr id="13" name="AutoShape 13"/>
          <p:cNvSpPr/>
          <p:nvPr/>
        </p:nvSpPr>
        <p:spPr>
          <a:xfrm>
            <a:off x="8128000" y="1397000"/>
            <a:ext cx="3302000" cy="2921000"/>
          </a:xfrm>
          <a:prstGeom prst="roundRect">
            <a:avLst>
              <a:gd name="adj" fmla="val 4347"/>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651000"/>
            <a:ext cx="406400" cy="406400"/>
          </a:xfrm>
          <a:prstGeom prst="rect">
            <a:avLst/>
          </a:prstGeom>
        </p:spPr>
      </p:pic>
      <p:sp>
        <p:nvSpPr>
          <p:cNvPr id="15" name="AutoShape 15"/>
          <p:cNvSpPr/>
          <p:nvPr/>
        </p:nvSpPr>
        <p:spPr>
          <a:xfrm>
            <a:off x="8890000" y="1625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E6E6FA"/>
                </a:solidFill>
                <a:latin typeface="Poppins"/>
                <a:ea typeface="Poppins"/>
                <a:cs typeface="Poppins"/>
                <a:sym typeface="Poppins"/>
              </a:rPr>
              <a:t>演示后跟进</a:t>
            </a:r>
            <a:endParaRPr lang="en-US" sz="1100"/>
          </a:p>
        </p:txBody>
      </p:sp>
      <p:sp>
        <p:nvSpPr>
          <p:cNvPr id="16" name="AutoShape 16"/>
          <p:cNvSpPr/>
          <p:nvPr/>
        </p:nvSpPr>
        <p:spPr>
          <a:xfrm>
            <a:off x="8382000" y="2159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FFFFFF"/>
                </a:solidFill>
                <a:latin typeface="Noto Sans SC"/>
                <a:ea typeface="Noto Sans SC"/>
                <a:cs typeface="Noto Sans SC"/>
                <a:sym typeface="Noto Sans SC"/>
              </a:rPr>
              <a:t>记录反馈：</a:t>
            </a:r>
            <a:r>
              <a:rPr lang="en-US" sz="1200" b="0" i="0" u="none" strike="noStrike">
                <a:solidFill>
                  <a:srgbClr val="FFFFFF">
                    <a:alpha val="80000"/>
                  </a:srgbClr>
                </a:solidFill>
                <a:latin typeface="Noto Sans SC"/>
                <a:ea typeface="Noto Sans SC"/>
                <a:cs typeface="Noto Sans SC"/>
                <a:sym typeface="Noto Sans SC"/>
              </a:rPr>
              <a:t>详细记录评审建议，用于后续优化。</a:t>
            </a:r>
            <a:endParaRPr lang="en-US" sz="1100"/>
          </a:p>
          <a:p>
            <a:pPr indent="0" algn="l">
              <a:lnSpc>
                <a:spcPct val="108333"/>
              </a:lnSpc>
            </a:pPr>
            <a:r>
              <a:rPr lang="en-US" sz="1400" b="1" i="0" u="none" strike="noStrike">
                <a:solidFill>
                  <a:srgbClr val="FFFFFF"/>
                </a:solidFill>
                <a:latin typeface="Noto Sans SC"/>
                <a:ea typeface="Noto Sans SC"/>
                <a:cs typeface="Noto Sans SC"/>
                <a:sym typeface="Noto Sans SC"/>
              </a:rPr>
              <a:t>表达感谢：</a:t>
            </a:r>
            <a:r>
              <a:rPr lang="en-US" sz="1200" b="0" i="0" u="none" strike="noStrike">
                <a:solidFill>
                  <a:srgbClr val="FFFFFF">
                    <a:alpha val="80000"/>
                  </a:srgbClr>
                </a:solidFill>
                <a:latin typeface="Noto Sans SC"/>
                <a:ea typeface="Noto Sans SC"/>
                <a:cs typeface="Noto Sans SC"/>
                <a:sym typeface="Noto Sans SC"/>
              </a:rPr>
              <a:t>感谢评审时间，保持积极态度。</a:t>
            </a:r>
          </a:p>
        </p:txBody>
      </p:sp>
      <p:sp>
        <p:nvSpPr>
          <p:cNvPr id="17" name="AutoShape 17"/>
          <p:cNvSpPr/>
          <p:nvPr/>
        </p:nvSpPr>
        <p:spPr>
          <a:xfrm>
            <a:off x="762000" y="4572000"/>
            <a:ext cx="10668000" cy="889000"/>
          </a:xfrm>
          <a:prstGeom prst="roundRect">
            <a:avLst>
              <a:gd name="adj" fmla="val 14285"/>
            </a:avLst>
          </a:prstGeom>
          <a:solidFill>
            <a:srgbClr val="00BFFF">
              <a:alpha val="10000"/>
            </a:srgbClr>
          </a:solidFill>
          <a:ln w="12700" cap="flat" cmpd="sng">
            <a:solidFill>
              <a:srgbClr val="00BFFF">
                <a:alpha val="100000"/>
              </a:srgbClr>
            </a:solidFill>
            <a:prstDash val="dash"/>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813300"/>
            <a:ext cx="406400" cy="406400"/>
          </a:xfrm>
          <a:prstGeom prst="rect">
            <a:avLst/>
          </a:prstGeom>
        </p:spPr>
      </p:pic>
      <p:sp>
        <p:nvSpPr>
          <p:cNvPr id="19" name="AutoShape 19"/>
          <p:cNvSpPr/>
          <p:nvPr/>
        </p:nvSpPr>
        <p:spPr>
          <a:xfrm>
            <a:off x="1524000" y="46990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行动指令：</a:t>
            </a:r>
            <a:r>
              <a:rPr lang="en-US" sz="1500" b="0" i="0" u="none" strike="noStrike">
                <a:solidFill>
                  <a:srgbClr val="FFFFFF"/>
                </a:solidFill>
                <a:latin typeface="Noto Sans SC"/>
                <a:ea typeface="Noto Sans SC"/>
                <a:cs typeface="Noto Sans SC"/>
                <a:sym typeface="Noto Sans SC"/>
              </a:rPr>
              <a:t>组织一次团队内部的模拟演示，并邀请其他团队成员作为评审，收集反馈并进行改进。</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517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项目总结与复盘</a:t>
            </a:r>
            <a:endParaRPr lang="en-US" sz="1100"/>
          </a:p>
        </p:txBody>
      </p:sp>
      <p:sp>
        <p:nvSpPr>
          <p:cNvPr id="5" name="AutoShape 5"/>
          <p:cNvSpPr/>
          <p:nvPr/>
        </p:nvSpPr>
        <p:spPr>
          <a:xfrm>
            <a:off x="762000" y="1397000"/>
            <a:ext cx="2540000" cy="3048000"/>
          </a:xfrm>
          <a:prstGeom prst="roundRect">
            <a:avLst>
              <a:gd name="adj" fmla="val 5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28800" y="1587500"/>
            <a:ext cx="406400" cy="406400"/>
          </a:xfrm>
          <a:prstGeom prst="rect">
            <a:avLst/>
          </a:prstGeom>
        </p:spPr>
      </p:pic>
      <p:sp>
        <p:nvSpPr>
          <p:cNvPr id="7" name="AutoShape 7"/>
          <p:cNvSpPr/>
          <p:nvPr/>
        </p:nvSpPr>
        <p:spPr>
          <a:xfrm>
            <a:off x="889000" y="20955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BFFF"/>
                </a:solidFill>
                <a:latin typeface="Noto Sans SC"/>
                <a:ea typeface="Noto Sans SC"/>
                <a:cs typeface="Noto Sans SC"/>
                <a:sym typeface="Noto Sans SC"/>
              </a:rPr>
              <a:t>项目成果回顾</a:t>
            </a:r>
            <a:endParaRPr lang="en-US" sz="1100"/>
          </a:p>
        </p:txBody>
      </p:sp>
      <p:sp>
        <p:nvSpPr>
          <p:cNvPr id="8" name="AutoShape 8"/>
          <p:cNvSpPr/>
          <p:nvPr/>
        </p:nvSpPr>
        <p:spPr>
          <a:xfrm>
            <a:off x="889000" y="2540000"/>
            <a:ext cx="2286000" cy="1524000"/>
          </a:xfrm>
          <a:prstGeom prst="rect">
            <a:avLst/>
          </a:prstGeom>
          <a:noFill/>
          <a:ln w="12700" cap="flat" cmpd="sng">
            <a:noFill/>
            <a:prstDash val="solid"/>
            <a:round/>
          </a:ln>
        </p:spPr>
        <p:txBody>
          <a:bodyPr vert="horz" wrap="square" lIns="0" tIns="0" rIns="0" bIns="0" rtlCol="0" anchor="ctr" anchorCtr="0"/>
          <a:lstStyle/>
          <a:p>
            <a:pPr marL="152400" indent="-152400" algn="l">
              <a:lnSpc>
                <a:spcPct val="125000"/>
              </a:lnSpc>
              <a:buClr>
                <a:srgbClr val="E6E6FA"/>
              </a:buClr>
              <a:buChar char="•"/>
              <a:defRPr/>
            </a:pPr>
            <a:r>
              <a:rPr lang="en-US" sz="1200" b="0" i="0" u="none" strike="noStrike">
                <a:solidFill>
                  <a:srgbClr val="E6E6FA"/>
                </a:solidFill>
                <a:latin typeface="Noto Sans SC"/>
                <a:ea typeface="Noto Sans SC"/>
                <a:cs typeface="Noto Sans SC"/>
                <a:sym typeface="Noto Sans SC"/>
              </a:rPr>
              <a:t>核心功能交付：步行/乘车模式、AI关怀</a:t>
            </a:r>
            <a:endParaRPr lang="en-US" sz="1100"/>
          </a:p>
          <a:p>
            <a:pPr marL="152400" indent="-152400" algn="l">
              <a:lnSpc>
                <a:spcPct val="125000"/>
              </a:lnSpc>
              <a:buClr>
                <a:srgbClr val="E6E6FA"/>
              </a:buClr>
              <a:buChar char="•"/>
            </a:pPr>
            <a:r>
              <a:rPr lang="en-US" sz="1200" b="0" i="0" u="none" strike="noStrike">
                <a:solidFill>
                  <a:srgbClr val="E6E6FA"/>
                </a:solidFill>
                <a:latin typeface="Noto Sans SC"/>
                <a:ea typeface="Noto Sans SC"/>
                <a:cs typeface="Noto Sans SC"/>
                <a:sym typeface="Noto Sans SC"/>
              </a:rPr>
              <a:t>解决用户痛点，提升体验效率</a:t>
            </a:r>
          </a:p>
          <a:p>
            <a:pPr marL="152400" indent="-152400" algn="l">
              <a:lnSpc>
                <a:spcPct val="125000"/>
              </a:lnSpc>
              <a:buClr>
                <a:srgbClr val="E6E6FA"/>
              </a:buClr>
              <a:buChar char="•"/>
            </a:pPr>
            <a:r>
              <a:rPr lang="en-US" sz="1200" b="0" i="0" u="none" strike="noStrike">
                <a:solidFill>
                  <a:srgbClr val="E6E6FA"/>
                </a:solidFill>
                <a:latin typeface="Noto Sans SC"/>
                <a:ea typeface="Noto Sans SC"/>
                <a:cs typeface="Noto Sans SC"/>
                <a:sym typeface="Noto Sans SC"/>
              </a:rPr>
              <a:t>技术创新与产品差异化亮点</a:t>
            </a:r>
          </a:p>
        </p:txBody>
      </p:sp>
      <p:sp>
        <p:nvSpPr>
          <p:cNvPr id="9" name="AutoShape 9"/>
          <p:cNvSpPr/>
          <p:nvPr/>
        </p:nvSpPr>
        <p:spPr>
          <a:xfrm>
            <a:off x="3467100" y="1397000"/>
            <a:ext cx="2540000" cy="3048000"/>
          </a:xfrm>
          <a:prstGeom prst="roundRect">
            <a:avLst>
              <a:gd name="adj" fmla="val 5000"/>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3900" y="1587500"/>
            <a:ext cx="406400" cy="406400"/>
          </a:xfrm>
          <a:prstGeom prst="rect">
            <a:avLst/>
          </a:prstGeom>
        </p:spPr>
      </p:pic>
      <p:sp>
        <p:nvSpPr>
          <p:cNvPr id="11" name="AutoShape 11"/>
          <p:cNvSpPr/>
          <p:nvPr/>
        </p:nvSpPr>
        <p:spPr>
          <a:xfrm>
            <a:off x="3594100" y="20955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B6C1"/>
                </a:solidFill>
                <a:latin typeface="Noto Sans SC"/>
                <a:ea typeface="Noto Sans SC"/>
                <a:cs typeface="Noto Sans SC"/>
                <a:sym typeface="Noto Sans SC"/>
              </a:rPr>
              <a:t>成功经验总结</a:t>
            </a:r>
            <a:endParaRPr lang="en-US" sz="1100"/>
          </a:p>
        </p:txBody>
      </p:sp>
      <p:sp>
        <p:nvSpPr>
          <p:cNvPr id="12" name="AutoShape 12"/>
          <p:cNvSpPr/>
          <p:nvPr/>
        </p:nvSpPr>
        <p:spPr>
          <a:xfrm>
            <a:off x="3594100" y="2540000"/>
            <a:ext cx="2286000" cy="1524000"/>
          </a:xfrm>
          <a:prstGeom prst="rect">
            <a:avLst/>
          </a:prstGeom>
          <a:noFill/>
          <a:ln w="12700" cap="flat" cmpd="sng">
            <a:noFill/>
            <a:prstDash val="solid"/>
            <a:round/>
          </a:ln>
        </p:spPr>
        <p:txBody>
          <a:bodyPr vert="horz" wrap="square" lIns="0" tIns="0" rIns="0" bIns="0" rtlCol="0" anchor="ctr" anchorCtr="0"/>
          <a:lstStyle/>
          <a:p>
            <a:pPr marL="152400" indent="-152400" algn="l">
              <a:lnSpc>
                <a:spcPct val="125000"/>
              </a:lnSpc>
              <a:buClr>
                <a:srgbClr val="E6E6FA"/>
              </a:buClr>
              <a:buChar char="•"/>
              <a:defRPr/>
            </a:pPr>
            <a:r>
              <a:rPr lang="en-US" sz="1200" b="0" i="0" u="none" strike="noStrike">
                <a:solidFill>
                  <a:srgbClr val="E6E6FA"/>
                </a:solidFill>
                <a:latin typeface="Noto Sans SC"/>
                <a:ea typeface="Noto Sans SC"/>
                <a:cs typeface="Noto Sans SC"/>
                <a:sym typeface="Noto Sans SC"/>
              </a:rPr>
              <a:t>每日站会与任务分解提升管理效率</a:t>
            </a:r>
            <a:endParaRPr lang="en-US" sz="1100"/>
          </a:p>
          <a:p>
            <a:pPr marL="152400" indent="-152400" algn="l">
              <a:lnSpc>
                <a:spcPct val="125000"/>
              </a:lnSpc>
              <a:buClr>
                <a:srgbClr val="E6E6FA"/>
              </a:buClr>
              <a:buChar char="•"/>
            </a:pPr>
            <a:r>
              <a:rPr lang="en-US" sz="1200" b="0" i="0" u="none" strike="noStrike">
                <a:solidFill>
                  <a:srgbClr val="E6E6FA"/>
                </a:solidFill>
                <a:latin typeface="Noto Sans SC"/>
                <a:ea typeface="Noto Sans SC"/>
                <a:cs typeface="Noto Sans SC"/>
                <a:sym typeface="Noto Sans SC"/>
              </a:rPr>
              <a:t>技术选型合理，方案落地顺利</a:t>
            </a:r>
          </a:p>
          <a:p>
            <a:pPr marL="152400" indent="-152400" algn="l">
              <a:lnSpc>
                <a:spcPct val="125000"/>
              </a:lnSpc>
              <a:buClr>
                <a:srgbClr val="E6E6FA"/>
              </a:buClr>
              <a:buChar char="•"/>
            </a:pPr>
            <a:r>
              <a:rPr lang="en-US" sz="1200" b="0" i="0" u="none" strike="noStrike">
                <a:solidFill>
                  <a:srgbClr val="E6E6FA"/>
                </a:solidFill>
                <a:latin typeface="Noto Sans SC"/>
                <a:ea typeface="Noto Sans SC"/>
                <a:cs typeface="Noto Sans SC"/>
                <a:sym typeface="Noto Sans SC"/>
              </a:rPr>
              <a:t>高效沟通机制促进团队协作</a:t>
            </a:r>
          </a:p>
        </p:txBody>
      </p:sp>
      <p:sp>
        <p:nvSpPr>
          <p:cNvPr id="13" name="AutoShape 13"/>
          <p:cNvSpPr/>
          <p:nvPr/>
        </p:nvSpPr>
        <p:spPr>
          <a:xfrm>
            <a:off x="6172200" y="1397000"/>
            <a:ext cx="2540000" cy="3048000"/>
          </a:xfrm>
          <a:prstGeom prst="roundRect">
            <a:avLst>
              <a:gd name="adj" fmla="val 5000"/>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39000" y="1587500"/>
            <a:ext cx="406400" cy="406400"/>
          </a:xfrm>
          <a:prstGeom prst="rect">
            <a:avLst/>
          </a:prstGeom>
        </p:spPr>
      </p:pic>
      <p:sp>
        <p:nvSpPr>
          <p:cNvPr id="15" name="AutoShape 15"/>
          <p:cNvSpPr/>
          <p:nvPr/>
        </p:nvSpPr>
        <p:spPr>
          <a:xfrm>
            <a:off x="6299200" y="20955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E6E6FA"/>
                </a:solidFill>
                <a:latin typeface="Noto Sans SC"/>
                <a:ea typeface="Noto Sans SC"/>
                <a:cs typeface="Noto Sans SC"/>
                <a:sym typeface="Noto Sans SC"/>
              </a:rPr>
              <a:t>挑战与解决方案</a:t>
            </a:r>
            <a:endParaRPr lang="en-US" sz="1100"/>
          </a:p>
        </p:txBody>
      </p:sp>
      <p:sp>
        <p:nvSpPr>
          <p:cNvPr id="16" name="AutoShape 16"/>
          <p:cNvSpPr/>
          <p:nvPr/>
        </p:nvSpPr>
        <p:spPr>
          <a:xfrm>
            <a:off x="6299200" y="2540000"/>
            <a:ext cx="2286000" cy="1524000"/>
          </a:xfrm>
          <a:prstGeom prst="rect">
            <a:avLst/>
          </a:prstGeom>
          <a:noFill/>
          <a:ln w="12700" cap="flat" cmpd="sng">
            <a:noFill/>
            <a:prstDash val="solid"/>
            <a:round/>
          </a:ln>
        </p:spPr>
        <p:txBody>
          <a:bodyPr vert="horz" wrap="square" lIns="0" tIns="0" rIns="0" bIns="0" rtlCol="0" anchor="ctr" anchorCtr="0"/>
          <a:lstStyle/>
          <a:p>
            <a:pPr marL="152400" indent="-152400" algn="l">
              <a:lnSpc>
                <a:spcPct val="125000"/>
              </a:lnSpc>
              <a:buClr>
                <a:srgbClr val="E6E6FA"/>
              </a:buClr>
              <a:buChar char="•"/>
              <a:defRPr/>
            </a:pPr>
            <a:r>
              <a:rPr lang="en-US" sz="1200" b="0" i="0" u="none" strike="noStrike">
                <a:solidFill>
                  <a:srgbClr val="E6E6FA"/>
                </a:solidFill>
                <a:latin typeface="Noto Sans SC"/>
                <a:ea typeface="Noto Sans SC"/>
                <a:cs typeface="Noto Sans SC"/>
                <a:sym typeface="Noto Sans SC"/>
              </a:rPr>
              <a:t>攻克技术难题，优化核心算法</a:t>
            </a:r>
            <a:endParaRPr lang="en-US" sz="1100"/>
          </a:p>
          <a:p>
            <a:pPr marL="152400" indent="-152400" algn="l">
              <a:lnSpc>
                <a:spcPct val="125000"/>
              </a:lnSpc>
              <a:buClr>
                <a:srgbClr val="E6E6FA"/>
              </a:buClr>
              <a:buChar char="•"/>
            </a:pPr>
            <a:r>
              <a:rPr lang="en-US" sz="1200" b="0" i="0" u="none" strike="noStrike">
                <a:solidFill>
                  <a:srgbClr val="E6E6FA"/>
                </a:solidFill>
                <a:latin typeface="Noto Sans SC"/>
                <a:ea typeface="Noto Sans SC"/>
                <a:cs typeface="Noto Sans SC"/>
                <a:sym typeface="Noto Sans SC"/>
              </a:rPr>
              <a:t>调整资源分配，克服进度瓶颈</a:t>
            </a:r>
          </a:p>
          <a:p>
            <a:pPr marL="152400" indent="-152400" algn="l">
              <a:lnSpc>
                <a:spcPct val="125000"/>
              </a:lnSpc>
              <a:buClr>
                <a:srgbClr val="E6E6FA"/>
              </a:buClr>
              <a:buChar char="•"/>
            </a:pPr>
            <a:r>
              <a:rPr lang="en-US" sz="1200" b="0" i="0" u="none" strike="noStrike">
                <a:solidFill>
                  <a:srgbClr val="E6E6FA"/>
                </a:solidFill>
                <a:latin typeface="Noto Sans SC"/>
                <a:ea typeface="Noto Sans SC"/>
                <a:cs typeface="Noto Sans SC"/>
                <a:sym typeface="Noto Sans SC"/>
              </a:rPr>
              <a:t>建立冲突解决机制，改善协作</a:t>
            </a:r>
          </a:p>
        </p:txBody>
      </p:sp>
      <p:sp>
        <p:nvSpPr>
          <p:cNvPr id="17" name="AutoShape 17"/>
          <p:cNvSpPr/>
          <p:nvPr/>
        </p:nvSpPr>
        <p:spPr>
          <a:xfrm>
            <a:off x="8890000" y="1397000"/>
            <a:ext cx="2540000" cy="3048000"/>
          </a:xfrm>
          <a:prstGeom prst="roundRect">
            <a:avLst>
              <a:gd name="adj" fmla="val 5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956800" y="1587500"/>
            <a:ext cx="406400" cy="406400"/>
          </a:xfrm>
          <a:prstGeom prst="rect">
            <a:avLst/>
          </a:prstGeom>
        </p:spPr>
      </p:pic>
      <p:sp>
        <p:nvSpPr>
          <p:cNvPr id="19" name="AutoShape 19"/>
          <p:cNvSpPr/>
          <p:nvPr/>
        </p:nvSpPr>
        <p:spPr>
          <a:xfrm>
            <a:off x="9017000" y="20955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BFFF"/>
                </a:solidFill>
                <a:latin typeface="Noto Sans SC"/>
                <a:ea typeface="Noto Sans SC"/>
                <a:cs typeface="Noto Sans SC"/>
                <a:sym typeface="Noto Sans SC"/>
              </a:rPr>
              <a:t>未来改进方向</a:t>
            </a:r>
            <a:endParaRPr lang="en-US" sz="1100"/>
          </a:p>
        </p:txBody>
      </p:sp>
      <p:sp>
        <p:nvSpPr>
          <p:cNvPr id="20" name="AutoShape 20"/>
          <p:cNvSpPr/>
          <p:nvPr/>
        </p:nvSpPr>
        <p:spPr>
          <a:xfrm>
            <a:off x="9017000" y="2540000"/>
            <a:ext cx="2286000" cy="1524000"/>
          </a:xfrm>
          <a:prstGeom prst="rect">
            <a:avLst/>
          </a:prstGeom>
          <a:noFill/>
          <a:ln w="12700" cap="flat" cmpd="sng">
            <a:noFill/>
            <a:prstDash val="solid"/>
            <a:round/>
          </a:ln>
        </p:spPr>
        <p:txBody>
          <a:bodyPr vert="horz" wrap="square" lIns="0" tIns="0" rIns="0" bIns="0" rtlCol="0" anchor="ctr" anchorCtr="0"/>
          <a:lstStyle/>
          <a:p>
            <a:pPr marL="152400" indent="-152400" algn="l">
              <a:lnSpc>
                <a:spcPct val="125000"/>
              </a:lnSpc>
              <a:buClr>
                <a:srgbClr val="E6E6FA"/>
              </a:buClr>
              <a:buChar char="•"/>
              <a:defRPr/>
            </a:pPr>
            <a:r>
              <a:rPr lang="en-US" sz="1200" b="0" i="0" u="none" strike="noStrike">
                <a:solidFill>
                  <a:srgbClr val="E6E6FA"/>
                </a:solidFill>
                <a:latin typeface="Noto Sans SC"/>
                <a:ea typeface="Noto Sans SC"/>
                <a:cs typeface="Noto Sans SC"/>
                <a:sym typeface="Noto Sans SC"/>
              </a:rPr>
              <a:t>功能扩展与用户体验持续优化</a:t>
            </a:r>
            <a:endParaRPr lang="en-US" sz="1100"/>
          </a:p>
          <a:p>
            <a:pPr marL="152400" indent="-152400" algn="l">
              <a:lnSpc>
                <a:spcPct val="125000"/>
              </a:lnSpc>
              <a:buClr>
                <a:srgbClr val="E6E6FA"/>
              </a:buClr>
              <a:buChar char="•"/>
            </a:pPr>
            <a:r>
              <a:rPr lang="en-US" sz="1200" b="0" i="0" u="none" strike="noStrike">
                <a:solidFill>
                  <a:srgbClr val="E6E6FA"/>
                </a:solidFill>
                <a:latin typeface="Noto Sans SC"/>
                <a:ea typeface="Noto Sans SC"/>
                <a:cs typeface="Noto Sans SC"/>
                <a:sym typeface="Noto Sans SC"/>
              </a:rPr>
              <a:t>重构技术架构，提升系统稳定性</a:t>
            </a:r>
          </a:p>
          <a:p>
            <a:pPr marL="152400" indent="-152400" algn="l">
              <a:lnSpc>
                <a:spcPct val="125000"/>
              </a:lnSpc>
              <a:buClr>
                <a:srgbClr val="E6E6FA"/>
              </a:buClr>
              <a:buChar char="•"/>
            </a:pPr>
            <a:r>
              <a:rPr lang="en-US" sz="1200" b="0" i="0" u="none" strike="noStrike">
                <a:solidFill>
                  <a:srgbClr val="E6E6FA"/>
                </a:solidFill>
                <a:latin typeface="Noto Sans SC"/>
                <a:ea typeface="Noto Sans SC"/>
                <a:cs typeface="Noto Sans SC"/>
                <a:sym typeface="Noto Sans SC"/>
              </a:rPr>
              <a:t>引入敏捷工具，提升管理效能</a:t>
            </a:r>
          </a:p>
        </p:txBody>
      </p:sp>
      <p:sp>
        <p:nvSpPr>
          <p:cNvPr id="21" name="AutoShape 21"/>
          <p:cNvSpPr/>
          <p:nvPr/>
        </p:nvSpPr>
        <p:spPr>
          <a:xfrm>
            <a:off x="762000" y="4826000"/>
            <a:ext cx="10668000" cy="762000"/>
          </a:xfrm>
          <a:prstGeom prst="roundRect">
            <a:avLst>
              <a:gd name="adj" fmla="val 16666"/>
            </a:avLst>
          </a:prstGeom>
          <a:solidFill>
            <a:srgbClr val="00BFFF">
              <a:alpha val="15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054600"/>
            <a:ext cx="304800" cy="304800"/>
          </a:xfrm>
          <a:prstGeom prst="rect">
            <a:avLst/>
          </a:prstGeom>
        </p:spPr>
      </p:pic>
      <p:sp>
        <p:nvSpPr>
          <p:cNvPr id="23" name="AutoShape 23"/>
          <p:cNvSpPr/>
          <p:nvPr/>
        </p:nvSpPr>
        <p:spPr>
          <a:xfrm>
            <a:off x="1460500" y="4953000"/>
            <a:ext cx="914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E6E6FA"/>
                </a:solidFill>
                <a:latin typeface="Noto Sans SC"/>
                <a:ea typeface="Noto Sans SC"/>
                <a:cs typeface="Noto Sans SC"/>
                <a:sym typeface="Noto Sans SC"/>
              </a:rPr>
              <a:t>组织一次团队复盘会议，围绕以上四个方面进行深入讨论，完成项目总结报告。</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223">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Sprint 2：打造更智能、更安全的守护体验</a:t>
            </a:r>
            <a:endParaRPr lang="en-US" sz="1100"/>
          </a:p>
        </p:txBody>
      </p:sp>
      <p:sp>
        <p:nvSpPr>
          <p:cNvPr id="5" name="AutoShape 5"/>
          <p:cNvSpPr/>
          <p:nvPr/>
        </p:nvSpPr>
        <p:spPr>
          <a:xfrm>
            <a:off x="762000" y="1397000"/>
            <a:ext cx="5080000" cy="1143000"/>
          </a:xfrm>
          <a:prstGeom prst="roundRect">
            <a:avLst>
              <a:gd name="adj" fmla="val 11111"/>
            </a:avLst>
          </a:prstGeom>
          <a:solidFill>
            <a:srgbClr val="FFFFFF">
              <a:alpha val="8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524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Poppins"/>
                <a:ea typeface="Poppins"/>
                <a:cs typeface="Poppins"/>
                <a:sym typeface="Poppins"/>
              </a:rPr>
              <a:t>项目愿景回顾</a:t>
            </a:r>
            <a:endParaRPr lang="en-US" sz="1100"/>
          </a:p>
        </p:txBody>
      </p:sp>
      <p:sp>
        <p:nvSpPr>
          <p:cNvPr id="7" name="AutoShape 7"/>
          <p:cNvSpPr/>
          <p:nvPr/>
        </p:nvSpPr>
        <p:spPr>
          <a:xfrm>
            <a:off x="889000" y="18796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SafeWalk致力于成为女生夜归最可靠的数字守护者，通过技术创新，让每一次出行都充满安全感。</a:t>
            </a:r>
            <a:endParaRPr lang="en-US" sz="1100"/>
          </a:p>
        </p:txBody>
      </p:sp>
      <p:sp>
        <p:nvSpPr>
          <p:cNvPr id="8" name="AutoShape 8"/>
          <p:cNvSpPr/>
          <p:nvPr/>
        </p:nvSpPr>
        <p:spPr>
          <a:xfrm>
            <a:off x="762000" y="2667000"/>
            <a:ext cx="5080000" cy="1397000"/>
          </a:xfrm>
          <a:prstGeom prst="roundRect">
            <a:avLst>
              <a:gd name="adj" fmla="val 9090"/>
            </a:avLst>
          </a:prstGeom>
          <a:solidFill>
            <a:srgbClr val="FFFFFF">
              <a:alpha val="8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89000" y="2794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Poppins"/>
                <a:ea typeface="Poppins"/>
                <a:cs typeface="Poppins"/>
                <a:sym typeface="Poppins"/>
              </a:rPr>
              <a:t>Sprint 2 核心目标</a:t>
            </a:r>
            <a:endParaRPr lang="en-US" sz="1100"/>
          </a:p>
        </p:txBody>
      </p:sp>
      <p:sp>
        <p:nvSpPr>
          <p:cNvPr id="10" name="AutoShape 10"/>
          <p:cNvSpPr/>
          <p:nvPr/>
        </p:nvSpPr>
        <p:spPr>
          <a:xfrm>
            <a:off x="889000" y="31496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FFFFFF">
                    <a:alpha val="90196"/>
                  </a:srgbClr>
                </a:solidFill>
                <a:latin typeface="Noto Sans SC"/>
                <a:ea typeface="Noto Sans SC"/>
                <a:cs typeface="Noto Sans SC"/>
                <a:sym typeface="Noto Sans SC"/>
              </a:rPr>
              <a:t>在步行模式MVP基础上，重点开发</a:t>
            </a:r>
            <a:r>
              <a:rPr lang="en-US" sz="1300" b="1" i="0" u="none" strike="noStrike">
                <a:solidFill>
                  <a:srgbClr val="FFB6C1"/>
                </a:solidFill>
                <a:latin typeface="Noto Sans SC"/>
                <a:ea typeface="Noto Sans SC"/>
                <a:cs typeface="Noto Sans SC"/>
                <a:sym typeface="Noto Sans SC"/>
              </a:rPr>
              <a:t>乘车模式</a:t>
            </a:r>
            <a:r>
              <a:rPr lang="en-US" sz="1300" b="0" i="0" u="none" strike="noStrike">
                <a:solidFill>
                  <a:srgbClr val="FFFFFF">
                    <a:alpha val="90196"/>
                  </a:srgbClr>
                </a:solidFill>
                <a:latin typeface="Noto Sans SC"/>
                <a:ea typeface="Noto Sans SC"/>
                <a:cs typeface="Noto Sans SC"/>
                <a:sym typeface="Noto Sans SC"/>
              </a:rPr>
              <a:t>，引入创新的</a:t>
            </a:r>
            <a:r>
              <a:rPr lang="en-US" sz="1300" b="1" i="0" u="none" strike="noStrike">
                <a:solidFill>
                  <a:srgbClr val="E6E6FA"/>
                </a:solidFill>
                <a:latin typeface="Noto Sans SC"/>
                <a:ea typeface="Noto Sans SC"/>
                <a:cs typeface="Noto Sans SC"/>
                <a:sym typeface="Noto Sans SC"/>
              </a:rPr>
              <a:t>AI关怀功能</a:t>
            </a:r>
            <a:r>
              <a:rPr lang="en-US" sz="1300" b="0" i="0" u="none" strike="noStrike">
                <a:solidFill>
                  <a:srgbClr val="FFFFFF">
                    <a:alpha val="90196"/>
                  </a:srgbClr>
                </a:solidFill>
                <a:latin typeface="Noto Sans SC"/>
                <a:ea typeface="Noto Sans SC"/>
                <a:cs typeface="Noto Sans SC"/>
                <a:sym typeface="Noto Sans SC"/>
              </a:rPr>
              <a:t>，实现从“被动守护”到“主动关怀”的产品升级。</a:t>
            </a:r>
            <a:endParaRPr lang="en-US" sz="1100"/>
          </a:p>
        </p:txBody>
      </p:sp>
      <p:sp>
        <p:nvSpPr>
          <p:cNvPr id="11" name="AutoShape 11"/>
          <p:cNvSpPr/>
          <p:nvPr/>
        </p:nvSpPr>
        <p:spPr>
          <a:xfrm>
            <a:off x="6223000" y="1397000"/>
            <a:ext cx="5207000" cy="1016000"/>
          </a:xfrm>
          <a:prstGeom prst="roundRect">
            <a:avLst>
              <a:gd name="adj" fmla="val 1250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1701800"/>
            <a:ext cx="406400" cy="406400"/>
          </a:xfrm>
          <a:prstGeom prst="rect">
            <a:avLst/>
          </a:prstGeom>
        </p:spPr>
      </p:pic>
      <p:sp>
        <p:nvSpPr>
          <p:cNvPr id="13" name="AutoShape 13"/>
          <p:cNvSpPr/>
          <p:nvPr/>
        </p:nvSpPr>
        <p:spPr>
          <a:xfrm>
            <a:off x="6921500" y="15494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提升安全感</a:t>
            </a:r>
            <a:endParaRPr lang="en-US" sz="1100"/>
          </a:p>
        </p:txBody>
      </p:sp>
      <p:sp>
        <p:nvSpPr>
          <p:cNvPr id="14" name="AutoShape 14"/>
          <p:cNvSpPr/>
          <p:nvPr/>
        </p:nvSpPr>
        <p:spPr>
          <a:xfrm>
            <a:off x="6921500" y="18796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乘车模式和一键SOS功能为用户提供全方位安全保障。</a:t>
            </a:r>
            <a:endParaRPr lang="en-US" sz="1100"/>
          </a:p>
        </p:txBody>
      </p:sp>
      <p:sp>
        <p:nvSpPr>
          <p:cNvPr id="15" name="AutoShape 15"/>
          <p:cNvSpPr/>
          <p:nvPr/>
        </p:nvSpPr>
        <p:spPr>
          <a:xfrm>
            <a:off x="6223000" y="2540000"/>
            <a:ext cx="5207000" cy="1016000"/>
          </a:xfrm>
          <a:prstGeom prst="roundRect">
            <a:avLst>
              <a:gd name="adj" fmla="val 1250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2844800"/>
            <a:ext cx="406400" cy="406400"/>
          </a:xfrm>
          <a:prstGeom prst="rect">
            <a:avLst/>
          </a:prstGeom>
        </p:spPr>
      </p:pic>
      <p:sp>
        <p:nvSpPr>
          <p:cNvPr id="17" name="AutoShape 17"/>
          <p:cNvSpPr/>
          <p:nvPr/>
        </p:nvSpPr>
        <p:spPr>
          <a:xfrm>
            <a:off x="6921500" y="26924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增强产品竞争力</a:t>
            </a:r>
            <a:endParaRPr lang="en-US" sz="1100"/>
          </a:p>
        </p:txBody>
      </p:sp>
      <p:sp>
        <p:nvSpPr>
          <p:cNvPr id="18" name="AutoShape 18"/>
          <p:cNvSpPr/>
          <p:nvPr/>
        </p:nvSpPr>
        <p:spPr>
          <a:xfrm>
            <a:off x="6921500" y="30226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AI关怀是差异化亮点，体现科技温度，区别于传统工具。</a:t>
            </a:r>
            <a:endParaRPr lang="en-US" sz="1100"/>
          </a:p>
        </p:txBody>
      </p:sp>
      <p:sp>
        <p:nvSpPr>
          <p:cNvPr id="19" name="AutoShape 19"/>
          <p:cNvSpPr/>
          <p:nvPr/>
        </p:nvSpPr>
        <p:spPr>
          <a:xfrm>
            <a:off x="6223000" y="3683000"/>
            <a:ext cx="5207000" cy="1016000"/>
          </a:xfrm>
          <a:prstGeom prst="roundRect">
            <a:avLst>
              <a:gd name="adj" fmla="val 1250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3500" y="3987800"/>
            <a:ext cx="406400" cy="406400"/>
          </a:xfrm>
          <a:prstGeom prst="rect">
            <a:avLst/>
          </a:prstGeom>
        </p:spPr>
      </p:pic>
      <p:sp>
        <p:nvSpPr>
          <p:cNvPr id="21" name="AutoShape 21"/>
          <p:cNvSpPr/>
          <p:nvPr/>
        </p:nvSpPr>
        <p:spPr>
          <a:xfrm>
            <a:off x="6921500" y="38354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奠定展示基础</a:t>
            </a:r>
            <a:endParaRPr lang="en-US" sz="1100"/>
          </a:p>
        </p:txBody>
      </p:sp>
      <p:sp>
        <p:nvSpPr>
          <p:cNvPr id="22" name="AutoShape 22"/>
          <p:cNvSpPr/>
          <p:nvPr/>
        </p:nvSpPr>
        <p:spPr>
          <a:xfrm>
            <a:off x="6921500" y="41656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核心功能全部实现，为最终项目展示和比赛评审做好准备。</a:t>
            </a:r>
            <a:endParaRPr lang="en-US" sz="1100"/>
          </a:p>
        </p:txBody>
      </p:sp>
      <p:sp>
        <p:nvSpPr>
          <p:cNvPr id="23" name="AutoShape 23"/>
          <p:cNvSpPr/>
          <p:nvPr/>
        </p:nvSpPr>
        <p:spPr>
          <a:xfrm>
            <a:off x="762000" y="4953000"/>
            <a:ext cx="10668000" cy="762000"/>
          </a:xfrm>
          <a:prstGeom prst="roundRect">
            <a:avLst>
              <a:gd name="adj" fmla="val 16666"/>
            </a:avLst>
          </a:prstGeom>
          <a:gradFill rotWithShape="1">
            <a:gsLst>
              <a:gs pos="0">
                <a:srgbClr val="00BFFF">
                  <a:alpha val="20000"/>
                </a:srgbClr>
              </a:gs>
              <a:gs pos="100000">
                <a:srgbClr val="E6E6FA">
                  <a:alpha val="20000"/>
                </a:srgbClr>
              </a:gs>
            </a:gsLst>
            <a:lin ang="0"/>
          </a:gra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156200"/>
            <a:ext cx="355600" cy="355600"/>
          </a:xfrm>
          <a:prstGeom prst="rect">
            <a:avLst/>
          </a:prstGeom>
        </p:spPr>
      </p:pic>
      <p:sp>
        <p:nvSpPr>
          <p:cNvPr id="25" name="AutoShape 25"/>
          <p:cNvSpPr/>
          <p:nvPr/>
        </p:nvSpPr>
        <p:spPr>
          <a:xfrm>
            <a:off x="1524000" y="5143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思考：</a:t>
            </a:r>
            <a:r>
              <a:rPr lang="en-US" sz="1600" b="0" i="0" u="none" strike="noStrike">
                <a:solidFill>
                  <a:srgbClr val="FFFFFF"/>
                </a:solidFill>
                <a:latin typeface="Noto Sans SC"/>
                <a:ea typeface="Noto Sans SC"/>
                <a:cs typeface="Noto Sans SC"/>
                <a:sym typeface="Noto Sans SC"/>
              </a:rPr>
              <a:t>Sprint 2的成功将如何提升SafeWalk的整体价值和用户体验？</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乘车模式用户故事深度分析</a:t>
            </a:r>
            <a:endParaRPr lang="en-US" sz="1100"/>
          </a:p>
        </p:txBody>
      </p:sp>
      <p:sp>
        <p:nvSpPr>
          <p:cNvPr id="5" name="AutoShape 5"/>
          <p:cNvSpPr/>
          <p:nvPr/>
        </p:nvSpPr>
        <p:spPr>
          <a:xfrm>
            <a:off x="762000" y="1397000"/>
            <a:ext cx="3378200" cy="3048000"/>
          </a:xfrm>
          <a:prstGeom prst="roundRect">
            <a:avLst>
              <a:gd name="adj" fmla="val 4166"/>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51000"/>
            <a:ext cx="406400" cy="406400"/>
          </a:xfrm>
          <a:prstGeom prst="rect">
            <a:avLst/>
          </a:prstGeom>
        </p:spPr>
      </p:pic>
      <p:sp>
        <p:nvSpPr>
          <p:cNvPr id="7" name="AutoShape 7"/>
          <p:cNvSpPr/>
          <p:nvPr/>
        </p:nvSpPr>
        <p:spPr>
          <a:xfrm>
            <a:off x="1524000" y="1625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信息留存与共享</a:t>
            </a:r>
            <a:endParaRPr lang="en-US" sz="1100"/>
          </a:p>
        </p:txBody>
      </p:sp>
      <p:sp>
        <p:nvSpPr>
          <p:cNvPr id="8" name="AutoShape 8"/>
          <p:cNvSpPr/>
          <p:nvPr/>
        </p:nvSpPr>
        <p:spPr>
          <a:xfrm>
            <a:off x="1016000" y="2159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FFFFFF">
                    <a:alpha val="90196"/>
                  </a:srgbClr>
                </a:solidFill>
                <a:latin typeface="Noto Sans SC"/>
                <a:ea typeface="Noto Sans SC"/>
                <a:cs typeface="Noto Sans SC"/>
                <a:sym typeface="Noto Sans SC"/>
              </a:rPr>
              <a:t>“作为一名经常夜间打车的女生，我希望能快速记录并分享车牌信息给朋友，以便他们知道我上了哪辆车。”</a:t>
            </a:r>
            <a:endParaRPr lang="en-US" sz="1100"/>
          </a:p>
        </p:txBody>
      </p:sp>
      <p:sp>
        <p:nvSpPr>
          <p:cNvPr id="9" name="AutoShape 9"/>
          <p:cNvSpPr/>
          <p:nvPr/>
        </p:nvSpPr>
        <p:spPr>
          <a:xfrm>
            <a:off x="1016000" y="3048000"/>
            <a:ext cx="28702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FFFFFF">
                    <a:alpha val="70196"/>
                  </a:srgbClr>
                </a:solidFill>
                <a:latin typeface="Noto Sans SC"/>
                <a:ea typeface="Noto Sans SC"/>
                <a:cs typeface="Noto Sans SC"/>
                <a:sym typeface="Noto Sans SC"/>
              </a:rPr>
              <a:t>需求分析：</a:t>
            </a:r>
            <a:r>
              <a:rPr lang="en-US" sz="1200" b="0" i="0" u="none" strike="noStrike">
                <a:solidFill>
                  <a:srgbClr val="FFFFFF">
                    <a:alpha val="70196"/>
                  </a:srgbClr>
                </a:solidFill>
                <a:latin typeface="Noto Sans SC"/>
                <a:ea typeface="Noto Sans SC"/>
                <a:cs typeface="Noto Sans SC"/>
                <a:sym typeface="Noto Sans SC"/>
              </a:rPr>
              <a:t>核心解决“信息不对称”。需提供便捷方式，将关键行程信息（车牌）主动分享给信任的人，关键在于“快速”和“准确”。</a:t>
            </a:r>
            <a:endParaRPr lang="en-US" sz="1100"/>
          </a:p>
        </p:txBody>
      </p:sp>
      <p:sp>
        <p:nvSpPr>
          <p:cNvPr id="10" name="AutoShape 10"/>
          <p:cNvSpPr/>
          <p:nvPr/>
        </p:nvSpPr>
        <p:spPr>
          <a:xfrm>
            <a:off x="4394200" y="1397000"/>
            <a:ext cx="3378200" cy="3048000"/>
          </a:xfrm>
          <a:prstGeom prst="roundRect">
            <a:avLst>
              <a:gd name="adj" fmla="val 4166"/>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1651000"/>
            <a:ext cx="406400" cy="406400"/>
          </a:xfrm>
          <a:prstGeom prst="rect">
            <a:avLst/>
          </a:prstGeom>
        </p:spPr>
      </p:pic>
      <p:sp>
        <p:nvSpPr>
          <p:cNvPr id="12" name="AutoShape 12"/>
          <p:cNvSpPr/>
          <p:nvPr/>
        </p:nvSpPr>
        <p:spPr>
          <a:xfrm>
            <a:off x="5156200" y="1625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紧急求助</a:t>
            </a:r>
            <a:endParaRPr lang="en-US" sz="1100"/>
          </a:p>
        </p:txBody>
      </p:sp>
      <p:sp>
        <p:nvSpPr>
          <p:cNvPr id="13" name="AutoShape 13"/>
          <p:cNvSpPr/>
          <p:nvPr/>
        </p:nvSpPr>
        <p:spPr>
          <a:xfrm>
            <a:off x="4648200" y="2159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FFFFFF">
                    <a:alpha val="90196"/>
                  </a:srgbClr>
                </a:solidFill>
                <a:latin typeface="Noto Sans SC"/>
                <a:ea typeface="Noto Sans SC"/>
                <a:cs typeface="Noto Sans SC"/>
                <a:sym typeface="Noto Sans SC"/>
              </a:rPr>
              <a:t>“作为一名独自乘车的女生，当我感觉司机不对劲时，我希望能有一个一键求助的方式，快速联系到我的守护者。”</a:t>
            </a:r>
            <a:endParaRPr lang="en-US" sz="1100"/>
          </a:p>
        </p:txBody>
      </p:sp>
      <p:sp>
        <p:nvSpPr>
          <p:cNvPr id="14" name="AutoShape 14"/>
          <p:cNvSpPr/>
          <p:nvPr/>
        </p:nvSpPr>
        <p:spPr>
          <a:xfrm>
            <a:off x="4648200" y="3048000"/>
            <a:ext cx="28702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FFFFFF">
                    <a:alpha val="70196"/>
                  </a:srgbClr>
                </a:solidFill>
                <a:latin typeface="Noto Sans SC"/>
                <a:ea typeface="Noto Sans SC"/>
                <a:cs typeface="Noto Sans SC"/>
                <a:sym typeface="Noto Sans SC"/>
              </a:rPr>
              <a:t>需求分析：</a:t>
            </a:r>
            <a:r>
              <a:rPr lang="en-US" sz="1200" b="0" i="0" u="none" strike="noStrike">
                <a:solidFill>
                  <a:srgbClr val="FFFFFF">
                    <a:alpha val="70196"/>
                  </a:srgbClr>
                </a:solidFill>
                <a:latin typeface="Noto Sans SC"/>
                <a:ea typeface="Noto Sans SC"/>
                <a:cs typeface="Noto Sans SC"/>
                <a:sym typeface="Noto Sans SC"/>
              </a:rPr>
              <a:t>核心解决“紧急响应”。需提供简单、隐蔽的触发方式，在不引起注意的情况下发送包含位置和车辆信息的求助信号。</a:t>
            </a:r>
            <a:endParaRPr lang="en-US" sz="1100"/>
          </a:p>
        </p:txBody>
      </p:sp>
      <p:sp>
        <p:nvSpPr>
          <p:cNvPr id="15" name="AutoShape 15"/>
          <p:cNvSpPr/>
          <p:nvPr/>
        </p:nvSpPr>
        <p:spPr>
          <a:xfrm>
            <a:off x="8026400" y="1397000"/>
            <a:ext cx="3378200" cy="3048000"/>
          </a:xfrm>
          <a:prstGeom prst="roundRect">
            <a:avLst>
              <a:gd name="adj" fmla="val 4166"/>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1651000"/>
            <a:ext cx="406400" cy="406400"/>
          </a:xfrm>
          <a:prstGeom prst="rect">
            <a:avLst/>
          </a:prstGeom>
        </p:spPr>
      </p:pic>
      <p:sp>
        <p:nvSpPr>
          <p:cNvPr id="17" name="AutoShape 17"/>
          <p:cNvSpPr/>
          <p:nvPr/>
        </p:nvSpPr>
        <p:spPr>
          <a:xfrm>
            <a:off x="8788400" y="1625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Noto Sans SC"/>
                <a:ea typeface="Noto Sans SC"/>
                <a:cs typeface="Noto Sans SC"/>
                <a:sym typeface="Noto Sans SC"/>
              </a:rPr>
              <a:t>场景化脱困</a:t>
            </a:r>
            <a:endParaRPr lang="en-US" sz="1100"/>
          </a:p>
        </p:txBody>
      </p:sp>
      <p:sp>
        <p:nvSpPr>
          <p:cNvPr id="18" name="AutoShape 18"/>
          <p:cNvSpPr/>
          <p:nvPr/>
        </p:nvSpPr>
        <p:spPr>
          <a:xfrm>
            <a:off x="8280400" y="21590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FFFFFF">
                    <a:alpha val="90196"/>
                  </a:srgbClr>
                </a:solidFill>
                <a:latin typeface="Noto Sans SC"/>
                <a:ea typeface="Noto Sans SC"/>
                <a:cs typeface="Noto Sans SC"/>
                <a:sym typeface="Noto Sans SC"/>
              </a:rPr>
              <a:t>“作为一名乘车的女生，当我遇到尴尬或危险情况时，我希望能有一个借口快速结束行程或下车。”</a:t>
            </a:r>
            <a:endParaRPr lang="en-US" sz="1100"/>
          </a:p>
        </p:txBody>
      </p:sp>
      <p:sp>
        <p:nvSpPr>
          <p:cNvPr id="19" name="AutoShape 19"/>
          <p:cNvSpPr/>
          <p:nvPr/>
        </p:nvSpPr>
        <p:spPr>
          <a:xfrm>
            <a:off x="8280400" y="3048000"/>
            <a:ext cx="28702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FFFFFF">
                    <a:alpha val="70196"/>
                  </a:srgbClr>
                </a:solidFill>
                <a:latin typeface="Noto Sans SC"/>
                <a:ea typeface="Noto Sans SC"/>
                <a:cs typeface="Noto Sans SC"/>
                <a:sym typeface="Noto Sans SC"/>
              </a:rPr>
              <a:t>需求分析：</a:t>
            </a:r>
            <a:r>
              <a:rPr lang="en-US" sz="1200" b="0" i="0" u="none" strike="noStrike">
                <a:solidFill>
                  <a:srgbClr val="FFFFFF">
                    <a:alpha val="70196"/>
                  </a:srgbClr>
                </a:solidFill>
                <a:latin typeface="Noto Sans SC"/>
                <a:ea typeface="Noto Sans SC"/>
                <a:cs typeface="Noto Sans SC"/>
                <a:sym typeface="Noto Sans SC"/>
              </a:rPr>
              <a:t>核心解决“社交困境”。需提供自然、有效的工具（如模拟来电），帮助用户在不直接冲突的情况下摆脱不利处境。</a:t>
            </a:r>
            <a:endParaRPr lang="en-US" sz="1100"/>
          </a:p>
        </p:txBody>
      </p:sp>
      <p:sp>
        <p:nvSpPr>
          <p:cNvPr id="20" name="AutoShape 20"/>
          <p:cNvSpPr/>
          <p:nvPr/>
        </p:nvSpPr>
        <p:spPr>
          <a:xfrm>
            <a:off x="762000" y="4826000"/>
            <a:ext cx="10668000" cy="762000"/>
          </a:xfrm>
          <a:prstGeom prst="roundRect">
            <a:avLst>
              <a:gd name="adj" fmla="val 16666"/>
            </a:avLst>
          </a:prstGeom>
          <a:solidFill>
            <a:srgbClr val="00BFFF">
              <a:alpha val="15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054600"/>
            <a:ext cx="304800" cy="304800"/>
          </a:xfrm>
          <a:prstGeom prst="rect">
            <a:avLst/>
          </a:prstGeom>
        </p:spPr>
      </p:pic>
      <p:sp>
        <p:nvSpPr>
          <p:cNvPr id="22" name="AutoShape 22"/>
          <p:cNvSpPr/>
          <p:nvPr/>
        </p:nvSpPr>
        <p:spPr>
          <a:xfrm>
            <a:off x="1397000" y="4953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学生行动指令：</a:t>
            </a:r>
            <a:r>
              <a:rPr lang="en-US" sz="1600" b="0" i="0" u="none" strike="noStrike">
                <a:solidFill>
                  <a:srgbClr val="FFFFFF">
                    <a:alpha val="90196"/>
                  </a:srgbClr>
                </a:solidFill>
                <a:latin typeface="Noto Sans SC"/>
                <a:ea typeface="Noto Sans SC"/>
                <a:cs typeface="Noto Sans SC"/>
                <a:sym typeface="Noto Sans SC"/>
              </a:rPr>
              <a:t>选择一个用户故事，思考如何将其核心需求转化为具体的、可实现的产品功能。</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乘车模式功能拆解：从需求到任务</a:t>
            </a:r>
            <a:endParaRPr lang="en-US" sz="1100"/>
          </a:p>
        </p:txBody>
      </p:sp>
      <p:sp>
        <p:nvSpPr>
          <p:cNvPr id="5" name="AutoShape 5"/>
          <p:cNvSpPr/>
          <p:nvPr/>
        </p:nvSpPr>
        <p:spPr>
          <a:xfrm>
            <a:off x="762000" y="1397000"/>
            <a:ext cx="3378200" cy="3556000"/>
          </a:xfrm>
          <a:prstGeom prst="roundRect">
            <a:avLst>
              <a:gd name="adj" fmla="val 3759"/>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51000"/>
            <a:ext cx="406400" cy="406400"/>
          </a:xfrm>
          <a:prstGeom prst="rect">
            <a:avLst/>
          </a:prstGeom>
        </p:spPr>
      </p:pic>
      <p:sp>
        <p:nvSpPr>
          <p:cNvPr id="7" name="AutoShape 7"/>
          <p:cNvSpPr/>
          <p:nvPr/>
        </p:nvSpPr>
        <p:spPr>
          <a:xfrm>
            <a:off x="15240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车牌信息管理</a:t>
            </a:r>
            <a:endParaRPr lang="en-US" sz="1100"/>
          </a:p>
        </p:txBody>
      </p:sp>
      <p:sp>
        <p:nvSpPr>
          <p:cNvPr id="8" name="AutoShape 8"/>
          <p:cNvSpPr/>
          <p:nvPr/>
        </p:nvSpPr>
        <p:spPr>
          <a:xfrm>
            <a:off x="952500" y="2159000"/>
            <a:ext cx="2997200" cy="2286000"/>
          </a:xfrm>
          <a:prstGeom prst="rect">
            <a:avLst/>
          </a:prstGeom>
          <a:noFill/>
          <a:ln w="12700" cap="flat" cmpd="sng">
            <a:noFill/>
            <a:prstDash val="solid"/>
            <a:round/>
          </a:ln>
        </p:spPr>
        <p:txBody>
          <a:bodyPr vert="horz" wrap="square" lIns="0" tIns="0" rIns="0" bIns="0" rtlCol="0" anchor="ctr" anchorCtr="0"/>
          <a:lstStyle/>
          <a:p>
            <a:pPr marL="152400" indent="-152400" algn="l">
              <a:lnSpc>
                <a:spcPct val="125000"/>
              </a:lnSpc>
              <a:buClr>
                <a:srgbClr val="E5E7EB"/>
              </a:buClr>
              <a:buChar char="•"/>
              <a:defRPr/>
            </a:pPr>
            <a:r>
              <a:rPr lang="en-US" sz="1200" b="0" i="0" u="none" strike="noStrike">
                <a:solidFill>
                  <a:srgbClr val="E5E7EB"/>
                </a:solidFill>
                <a:latin typeface="Noto Sans SC"/>
                <a:ea typeface="Noto Sans SC"/>
                <a:cs typeface="Noto Sans SC"/>
                <a:sym typeface="Noto Sans SC"/>
              </a:rPr>
              <a:t>设计多格式输入界面，优化体验</a:t>
            </a:r>
            <a:endParaRPr lang="en-US" sz="1100"/>
          </a:p>
          <a:p>
            <a:pPr marL="152400" indent="-152400" algn="l">
              <a:lnSpc>
                <a:spcPct val="125000"/>
              </a:lnSpc>
              <a:buClr>
                <a:srgbClr val="E5E7EB"/>
              </a:buClr>
              <a:buChar char="•"/>
            </a:pPr>
            <a:r>
              <a:rPr lang="en-US" sz="1200" b="0" i="0" u="none" strike="noStrike">
                <a:solidFill>
                  <a:srgbClr val="E5E7EB"/>
                </a:solidFill>
                <a:latin typeface="Noto Sans SC"/>
                <a:ea typeface="Noto Sans SC"/>
                <a:cs typeface="Noto Sans SC"/>
                <a:sym typeface="Noto Sans SC"/>
              </a:rPr>
              <a:t>实现手动输入与实时验证逻辑</a:t>
            </a:r>
          </a:p>
          <a:p>
            <a:pPr marL="152400" indent="-152400" algn="l">
              <a:lnSpc>
                <a:spcPct val="125000"/>
              </a:lnSpc>
              <a:buClr>
                <a:srgbClr val="E5E7EB"/>
              </a:buClr>
              <a:buChar char="•"/>
            </a:pPr>
            <a:r>
              <a:rPr lang="en-US" sz="1200" b="0" i="0" u="none" strike="noStrike">
                <a:solidFill>
                  <a:srgbClr val="E5E7EB"/>
                </a:solidFill>
                <a:latin typeface="Noto Sans SC"/>
                <a:ea typeface="Noto Sans SC"/>
                <a:cs typeface="Noto Sans SC"/>
                <a:sym typeface="Noto Sans SC"/>
              </a:rPr>
              <a:t>调研集成ML Kit实现自动识别</a:t>
            </a:r>
          </a:p>
          <a:p>
            <a:pPr marL="152400" indent="-152400" algn="l">
              <a:lnSpc>
                <a:spcPct val="125000"/>
              </a:lnSpc>
              <a:buClr>
                <a:srgbClr val="E5E7EB"/>
              </a:buClr>
              <a:buChar char="•"/>
            </a:pPr>
            <a:r>
              <a:rPr lang="en-US" sz="1200" b="0" i="0" u="none" strike="noStrike">
                <a:solidFill>
                  <a:srgbClr val="E5E7EB"/>
                </a:solidFill>
                <a:latin typeface="Noto Sans SC"/>
                <a:ea typeface="Noto Sans SC"/>
                <a:cs typeface="Noto Sans SC"/>
                <a:sym typeface="Noto Sans SC"/>
              </a:rPr>
              <a:t>本地加密存储并绑定行程信息</a:t>
            </a:r>
          </a:p>
          <a:p>
            <a:pPr marL="152400" indent="-152400" algn="l">
              <a:lnSpc>
                <a:spcPct val="125000"/>
              </a:lnSpc>
              <a:buClr>
                <a:srgbClr val="E5E7EB"/>
              </a:buClr>
              <a:buChar char="•"/>
            </a:pPr>
            <a:r>
              <a:rPr lang="en-US" sz="1200" b="0" i="0" u="none" strike="noStrike">
                <a:solidFill>
                  <a:srgbClr val="E5E7EB"/>
                </a:solidFill>
                <a:latin typeface="Noto Sans SC"/>
                <a:ea typeface="Noto Sans SC"/>
                <a:cs typeface="Noto Sans SC"/>
                <a:sym typeface="Noto Sans SC"/>
              </a:rPr>
              <a:t>同步车牌信息至守护者端APP</a:t>
            </a:r>
          </a:p>
        </p:txBody>
      </p:sp>
      <p:sp>
        <p:nvSpPr>
          <p:cNvPr id="9" name="AutoShape 9"/>
          <p:cNvSpPr/>
          <p:nvPr/>
        </p:nvSpPr>
        <p:spPr>
          <a:xfrm>
            <a:off x="4394200" y="1397000"/>
            <a:ext cx="3378200" cy="3556000"/>
          </a:xfrm>
          <a:prstGeom prst="roundRect">
            <a:avLst>
              <a:gd name="adj" fmla="val 3759"/>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1651000"/>
            <a:ext cx="406400" cy="406400"/>
          </a:xfrm>
          <a:prstGeom prst="rect">
            <a:avLst/>
          </a:prstGeom>
        </p:spPr>
      </p:pic>
      <p:sp>
        <p:nvSpPr>
          <p:cNvPr id="11" name="AutoShape 11"/>
          <p:cNvSpPr/>
          <p:nvPr/>
        </p:nvSpPr>
        <p:spPr>
          <a:xfrm>
            <a:off x="51562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模拟来电模块</a:t>
            </a:r>
            <a:endParaRPr lang="en-US" sz="1100"/>
          </a:p>
        </p:txBody>
      </p:sp>
      <p:sp>
        <p:nvSpPr>
          <p:cNvPr id="12" name="AutoShape 12"/>
          <p:cNvSpPr/>
          <p:nvPr/>
        </p:nvSpPr>
        <p:spPr>
          <a:xfrm>
            <a:off x="4584700" y="2159000"/>
            <a:ext cx="2997200" cy="2286000"/>
          </a:xfrm>
          <a:prstGeom prst="rect">
            <a:avLst/>
          </a:prstGeom>
          <a:noFill/>
          <a:ln w="12700" cap="flat" cmpd="sng">
            <a:noFill/>
            <a:prstDash val="solid"/>
            <a:round/>
          </a:ln>
        </p:spPr>
        <p:txBody>
          <a:bodyPr vert="horz" wrap="square" lIns="0" tIns="0" rIns="0" bIns="0" rtlCol="0" anchor="ctr" anchorCtr="0"/>
          <a:lstStyle/>
          <a:p>
            <a:pPr marL="152400" indent="-152400" algn="l">
              <a:lnSpc>
                <a:spcPct val="125000"/>
              </a:lnSpc>
              <a:buClr>
                <a:srgbClr val="E5E7EB"/>
              </a:buClr>
              <a:buChar char="•"/>
              <a:defRPr/>
            </a:pPr>
            <a:r>
              <a:rPr lang="en-US" sz="1200" b="0" i="0" u="none" strike="noStrike">
                <a:solidFill>
                  <a:srgbClr val="E5E7EB"/>
                </a:solidFill>
                <a:latin typeface="Noto Sans SC"/>
                <a:ea typeface="Noto Sans SC"/>
                <a:cs typeface="Noto Sans SC"/>
                <a:sym typeface="Noto Sans SC"/>
              </a:rPr>
              <a:t>设计醒目易操作的触发按钮</a:t>
            </a:r>
            <a:endParaRPr lang="en-US" sz="1100"/>
          </a:p>
          <a:p>
            <a:pPr marL="152400" indent="-152400" algn="l">
              <a:lnSpc>
                <a:spcPct val="125000"/>
              </a:lnSpc>
              <a:buClr>
                <a:srgbClr val="E5E7EB"/>
              </a:buClr>
              <a:buChar char="•"/>
            </a:pPr>
            <a:r>
              <a:rPr lang="en-US" sz="1200" b="0" i="0" u="none" strike="noStrike">
                <a:solidFill>
                  <a:srgbClr val="E5E7EB"/>
                </a:solidFill>
                <a:latin typeface="Noto Sans SC"/>
                <a:ea typeface="Noto Sans SC"/>
                <a:cs typeface="Noto Sans SC"/>
                <a:sym typeface="Noto Sans SC"/>
              </a:rPr>
              <a:t>自定义来电人姓名与铃声设置</a:t>
            </a:r>
          </a:p>
          <a:p>
            <a:pPr marL="152400" indent="-152400" algn="l">
              <a:lnSpc>
                <a:spcPct val="125000"/>
              </a:lnSpc>
              <a:buClr>
                <a:srgbClr val="E5E7EB"/>
              </a:buClr>
              <a:buChar char="•"/>
            </a:pPr>
            <a:r>
              <a:rPr lang="en-US" sz="1200" b="0" i="0" u="none" strike="noStrike">
                <a:solidFill>
                  <a:srgbClr val="E5E7EB"/>
                </a:solidFill>
                <a:latin typeface="Noto Sans SC"/>
                <a:ea typeface="Noto Sans SC"/>
                <a:cs typeface="Noto Sans SC"/>
                <a:sym typeface="Noto Sans SC"/>
              </a:rPr>
              <a:t>集成Twilio API实现真实通话</a:t>
            </a:r>
          </a:p>
          <a:p>
            <a:pPr marL="152400" indent="-152400" algn="l">
              <a:lnSpc>
                <a:spcPct val="125000"/>
              </a:lnSpc>
              <a:buClr>
                <a:srgbClr val="E5E7EB"/>
              </a:buClr>
              <a:buChar char="•"/>
            </a:pPr>
            <a:r>
              <a:rPr lang="en-US" sz="1200" b="0" i="0" u="none" strike="noStrike">
                <a:solidFill>
                  <a:srgbClr val="E5E7EB"/>
                </a:solidFill>
                <a:latin typeface="Noto Sans SC"/>
                <a:ea typeface="Noto Sans SC"/>
                <a:cs typeface="Noto Sans SC"/>
                <a:sym typeface="Noto Sans SC"/>
              </a:rPr>
              <a:t>支持录制语音或文本转语音</a:t>
            </a:r>
          </a:p>
        </p:txBody>
      </p:sp>
      <p:sp>
        <p:nvSpPr>
          <p:cNvPr id="13" name="AutoShape 13"/>
          <p:cNvSpPr/>
          <p:nvPr/>
        </p:nvSpPr>
        <p:spPr>
          <a:xfrm>
            <a:off x="8026400" y="1397000"/>
            <a:ext cx="3378200" cy="3556000"/>
          </a:xfrm>
          <a:prstGeom prst="roundRect">
            <a:avLst>
              <a:gd name="adj" fmla="val 3759"/>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1651000"/>
            <a:ext cx="406400" cy="406400"/>
          </a:xfrm>
          <a:prstGeom prst="rect">
            <a:avLst/>
          </a:prstGeom>
        </p:spPr>
      </p:pic>
      <p:sp>
        <p:nvSpPr>
          <p:cNvPr id="15" name="AutoShape 15"/>
          <p:cNvSpPr/>
          <p:nvPr/>
        </p:nvSpPr>
        <p:spPr>
          <a:xfrm>
            <a:off x="87884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Noto Sans SC"/>
                <a:ea typeface="Noto Sans SC"/>
                <a:cs typeface="Noto Sans SC"/>
                <a:sym typeface="Noto Sans SC"/>
              </a:rPr>
              <a:t>一键SOS模块</a:t>
            </a:r>
            <a:endParaRPr lang="en-US" sz="1100"/>
          </a:p>
        </p:txBody>
      </p:sp>
      <p:sp>
        <p:nvSpPr>
          <p:cNvPr id="16" name="AutoShape 16"/>
          <p:cNvSpPr/>
          <p:nvPr/>
        </p:nvSpPr>
        <p:spPr>
          <a:xfrm>
            <a:off x="8216900" y="2159000"/>
            <a:ext cx="2997200" cy="2286000"/>
          </a:xfrm>
          <a:prstGeom prst="rect">
            <a:avLst/>
          </a:prstGeom>
          <a:noFill/>
          <a:ln w="12700" cap="flat" cmpd="sng">
            <a:noFill/>
            <a:prstDash val="solid"/>
            <a:round/>
          </a:ln>
        </p:spPr>
        <p:txBody>
          <a:bodyPr vert="horz" wrap="square" lIns="0" tIns="0" rIns="0" bIns="0" rtlCol="0" anchor="ctr" anchorCtr="0"/>
          <a:lstStyle/>
          <a:p>
            <a:pPr marL="152400" indent="-152400" algn="l">
              <a:lnSpc>
                <a:spcPct val="125000"/>
              </a:lnSpc>
              <a:buClr>
                <a:srgbClr val="E5E7EB"/>
              </a:buClr>
              <a:buChar char="•"/>
              <a:defRPr/>
            </a:pPr>
            <a:r>
              <a:rPr lang="en-US" sz="1200" b="0" i="0" u="none" strike="noStrike">
                <a:solidFill>
                  <a:srgbClr val="E5E7EB"/>
                </a:solidFill>
                <a:latin typeface="Noto Sans SC"/>
                <a:ea typeface="Noto Sans SC"/>
                <a:cs typeface="Noto Sans SC"/>
                <a:sym typeface="Noto Sans SC"/>
              </a:rPr>
              <a:t>设计长按触发机制防止误触</a:t>
            </a:r>
            <a:endParaRPr lang="en-US" sz="1100"/>
          </a:p>
          <a:p>
            <a:pPr marL="152400" indent="-152400" algn="l">
              <a:lnSpc>
                <a:spcPct val="125000"/>
              </a:lnSpc>
              <a:buClr>
                <a:srgbClr val="E5E7EB"/>
              </a:buClr>
              <a:buChar char="•"/>
            </a:pPr>
            <a:r>
              <a:rPr lang="en-US" sz="1200" b="0" i="0" u="none" strike="noStrike">
                <a:solidFill>
                  <a:srgbClr val="E5E7EB"/>
                </a:solidFill>
                <a:latin typeface="Noto Sans SC"/>
                <a:ea typeface="Noto Sans SC"/>
                <a:cs typeface="Noto Sans SC"/>
                <a:sym typeface="Noto Sans SC"/>
              </a:rPr>
              <a:t>发送包含位置/车牌的紧急通知</a:t>
            </a:r>
          </a:p>
          <a:p>
            <a:pPr marL="152400" indent="-152400" algn="l">
              <a:lnSpc>
                <a:spcPct val="125000"/>
              </a:lnSpc>
              <a:buClr>
                <a:srgbClr val="E5E7EB"/>
              </a:buClr>
              <a:buChar char="•"/>
            </a:pPr>
            <a:r>
              <a:rPr lang="en-US" sz="1200" b="0" i="0" u="none" strike="noStrike">
                <a:solidFill>
                  <a:srgbClr val="E5E7EB"/>
                </a:solidFill>
                <a:latin typeface="Noto Sans SC"/>
                <a:ea typeface="Noto Sans SC"/>
                <a:cs typeface="Noto Sans SC"/>
                <a:sym typeface="Noto Sans SC"/>
              </a:rPr>
              <a:t>实现自动录音与环境拍照取证</a:t>
            </a:r>
          </a:p>
          <a:p>
            <a:pPr marL="152400" indent="-152400" algn="l">
              <a:lnSpc>
                <a:spcPct val="125000"/>
              </a:lnSpc>
              <a:buClr>
                <a:srgbClr val="E5E7EB"/>
              </a:buClr>
              <a:buChar char="•"/>
            </a:pPr>
            <a:r>
              <a:rPr lang="en-US" sz="1200" b="0" i="0" u="none" strike="noStrike">
                <a:solidFill>
                  <a:srgbClr val="E5E7EB"/>
                </a:solidFill>
                <a:latin typeface="Noto Sans SC"/>
                <a:ea typeface="Noto Sans SC"/>
                <a:cs typeface="Noto Sans SC"/>
                <a:sym typeface="Noto Sans SC"/>
              </a:rPr>
              <a:t>设计守护者端通知接收界面</a:t>
            </a:r>
          </a:p>
        </p:txBody>
      </p:sp>
      <p:sp>
        <p:nvSpPr>
          <p:cNvPr id="17" name="AutoShape 17"/>
          <p:cNvSpPr/>
          <p:nvPr/>
        </p:nvSpPr>
        <p:spPr>
          <a:xfrm>
            <a:off x="762000" y="5334000"/>
            <a:ext cx="10668000" cy="762000"/>
          </a:xfrm>
          <a:prstGeom prst="roundRect">
            <a:avLst>
              <a:gd name="adj" fmla="val 16666"/>
            </a:avLst>
          </a:prstGeom>
          <a:solidFill>
            <a:srgbClr val="00BFFF">
              <a:alpha val="15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562600"/>
            <a:ext cx="304800" cy="304800"/>
          </a:xfrm>
          <a:prstGeom prst="rect">
            <a:avLst/>
          </a:prstGeom>
        </p:spPr>
      </p:pic>
      <p:sp>
        <p:nvSpPr>
          <p:cNvPr id="19" name="AutoShape 19"/>
          <p:cNvSpPr/>
          <p:nvPr/>
        </p:nvSpPr>
        <p:spPr>
          <a:xfrm>
            <a:off x="14605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行动指令：</a:t>
            </a:r>
            <a:r>
              <a:rPr lang="en-US" sz="1400" b="0" i="0" u="none" strike="noStrike">
                <a:solidFill>
                  <a:srgbClr val="E5E7EB"/>
                </a:solidFill>
                <a:latin typeface="Noto Sans SC"/>
                <a:ea typeface="Noto Sans SC"/>
                <a:cs typeface="Noto Sans SC"/>
                <a:sym typeface="Noto Sans SC"/>
              </a:rPr>
              <a:t>请针对你负责的功能模块，基于上述拆解，列出更详细、更具体的技术任务清单，明确接口定义与数据流转逻辑。</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乘车模式界面设计：低保真原型</a:t>
            </a:r>
            <a:endParaRPr lang="en-US" sz="1100"/>
          </a:p>
        </p:txBody>
      </p:sp>
      <p:sp>
        <p:nvSpPr>
          <p:cNvPr id="5" name="AutoShape 5"/>
          <p:cNvSpPr/>
          <p:nvPr/>
        </p:nvSpPr>
        <p:spPr>
          <a:xfrm>
            <a:off x="762000" y="1524000"/>
            <a:ext cx="5080000" cy="1905000"/>
          </a:xfrm>
          <a:prstGeom prst="roundRect">
            <a:avLst>
              <a:gd name="adj" fmla="val 6666"/>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609600" cy="609600"/>
          </a:xfrm>
          <a:prstGeom prst="rect">
            <a:avLst/>
          </a:prstGeom>
        </p:spPr>
      </p:pic>
      <p:sp>
        <p:nvSpPr>
          <p:cNvPr id="7" name="AutoShape 7"/>
          <p:cNvSpPr/>
          <p:nvPr/>
        </p:nvSpPr>
        <p:spPr>
          <a:xfrm>
            <a:off x="1778000" y="1714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乘车模式主界面</a:t>
            </a:r>
            <a:endParaRPr lang="en-US" sz="1100"/>
          </a:p>
        </p:txBody>
      </p:sp>
      <p:sp>
        <p:nvSpPr>
          <p:cNvPr id="8" name="AutoShape 8"/>
          <p:cNvSpPr/>
          <p:nvPr/>
        </p:nvSpPr>
        <p:spPr>
          <a:xfrm>
            <a:off x="1778000" y="21590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E5E7EB"/>
                </a:solidFill>
                <a:latin typeface="Noto Sans SC"/>
                <a:ea typeface="Noto Sans SC"/>
                <a:cs typeface="Noto Sans SC"/>
                <a:sym typeface="Noto Sans SC"/>
              </a:rPr>
              <a:t>界面设计简洁明了，核心区域包含车牌输入框、模拟来电快捷按钮以及紧急SOS按钮，确保驾驶场景下的操作高效性。</a:t>
            </a:r>
            <a:endParaRPr lang="en-US" sz="1100"/>
          </a:p>
        </p:txBody>
      </p:sp>
      <p:sp>
        <p:nvSpPr>
          <p:cNvPr id="9" name="AutoShape 9"/>
          <p:cNvSpPr/>
          <p:nvPr/>
        </p:nvSpPr>
        <p:spPr>
          <a:xfrm>
            <a:off x="6350000" y="1524000"/>
            <a:ext cx="5080000" cy="1905000"/>
          </a:xfrm>
          <a:prstGeom prst="roundRect">
            <a:avLst>
              <a:gd name="adj" fmla="val 6666"/>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1778000"/>
            <a:ext cx="609600" cy="609600"/>
          </a:xfrm>
          <a:prstGeom prst="rect">
            <a:avLst/>
          </a:prstGeom>
        </p:spPr>
      </p:pic>
      <p:sp>
        <p:nvSpPr>
          <p:cNvPr id="11" name="AutoShape 11"/>
          <p:cNvSpPr/>
          <p:nvPr/>
        </p:nvSpPr>
        <p:spPr>
          <a:xfrm>
            <a:off x="7366000" y="1714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B6C1"/>
                </a:solidFill>
                <a:latin typeface="Noto Sans SC"/>
                <a:ea typeface="Noto Sans SC"/>
                <a:cs typeface="Noto Sans SC"/>
                <a:sym typeface="Noto Sans SC"/>
              </a:rPr>
              <a:t>车牌输入界面</a:t>
            </a:r>
            <a:endParaRPr lang="en-US" sz="1100"/>
          </a:p>
        </p:txBody>
      </p:sp>
      <p:sp>
        <p:nvSpPr>
          <p:cNvPr id="12" name="AutoShape 12"/>
          <p:cNvSpPr/>
          <p:nvPr/>
        </p:nvSpPr>
        <p:spPr>
          <a:xfrm>
            <a:off x="7366000" y="21590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E5E7EB"/>
                </a:solidFill>
                <a:latin typeface="Noto Sans SC"/>
                <a:ea typeface="Noto Sans SC"/>
                <a:cs typeface="Noto Sans SC"/>
                <a:sym typeface="Noto Sans SC"/>
              </a:rPr>
              <a:t>提供大字体输入框以提升触控准确性，下方设置“拍照识别”快捷入口，利用OCR技术简化车牌录入流程。</a:t>
            </a:r>
            <a:endParaRPr lang="en-US" sz="1100"/>
          </a:p>
        </p:txBody>
      </p:sp>
      <p:sp>
        <p:nvSpPr>
          <p:cNvPr id="13" name="AutoShape 13"/>
          <p:cNvSpPr/>
          <p:nvPr/>
        </p:nvSpPr>
        <p:spPr>
          <a:xfrm>
            <a:off x="762000" y="3683000"/>
            <a:ext cx="5080000" cy="1905000"/>
          </a:xfrm>
          <a:prstGeom prst="roundRect">
            <a:avLst>
              <a:gd name="adj" fmla="val 6666"/>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937000"/>
            <a:ext cx="609600" cy="609600"/>
          </a:xfrm>
          <a:prstGeom prst="rect">
            <a:avLst/>
          </a:prstGeom>
        </p:spPr>
      </p:pic>
      <p:sp>
        <p:nvSpPr>
          <p:cNvPr id="15" name="AutoShape 15"/>
          <p:cNvSpPr/>
          <p:nvPr/>
        </p:nvSpPr>
        <p:spPr>
          <a:xfrm>
            <a:off x="1778000" y="3873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E6E6FA"/>
                </a:solidFill>
                <a:latin typeface="Noto Sans SC"/>
                <a:ea typeface="Noto Sans SC"/>
                <a:cs typeface="Noto Sans SC"/>
                <a:sym typeface="Noto Sans SC"/>
              </a:rPr>
              <a:t>模拟来电设置界面</a:t>
            </a:r>
            <a:endParaRPr lang="en-US" sz="1100"/>
          </a:p>
        </p:txBody>
      </p:sp>
      <p:sp>
        <p:nvSpPr>
          <p:cNvPr id="16" name="AutoShape 16"/>
          <p:cNvSpPr/>
          <p:nvPr/>
        </p:nvSpPr>
        <p:spPr>
          <a:xfrm>
            <a:off x="1778000" y="43180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E5E7EB"/>
                </a:solidFill>
                <a:latin typeface="Noto Sans SC"/>
                <a:ea typeface="Noto Sans SC"/>
                <a:cs typeface="Noto Sans SC"/>
                <a:sym typeface="Noto Sans SC"/>
              </a:rPr>
              <a:t>允许用户自定义来电人姓名，并提供多种预设铃声供选择，模拟真实来电场景，帮助用户礼貌中断不必要的社交。</a:t>
            </a:r>
            <a:endParaRPr lang="en-US" sz="1100"/>
          </a:p>
        </p:txBody>
      </p:sp>
      <p:sp>
        <p:nvSpPr>
          <p:cNvPr id="17" name="AutoShape 17"/>
          <p:cNvSpPr/>
          <p:nvPr/>
        </p:nvSpPr>
        <p:spPr>
          <a:xfrm>
            <a:off x="6350000" y="3683000"/>
            <a:ext cx="5080000" cy="1905000"/>
          </a:xfrm>
          <a:prstGeom prst="roundRect">
            <a:avLst>
              <a:gd name="adj" fmla="val 6666"/>
            </a:avLst>
          </a:prstGeom>
          <a:solidFill>
            <a:srgbClr val="FFFFFF">
              <a:alpha val="8000"/>
            </a:srgbClr>
          </a:solidFill>
          <a:ln w="12700" cap="flat" cmpd="sng">
            <a:solidFill>
              <a:srgbClr val="FF6347">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3937000"/>
            <a:ext cx="609600" cy="609600"/>
          </a:xfrm>
          <a:prstGeom prst="rect">
            <a:avLst/>
          </a:prstGeom>
        </p:spPr>
      </p:pic>
      <p:sp>
        <p:nvSpPr>
          <p:cNvPr id="19" name="AutoShape 19"/>
          <p:cNvSpPr/>
          <p:nvPr/>
        </p:nvSpPr>
        <p:spPr>
          <a:xfrm>
            <a:off x="7366000" y="3873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6347"/>
                </a:solidFill>
                <a:latin typeface="Noto Sans SC"/>
                <a:ea typeface="Noto Sans SC"/>
                <a:cs typeface="Noto Sans SC"/>
                <a:sym typeface="Noto Sans SC"/>
              </a:rPr>
              <a:t>SOS确认界面</a:t>
            </a:r>
            <a:endParaRPr lang="en-US" sz="1100"/>
          </a:p>
        </p:txBody>
      </p:sp>
      <p:sp>
        <p:nvSpPr>
          <p:cNvPr id="20" name="AutoShape 20"/>
          <p:cNvSpPr/>
          <p:nvPr/>
        </p:nvSpPr>
        <p:spPr>
          <a:xfrm>
            <a:off x="7366000" y="4318000"/>
            <a:ext cx="3810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E5E7EB"/>
                </a:solidFill>
                <a:latin typeface="Noto Sans SC"/>
                <a:ea typeface="Noto Sans SC"/>
                <a:cs typeface="Noto Sans SC"/>
                <a:sym typeface="Noto Sans SC"/>
              </a:rPr>
              <a:t>长按SOS按钮后触发二次确认弹窗，防止误触。界面设计突出“确认”与“取消”选项，确保紧急情况下的操作安全。</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技术选型对比：模拟来电功能实现方案</a:t>
            </a:r>
            <a:endParaRPr lang="en-US" sz="1100"/>
          </a:p>
        </p:txBody>
      </p:sp>
      <p:graphicFrame>
        <p:nvGraphicFramePr>
          <p:cNvPr id="5" name="Table 5"/>
          <p:cNvGraphicFramePr>
            <a:graphicFrameLocks noGrp="1"/>
          </p:cNvGraphicFramePr>
          <p:nvPr/>
        </p:nvGraphicFramePr>
        <p:xfrm>
          <a:off x="762000" y="1397000"/>
          <a:ext cx="10668000" cy="3175000"/>
        </p:xfrm>
        <a:graphic>
          <a:graphicData uri="http://schemas.openxmlformats.org/drawingml/2006/table">
            <a:tbl>
              <a:tblPr>
                <a:effectLst/>
              </a:tblPr>
              <a:tblGrid>
                <a:gridCol w="1016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794000">
                  <a:extLst>
                    <a:ext uri="{9D8B030D-6E8A-4147-A177-3AD203B41FA5}">
                      <a16:colId xmlns:a16="http://schemas.microsoft.com/office/drawing/2014/main" val="20002"/>
                    </a:ext>
                  </a:extLst>
                </a:gridCol>
                <a:gridCol w="2794000">
                  <a:extLst>
                    <a:ext uri="{9D8B030D-6E8A-4147-A177-3AD203B41FA5}">
                      <a16:colId xmlns:a16="http://schemas.microsoft.com/office/drawing/2014/main" val="20003"/>
                    </a:ext>
                  </a:extLst>
                </a:gridCol>
                <a:gridCol w="2540000">
                  <a:extLst>
                    <a:ext uri="{9D8B030D-6E8A-4147-A177-3AD203B41FA5}">
                      <a16:colId xmlns:a16="http://schemas.microsoft.com/office/drawing/2014/main" val="20004"/>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方案</a:t>
                      </a:r>
                      <a:endParaRPr lang="en-US" sz="1100"/>
                    </a:p>
                  </a:txBody>
                  <a:tcPr marL="101600" marR="101600" marT="101600" marB="101600" anchor="ctr">
                    <a:lnL>
                      <a:noFill/>
                    </a:lnL>
                    <a:lnR>
                      <a:noFill/>
                    </a:lnR>
                    <a:lnT>
                      <a:noFill/>
                    </a:lnT>
                    <a:lnB>
                      <a:noFill/>
                    </a:lnB>
                    <a:solidFill>
                      <a:srgbClr val="00BFFF">
                        <a:alpha val="2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技术选型</a:t>
                      </a:r>
                      <a:endParaRPr lang="en-US" sz="1100"/>
                    </a:p>
                  </a:txBody>
                  <a:tcPr marL="101600" marR="101600" marT="101600" marB="101600" anchor="ctr">
                    <a:lnL>
                      <a:noFill/>
                    </a:lnL>
                    <a:lnR>
                      <a:noFill/>
                    </a:lnR>
                    <a:lnT>
                      <a:noFill/>
                    </a:lnT>
                    <a:lnB>
                      <a:noFill/>
                    </a:lnB>
                    <a:solidFill>
                      <a:srgbClr val="00BFFF">
                        <a:alpha val="2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优点</a:t>
                      </a:r>
                      <a:endParaRPr lang="en-US" sz="1100"/>
                    </a:p>
                  </a:txBody>
                  <a:tcPr marL="101600" marR="101600" marT="101600" marB="101600" anchor="ctr">
                    <a:lnL>
                      <a:noFill/>
                    </a:lnL>
                    <a:lnR>
                      <a:noFill/>
                    </a:lnR>
                    <a:lnT>
                      <a:noFill/>
                    </a:lnT>
                    <a:lnB>
                      <a:noFill/>
                    </a:lnB>
                    <a:solidFill>
                      <a:srgbClr val="00BFFF">
                        <a:alpha val="2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缺点</a:t>
                      </a:r>
                      <a:endParaRPr lang="en-US" sz="1100"/>
                    </a:p>
                  </a:txBody>
                  <a:tcPr marL="101600" marR="101600" marT="101600" marB="101600" anchor="ctr">
                    <a:lnL>
                      <a:noFill/>
                    </a:lnL>
                    <a:lnR>
                      <a:noFill/>
                    </a:lnR>
                    <a:lnT>
                      <a:noFill/>
                    </a:lnT>
                    <a:lnB>
                      <a:noFill/>
                    </a:lnB>
                    <a:solidFill>
                      <a:srgbClr val="00BFFF">
                        <a:alpha val="2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适用场景</a:t>
                      </a:r>
                      <a:endParaRPr lang="en-US" sz="1100"/>
                    </a:p>
                  </a:txBody>
                  <a:tcPr marL="101600" marR="101600" marT="101600" marB="101600" anchor="ctr">
                    <a:lnL>
                      <a:noFill/>
                    </a:lnL>
                    <a:lnR>
                      <a:noFill/>
                    </a:lnR>
                    <a:lnT>
                      <a:noFill/>
                    </a:lnT>
                    <a:lnB>
                      <a:noFill/>
                    </a:lnB>
                    <a:solidFill>
                      <a:srgbClr val="00BFFF">
                        <a:alpha val="20000"/>
                      </a:srgbClr>
                    </a:solidFill>
                  </a:tcPr>
                </a:tc>
                <a:extLst>
                  <a:ext uri="{0D108BD9-81ED-4DB2-BD59-A6C34878D82A}">
                    <a16:rowId xmlns:a16="http://schemas.microsoft.com/office/drawing/2014/main" val="10000"/>
                  </a:ext>
                </a:extLst>
              </a:tr>
              <a:tr h="889000">
                <a:tc>
                  <a:txBody>
                    <a:bodyPr/>
                    <a:lstStyle/>
                    <a:p>
                      <a:pPr indent="0" algn="ctr">
                        <a:lnSpc>
                          <a:spcPct val="100000"/>
                        </a:lnSpc>
                        <a:defRPr/>
                      </a:pPr>
                      <a:r>
                        <a:rPr lang="en-US" sz="1300" b="1" i="0" u="none" strike="noStrike">
                          <a:solidFill>
                            <a:srgbClr val="FFFFFF"/>
                          </a:solidFill>
                          <a:latin typeface="Noto Sans SC"/>
                          <a:ea typeface="Noto Sans SC"/>
                          <a:cs typeface="Noto Sans SC"/>
                          <a:sym typeface="Noto Sans SC"/>
                        </a:rPr>
                        <a:t>方案一</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ctr">
                        <a:lnSpc>
                          <a:spcPct val="100000"/>
                        </a:lnSpc>
                        <a:defRPr/>
                      </a:pPr>
                      <a:r>
                        <a:rPr lang="en-US" sz="1300" b="1" i="0" u="none" strike="noStrike">
                          <a:solidFill>
                            <a:srgbClr val="00BFFF"/>
                          </a:solidFill>
                          <a:latin typeface="Noto Sans SC"/>
                          <a:ea typeface="Noto Sans SC"/>
                          <a:cs typeface="Noto Sans SC"/>
                          <a:sym typeface="Noto Sans SC"/>
                        </a:rPr>
                        <a:t>Twilio API</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功能强大，可实现真实来电，支持自定义号码和语音，通话质量高。</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需付费，有学习和集成成本，依赖网络连接。</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追求功能完整性和真实性，提供最真实体验的场景。</a:t>
                      </a:r>
                      <a:endParaRPr lang="en-US" sz="1100"/>
                    </a:p>
                  </a:txBody>
                  <a:tcPr marL="101600" marR="101600" marT="101600" marB="101600" anchor="ctr">
                    <a:lnL>
                      <a:noFill/>
                    </a:lnL>
                    <a:lnR>
                      <a:noFill/>
                    </a:lnR>
                    <a:lnT>
                      <a:noFill/>
                    </a:lnT>
                    <a:lnB>
                      <a:noFill/>
                    </a:lnB>
                    <a:solidFill>
                      <a:srgbClr val="FFFFFF">
                        <a:alpha val="5000"/>
                      </a:srgbClr>
                    </a:solidFill>
                  </a:tcPr>
                </a:tc>
                <a:extLst>
                  <a:ext uri="{0D108BD9-81ED-4DB2-BD59-A6C34878D82A}">
                    <a16:rowId xmlns:a16="http://schemas.microsoft.com/office/drawing/2014/main" val="10001"/>
                  </a:ext>
                </a:extLst>
              </a:tr>
              <a:tr h="889000">
                <a:tc>
                  <a:txBody>
                    <a:bodyPr/>
                    <a:lstStyle/>
                    <a:p>
                      <a:pPr indent="0" algn="ctr">
                        <a:lnSpc>
                          <a:spcPct val="100000"/>
                        </a:lnSpc>
                        <a:defRPr/>
                      </a:pPr>
                      <a:r>
                        <a:rPr lang="en-US" sz="1300" b="1" i="0" u="none" strike="noStrike">
                          <a:solidFill>
                            <a:srgbClr val="FFFFFF"/>
                          </a:solidFill>
                          <a:latin typeface="Noto Sans SC"/>
                          <a:ea typeface="Noto Sans SC"/>
                          <a:cs typeface="Noto Sans SC"/>
                          <a:sym typeface="Noto Sans SC"/>
                        </a:rPr>
                        <a:t>方案二</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ctr">
                        <a:lnSpc>
                          <a:spcPct val="100000"/>
                        </a:lnSpc>
                        <a:defRPr/>
                      </a:pPr>
                      <a:r>
                        <a:rPr lang="en-US" sz="1300" b="1" i="0" u="none" strike="noStrike">
                          <a:solidFill>
                            <a:srgbClr val="00BFFF"/>
                          </a:solidFill>
                          <a:latin typeface="Noto Sans SC"/>
                          <a:ea typeface="Noto Sans SC"/>
                          <a:cs typeface="Noto Sans SC"/>
                          <a:sym typeface="Noto Sans SC"/>
                        </a:rPr>
                        <a:t>本地模拟来电</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无需网络，零成本，开发快，仅模拟界面和铃声。</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非真实来电，无法接听，功能简单，真实性较低。</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对真实性要求不高，追求快速实现和低成本的场景。</a:t>
                      </a:r>
                      <a:endParaRPr lang="en-US" sz="1100"/>
                    </a:p>
                  </a:txBody>
                  <a:tcPr marL="101600" marR="101600" marT="101600" marB="101600" anchor="ctr">
                    <a:lnL>
                      <a:noFill/>
                    </a:lnL>
                    <a:lnR>
                      <a:noFill/>
                    </a:lnR>
                    <a:lnT>
                      <a:noFill/>
                    </a:lnT>
                    <a:lnB>
                      <a:noFill/>
                    </a:lnB>
                    <a:solidFill>
                      <a:srgbClr val="FFFFFF">
                        <a:alpha val="5000"/>
                      </a:srgbClr>
                    </a:solidFill>
                  </a:tcPr>
                </a:tc>
                <a:extLst>
                  <a:ext uri="{0D108BD9-81ED-4DB2-BD59-A6C34878D82A}">
                    <a16:rowId xmlns:a16="http://schemas.microsoft.com/office/drawing/2014/main" val="10002"/>
                  </a:ext>
                </a:extLst>
              </a:tr>
              <a:tr h="889000">
                <a:tc>
                  <a:txBody>
                    <a:bodyPr/>
                    <a:lstStyle/>
                    <a:p>
                      <a:pPr indent="0" algn="ctr">
                        <a:lnSpc>
                          <a:spcPct val="100000"/>
                        </a:lnSpc>
                        <a:defRPr/>
                      </a:pPr>
                      <a:r>
                        <a:rPr lang="en-US" sz="1300" b="1" i="0" u="none" strike="noStrike">
                          <a:solidFill>
                            <a:srgbClr val="FFFFFF"/>
                          </a:solidFill>
                          <a:latin typeface="Noto Sans SC"/>
                          <a:ea typeface="Noto Sans SC"/>
                          <a:cs typeface="Noto Sans SC"/>
                          <a:sym typeface="Noto Sans SC"/>
                        </a:rPr>
                        <a:t>方案三</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ctr">
                        <a:lnSpc>
                          <a:spcPct val="100000"/>
                        </a:lnSpc>
                        <a:defRPr/>
                      </a:pPr>
                      <a:r>
                        <a:rPr lang="en-US" sz="1300" b="1" i="0" u="none" strike="noStrike">
                          <a:solidFill>
                            <a:srgbClr val="00BFFF"/>
                          </a:solidFill>
                          <a:latin typeface="Noto Sans SC"/>
                          <a:ea typeface="Noto Sans SC"/>
                          <a:cs typeface="Noto Sans SC"/>
                          <a:sym typeface="Noto Sans SC"/>
                        </a:rPr>
                        <a:t>第三方APP集成</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开发成本最低，只需调用已有APP接口。</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依赖用户安装特定APP，体验不一致，可控性差。</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l">
                        <a:lnSpc>
                          <a:spcPct val="100000"/>
                        </a:lnSpc>
                        <a:defRPr/>
                      </a:pPr>
                      <a:r>
                        <a:rPr lang="en-US" sz="1200" b="0" i="0" u="none" strike="noStrike">
                          <a:solidFill>
                            <a:srgbClr val="E5E7EB"/>
                          </a:solidFill>
                          <a:latin typeface="Noto Sans SC"/>
                          <a:ea typeface="Noto Sans SC"/>
                          <a:cs typeface="Noto Sans SC"/>
                          <a:sym typeface="Noto Sans SC"/>
                        </a:rPr>
                        <a:t>快速原型验证，不追求最终产品化的场景。</a:t>
                      </a:r>
                      <a:endParaRPr lang="en-US" sz="1100"/>
                    </a:p>
                  </a:txBody>
                  <a:tcPr marL="101600" marR="101600" marT="101600" marB="101600" anchor="ctr">
                    <a:lnL>
                      <a:noFill/>
                    </a:lnL>
                    <a:lnR>
                      <a:noFill/>
                    </a:lnR>
                    <a:lnT>
                      <a:noFill/>
                    </a:lnT>
                    <a:lnB>
                      <a:noFill/>
                    </a:lnB>
                    <a:solidFill>
                      <a:srgbClr val="FFFFFF">
                        <a:alpha val="5000"/>
                      </a:srgbClr>
                    </a:solidFill>
                  </a:tcPr>
                </a:tc>
                <a:extLst>
                  <a:ext uri="{0D108BD9-81ED-4DB2-BD59-A6C34878D82A}">
                    <a16:rowId xmlns:a16="http://schemas.microsoft.com/office/drawing/2014/main" val="10003"/>
                  </a:ext>
                </a:extLst>
              </a:tr>
            </a:tbl>
          </a:graphicData>
        </a:graphic>
      </p:graphicFrame>
      <p:sp>
        <p:nvSpPr>
          <p:cNvPr id="6" name="AutoShape 6"/>
          <p:cNvSpPr/>
          <p:nvPr/>
        </p:nvSpPr>
        <p:spPr>
          <a:xfrm>
            <a:off x="762000" y="5461000"/>
            <a:ext cx="10668000" cy="762000"/>
          </a:xfrm>
          <a:prstGeom prst="roundRect">
            <a:avLst>
              <a:gd name="adj" fmla="val 16666"/>
            </a:avLst>
          </a:prstGeom>
          <a:solidFill>
            <a:srgbClr val="FFB6C1">
              <a:alpha val="15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689600"/>
            <a:ext cx="304800" cy="304800"/>
          </a:xfrm>
          <a:prstGeom prst="rect">
            <a:avLst/>
          </a:prstGeom>
        </p:spPr>
      </p:pic>
      <p:sp>
        <p:nvSpPr>
          <p:cNvPr id="8" name="AutoShape 8"/>
          <p:cNvSpPr/>
          <p:nvPr/>
        </p:nvSpPr>
        <p:spPr>
          <a:xfrm>
            <a:off x="1397000" y="5588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E5E7EB"/>
                </a:solidFill>
                <a:latin typeface="Noto Sans SC"/>
                <a:ea typeface="Noto Sans SC"/>
                <a:cs typeface="Noto Sans SC"/>
                <a:sym typeface="Noto Sans SC"/>
              </a:rPr>
              <a:t>根据团队的技术能力、开发时间和预算限制，讨论并选择最适合的模拟来电实现方案。</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8051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技术实现详解：ML Kit车牌识别</a:t>
            </a:r>
            <a:endParaRPr lang="en-US" sz="1100"/>
          </a:p>
        </p:txBody>
      </p:sp>
      <p:sp>
        <p:nvSpPr>
          <p:cNvPr id="5" name="AutoShape 5"/>
          <p:cNvSpPr/>
          <p:nvPr/>
        </p:nvSpPr>
        <p:spPr>
          <a:xfrm>
            <a:off x="762000" y="1270000"/>
            <a:ext cx="10668000" cy="457200"/>
          </a:xfrm>
          <a:prstGeom prst="roundRect">
            <a:avLst>
              <a:gd name="adj" fmla="val 27777"/>
            </a:avLst>
          </a:prstGeom>
          <a:solidFill>
            <a:srgbClr val="00BFFF">
              <a:alpha val="15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371600"/>
            <a:ext cx="254000" cy="254000"/>
          </a:xfrm>
          <a:prstGeom prst="rect">
            <a:avLst/>
          </a:prstGeom>
        </p:spPr>
      </p:pic>
      <p:sp>
        <p:nvSpPr>
          <p:cNvPr id="7" name="AutoShape 7"/>
          <p:cNvSpPr/>
          <p:nvPr/>
        </p:nvSpPr>
        <p:spPr>
          <a:xfrm>
            <a:off x="1333500" y="1346200"/>
            <a:ext cx="990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技术选型：</a:t>
            </a:r>
            <a:r>
              <a:rPr lang="en-US" sz="1400" b="0" i="0" u="none" strike="noStrike">
                <a:solidFill>
                  <a:srgbClr val="DCDCDC"/>
                </a:solidFill>
                <a:latin typeface="Noto Sans SC"/>
                <a:ea typeface="Noto Sans SC"/>
                <a:cs typeface="Noto Sans SC"/>
                <a:sym typeface="Noto Sans SC"/>
              </a:rPr>
              <a:t>Google ML Kit - Text Recognition API（跨Android/iOS平台）</a:t>
            </a:r>
            <a:endParaRPr lang="en-US" sz="1100"/>
          </a:p>
        </p:txBody>
      </p:sp>
      <p:sp>
        <p:nvSpPr>
          <p:cNvPr id="8" name="AutoShape 8"/>
          <p:cNvSpPr/>
          <p:nvPr/>
        </p:nvSpPr>
        <p:spPr>
          <a:xfrm>
            <a:off x="762000" y="1905000"/>
            <a:ext cx="5207000" cy="952500"/>
          </a:xfrm>
          <a:prstGeom prst="roundRect">
            <a:avLst>
              <a:gd name="adj" fmla="val 6666"/>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2197100"/>
            <a:ext cx="355600" cy="355600"/>
          </a:xfrm>
          <a:prstGeom prst="rect">
            <a:avLst/>
          </a:prstGeom>
        </p:spPr>
      </p:pic>
      <p:sp>
        <p:nvSpPr>
          <p:cNvPr id="10" name="AutoShape 10"/>
          <p:cNvSpPr/>
          <p:nvPr/>
        </p:nvSpPr>
        <p:spPr>
          <a:xfrm>
            <a:off x="1397000" y="1968500"/>
            <a:ext cx="4445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01. 启用API服务</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在Firebase控制台中，启用“ML Kit -&gt; Text Recognition”服务。</a:t>
            </a:r>
          </a:p>
        </p:txBody>
      </p:sp>
      <p:sp>
        <p:nvSpPr>
          <p:cNvPr id="11" name="AutoShape 11"/>
          <p:cNvSpPr/>
          <p:nvPr/>
        </p:nvSpPr>
        <p:spPr>
          <a:xfrm>
            <a:off x="762000" y="2984500"/>
            <a:ext cx="5207000" cy="952500"/>
          </a:xfrm>
          <a:prstGeom prst="roundRect">
            <a:avLst>
              <a:gd name="adj" fmla="val 6666"/>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3276600"/>
            <a:ext cx="355600" cy="355600"/>
          </a:xfrm>
          <a:prstGeom prst="rect">
            <a:avLst/>
          </a:prstGeom>
        </p:spPr>
      </p:pic>
      <p:sp>
        <p:nvSpPr>
          <p:cNvPr id="13" name="AutoShape 13"/>
          <p:cNvSpPr/>
          <p:nvPr/>
        </p:nvSpPr>
        <p:spPr>
          <a:xfrm>
            <a:off x="1397000" y="3048000"/>
            <a:ext cx="4445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02. 添加依赖库</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在Android项目的build.gradle中添加ML Kit文本识别依赖。</a:t>
            </a:r>
          </a:p>
        </p:txBody>
      </p:sp>
      <p:sp>
        <p:nvSpPr>
          <p:cNvPr id="14" name="AutoShape 14"/>
          <p:cNvSpPr/>
          <p:nvPr/>
        </p:nvSpPr>
        <p:spPr>
          <a:xfrm>
            <a:off x="762000" y="4064000"/>
            <a:ext cx="5207000" cy="952500"/>
          </a:xfrm>
          <a:prstGeom prst="roundRect">
            <a:avLst>
              <a:gd name="adj" fmla="val 6666"/>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4356100"/>
            <a:ext cx="355600" cy="355600"/>
          </a:xfrm>
          <a:prstGeom prst="rect">
            <a:avLst/>
          </a:prstGeom>
        </p:spPr>
      </p:pic>
      <p:sp>
        <p:nvSpPr>
          <p:cNvPr id="16" name="AutoShape 16"/>
          <p:cNvSpPr/>
          <p:nvPr/>
        </p:nvSpPr>
        <p:spPr>
          <a:xfrm>
            <a:off x="1397000" y="4127500"/>
            <a:ext cx="4445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03. 获取图像数据</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调用相机API拍摄车牌，或从相册选取清晰图片。</a:t>
            </a:r>
          </a:p>
        </p:txBody>
      </p:sp>
      <p:sp>
        <p:nvSpPr>
          <p:cNvPr id="17" name="AutoShape 17"/>
          <p:cNvSpPr/>
          <p:nvPr/>
        </p:nvSpPr>
        <p:spPr>
          <a:xfrm>
            <a:off x="6223000" y="1905000"/>
            <a:ext cx="5207000" cy="952500"/>
          </a:xfrm>
          <a:prstGeom prst="roundRect">
            <a:avLst>
              <a:gd name="adj" fmla="val 6666"/>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13500" y="2197100"/>
            <a:ext cx="355600" cy="355600"/>
          </a:xfrm>
          <a:prstGeom prst="rect">
            <a:avLst/>
          </a:prstGeom>
        </p:spPr>
      </p:pic>
      <p:sp>
        <p:nvSpPr>
          <p:cNvPr id="19" name="AutoShape 19"/>
          <p:cNvSpPr/>
          <p:nvPr/>
        </p:nvSpPr>
        <p:spPr>
          <a:xfrm>
            <a:off x="6858000" y="1968500"/>
            <a:ext cx="4445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04. 调用识别API</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将图像数据传入TextRecognizer.process()方法进行识别。</a:t>
            </a:r>
          </a:p>
        </p:txBody>
      </p:sp>
      <p:sp>
        <p:nvSpPr>
          <p:cNvPr id="20" name="AutoShape 20"/>
          <p:cNvSpPr/>
          <p:nvPr/>
        </p:nvSpPr>
        <p:spPr>
          <a:xfrm>
            <a:off x="6223000" y="2984500"/>
            <a:ext cx="5207000" cy="952500"/>
          </a:xfrm>
          <a:prstGeom prst="roundRect">
            <a:avLst>
              <a:gd name="adj" fmla="val 6666"/>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13500" y="3276600"/>
            <a:ext cx="355600" cy="355600"/>
          </a:xfrm>
          <a:prstGeom prst="rect">
            <a:avLst/>
          </a:prstGeom>
        </p:spPr>
      </p:pic>
      <p:sp>
        <p:nvSpPr>
          <p:cNvPr id="22" name="AutoShape 22"/>
          <p:cNvSpPr/>
          <p:nvPr/>
        </p:nvSpPr>
        <p:spPr>
          <a:xfrm>
            <a:off x="6858000" y="3048000"/>
            <a:ext cx="4445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05. 处理识别结果</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利用正则表达式从文本块中筛选符合车牌格式的字符串。</a:t>
            </a:r>
          </a:p>
        </p:txBody>
      </p:sp>
      <p:sp>
        <p:nvSpPr>
          <p:cNvPr id="23" name="AutoShape 23"/>
          <p:cNvSpPr/>
          <p:nvPr/>
        </p:nvSpPr>
        <p:spPr>
          <a:xfrm>
            <a:off x="6223000" y="4064000"/>
            <a:ext cx="5207000" cy="952500"/>
          </a:xfrm>
          <a:prstGeom prst="roundRect">
            <a:avLst>
              <a:gd name="adj" fmla="val 6666"/>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413500" y="4356100"/>
            <a:ext cx="355600" cy="355600"/>
          </a:xfrm>
          <a:prstGeom prst="rect">
            <a:avLst/>
          </a:prstGeom>
        </p:spPr>
      </p:pic>
      <p:sp>
        <p:nvSpPr>
          <p:cNvPr id="25" name="AutoShape 25"/>
          <p:cNvSpPr/>
          <p:nvPr/>
        </p:nvSpPr>
        <p:spPr>
          <a:xfrm>
            <a:off x="6858000" y="4127500"/>
            <a:ext cx="4445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06. 结果展示与确认</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自动填充识别结果到输入框，提示用户确认准确性。</a:t>
            </a:r>
          </a:p>
        </p:txBody>
      </p:sp>
      <p:sp>
        <p:nvSpPr>
          <p:cNvPr id="26" name="AutoShape 26"/>
          <p:cNvSpPr/>
          <p:nvPr/>
        </p:nvSpPr>
        <p:spPr>
          <a:xfrm>
            <a:off x="762000" y="5207000"/>
            <a:ext cx="10668000" cy="508000"/>
          </a:xfrm>
          <a:prstGeom prst="roundRect">
            <a:avLst>
              <a:gd name="adj" fmla="val 25000"/>
            </a:avLst>
          </a:prstGeom>
          <a:solidFill>
            <a:srgbClr val="FFB6C1">
              <a:alpha val="15000"/>
            </a:srgbClr>
          </a:solidFill>
          <a:ln w="12700" cap="flat" cmpd="sng">
            <a:solidFill>
              <a:srgbClr val="FFB6C1">
                <a:alpha val="10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52500" y="5334000"/>
            <a:ext cx="254000" cy="254000"/>
          </a:xfrm>
          <a:prstGeom prst="rect">
            <a:avLst/>
          </a:prstGeom>
        </p:spPr>
      </p:pic>
      <p:sp>
        <p:nvSpPr>
          <p:cNvPr id="28" name="AutoShape 28"/>
          <p:cNvSpPr/>
          <p:nvPr/>
        </p:nvSpPr>
        <p:spPr>
          <a:xfrm>
            <a:off x="1333500" y="5308600"/>
            <a:ext cx="990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B6C1"/>
                </a:solidFill>
                <a:latin typeface="Noto Sans SC"/>
                <a:ea typeface="Noto Sans SC"/>
                <a:cs typeface="Noto Sans SC"/>
                <a:sym typeface="Noto Sans SC"/>
              </a:rPr>
              <a:t>注意事项：</a:t>
            </a:r>
            <a:r>
              <a:rPr lang="en-US" sz="1300" b="0" i="0" u="none" strike="noStrike">
                <a:solidFill>
                  <a:srgbClr val="DCDCDC"/>
                </a:solidFill>
                <a:latin typeface="Noto Sans SC"/>
                <a:ea typeface="Noto Sans SC"/>
                <a:cs typeface="Noto Sans SC"/>
                <a:sym typeface="Noto Sans SC"/>
              </a:rPr>
              <a:t>识别准确率受光线/角度影响，需提供拍摄指引；必须提供手动输入作为备选方案。</a:t>
            </a:r>
            <a:endParaRPr lang="en-US" sz="1100"/>
          </a:p>
        </p:txBody>
      </p:sp>
      <p:sp>
        <p:nvSpPr>
          <p:cNvPr id="29" name="AutoShape 29"/>
          <p:cNvSpPr/>
          <p:nvPr/>
        </p:nvSpPr>
        <p:spPr>
          <a:xfrm>
            <a:off x="762000" y="5842000"/>
            <a:ext cx="10668000" cy="508000"/>
          </a:xfrm>
          <a:prstGeom prst="roundRect">
            <a:avLst>
              <a:gd name="adj" fmla="val 25000"/>
            </a:avLst>
          </a:prstGeom>
          <a:solidFill>
            <a:srgbClr val="E6E6FA">
              <a:alpha val="15000"/>
            </a:srgbClr>
          </a:solidFill>
          <a:ln w="12700" cap="flat" cmpd="sng">
            <a:solidFill>
              <a:srgbClr val="E6E6FA">
                <a:alpha val="100000"/>
              </a:srgbClr>
            </a:solid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52500" y="5969000"/>
            <a:ext cx="254000" cy="254000"/>
          </a:xfrm>
          <a:prstGeom prst="rect">
            <a:avLst/>
          </a:prstGeom>
        </p:spPr>
      </p:pic>
      <p:sp>
        <p:nvSpPr>
          <p:cNvPr id="31" name="AutoShape 31"/>
          <p:cNvSpPr/>
          <p:nvPr/>
        </p:nvSpPr>
        <p:spPr>
          <a:xfrm>
            <a:off x="1333500" y="5943600"/>
            <a:ext cx="990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6E6FA"/>
                </a:solidFill>
                <a:latin typeface="Noto Sans SC"/>
                <a:ea typeface="Noto Sans SC"/>
                <a:cs typeface="Noto Sans SC"/>
                <a:sym typeface="Noto Sans SC"/>
              </a:rPr>
              <a:t>行动指令：</a:t>
            </a:r>
            <a:r>
              <a:rPr lang="en-US" sz="1300" b="0" i="0" u="none" strike="noStrike">
                <a:solidFill>
                  <a:srgbClr val="DCDCDC"/>
                </a:solidFill>
                <a:latin typeface="Noto Sans SC"/>
                <a:ea typeface="Noto Sans SC"/>
                <a:cs typeface="Noto Sans SC"/>
                <a:sym typeface="Noto Sans SC"/>
              </a:rPr>
              <a:t>尝试编写调用Google ML Kit进行文本识别的核心代码片段。</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AI关怀功能设计：从“触发”到“对话”</a:t>
            </a:r>
            <a:endParaRPr lang="en-US" sz="1100"/>
          </a:p>
        </p:txBody>
      </p:sp>
      <p:sp>
        <p:nvSpPr>
          <p:cNvPr id="5" name="AutoShape 5"/>
          <p:cNvSpPr/>
          <p:nvPr/>
        </p:nvSpPr>
        <p:spPr>
          <a:xfrm>
            <a:off x="762000" y="1397000"/>
            <a:ext cx="4826000" cy="3302000"/>
          </a:xfrm>
          <a:prstGeom prst="roundRect">
            <a:avLst>
              <a:gd name="adj" fmla="val 3846"/>
            </a:avLst>
          </a:prstGeom>
          <a:solidFill>
            <a:srgbClr val="00B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5240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触发机制优化</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032000"/>
            <a:ext cx="304800" cy="304800"/>
          </a:xfrm>
          <a:prstGeom prst="rect">
            <a:avLst/>
          </a:prstGeom>
        </p:spPr>
      </p:pic>
      <p:sp>
        <p:nvSpPr>
          <p:cNvPr id="8" name="AutoShape 8"/>
          <p:cNvSpPr/>
          <p:nvPr/>
        </p:nvSpPr>
        <p:spPr>
          <a:xfrm>
            <a:off x="1333500" y="1968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时间触发：</a:t>
            </a:r>
            <a:r>
              <a:rPr lang="en-US" sz="1400" b="0" i="0" u="none" strike="noStrike">
                <a:solidFill>
                  <a:srgbClr val="FFFFFF">
                    <a:alpha val="80000"/>
                  </a:srgbClr>
                </a:solidFill>
                <a:latin typeface="Noto Sans SC"/>
                <a:ea typeface="Noto Sans SC"/>
                <a:cs typeface="Noto Sans SC"/>
                <a:sym typeface="Noto Sans SC"/>
              </a:rPr>
              <a:t>行程开始后每10分钟或预计到达一半时主动询问状态。</a:t>
            </a:r>
            <a:endParaRPr lang="en-US" sz="1100"/>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2730500"/>
            <a:ext cx="304800" cy="304800"/>
          </a:xfrm>
          <a:prstGeom prst="rect">
            <a:avLst/>
          </a:prstGeom>
        </p:spPr>
      </p:pic>
      <p:sp>
        <p:nvSpPr>
          <p:cNvPr id="10" name="AutoShape 10"/>
          <p:cNvSpPr/>
          <p:nvPr/>
        </p:nvSpPr>
        <p:spPr>
          <a:xfrm>
            <a:off x="1333500" y="26670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位置触发：</a:t>
            </a:r>
            <a:r>
              <a:rPr lang="en-US" sz="1400" b="0" i="0" u="none" strike="noStrike">
                <a:solidFill>
                  <a:srgbClr val="FFFFFF">
                    <a:alpha val="80000"/>
                  </a:srgbClr>
                </a:solidFill>
                <a:latin typeface="Noto Sans SC"/>
                <a:ea typeface="Noto Sans SC"/>
                <a:cs typeface="Noto Sans SC"/>
                <a:sym typeface="Noto Sans SC"/>
              </a:rPr>
              <a:t>进入标记的“危险区域”或偏僻路段时主动发起关怀。</a:t>
            </a:r>
            <a:endParaRPr lang="en-US" sz="1100"/>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3429000"/>
            <a:ext cx="304800" cy="304800"/>
          </a:xfrm>
          <a:prstGeom prst="rect">
            <a:avLst/>
          </a:prstGeom>
        </p:spPr>
      </p:pic>
      <p:sp>
        <p:nvSpPr>
          <p:cNvPr id="12" name="AutoShape 12"/>
          <p:cNvSpPr/>
          <p:nvPr/>
        </p:nvSpPr>
        <p:spPr>
          <a:xfrm>
            <a:off x="1333500" y="3365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行为触发：</a:t>
            </a:r>
            <a:r>
              <a:rPr lang="en-US" sz="1400" b="0" i="0" u="none" strike="noStrike">
                <a:solidFill>
                  <a:srgbClr val="FFFFFF">
                    <a:alpha val="80000"/>
                  </a:srgbClr>
                </a:solidFill>
                <a:latin typeface="Noto Sans SC"/>
                <a:ea typeface="Noto Sans SC"/>
                <a:cs typeface="Noto Sans SC"/>
                <a:sym typeface="Noto Sans SC"/>
              </a:rPr>
              <a:t>检测到长时间静止、突然加速或路线严重偏离时触发。</a:t>
            </a:r>
            <a:endParaRPr lang="en-US" sz="1100"/>
          </a:p>
        </p:txBody>
      </p:sp>
      <p:sp>
        <p:nvSpPr>
          <p:cNvPr id="13" name="AutoShape 13"/>
          <p:cNvSpPr/>
          <p:nvPr/>
        </p:nvSpPr>
        <p:spPr>
          <a:xfrm>
            <a:off x="5842000" y="1397000"/>
            <a:ext cx="5588000" cy="3302000"/>
          </a:xfrm>
          <a:prstGeom prst="roundRect">
            <a:avLst>
              <a:gd name="adj" fmla="val 3846"/>
            </a:avLst>
          </a:prstGeom>
          <a:solidFill>
            <a:srgbClr val="E6E6FA">
              <a:alpha val="5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032500" y="15240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B6C1"/>
                </a:solidFill>
                <a:latin typeface="Noto Sans SC"/>
                <a:ea typeface="Noto Sans SC"/>
                <a:cs typeface="Noto Sans SC"/>
                <a:sym typeface="Noto Sans SC"/>
              </a:rPr>
              <a:t>对话流程示例：用户长时间静止</a:t>
            </a:r>
            <a:endParaRPr lang="en-US" sz="1100"/>
          </a:p>
        </p:txBody>
      </p:sp>
      <p:sp>
        <p:nvSpPr>
          <p:cNvPr id="15" name="AutoShape 15"/>
          <p:cNvSpPr/>
          <p:nvPr/>
        </p:nvSpPr>
        <p:spPr>
          <a:xfrm>
            <a:off x="6032500" y="2032000"/>
            <a:ext cx="4953000" cy="508000"/>
          </a:xfrm>
          <a:prstGeom prst="roundRect">
            <a:avLst>
              <a:gd name="adj" fmla="val 25000"/>
            </a:avLst>
          </a:prstGeom>
          <a:solidFill>
            <a:srgbClr val="00BFFF">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FFFFFF"/>
                </a:solidFill>
                <a:latin typeface="Noto Sans SC"/>
                <a:ea typeface="Noto Sans SC"/>
                <a:cs typeface="Noto Sans SC"/>
                <a:sym typeface="Noto Sans SC"/>
              </a:rPr>
              <a:t>AI：“我注意到你已停留一段时间，一切还好吗？是不是遇到什么问题了？”</a:t>
            </a:r>
            <a:endParaRPr lang="en-US" sz="1100"/>
          </a:p>
        </p:txBody>
      </p:sp>
      <p:sp>
        <p:nvSpPr>
          <p:cNvPr id="16" name="AutoShape 16"/>
          <p:cNvSpPr/>
          <p:nvPr/>
        </p:nvSpPr>
        <p:spPr>
          <a:xfrm>
            <a:off x="6032500" y="2603500"/>
            <a:ext cx="4953000" cy="508000"/>
          </a:xfrm>
          <a:prstGeom prst="roundRect">
            <a:avLst>
              <a:gd name="adj" fmla="val 25000"/>
            </a:avLst>
          </a:prstGeom>
          <a:solidFill>
            <a:srgbClr val="FFB6C1">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FFFFFF"/>
                </a:solidFill>
                <a:latin typeface="Noto Sans SC"/>
                <a:ea typeface="Noto Sans SC"/>
                <a:cs typeface="Noto Sans SC"/>
                <a:sym typeface="Noto Sans SC"/>
              </a:rPr>
              <a:t>用户：“我没事，在路边等朋友。” → AI：“好的，那我就在这里安静地陪着你。”</a:t>
            </a:r>
            <a:endParaRPr lang="en-US" sz="1100"/>
          </a:p>
        </p:txBody>
      </p:sp>
      <p:sp>
        <p:nvSpPr>
          <p:cNvPr id="17" name="AutoShape 17"/>
          <p:cNvSpPr/>
          <p:nvPr/>
        </p:nvSpPr>
        <p:spPr>
          <a:xfrm>
            <a:off x="6032500" y="3175000"/>
            <a:ext cx="4953000" cy="508000"/>
          </a:xfrm>
          <a:prstGeom prst="roundRect">
            <a:avLst>
              <a:gd name="adj" fmla="val 25000"/>
            </a:avLst>
          </a:prstGeom>
          <a:solidFill>
            <a:srgbClr val="FFB6C1">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FFFFFF"/>
                </a:solidFill>
                <a:latin typeface="Noto Sans SC"/>
                <a:ea typeface="Noto Sans SC"/>
                <a:cs typeface="Noto Sans SC"/>
                <a:sym typeface="Noto Sans SC"/>
              </a:rPr>
              <a:t>用户：“我感觉有点害怕。” → AI：“已通知守护者，需要我陪你聊天吗？”</a:t>
            </a:r>
            <a:endParaRPr lang="en-US" sz="1100"/>
          </a:p>
        </p:txBody>
      </p:sp>
      <p:sp>
        <p:nvSpPr>
          <p:cNvPr id="18" name="AutoShape 18"/>
          <p:cNvSpPr/>
          <p:nvPr/>
        </p:nvSpPr>
        <p:spPr>
          <a:xfrm>
            <a:off x="6032500" y="3746500"/>
            <a:ext cx="4953000" cy="508000"/>
          </a:xfrm>
          <a:prstGeom prst="roundRect">
            <a:avLst>
              <a:gd name="adj" fmla="val 25000"/>
            </a:avLst>
          </a:prstGeom>
          <a:solidFill>
            <a:srgbClr val="FFB6C1">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FFFFFF"/>
                </a:solidFill>
                <a:latin typeface="Noto Sans SC"/>
                <a:ea typeface="Noto Sans SC"/>
                <a:cs typeface="Noto Sans SC"/>
                <a:sym typeface="Noto Sans SC"/>
              </a:rPr>
              <a:t>用户：“有人跟着我！” → AI：“已发紧急求助，请前往人多处！”</a:t>
            </a:r>
            <a:endParaRPr lang="en-US" sz="1100"/>
          </a:p>
        </p:txBody>
      </p:sp>
      <p:sp>
        <p:nvSpPr>
          <p:cNvPr id="19" name="AutoShape 19"/>
          <p:cNvSpPr/>
          <p:nvPr/>
        </p:nvSpPr>
        <p:spPr>
          <a:xfrm>
            <a:off x="762000" y="4953000"/>
            <a:ext cx="10668000" cy="1016000"/>
          </a:xfrm>
          <a:prstGeom prst="roundRect">
            <a:avLst>
              <a:gd name="adj" fmla="val 12500"/>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270500"/>
            <a:ext cx="406400" cy="406400"/>
          </a:xfrm>
          <a:prstGeom prst="rect">
            <a:avLst/>
          </a:prstGeom>
        </p:spPr>
      </p:pic>
      <p:sp>
        <p:nvSpPr>
          <p:cNvPr id="21" name="AutoShape 21"/>
          <p:cNvSpPr/>
          <p:nvPr/>
        </p:nvSpPr>
        <p:spPr>
          <a:xfrm>
            <a:off x="1524000" y="5143500"/>
            <a:ext cx="9652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学生行动指令</a:t>
            </a:r>
            <a:endParaRPr lang="en-US" sz="1100"/>
          </a:p>
        </p:txBody>
      </p:sp>
      <p:sp>
        <p:nvSpPr>
          <p:cNvPr id="22" name="AutoShape 22"/>
          <p:cNvSpPr/>
          <p:nvPr/>
        </p:nvSpPr>
        <p:spPr>
          <a:xfrm>
            <a:off x="1524000" y="5524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solidFill>
                <a:latin typeface="Noto Sans SC"/>
                <a:ea typeface="Noto Sans SC"/>
                <a:cs typeface="Noto Sans SC"/>
                <a:sym typeface="Noto Sans SC"/>
              </a:rPr>
              <a:t>选择一个新的触发场景（如用户偏离路线），设计一个完整的AI关怀对话流程。</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8051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AI对话模型选型与提示词工程实践</a:t>
            </a:r>
            <a:endParaRPr lang="en-US" sz="1100"/>
          </a:p>
        </p:txBody>
      </p:sp>
      <p:sp>
        <p:nvSpPr>
          <p:cNvPr id="5" name="AutoShape 5"/>
          <p:cNvSpPr/>
          <p:nvPr/>
        </p:nvSpPr>
        <p:spPr>
          <a:xfrm>
            <a:off x="762000" y="1397000"/>
            <a:ext cx="5080000" cy="3048000"/>
          </a:xfrm>
          <a:prstGeom prst="roundRect">
            <a:avLst>
              <a:gd name="adj" fmla="val 4166"/>
            </a:avLst>
          </a:prstGeom>
          <a:solidFill>
            <a:srgbClr val="00B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524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模型选型对比</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9000" y="2032000"/>
            <a:ext cx="304800" cy="304800"/>
          </a:xfrm>
          <a:prstGeom prst="rect">
            <a:avLst/>
          </a:prstGeom>
        </p:spPr>
      </p:pic>
      <p:sp>
        <p:nvSpPr>
          <p:cNvPr id="8" name="AutoShape 8"/>
          <p:cNvSpPr/>
          <p:nvPr/>
        </p:nvSpPr>
        <p:spPr>
          <a:xfrm>
            <a:off x="1270000" y="1968500"/>
            <a:ext cx="444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方案一：规则引擎</a:t>
            </a:r>
            <a:endParaRPr lang="en-US" sz="1100"/>
          </a:p>
          <a:p>
            <a:pPr indent="0" algn="l">
              <a:lnSpc>
                <a:spcPct val="125000"/>
              </a:lnSpc>
            </a:pPr>
            <a:r>
              <a:rPr lang="en-US" sz="1200" b="0" i="0" u="none" strike="noStrike">
                <a:solidFill>
                  <a:srgbClr val="FFFFFF">
                    <a:alpha val="80000"/>
                  </a:srgbClr>
                </a:solidFill>
                <a:latin typeface="Noto Sans SC"/>
                <a:ea typeface="Noto Sans SC"/>
                <a:cs typeface="Noto Sans SC"/>
                <a:sym typeface="Noto Sans SC"/>
              </a:rPr>
              <a:t>基于预设关键词匹配，响应快、成本低。但灵活性差，无法处理复杂对话。</a:t>
            </a: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9000" y="3048000"/>
            <a:ext cx="304800" cy="304800"/>
          </a:xfrm>
          <a:prstGeom prst="rect">
            <a:avLst/>
          </a:prstGeom>
        </p:spPr>
      </p:pic>
      <p:sp>
        <p:nvSpPr>
          <p:cNvPr id="10" name="AutoShape 10"/>
          <p:cNvSpPr/>
          <p:nvPr/>
        </p:nvSpPr>
        <p:spPr>
          <a:xfrm>
            <a:off x="1270000" y="2984500"/>
            <a:ext cx="444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方案二：大语言模型API (ChatGPT)</a:t>
            </a:r>
            <a:endParaRPr lang="en-US" sz="1100"/>
          </a:p>
          <a:p>
            <a:pPr indent="0" algn="l">
              <a:lnSpc>
                <a:spcPct val="125000"/>
              </a:lnSpc>
            </a:pPr>
            <a:r>
              <a:rPr lang="en-US" sz="1200" b="0" i="0" u="none" strike="noStrike">
                <a:solidFill>
                  <a:srgbClr val="FFFFFF">
                    <a:alpha val="80000"/>
                  </a:srgbClr>
                </a:solidFill>
                <a:latin typeface="Noto Sans SC"/>
                <a:ea typeface="Noto Sans SC"/>
                <a:cs typeface="Noto Sans SC"/>
                <a:sym typeface="Noto Sans SC"/>
              </a:rPr>
              <a:t>语义理解强，回复自然智能。但需付费、依赖网络，存在数据隐私风险。</a:t>
            </a:r>
          </a:p>
        </p:txBody>
      </p:sp>
      <p:sp>
        <p:nvSpPr>
          <p:cNvPr id="11" name="AutoShape 11"/>
          <p:cNvSpPr/>
          <p:nvPr/>
        </p:nvSpPr>
        <p:spPr>
          <a:xfrm>
            <a:off x="6350000" y="1397000"/>
            <a:ext cx="5080000" cy="3048000"/>
          </a:xfrm>
          <a:prstGeom prst="roundRect">
            <a:avLst>
              <a:gd name="adj" fmla="val 4166"/>
            </a:avLst>
          </a:prstGeom>
          <a:solidFill>
            <a:srgbClr val="E6E6FA">
              <a:alpha val="10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477000" y="1524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E6E6FA"/>
                </a:solidFill>
                <a:latin typeface="Noto Sans SC"/>
                <a:ea typeface="Noto Sans SC"/>
                <a:cs typeface="Noto Sans SC"/>
                <a:sym typeface="Noto Sans SC"/>
              </a:rPr>
              <a:t>提示词工程实践 (ChatGPT)</a:t>
            </a:r>
            <a:endParaRPr lang="en-US" sz="1100"/>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2032000"/>
            <a:ext cx="254000" cy="254000"/>
          </a:xfrm>
          <a:prstGeom prst="rect">
            <a:avLst/>
          </a:prstGeom>
        </p:spPr>
      </p:pic>
      <p:sp>
        <p:nvSpPr>
          <p:cNvPr id="14" name="AutoShape 14"/>
          <p:cNvSpPr/>
          <p:nvPr/>
        </p:nvSpPr>
        <p:spPr>
          <a:xfrm>
            <a:off x="6794500" y="20066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B6C1"/>
                </a:solidFill>
                <a:latin typeface="Noto Sans SC"/>
                <a:ea typeface="Noto Sans SC"/>
                <a:cs typeface="Noto Sans SC"/>
                <a:sym typeface="Noto Sans SC"/>
              </a:rPr>
              <a:t>角色设定：</a:t>
            </a:r>
            <a:r>
              <a:rPr lang="en-US" sz="1200" b="0" i="0" u="none" strike="noStrike">
                <a:solidFill>
                  <a:srgbClr val="FFFFFF">
                    <a:alpha val="80000"/>
                  </a:srgbClr>
                </a:solidFill>
                <a:latin typeface="Noto Sans SC"/>
                <a:ea typeface="Noto Sans SC"/>
                <a:cs typeface="Noto Sans SC"/>
                <a:sym typeface="Noto Sans SC"/>
              </a:rPr>
              <a:t>SafeWalk APP安全助手，温柔专业，提供夜间陪伴。</a:t>
            </a:r>
            <a:endParaRPr lang="en-US" sz="1100"/>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2540000"/>
            <a:ext cx="254000" cy="254000"/>
          </a:xfrm>
          <a:prstGeom prst="rect">
            <a:avLst/>
          </a:prstGeom>
        </p:spPr>
      </p:pic>
      <p:sp>
        <p:nvSpPr>
          <p:cNvPr id="16" name="AutoShape 16"/>
          <p:cNvSpPr/>
          <p:nvPr/>
        </p:nvSpPr>
        <p:spPr>
          <a:xfrm>
            <a:off x="6794500" y="25146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B6C1"/>
                </a:solidFill>
                <a:latin typeface="Noto Sans SC"/>
                <a:ea typeface="Noto Sans SC"/>
                <a:cs typeface="Noto Sans SC"/>
                <a:sym typeface="Noto Sans SC"/>
              </a:rPr>
              <a:t>背景信息：</a:t>
            </a:r>
            <a:r>
              <a:rPr lang="en-US" sz="1200" b="0" i="0" u="none" strike="noStrike">
                <a:solidFill>
                  <a:srgbClr val="FFFFFF">
                    <a:alpha val="80000"/>
                  </a:srgbClr>
                </a:solidFill>
                <a:latin typeface="Noto Sans SC"/>
                <a:ea typeface="Noto Sans SC"/>
                <a:cs typeface="Noto Sans SC"/>
                <a:sym typeface="Noto Sans SC"/>
              </a:rPr>
              <a:t>用户夜间步行中，起点A至终点B，预计15分钟到达。</a:t>
            </a:r>
            <a:endParaRPr lang="en-US" sz="1100"/>
          </a:p>
        </p:txBody>
      </p:sp>
      <p:pic>
        <p:nvPicPr>
          <p:cNvPr id="17" name="Picture 1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3048000"/>
            <a:ext cx="254000" cy="254000"/>
          </a:xfrm>
          <a:prstGeom prst="rect">
            <a:avLst/>
          </a:prstGeom>
        </p:spPr>
      </p:pic>
      <p:sp>
        <p:nvSpPr>
          <p:cNvPr id="18" name="AutoShape 18"/>
          <p:cNvSpPr/>
          <p:nvPr/>
        </p:nvSpPr>
        <p:spPr>
          <a:xfrm>
            <a:off x="6794500" y="30226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B6C1"/>
                </a:solidFill>
                <a:latin typeface="Noto Sans SC"/>
                <a:ea typeface="Noto Sans SC"/>
                <a:cs typeface="Noto Sans SC"/>
                <a:sym typeface="Noto Sans SC"/>
              </a:rPr>
              <a:t>核心任务：</a:t>
            </a:r>
            <a:r>
              <a:rPr lang="en-US" sz="1200" b="0" i="0" u="none" strike="noStrike">
                <a:solidFill>
                  <a:srgbClr val="FFFFFF">
                    <a:alpha val="80000"/>
                  </a:srgbClr>
                </a:solidFill>
                <a:latin typeface="Noto Sans SC"/>
                <a:ea typeface="Noto Sans SC"/>
                <a:cs typeface="Noto Sans SC"/>
                <a:sym typeface="Noto Sans SC"/>
              </a:rPr>
              <a:t>判断安全状态，安全则鼓励，危险则触发SOS并安抚。</a:t>
            </a:r>
            <a:endParaRPr lang="en-US" sz="1100"/>
          </a:p>
        </p:txBody>
      </p:sp>
      <p:pic>
        <p:nvPicPr>
          <p:cNvPr id="19" name="Picture 19"/>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77000" y="3556000"/>
            <a:ext cx="254000" cy="254000"/>
          </a:xfrm>
          <a:prstGeom prst="rect">
            <a:avLst/>
          </a:prstGeom>
        </p:spPr>
      </p:pic>
      <p:sp>
        <p:nvSpPr>
          <p:cNvPr id="20" name="AutoShape 20"/>
          <p:cNvSpPr/>
          <p:nvPr/>
        </p:nvSpPr>
        <p:spPr>
          <a:xfrm>
            <a:off x="6794500" y="35306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B6C1"/>
                </a:solidFill>
                <a:latin typeface="Noto Sans SC"/>
                <a:ea typeface="Noto Sans SC"/>
                <a:cs typeface="Noto Sans SC"/>
                <a:sym typeface="Noto Sans SC"/>
              </a:rPr>
              <a:t>输出要求：</a:t>
            </a:r>
            <a:r>
              <a:rPr lang="en-US" sz="1200" b="0" i="0" u="none" strike="noStrike">
                <a:solidFill>
                  <a:srgbClr val="FFFFFF">
                    <a:alpha val="80000"/>
                  </a:srgbClr>
                </a:solidFill>
                <a:latin typeface="Noto Sans SC"/>
                <a:ea typeface="Noto Sans SC"/>
                <a:cs typeface="Noto Sans SC"/>
                <a:sym typeface="Noto Sans SC"/>
              </a:rPr>
              <a:t>简洁温暖，口语化，避免技术术语。</a:t>
            </a:r>
            <a:endParaRPr lang="en-US" sz="1100"/>
          </a:p>
        </p:txBody>
      </p:sp>
      <p:sp>
        <p:nvSpPr>
          <p:cNvPr id="21" name="AutoShape 21"/>
          <p:cNvSpPr/>
          <p:nvPr/>
        </p:nvSpPr>
        <p:spPr>
          <a:xfrm>
            <a:off x="762000" y="4699000"/>
            <a:ext cx="10668000" cy="762000"/>
          </a:xfrm>
          <a:prstGeom prst="roundRect">
            <a:avLst>
              <a:gd name="adj" fmla="val 16666"/>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16000" y="4902200"/>
            <a:ext cx="355600" cy="355600"/>
          </a:xfrm>
          <a:prstGeom prst="rect">
            <a:avLst/>
          </a:prstGeom>
        </p:spPr>
      </p:pic>
      <p:sp>
        <p:nvSpPr>
          <p:cNvPr id="23" name="AutoShape 23"/>
          <p:cNvSpPr/>
          <p:nvPr/>
        </p:nvSpPr>
        <p:spPr>
          <a:xfrm>
            <a:off x="1524000" y="4826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学生行动指令：</a:t>
            </a:r>
            <a:r>
              <a:rPr lang="en-US" sz="1600" b="0" i="0" u="none" strike="noStrike">
                <a:solidFill>
                  <a:srgbClr val="FFFFFF">
                    <a:alpha val="90196"/>
                  </a:srgbClr>
                </a:solidFill>
                <a:latin typeface="Noto Sans SC"/>
                <a:ea typeface="Noto Sans SC"/>
                <a:cs typeface="Noto Sans SC"/>
                <a:sym typeface="Noto Sans SC"/>
              </a:rPr>
              <a:t>针对场景“我好像迷路了”，设计完整提示词并使用AI工具生成回复。</a:t>
            </a:r>
            <a:endParaRPr lang="en-US" sz="1100"/>
          </a:p>
        </p:txBody>
      </p:sp>
      <p:cxnSp>
        <p:nvCxnSpPr>
          <p:cNvPr id="24" name="Connector 24"/>
          <p:cNvCxnSpPr/>
          <p:nvPr/>
        </p:nvCxnSpPr>
        <p:spPr>
          <a:xfrm rot="-4092">
            <a:off x="762004" y="113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8051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测试用例设计：乘车模式功能验证</a:t>
            </a:r>
            <a:endParaRPr lang="en-US" sz="1100"/>
          </a:p>
        </p:txBody>
      </p:sp>
      <p:graphicFrame>
        <p:nvGraphicFramePr>
          <p:cNvPr id="5" name="Table 5"/>
          <p:cNvGraphicFramePr>
            <a:graphicFrameLocks noGrp="1"/>
          </p:cNvGraphicFramePr>
          <p:nvPr/>
        </p:nvGraphicFramePr>
        <p:xfrm>
          <a:off x="762000" y="1397000"/>
          <a:ext cx="10668000" cy="3810000"/>
        </p:xfrm>
        <a:graphic>
          <a:graphicData uri="http://schemas.openxmlformats.org/drawingml/2006/table">
            <a:tbl>
              <a:tblPr>
                <a:effectLst/>
              </a:tblPr>
              <a:tblGrid>
                <a:gridCol w="1524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3556000">
                  <a:extLst>
                    <a:ext uri="{9D8B030D-6E8A-4147-A177-3AD203B41FA5}">
                      <a16:colId xmlns:a16="http://schemas.microsoft.com/office/drawing/2014/main" val="20002"/>
                    </a:ext>
                  </a:extLst>
                </a:gridCol>
                <a:gridCol w="3810000">
                  <a:extLst>
                    <a:ext uri="{9D8B030D-6E8A-4147-A177-3AD203B41FA5}">
                      <a16:colId xmlns:a16="http://schemas.microsoft.com/office/drawing/2014/main" val="20003"/>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功能模块</a:t>
                      </a:r>
                      <a:endParaRPr lang="en-US" sz="1100"/>
                    </a:p>
                  </a:txBody>
                  <a:tcPr marL="101600" marR="101600" marT="101600" marB="101600" anchor="ctr">
                    <a:lnL>
                      <a:noFill/>
                    </a:lnL>
                    <a:lnR>
                      <a:noFill/>
                    </a:lnR>
                    <a:lnT>
                      <a:noFill/>
                    </a:lnT>
                    <a:lnB>
                      <a:noFill/>
                    </a:lnB>
                    <a:solidFill>
                      <a:srgbClr val="00BFFF">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测试点</a:t>
                      </a:r>
                      <a:endParaRPr lang="en-US" sz="1100"/>
                    </a:p>
                  </a:txBody>
                  <a:tcPr marL="101600" marR="101600" marT="101600" marB="101600" anchor="ctr">
                    <a:lnL>
                      <a:noFill/>
                    </a:lnL>
                    <a:lnR>
                      <a:noFill/>
                    </a:lnR>
                    <a:lnT>
                      <a:noFill/>
                    </a:lnT>
                    <a:lnB>
                      <a:noFill/>
                    </a:lnB>
                    <a:solidFill>
                      <a:srgbClr val="00BFFF">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测试步骤</a:t>
                      </a:r>
                      <a:endParaRPr lang="en-US" sz="1100"/>
                    </a:p>
                  </a:txBody>
                  <a:tcPr marL="101600" marR="101600" marT="101600" marB="101600" anchor="ctr">
                    <a:lnL>
                      <a:noFill/>
                    </a:lnL>
                    <a:lnR>
                      <a:noFill/>
                    </a:lnR>
                    <a:lnT>
                      <a:noFill/>
                    </a:lnT>
                    <a:lnB>
                      <a:noFill/>
                    </a:lnB>
                    <a:solidFill>
                      <a:srgbClr val="00BFFF">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预期结果</a:t>
                      </a:r>
                      <a:endParaRPr lang="en-US" sz="1100"/>
                    </a:p>
                  </a:txBody>
                  <a:tcPr marL="101600" marR="101600" marT="101600" marB="101600" anchor="ctr">
                    <a:lnL>
                      <a:noFill/>
                    </a:lnL>
                    <a:lnR>
                      <a:noFill/>
                    </a:lnR>
                    <a:lnT>
                      <a:noFill/>
                    </a:lnT>
                    <a:lnB>
                      <a:noFill/>
                    </a:lnB>
                    <a:solidFill>
                      <a:srgbClr val="00BFFF">
                        <a:alpha val="100000"/>
                      </a:srgbClr>
                    </a:solidFill>
                  </a:tcPr>
                </a:tc>
                <a:extLst>
                  <a:ext uri="{0D108BD9-81ED-4DB2-BD59-A6C34878D82A}">
                    <a16:rowId xmlns:a16="http://schemas.microsoft.com/office/drawing/2014/main" val="10000"/>
                  </a:ext>
                </a:extLst>
              </a:tr>
              <a:tr h="825500">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车牌管理</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手动输入车牌</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indent="0" algn="ctr">
                        <a:lnSpc>
                          <a:spcPct val="100000"/>
                        </a:lnSpc>
                        <a:defRPr/>
                      </a:pPr>
                      <a:r>
                        <a:rPr lang="en-US" sz="1100" b="0" i="0" u="none" strike="noStrike">
                          <a:solidFill>
                            <a:srgbClr val="DCDCDC"/>
                          </a:solidFill>
                          <a:latin typeface="Noto Sans SC"/>
                          <a:ea typeface="Noto Sans SC"/>
                          <a:cs typeface="Noto Sans SC"/>
                          <a:sym typeface="Noto Sans SC"/>
                        </a:rPr>
                        <a:t>1. 进入乘车模式；2. 点击输入框；3. 输入正确格式车牌（如粤A12345）；4. 点击确认。</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indent="0" algn="ctr">
                        <a:lnSpc>
                          <a:spcPct val="100000"/>
                        </a:lnSpc>
                        <a:defRPr/>
                      </a:pPr>
                      <a:r>
                        <a:rPr lang="en-US" sz="1100" b="0" i="0" u="none" strike="noStrike">
                          <a:solidFill>
                            <a:srgbClr val="DCDCDC"/>
                          </a:solidFill>
                          <a:latin typeface="Noto Sans SC"/>
                          <a:ea typeface="Noto Sans SC"/>
                          <a:cs typeface="Noto Sans SC"/>
                          <a:sym typeface="Noto Sans SC"/>
                        </a:rPr>
                        <a:t>车牌正确显示在主界面，并同步至守护者端APP，信息一致。</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1"/>
                  </a:ext>
                </a:extLst>
              </a:tr>
              <a:tr h="825500">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车牌管理</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自动识别车牌</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100" b="0" i="0" u="none" strike="noStrike">
                          <a:solidFill>
                            <a:srgbClr val="DCDCDC"/>
                          </a:solidFill>
                          <a:latin typeface="Noto Sans SC"/>
                          <a:ea typeface="Noto Sans SC"/>
                          <a:cs typeface="Noto Sans SC"/>
                          <a:sym typeface="Noto Sans SC"/>
                        </a:rPr>
                        <a:t>1. 进入乘车模式；2. 点击“拍照识别”；3. 对准清晰车牌拍摄。</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100" b="0" i="0" u="none" strike="noStrike">
                          <a:solidFill>
                            <a:srgbClr val="DCDCDC"/>
                          </a:solidFill>
                          <a:latin typeface="Noto Sans SC"/>
                          <a:ea typeface="Noto Sans SC"/>
                          <a:cs typeface="Noto Sans SC"/>
                          <a:sym typeface="Noto Sans SC"/>
                        </a:rPr>
                        <a:t>系统自动识别号码并填充至输入框，用户可确认或修改。</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2"/>
                  </a:ext>
                </a:extLst>
              </a:tr>
              <a:tr h="825500">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模拟来电</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触发模拟来电</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indent="0" algn="ctr">
                        <a:lnSpc>
                          <a:spcPct val="100000"/>
                        </a:lnSpc>
                        <a:defRPr/>
                      </a:pPr>
                      <a:r>
                        <a:rPr lang="en-US" sz="1100" b="0" i="0" u="none" strike="noStrike">
                          <a:solidFill>
                            <a:srgbClr val="DCDCDC"/>
                          </a:solidFill>
                          <a:latin typeface="Noto Sans SC"/>
                          <a:ea typeface="Noto Sans SC"/>
                          <a:cs typeface="Noto Sans SC"/>
                          <a:sym typeface="Noto Sans SC"/>
                        </a:rPr>
                        <a:t>1. 进入乘车模式；2. 设置中输入来电人姓名；3. 返回主界面点击模拟来电。</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indent="0" algn="ctr">
                        <a:lnSpc>
                          <a:spcPct val="100000"/>
                        </a:lnSpc>
                        <a:defRPr/>
                      </a:pPr>
                      <a:r>
                        <a:rPr lang="en-US" sz="1100" b="0" i="0" u="none" strike="noStrike">
                          <a:solidFill>
                            <a:srgbClr val="DCDCDC"/>
                          </a:solidFill>
                          <a:latin typeface="Noto Sans SC"/>
                          <a:ea typeface="Noto Sans SC"/>
                          <a:cs typeface="Noto Sans SC"/>
                          <a:sym typeface="Noto Sans SC"/>
                        </a:rPr>
                        <a:t>收到真实来电，显示预设姓名，接听后播放预设语音内容。</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3"/>
                  </a:ext>
                </a:extLst>
              </a:tr>
              <a:tr h="825500">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一键SOS</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200" b="0" i="0" u="none" strike="noStrike">
                          <a:solidFill>
                            <a:srgbClr val="FFFFFF"/>
                          </a:solidFill>
                          <a:latin typeface="Noto Sans SC"/>
                          <a:ea typeface="Noto Sans SC"/>
                          <a:cs typeface="Noto Sans SC"/>
                          <a:sym typeface="Noto Sans SC"/>
                        </a:rPr>
                        <a:t>触发SOS</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100" b="0" i="0" u="none" strike="noStrike">
                          <a:solidFill>
                            <a:srgbClr val="DCDCDC"/>
                          </a:solidFill>
                          <a:latin typeface="Noto Sans SC"/>
                          <a:ea typeface="Noto Sans SC"/>
                          <a:cs typeface="Noto Sans SC"/>
                          <a:sym typeface="Noto Sans SC"/>
                        </a:rPr>
                        <a:t>1. 进入乘车模式；2. 长按SOS按钮3秒；3. 确认触发。</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indent="0" algn="ctr">
                        <a:lnSpc>
                          <a:spcPct val="100000"/>
                        </a:lnSpc>
                        <a:defRPr/>
                      </a:pPr>
                      <a:r>
                        <a:rPr lang="en-US" sz="1100" b="0" i="0" u="none" strike="noStrike">
                          <a:solidFill>
                            <a:srgbClr val="DCDCDC"/>
                          </a:solidFill>
                          <a:latin typeface="Noto Sans SC"/>
                          <a:ea typeface="Noto Sans SC"/>
                          <a:cs typeface="Noto Sans SC"/>
                          <a:sym typeface="Noto Sans SC"/>
                        </a:rPr>
                        <a:t>用户收到确认提示；守护者收到含位置和车牌的紧急通知；手机自动录音（若实现）。</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4"/>
                  </a:ext>
                </a:extLst>
              </a:tr>
            </a:tbl>
          </a:graphicData>
        </a:graphic>
      </p:graphicFrame>
      <p:sp>
        <p:nvSpPr>
          <p:cNvPr id="6" name="AutoShape 6"/>
          <p:cNvSpPr/>
          <p:nvPr/>
        </p:nvSpPr>
        <p:spPr>
          <a:xfrm>
            <a:off x="762000" y="5715000"/>
            <a:ext cx="10668000" cy="635000"/>
          </a:xfrm>
          <a:prstGeom prst="roundRect">
            <a:avLst>
              <a:gd name="adj" fmla="val 20000"/>
            </a:avLst>
          </a:prstGeom>
          <a:solidFill>
            <a:srgbClr val="FFB6C1">
              <a:alpha val="15000"/>
            </a:srgbClr>
          </a:solidFill>
          <a:ln w="12700" cap="flat" cmpd="sng">
            <a:solidFill>
              <a:srgbClr val="FFB6C1">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880100"/>
            <a:ext cx="304800" cy="304800"/>
          </a:xfrm>
          <a:prstGeom prst="rect">
            <a:avLst/>
          </a:prstGeom>
        </p:spPr>
      </p:pic>
      <p:sp>
        <p:nvSpPr>
          <p:cNvPr id="8" name="AutoShape 8"/>
          <p:cNvSpPr/>
          <p:nvPr/>
        </p:nvSpPr>
        <p:spPr>
          <a:xfrm>
            <a:off x="1397000" y="5842000"/>
            <a:ext cx="990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B6C1"/>
                </a:solidFill>
                <a:latin typeface="Noto Sans SC"/>
                <a:ea typeface="Noto Sans SC"/>
                <a:cs typeface="Noto Sans SC"/>
                <a:sym typeface="Noto Sans SC"/>
              </a:rPr>
              <a:t>行动指令：</a:t>
            </a:r>
            <a:r>
              <a:rPr lang="en-US" sz="1400" b="0" i="0" u="none" strike="noStrike">
                <a:solidFill>
                  <a:srgbClr val="FFFFFF"/>
                </a:solidFill>
                <a:latin typeface="Noto Sans SC"/>
                <a:ea typeface="Noto Sans SC"/>
                <a:cs typeface="Noto Sans SC"/>
                <a:sym typeface="Noto Sans SC"/>
              </a:rPr>
              <a:t>为AI关怀功能设计至少3个详细的测试用例，包括测试点、步骤和预期结果。</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用户体验优化：细节之处见真章</a:t>
            </a:r>
            <a:endParaRPr lang="en-US" sz="1100"/>
          </a:p>
        </p:txBody>
      </p:sp>
      <p:sp>
        <p:nvSpPr>
          <p:cNvPr id="5" name="AutoShape 5"/>
          <p:cNvSpPr/>
          <p:nvPr/>
        </p:nvSpPr>
        <p:spPr>
          <a:xfrm>
            <a:off x="762000" y="1397000"/>
            <a:ext cx="5080000" cy="2921000"/>
          </a:xfrm>
          <a:prstGeom prst="roundRect">
            <a:avLst>
              <a:gd name="adj" fmla="val 4347"/>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304800" cy="304800"/>
          </a:xfrm>
          <a:prstGeom prst="rect">
            <a:avLst/>
          </a:prstGeom>
        </p:spPr>
      </p:pic>
      <p:sp>
        <p:nvSpPr>
          <p:cNvPr id="7" name="AutoShape 7"/>
          <p:cNvSpPr/>
          <p:nvPr/>
        </p:nvSpPr>
        <p:spPr>
          <a:xfrm>
            <a:off x="1397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乘车模式体验优化</a:t>
            </a:r>
            <a:endParaRPr lang="en-US" sz="1100"/>
          </a:p>
        </p:txBody>
      </p:sp>
      <p:sp>
        <p:nvSpPr>
          <p:cNvPr id="8" name="AutoShape 8"/>
          <p:cNvSpPr/>
          <p:nvPr/>
        </p:nvSpPr>
        <p:spPr>
          <a:xfrm>
            <a:off x="1016000" y="2032000"/>
            <a:ext cx="4572000" cy="2032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FFFFFF"/>
              </a:buClr>
              <a:buChar char="•"/>
              <a:defRPr/>
            </a:pPr>
            <a:r>
              <a:rPr lang="en-US" sz="1400" b="1" i="0" u="none" strike="noStrike">
                <a:solidFill>
                  <a:srgbClr val="FFFFFF"/>
                </a:solidFill>
                <a:latin typeface="Noto Sans SC"/>
                <a:ea typeface="Noto Sans SC"/>
                <a:cs typeface="Noto Sans SC"/>
                <a:sym typeface="Noto Sans SC"/>
              </a:rPr>
              <a:t>快捷操作：</a:t>
            </a:r>
            <a:r>
              <a:rPr lang="en-US" sz="1300" b="0" i="0" u="none" strike="noStrike">
                <a:solidFill>
                  <a:srgbClr val="FFFFFF">
                    <a:alpha val="80000"/>
                  </a:srgbClr>
                </a:solidFill>
                <a:latin typeface="Noto Sans SC"/>
                <a:ea typeface="Noto Sans SC"/>
                <a:cs typeface="Noto Sans SC"/>
                <a:sym typeface="Noto Sans SC"/>
              </a:rPr>
              <a:t>锁屏添加快捷入口，无需解锁即可触发模拟来电或SOS，争取时间。</a:t>
            </a:r>
            <a:endParaRPr lang="en-US" sz="1100"/>
          </a:p>
          <a:p>
            <a:pPr marL="177800" indent="-177800" algn="l">
              <a:lnSpc>
                <a:spcPct val="108333"/>
              </a:lnSpc>
              <a:buClr>
                <a:srgbClr val="FFFFFF"/>
              </a:buClr>
              <a:buChar char="•"/>
            </a:pPr>
            <a:r>
              <a:rPr lang="en-US" sz="1400" b="1" i="0" u="none" strike="noStrike">
                <a:solidFill>
                  <a:srgbClr val="FFFFFF"/>
                </a:solidFill>
                <a:latin typeface="Noto Sans SC"/>
                <a:ea typeface="Noto Sans SC"/>
                <a:cs typeface="Noto Sans SC"/>
                <a:sym typeface="Noto Sans SC"/>
              </a:rPr>
              <a:t>反馈机制：</a:t>
            </a:r>
            <a:r>
              <a:rPr lang="en-US" sz="1300" b="0" i="0" u="none" strike="noStrike">
                <a:solidFill>
                  <a:srgbClr val="FFFFFF">
                    <a:alpha val="80000"/>
                  </a:srgbClr>
                </a:solidFill>
                <a:latin typeface="Noto Sans SC"/>
                <a:ea typeface="Noto Sans SC"/>
                <a:cs typeface="Noto Sans SC"/>
                <a:sym typeface="Noto Sans SC"/>
              </a:rPr>
              <a:t>操作成功提供清晰视觉提示与震动反馈，确认执行状态。</a:t>
            </a:r>
          </a:p>
          <a:p>
            <a:pPr marL="177800" indent="-177800" algn="l">
              <a:lnSpc>
                <a:spcPct val="108333"/>
              </a:lnSpc>
              <a:buClr>
                <a:srgbClr val="FFFFFF"/>
              </a:buClr>
              <a:buChar char="•"/>
            </a:pPr>
            <a:r>
              <a:rPr lang="en-US" sz="1400" b="1" i="0" u="none" strike="noStrike">
                <a:solidFill>
                  <a:srgbClr val="FFFFFF"/>
                </a:solidFill>
                <a:latin typeface="Noto Sans SC"/>
                <a:ea typeface="Noto Sans SC"/>
                <a:cs typeface="Noto Sans SC"/>
                <a:sym typeface="Noto Sans SC"/>
              </a:rPr>
              <a:t>隐私保护：</a:t>
            </a:r>
            <a:r>
              <a:rPr lang="en-US" sz="1300" b="0" i="0" u="none" strike="noStrike">
                <a:solidFill>
                  <a:srgbClr val="FFFFFF">
                    <a:alpha val="80000"/>
                  </a:srgbClr>
                </a:solidFill>
                <a:latin typeface="Noto Sans SC"/>
                <a:ea typeface="Noto Sans SC"/>
                <a:cs typeface="Noto Sans SC"/>
                <a:sym typeface="Noto Sans SC"/>
              </a:rPr>
              <a:t>敏感信息本地加密存储，支持一键删除，用户掌控数据。</a:t>
            </a:r>
          </a:p>
        </p:txBody>
      </p:sp>
      <p:sp>
        <p:nvSpPr>
          <p:cNvPr id="9" name="AutoShape 9"/>
          <p:cNvSpPr/>
          <p:nvPr/>
        </p:nvSpPr>
        <p:spPr>
          <a:xfrm>
            <a:off x="6350000" y="1397000"/>
            <a:ext cx="5080000" cy="2921000"/>
          </a:xfrm>
          <a:prstGeom prst="roundRect">
            <a:avLst>
              <a:gd name="adj" fmla="val 4347"/>
            </a:avLst>
          </a:prstGeom>
          <a:solidFill>
            <a:srgbClr val="FFB6C1">
              <a:alpha val="10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1587500"/>
            <a:ext cx="304800" cy="304800"/>
          </a:xfrm>
          <a:prstGeom prst="rect">
            <a:avLst/>
          </a:prstGeom>
        </p:spPr>
      </p:pic>
      <p:sp>
        <p:nvSpPr>
          <p:cNvPr id="11" name="AutoShape 11"/>
          <p:cNvSpPr/>
          <p:nvPr/>
        </p:nvSpPr>
        <p:spPr>
          <a:xfrm>
            <a:off x="6985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B6C1"/>
                </a:solidFill>
                <a:latin typeface="Noto Sans SC"/>
                <a:ea typeface="Noto Sans SC"/>
                <a:cs typeface="Noto Sans SC"/>
                <a:sym typeface="Noto Sans SC"/>
              </a:rPr>
              <a:t>AI关怀体验优化</a:t>
            </a:r>
            <a:endParaRPr lang="en-US" sz="1100"/>
          </a:p>
        </p:txBody>
      </p:sp>
      <p:sp>
        <p:nvSpPr>
          <p:cNvPr id="12" name="AutoShape 12"/>
          <p:cNvSpPr/>
          <p:nvPr/>
        </p:nvSpPr>
        <p:spPr>
          <a:xfrm>
            <a:off x="6604000" y="2032000"/>
            <a:ext cx="4572000" cy="2032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FFFFFF"/>
              </a:buClr>
              <a:buChar char="•"/>
              <a:defRPr/>
            </a:pPr>
            <a:r>
              <a:rPr lang="en-US" sz="1400" b="1" i="0" u="none" strike="noStrike">
                <a:solidFill>
                  <a:srgbClr val="FFFFFF"/>
                </a:solidFill>
                <a:latin typeface="Noto Sans SC"/>
                <a:ea typeface="Noto Sans SC"/>
                <a:cs typeface="Noto Sans SC"/>
                <a:sym typeface="Noto Sans SC"/>
              </a:rPr>
              <a:t>个性化设置：</a:t>
            </a:r>
            <a:r>
              <a:rPr lang="en-US" sz="1300" b="0" i="0" u="none" strike="noStrike">
                <a:solidFill>
                  <a:srgbClr val="FFFFFF">
                    <a:alpha val="80000"/>
                  </a:srgbClr>
                </a:solidFill>
                <a:latin typeface="Noto Sans SC"/>
                <a:ea typeface="Noto Sans SC"/>
                <a:cs typeface="Noto Sans SC"/>
                <a:sym typeface="Noto Sans SC"/>
              </a:rPr>
              <a:t>自定义AI昵称、头像和问候语，增强亲和力。</a:t>
            </a:r>
            <a:endParaRPr lang="en-US" sz="1100"/>
          </a:p>
          <a:p>
            <a:pPr marL="177800" indent="-177800" algn="l">
              <a:lnSpc>
                <a:spcPct val="108333"/>
              </a:lnSpc>
              <a:buClr>
                <a:srgbClr val="FFFFFF"/>
              </a:buClr>
              <a:buChar char="•"/>
            </a:pPr>
            <a:r>
              <a:rPr lang="en-US" sz="1400" b="1" i="0" u="none" strike="noStrike">
                <a:solidFill>
                  <a:srgbClr val="FFFFFF"/>
                </a:solidFill>
                <a:latin typeface="Noto Sans SC"/>
                <a:ea typeface="Noto Sans SC"/>
                <a:cs typeface="Noto Sans SC"/>
                <a:sym typeface="Noto Sans SC"/>
              </a:rPr>
              <a:t>智能对话时机：</a:t>
            </a:r>
            <a:r>
              <a:rPr lang="en-US" sz="1300" b="0" i="0" u="none" strike="noStrike">
                <a:solidFill>
                  <a:srgbClr val="FFFFFF">
                    <a:alpha val="80000"/>
                  </a:srgbClr>
                </a:solidFill>
                <a:latin typeface="Noto Sans SC"/>
                <a:ea typeface="Noto Sans SC"/>
                <a:cs typeface="Noto Sans SC"/>
                <a:sym typeface="Noto Sans SC"/>
              </a:rPr>
              <a:t>学习习惯，避免深夜打扰，减少不必要的对话。</a:t>
            </a:r>
          </a:p>
          <a:p>
            <a:pPr marL="177800" indent="-177800" algn="l">
              <a:lnSpc>
                <a:spcPct val="108333"/>
              </a:lnSpc>
              <a:buClr>
                <a:srgbClr val="FFFFFF"/>
              </a:buClr>
              <a:buChar char="•"/>
            </a:pPr>
            <a:r>
              <a:rPr lang="en-US" sz="1400" b="1" i="0" u="none" strike="noStrike">
                <a:solidFill>
                  <a:srgbClr val="FFFFFF"/>
                </a:solidFill>
                <a:latin typeface="Noto Sans SC"/>
                <a:ea typeface="Noto Sans SC"/>
                <a:cs typeface="Noto Sans SC"/>
                <a:sym typeface="Noto Sans SC"/>
              </a:rPr>
              <a:t>情感感知：</a:t>
            </a:r>
            <a:r>
              <a:rPr lang="en-US" sz="1300" b="0" i="0" u="none" strike="noStrike">
                <a:solidFill>
                  <a:srgbClr val="FFFFFF">
                    <a:alpha val="80000"/>
                  </a:srgbClr>
                </a:solidFill>
                <a:latin typeface="Noto Sans SC"/>
                <a:ea typeface="Noto Sans SC"/>
                <a:cs typeface="Noto Sans SC"/>
                <a:sym typeface="Noto Sans SC"/>
              </a:rPr>
              <a:t>识别焦虑或恐惧情绪，主动提供情感支持与帮助建议。</a:t>
            </a:r>
          </a:p>
        </p:txBody>
      </p:sp>
      <p:sp>
        <p:nvSpPr>
          <p:cNvPr id="13" name="AutoShape 13"/>
          <p:cNvSpPr/>
          <p:nvPr/>
        </p:nvSpPr>
        <p:spPr>
          <a:xfrm>
            <a:off x="762000" y="4572000"/>
            <a:ext cx="10668000" cy="889000"/>
          </a:xfrm>
          <a:prstGeom prst="roundRect">
            <a:avLst>
              <a:gd name="adj" fmla="val 14285"/>
            </a:avLst>
          </a:prstGeom>
          <a:solidFill>
            <a:srgbClr val="E6E6FA">
              <a:alpha val="15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813300"/>
            <a:ext cx="406400" cy="406400"/>
          </a:xfrm>
          <a:prstGeom prst="rect">
            <a:avLst/>
          </a:prstGeom>
        </p:spPr>
      </p:pic>
      <p:sp>
        <p:nvSpPr>
          <p:cNvPr id="15" name="AutoShape 15"/>
          <p:cNvSpPr/>
          <p:nvPr/>
        </p:nvSpPr>
        <p:spPr>
          <a:xfrm>
            <a:off x="1524000" y="46990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E6FA"/>
                </a:solidFill>
                <a:latin typeface="Noto Sans SC"/>
                <a:ea typeface="Noto Sans SC"/>
                <a:cs typeface="Noto Sans SC"/>
                <a:sym typeface="Noto Sans SC"/>
              </a:rPr>
              <a:t>学生行动指令：</a:t>
            </a:r>
            <a:r>
              <a:rPr lang="en-US" sz="1500" b="0" i="0" u="none" strike="noStrike">
                <a:solidFill>
                  <a:srgbClr val="FFFFFF">
                    <a:alpha val="90196"/>
                  </a:srgbClr>
                </a:solidFill>
                <a:latin typeface="Noto Sans SC"/>
                <a:ea typeface="Noto Sans SC"/>
                <a:cs typeface="Noto Sans SC"/>
                <a:sym typeface="Noto Sans SC"/>
              </a:rPr>
              <a:t>思考还有哪些细节可以进一步提升SafeWalk的用户体验？例如界面布局、交互逻辑、文案措辞等。</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058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Sprint 2 项目管理与团队协作指南</a:t>
            </a:r>
            <a:endParaRPr lang="en-US" sz="1100"/>
          </a:p>
        </p:txBody>
      </p:sp>
      <p:sp>
        <p:nvSpPr>
          <p:cNvPr id="5" name="AutoShape 5"/>
          <p:cNvSpPr/>
          <p:nvPr/>
        </p:nvSpPr>
        <p:spPr>
          <a:xfrm>
            <a:off x="762000" y="1397000"/>
            <a:ext cx="3429000" cy="2794000"/>
          </a:xfrm>
          <a:prstGeom prst="roundRect">
            <a:avLst>
              <a:gd name="adj" fmla="val 4545"/>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406400" cy="406400"/>
          </a:xfrm>
          <a:prstGeom prst="rect">
            <a:avLst/>
          </a:prstGeom>
        </p:spPr>
      </p:pic>
      <p:sp>
        <p:nvSpPr>
          <p:cNvPr id="7" name="AutoShape 7"/>
          <p:cNvSpPr/>
          <p:nvPr/>
        </p:nvSpPr>
        <p:spPr>
          <a:xfrm>
            <a:off x="1524000" y="15875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精细化任务管理</a:t>
            </a:r>
            <a:endParaRPr lang="en-US" sz="1100"/>
          </a:p>
        </p:txBody>
      </p:sp>
      <p:sp>
        <p:nvSpPr>
          <p:cNvPr id="8" name="AutoShape 8"/>
          <p:cNvSpPr/>
          <p:nvPr/>
        </p:nvSpPr>
        <p:spPr>
          <a:xfrm>
            <a:off x="952500" y="2032000"/>
            <a:ext cx="3048000" cy="1905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25000"/>
              </a:lnSpc>
              <a:buClr>
                <a:srgbClr val="E5E7EB"/>
              </a:buClr>
              <a:buChar char="•"/>
              <a:defRPr/>
            </a:pPr>
            <a:r>
              <a:rPr lang="en-US" sz="1300" b="0" i="0" u="none" strike="noStrike">
                <a:solidFill>
                  <a:srgbClr val="E5E7EB"/>
                </a:solidFill>
                <a:latin typeface="Noto Sans SC"/>
                <a:ea typeface="Noto Sans SC"/>
                <a:cs typeface="Noto Sans SC"/>
                <a:sym typeface="Noto Sans SC"/>
              </a:rPr>
              <a:t>使用Trello/Jira创建任务卡片，明确负责人与优先级</a:t>
            </a:r>
            <a:endParaRPr lang="en-US" sz="1100"/>
          </a:p>
          <a:p>
            <a:pPr marL="165100" indent="-165100" algn="l">
              <a:lnSpc>
                <a:spcPct val="125000"/>
              </a:lnSpc>
              <a:buClr>
                <a:srgbClr val="E5E7EB"/>
              </a:buClr>
              <a:buChar char="•"/>
            </a:pPr>
            <a:r>
              <a:rPr lang="en-US" sz="1300" b="0" i="0" u="none" strike="noStrike">
                <a:solidFill>
                  <a:srgbClr val="E5E7EB"/>
                </a:solidFill>
                <a:latin typeface="Noto Sans SC"/>
                <a:ea typeface="Noto Sans SC"/>
                <a:cs typeface="Noto Sans SC"/>
                <a:sym typeface="Noto Sans SC"/>
              </a:rPr>
              <a:t>拆分大任务为可执行子任务，便于跟踪进度</a:t>
            </a:r>
          </a:p>
          <a:p>
            <a:pPr marL="165100" indent="-165100" algn="l">
              <a:lnSpc>
                <a:spcPct val="125000"/>
              </a:lnSpc>
              <a:buClr>
                <a:srgbClr val="E5E7EB"/>
              </a:buClr>
              <a:buChar char="•"/>
            </a:pPr>
            <a:r>
              <a:rPr lang="en-US" sz="1300" b="0" i="0" u="none" strike="noStrike">
                <a:solidFill>
                  <a:srgbClr val="E5E7EB"/>
                </a:solidFill>
                <a:latin typeface="Noto Sans SC"/>
                <a:ea typeface="Noto Sans SC"/>
                <a:cs typeface="Noto Sans SC"/>
                <a:sym typeface="Noto Sans SC"/>
              </a:rPr>
              <a:t>每日更新任务状态，确保信息透明同步</a:t>
            </a:r>
          </a:p>
        </p:txBody>
      </p:sp>
      <p:sp>
        <p:nvSpPr>
          <p:cNvPr id="9" name="AutoShape 9"/>
          <p:cNvSpPr/>
          <p:nvPr/>
        </p:nvSpPr>
        <p:spPr>
          <a:xfrm>
            <a:off x="4381500" y="1397000"/>
            <a:ext cx="3429000" cy="2794000"/>
          </a:xfrm>
          <a:prstGeom prst="roundRect">
            <a:avLst>
              <a:gd name="adj" fmla="val 4545"/>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1587500"/>
            <a:ext cx="406400" cy="406400"/>
          </a:xfrm>
          <a:prstGeom prst="rect">
            <a:avLst/>
          </a:prstGeom>
        </p:spPr>
      </p:pic>
      <p:sp>
        <p:nvSpPr>
          <p:cNvPr id="11" name="AutoShape 11"/>
          <p:cNvSpPr/>
          <p:nvPr/>
        </p:nvSpPr>
        <p:spPr>
          <a:xfrm>
            <a:off x="5143500" y="15875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高效沟通机制</a:t>
            </a:r>
            <a:endParaRPr lang="en-US" sz="1100"/>
          </a:p>
        </p:txBody>
      </p:sp>
      <p:sp>
        <p:nvSpPr>
          <p:cNvPr id="12" name="AutoShape 12"/>
          <p:cNvSpPr/>
          <p:nvPr/>
        </p:nvSpPr>
        <p:spPr>
          <a:xfrm>
            <a:off x="4572000" y="2032000"/>
            <a:ext cx="3048000" cy="1905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25000"/>
              </a:lnSpc>
              <a:buClr>
                <a:srgbClr val="E5E7EB"/>
              </a:buClr>
              <a:buChar char="•"/>
              <a:defRPr/>
            </a:pPr>
            <a:r>
              <a:rPr lang="en-US" sz="1300" b="1" i="0" u="none" strike="noStrike">
                <a:solidFill>
                  <a:srgbClr val="E5E7EB"/>
                </a:solidFill>
                <a:latin typeface="Noto Sans SC"/>
                <a:ea typeface="Noto Sans SC"/>
                <a:cs typeface="Noto Sans SC"/>
                <a:sym typeface="Noto Sans SC"/>
              </a:rPr>
              <a:t>每日站会：</a:t>
            </a:r>
            <a:r>
              <a:rPr lang="en-US" sz="1300" b="0" i="0" u="none" strike="noStrike">
                <a:solidFill>
                  <a:srgbClr val="E5E7EB"/>
                </a:solidFill>
                <a:latin typeface="Noto Sans SC"/>
                <a:ea typeface="Noto Sans SC"/>
                <a:cs typeface="Noto Sans SC"/>
                <a:sym typeface="Noto Sans SC"/>
              </a:rPr>
              <a:t>15分钟同步进展、问题与计划</a:t>
            </a:r>
            <a:endParaRPr lang="en-US" sz="1100"/>
          </a:p>
          <a:p>
            <a:pPr marL="165100" indent="-165100" algn="l">
              <a:lnSpc>
                <a:spcPct val="125000"/>
              </a:lnSpc>
              <a:buClr>
                <a:srgbClr val="E5E7EB"/>
              </a:buClr>
              <a:buChar char="•"/>
            </a:pPr>
            <a:r>
              <a:rPr lang="en-US" sz="1300" b="1" i="0" u="none" strike="noStrike">
                <a:solidFill>
                  <a:srgbClr val="E5E7EB"/>
                </a:solidFill>
                <a:latin typeface="Noto Sans SC"/>
                <a:ea typeface="Noto Sans SC"/>
                <a:cs typeface="Noto Sans SC"/>
                <a:sym typeface="Noto Sans SC"/>
              </a:rPr>
              <a:t>技术群：</a:t>
            </a:r>
            <a:r>
              <a:rPr lang="en-US" sz="1300" b="0" i="0" u="none" strike="noStrike">
                <a:solidFill>
                  <a:srgbClr val="E5E7EB"/>
                </a:solidFill>
                <a:latin typeface="Noto Sans SC"/>
                <a:ea typeface="Noto Sans SC"/>
                <a:cs typeface="Noto Sans SC"/>
                <a:sym typeface="Noto Sans SC"/>
              </a:rPr>
              <a:t>实时解决难题，共享学习资料</a:t>
            </a:r>
          </a:p>
          <a:p>
            <a:pPr marL="165100" indent="-165100" algn="l">
              <a:lnSpc>
                <a:spcPct val="125000"/>
              </a:lnSpc>
              <a:buClr>
                <a:srgbClr val="E5E7EB"/>
              </a:buClr>
              <a:buChar char="•"/>
            </a:pPr>
            <a:r>
              <a:rPr lang="en-US" sz="1300" b="1" i="0" u="none" strike="noStrike">
                <a:solidFill>
                  <a:srgbClr val="E5E7EB"/>
                </a:solidFill>
                <a:latin typeface="Noto Sans SC"/>
                <a:ea typeface="Noto Sans SC"/>
                <a:cs typeface="Noto Sans SC"/>
                <a:sym typeface="Noto Sans SC"/>
              </a:rPr>
              <a:t>定期演示：</a:t>
            </a:r>
            <a:r>
              <a:rPr lang="en-US" sz="1300" b="0" i="0" u="none" strike="noStrike">
                <a:solidFill>
                  <a:srgbClr val="E5E7EB"/>
                </a:solidFill>
                <a:latin typeface="Noto Sans SC"/>
                <a:ea typeface="Noto Sans SC"/>
                <a:cs typeface="Noto Sans SC"/>
                <a:sym typeface="Noto Sans SC"/>
              </a:rPr>
              <a:t>每周功能演示，及时调整方向</a:t>
            </a:r>
          </a:p>
        </p:txBody>
      </p:sp>
      <p:sp>
        <p:nvSpPr>
          <p:cNvPr id="13" name="AutoShape 13"/>
          <p:cNvSpPr/>
          <p:nvPr/>
        </p:nvSpPr>
        <p:spPr>
          <a:xfrm>
            <a:off x="8001000" y="1397000"/>
            <a:ext cx="3429000" cy="2794000"/>
          </a:xfrm>
          <a:prstGeom prst="roundRect">
            <a:avLst>
              <a:gd name="adj" fmla="val 4545"/>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1587500"/>
            <a:ext cx="406400" cy="406400"/>
          </a:xfrm>
          <a:prstGeom prst="rect">
            <a:avLst/>
          </a:prstGeom>
        </p:spPr>
      </p:pic>
      <p:sp>
        <p:nvSpPr>
          <p:cNvPr id="15" name="AutoShape 15"/>
          <p:cNvSpPr/>
          <p:nvPr/>
        </p:nvSpPr>
        <p:spPr>
          <a:xfrm>
            <a:off x="8763000" y="15875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Noto Sans SC"/>
                <a:ea typeface="Noto Sans SC"/>
                <a:cs typeface="Noto Sans SC"/>
                <a:sym typeface="Noto Sans SC"/>
              </a:rPr>
              <a:t>规范代码协作</a:t>
            </a:r>
            <a:endParaRPr lang="en-US" sz="1100"/>
          </a:p>
        </p:txBody>
      </p:sp>
      <p:sp>
        <p:nvSpPr>
          <p:cNvPr id="16" name="AutoShape 16"/>
          <p:cNvSpPr/>
          <p:nvPr/>
        </p:nvSpPr>
        <p:spPr>
          <a:xfrm>
            <a:off x="8191500" y="2032000"/>
            <a:ext cx="3048000" cy="1905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25000"/>
              </a:lnSpc>
              <a:buClr>
                <a:srgbClr val="E5E7EB"/>
              </a:buClr>
              <a:buChar char="•"/>
              <a:defRPr/>
            </a:pPr>
            <a:r>
              <a:rPr lang="en-US" sz="1300" b="0" i="0" u="none" strike="noStrike">
                <a:solidFill>
                  <a:srgbClr val="E5E7EB"/>
                </a:solidFill>
                <a:latin typeface="Noto Sans SC"/>
                <a:ea typeface="Noto Sans SC"/>
                <a:cs typeface="Noto Sans SC"/>
                <a:sym typeface="Noto Sans SC"/>
              </a:rPr>
              <a:t>遵循Git Flow分支策略，feature分支开发合并</a:t>
            </a:r>
            <a:endParaRPr lang="en-US" sz="1100"/>
          </a:p>
          <a:p>
            <a:pPr marL="165100" indent="-165100" algn="l">
              <a:lnSpc>
                <a:spcPct val="125000"/>
              </a:lnSpc>
              <a:buClr>
                <a:srgbClr val="E5E7EB"/>
              </a:buClr>
              <a:buChar char="•"/>
            </a:pPr>
            <a:r>
              <a:rPr lang="en-US" sz="1300" b="0" i="0" u="none" strike="noStrike">
                <a:solidFill>
                  <a:srgbClr val="E5E7EB"/>
                </a:solidFill>
                <a:latin typeface="Noto Sans SC"/>
                <a:ea typeface="Noto Sans SC"/>
                <a:cs typeface="Noto Sans SC"/>
                <a:sym typeface="Noto Sans SC"/>
              </a:rPr>
              <a:t>坚持代码审查(Code Review)，保证代码质量</a:t>
            </a:r>
          </a:p>
          <a:p>
            <a:pPr marL="165100" indent="-165100" algn="l">
              <a:lnSpc>
                <a:spcPct val="125000"/>
              </a:lnSpc>
              <a:buClr>
                <a:srgbClr val="E5E7EB"/>
              </a:buClr>
              <a:buChar char="•"/>
            </a:pPr>
            <a:r>
              <a:rPr lang="en-US" sz="1300" b="0" i="0" u="none" strike="noStrike">
                <a:solidFill>
                  <a:srgbClr val="E5E7EB"/>
                </a:solidFill>
                <a:latin typeface="Noto Sans SC"/>
                <a:ea typeface="Noto Sans SC"/>
                <a:cs typeface="Noto Sans SC"/>
                <a:sym typeface="Noto Sans SC"/>
              </a:rPr>
              <a:t>统一代码风格，促进团队知识共享</a:t>
            </a:r>
          </a:p>
        </p:txBody>
      </p:sp>
      <p:sp>
        <p:nvSpPr>
          <p:cNvPr id="17" name="AutoShape 17"/>
          <p:cNvSpPr/>
          <p:nvPr/>
        </p:nvSpPr>
        <p:spPr>
          <a:xfrm>
            <a:off x="762000" y="4445000"/>
            <a:ext cx="10668000" cy="762000"/>
          </a:xfrm>
          <a:prstGeom prst="roundRect">
            <a:avLst>
              <a:gd name="adj" fmla="val 16666"/>
            </a:avLst>
          </a:prstGeom>
          <a:solidFill>
            <a:srgbClr val="00BFFF">
              <a:alpha val="15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673600"/>
            <a:ext cx="304800" cy="304800"/>
          </a:xfrm>
          <a:prstGeom prst="rect">
            <a:avLst/>
          </a:prstGeom>
        </p:spPr>
      </p:pic>
      <p:sp>
        <p:nvSpPr>
          <p:cNvPr id="19" name="AutoShape 19"/>
          <p:cNvSpPr/>
          <p:nvPr/>
        </p:nvSpPr>
        <p:spPr>
          <a:xfrm>
            <a:off x="1397000" y="4572000"/>
            <a:ext cx="990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行动指令：</a:t>
            </a:r>
            <a:r>
              <a:rPr lang="en-US" sz="1500" b="0" i="0" u="none" strike="noStrike">
                <a:solidFill>
                  <a:srgbClr val="E5E7EB"/>
                </a:solidFill>
                <a:latin typeface="Noto Sans SC"/>
                <a:ea typeface="Noto Sans SC"/>
                <a:cs typeface="Noto Sans SC"/>
                <a:sym typeface="Noto Sans SC"/>
              </a:rPr>
              <a:t>检查团队当前的任务管理工具和沟通机制是否完善，并制定改进计划。</a:t>
            </a:r>
            <a:endParaRPr lang="en-US" sz="1100"/>
          </a:p>
        </p:txBody>
      </p:sp>
      <p:sp>
        <p:nvSpPr>
          <p:cNvPr id="20" name="AutoShape 20"/>
          <p:cNvSpPr/>
          <p:nvPr/>
        </p:nvSpPr>
        <p:spPr>
          <a:xfrm>
            <a:off x="762000" y="5461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Noto Sans SC"/>
                <a:ea typeface="Noto Sans SC"/>
                <a:cs typeface="Noto Sans SC"/>
                <a:sym typeface="Noto Sans SC"/>
              </a:rPr>
              <a:t>资源支持：已提供项目管理工具模板与代码协作规范文档，请查阅团队共享文件夹。</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14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381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风险识别与深度应对策略</a:t>
            </a:r>
            <a:endParaRPr lang="en-US" sz="1100"/>
          </a:p>
        </p:txBody>
      </p:sp>
      <p:sp>
        <p:nvSpPr>
          <p:cNvPr id="5" name="AutoShape 5"/>
          <p:cNvSpPr/>
          <p:nvPr/>
        </p:nvSpPr>
        <p:spPr>
          <a:xfrm>
            <a:off x="762000" y="1270000"/>
            <a:ext cx="3378200" cy="3556000"/>
          </a:xfrm>
          <a:prstGeom prst="roundRect">
            <a:avLst>
              <a:gd name="adj" fmla="val 3759"/>
            </a:avLst>
          </a:prstGeom>
          <a:solidFill>
            <a:srgbClr val="FFFFFF">
              <a:alpha val="5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460500"/>
            <a:ext cx="304800" cy="304800"/>
          </a:xfrm>
          <a:prstGeom prst="rect">
            <a:avLst/>
          </a:prstGeom>
        </p:spPr>
      </p:pic>
      <p:sp>
        <p:nvSpPr>
          <p:cNvPr id="7" name="AutoShape 7"/>
          <p:cNvSpPr/>
          <p:nvPr/>
        </p:nvSpPr>
        <p:spPr>
          <a:xfrm>
            <a:off x="1333500" y="1422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技术风险</a:t>
            </a:r>
            <a:endParaRPr lang="en-US" sz="1100"/>
          </a:p>
        </p:txBody>
      </p:sp>
      <p:sp>
        <p:nvSpPr>
          <p:cNvPr id="8" name="AutoShape 8"/>
          <p:cNvSpPr/>
          <p:nvPr/>
        </p:nvSpPr>
        <p:spPr>
          <a:xfrm>
            <a:off x="952500" y="1841500"/>
            <a:ext cx="29972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90196"/>
                  </a:srgbClr>
                </a:solidFill>
                <a:latin typeface="Noto Sans SC"/>
                <a:ea typeface="Noto Sans SC"/>
                <a:cs typeface="Noto Sans SC"/>
                <a:sym typeface="Noto Sans SC"/>
              </a:rPr>
              <a:t>• AI对话功能开发难度超出预期，交互不自然。</a:t>
            </a:r>
            <a:endParaRPr lang="en-US" sz="1100"/>
          </a:p>
          <a:p>
            <a:pPr indent="0" algn="l">
              <a:lnSpc>
                <a:spcPct val="100000"/>
              </a:lnSpc>
            </a:pPr>
            <a:r>
              <a:rPr lang="en-US" sz="1200" b="0" i="0" u="none" strike="noStrike">
                <a:solidFill>
                  <a:srgbClr val="FFFFFF">
                    <a:alpha val="90196"/>
                  </a:srgbClr>
                </a:solidFill>
                <a:latin typeface="Noto Sans SC"/>
                <a:ea typeface="Noto Sans SC"/>
                <a:cs typeface="Noto Sans SC"/>
                <a:sym typeface="Noto Sans SC"/>
              </a:rPr>
              <a:t>• 第三方API调用失败或服务不稳定。</a:t>
            </a:r>
          </a:p>
        </p:txBody>
      </p:sp>
      <p:sp>
        <p:nvSpPr>
          <p:cNvPr id="9" name="AutoShape 9"/>
          <p:cNvSpPr/>
          <p:nvPr/>
        </p:nvSpPr>
        <p:spPr>
          <a:xfrm>
            <a:off x="952500" y="2667000"/>
            <a:ext cx="762000" cy="254000"/>
          </a:xfrm>
          <a:prstGeom prst="roundRect">
            <a:avLst>
              <a:gd name="adj" fmla="val 25000"/>
            </a:avLst>
          </a:prstGeom>
          <a:solidFill>
            <a:srgbClr val="00BFFF">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00BFFF"/>
                </a:solidFill>
                <a:latin typeface="Noto Sans SC"/>
                <a:ea typeface="Noto Sans SC"/>
                <a:cs typeface="Noto Sans SC"/>
                <a:sym typeface="Noto Sans SC"/>
              </a:rPr>
              <a:t>可能性:中</a:t>
            </a:r>
            <a:endParaRPr lang="en-US" sz="1100"/>
          </a:p>
        </p:txBody>
      </p:sp>
      <p:sp>
        <p:nvSpPr>
          <p:cNvPr id="10" name="AutoShape 10"/>
          <p:cNvSpPr/>
          <p:nvPr/>
        </p:nvSpPr>
        <p:spPr>
          <a:xfrm>
            <a:off x="1778000" y="2667000"/>
            <a:ext cx="762000" cy="254000"/>
          </a:xfrm>
          <a:prstGeom prst="roundRect">
            <a:avLst>
              <a:gd name="adj" fmla="val 25000"/>
            </a:avLst>
          </a:prstGeom>
          <a:solidFill>
            <a:srgbClr val="FF6B6B">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FF6B6B"/>
                </a:solidFill>
                <a:latin typeface="Noto Sans SC"/>
                <a:ea typeface="Noto Sans SC"/>
                <a:cs typeface="Noto Sans SC"/>
                <a:sym typeface="Noto Sans SC"/>
              </a:rPr>
              <a:t>影响:高</a:t>
            </a:r>
            <a:endParaRPr lang="en-US" sz="1100"/>
          </a:p>
        </p:txBody>
      </p:sp>
      <p:sp>
        <p:nvSpPr>
          <p:cNvPr id="11" name="AutoShape 11"/>
          <p:cNvSpPr/>
          <p:nvPr/>
        </p:nvSpPr>
        <p:spPr>
          <a:xfrm>
            <a:off x="952500" y="3048000"/>
            <a:ext cx="29972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FFFFFF"/>
                </a:solidFill>
                <a:latin typeface="Noto Sans SC"/>
                <a:ea typeface="Noto Sans SC"/>
                <a:cs typeface="Noto Sans SC"/>
                <a:sym typeface="Noto Sans SC"/>
              </a:rPr>
              <a:t>应对策略：</a:t>
            </a:r>
            <a:endParaRPr lang="en-US" sz="1100"/>
          </a:p>
          <a:p>
            <a:pPr indent="0" algn="l">
              <a:lnSpc>
                <a:spcPct val="100000"/>
              </a:lnSpc>
            </a:pPr>
            <a:r>
              <a:rPr lang="en-US" sz="1100" b="0" i="0" u="none" strike="noStrike">
                <a:solidFill>
                  <a:srgbClr val="FFFFFF">
                    <a:alpha val="80000"/>
                  </a:srgbClr>
                </a:solidFill>
                <a:latin typeface="Noto Sans SC"/>
                <a:ea typeface="Noto Sans SC"/>
                <a:cs typeface="Noto Sans SC"/>
                <a:sym typeface="Noto Sans SC"/>
              </a:rPr>
              <a:t>1. 分步实现：规则引擎先行，确保基础功能。</a:t>
            </a:r>
          </a:p>
          <a:p>
            <a:pPr indent="0" algn="l">
              <a:lnSpc>
                <a:spcPct val="100000"/>
              </a:lnSpc>
            </a:pPr>
            <a:r>
              <a:rPr lang="en-US" sz="1100" b="0" i="0" u="none" strike="noStrike">
                <a:solidFill>
                  <a:srgbClr val="FFFFFF">
                    <a:alpha val="80000"/>
                  </a:srgbClr>
                </a:solidFill>
                <a:latin typeface="Noto Sans SC"/>
                <a:ea typeface="Noto Sans SC"/>
                <a:cs typeface="Noto Sans SC"/>
                <a:sym typeface="Noto Sans SC"/>
              </a:rPr>
              <a:t>2. 预留接口：便于未来对接大模型升级。</a:t>
            </a:r>
          </a:p>
          <a:p>
            <a:pPr indent="0" algn="l">
              <a:lnSpc>
                <a:spcPct val="100000"/>
              </a:lnSpc>
            </a:pPr>
            <a:r>
              <a:rPr lang="en-US" sz="1100" b="0" i="0" u="none" strike="noStrike">
                <a:solidFill>
                  <a:srgbClr val="FFFFFF">
                    <a:alpha val="80000"/>
                  </a:srgbClr>
                </a:solidFill>
                <a:latin typeface="Noto Sans SC"/>
                <a:ea typeface="Noto Sans SC"/>
                <a:cs typeface="Noto Sans SC"/>
                <a:sym typeface="Noto Sans SC"/>
              </a:rPr>
              <a:t>3. 充分调研：验证API稳定性与成本。</a:t>
            </a:r>
          </a:p>
        </p:txBody>
      </p:sp>
      <p:sp>
        <p:nvSpPr>
          <p:cNvPr id="12" name="AutoShape 12"/>
          <p:cNvSpPr/>
          <p:nvPr/>
        </p:nvSpPr>
        <p:spPr>
          <a:xfrm>
            <a:off x="4394200" y="1270000"/>
            <a:ext cx="3378200" cy="3556000"/>
          </a:xfrm>
          <a:prstGeom prst="roundRect">
            <a:avLst>
              <a:gd name="adj" fmla="val 3759"/>
            </a:avLst>
          </a:prstGeom>
          <a:solidFill>
            <a:srgbClr val="FFFFFF">
              <a:alpha val="5000"/>
            </a:srgbClr>
          </a:solidFill>
          <a:ln w="12700" cap="flat" cmpd="sng">
            <a:solidFill>
              <a:srgbClr val="FFB6C1">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84700" y="1460500"/>
            <a:ext cx="304800" cy="304800"/>
          </a:xfrm>
          <a:prstGeom prst="rect">
            <a:avLst/>
          </a:prstGeom>
        </p:spPr>
      </p:pic>
      <p:sp>
        <p:nvSpPr>
          <p:cNvPr id="14" name="AutoShape 14"/>
          <p:cNvSpPr/>
          <p:nvPr/>
        </p:nvSpPr>
        <p:spPr>
          <a:xfrm>
            <a:off x="4965700" y="1422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进度风险</a:t>
            </a:r>
            <a:endParaRPr lang="en-US" sz="1100"/>
          </a:p>
        </p:txBody>
      </p:sp>
      <p:sp>
        <p:nvSpPr>
          <p:cNvPr id="15" name="AutoShape 15"/>
          <p:cNvSpPr/>
          <p:nvPr/>
        </p:nvSpPr>
        <p:spPr>
          <a:xfrm>
            <a:off x="4584700" y="1841500"/>
            <a:ext cx="29972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90196"/>
                  </a:srgbClr>
                </a:solidFill>
                <a:latin typeface="Noto Sans SC"/>
                <a:ea typeface="Noto Sans SC"/>
                <a:cs typeface="Noto Sans SC"/>
                <a:sym typeface="Noto Sans SC"/>
              </a:rPr>
              <a:t>• 功能开发复杂度高，导致Sprint目标延期。</a:t>
            </a:r>
            <a:endParaRPr lang="en-US" sz="1100"/>
          </a:p>
          <a:p>
            <a:pPr indent="0" algn="l">
              <a:lnSpc>
                <a:spcPct val="100000"/>
              </a:lnSpc>
            </a:pPr>
            <a:r>
              <a:rPr lang="en-US" sz="1200" b="0" i="0" u="none" strike="noStrike">
                <a:solidFill>
                  <a:srgbClr val="FFFFFF">
                    <a:alpha val="90196"/>
                  </a:srgbClr>
                </a:solidFill>
                <a:latin typeface="Noto Sans SC"/>
                <a:ea typeface="Noto Sans SC"/>
                <a:cs typeface="Noto Sans SC"/>
                <a:sym typeface="Noto Sans SC"/>
              </a:rPr>
              <a:t>• 核心功能受阻，影响整体交付时间。</a:t>
            </a:r>
          </a:p>
        </p:txBody>
      </p:sp>
      <p:sp>
        <p:nvSpPr>
          <p:cNvPr id="16" name="AutoShape 16"/>
          <p:cNvSpPr/>
          <p:nvPr/>
        </p:nvSpPr>
        <p:spPr>
          <a:xfrm>
            <a:off x="4584700" y="2667000"/>
            <a:ext cx="762000" cy="254000"/>
          </a:xfrm>
          <a:prstGeom prst="roundRect">
            <a:avLst>
              <a:gd name="adj" fmla="val 25000"/>
            </a:avLst>
          </a:prstGeom>
          <a:solidFill>
            <a:srgbClr val="FF6B6B">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FF6B6B"/>
                </a:solidFill>
                <a:latin typeface="Noto Sans SC"/>
                <a:ea typeface="Noto Sans SC"/>
                <a:cs typeface="Noto Sans SC"/>
                <a:sym typeface="Noto Sans SC"/>
              </a:rPr>
              <a:t>可能性:高</a:t>
            </a:r>
            <a:endParaRPr lang="en-US" sz="1100"/>
          </a:p>
        </p:txBody>
      </p:sp>
      <p:sp>
        <p:nvSpPr>
          <p:cNvPr id="17" name="AutoShape 17"/>
          <p:cNvSpPr/>
          <p:nvPr/>
        </p:nvSpPr>
        <p:spPr>
          <a:xfrm>
            <a:off x="5410200" y="2667000"/>
            <a:ext cx="762000" cy="254000"/>
          </a:xfrm>
          <a:prstGeom prst="roundRect">
            <a:avLst>
              <a:gd name="adj" fmla="val 25000"/>
            </a:avLst>
          </a:prstGeom>
          <a:solidFill>
            <a:srgbClr val="FF6B6B">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FF6B6B"/>
                </a:solidFill>
                <a:latin typeface="Noto Sans SC"/>
                <a:ea typeface="Noto Sans SC"/>
                <a:cs typeface="Noto Sans SC"/>
                <a:sym typeface="Noto Sans SC"/>
              </a:rPr>
              <a:t>影响:高</a:t>
            </a:r>
            <a:endParaRPr lang="en-US" sz="1100"/>
          </a:p>
        </p:txBody>
      </p:sp>
      <p:sp>
        <p:nvSpPr>
          <p:cNvPr id="18" name="AutoShape 18"/>
          <p:cNvSpPr/>
          <p:nvPr/>
        </p:nvSpPr>
        <p:spPr>
          <a:xfrm>
            <a:off x="4584700" y="3048000"/>
            <a:ext cx="29972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FFFFFF"/>
                </a:solidFill>
                <a:latin typeface="Noto Sans SC"/>
                <a:ea typeface="Noto Sans SC"/>
                <a:cs typeface="Noto Sans SC"/>
                <a:sym typeface="Noto Sans SC"/>
              </a:rPr>
              <a:t>应对策略：</a:t>
            </a:r>
            <a:endParaRPr lang="en-US" sz="1100"/>
          </a:p>
          <a:p>
            <a:pPr indent="0" algn="l">
              <a:lnSpc>
                <a:spcPct val="100000"/>
              </a:lnSpc>
            </a:pPr>
            <a:r>
              <a:rPr lang="en-US" sz="1100" b="0" i="0" u="none" strike="noStrike">
                <a:solidFill>
                  <a:srgbClr val="FFFFFF">
                    <a:alpha val="80000"/>
                  </a:srgbClr>
                </a:solidFill>
                <a:latin typeface="Noto Sans SC"/>
                <a:ea typeface="Noto Sans SC"/>
                <a:cs typeface="Noto Sans SC"/>
                <a:sym typeface="Noto Sans SC"/>
              </a:rPr>
              <a:t>1. 详细计划：任务分解到日，明确小目标。</a:t>
            </a:r>
          </a:p>
          <a:p>
            <a:pPr indent="0" algn="l">
              <a:lnSpc>
                <a:spcPct val="100000"/>
              </a:lnSpc>
            </a:pPr>
            <a:r>
              <a:rPr lang="en-US" sz="1100" b="0" i="0" u="none" strike="noStrike">
                <a:solidFill>
                  <a:srgbClr val="FFFFFF">
                    <a:alpha val="80000"/>
                  </a:srgbClr>
                </a:solidFill>
                <a:latin typeface="Noto Sans SC"/>
                <a:ea typeface="Noto Sans SC"/>
                <a:cs typeface="Noto Sans SC"/>
                <a:sym typeface="Noto Sans SC"/>
              </a:rPr>
              <a:t>2. 优先级排序：优先完成核心与高体验功能。</a:t>
            </a:r>
          </a:p>
          <a:p>
            <a:pPr indent="0" algn="l">
              <a:lnSpc>
                <a:spcPct val="100000"/>
              </a:lnSpc>
            </a:pPr>
            <a:r>
              <a:rPr lang="en-US" sz="1100" b="0" i="0" u="none" strike="noStrike">
                <a:solidFill>
                  <a:srgbClr val="FFFFFF">
                    <a:alpha val="80000"/>
                  </a:srgbClr>
                </a:solidFill>
                <a:latin typeface="Noto Sans SC"/>
                <a:ea typeface="Noto Sans SC"/>
                <a:cs typeface="Noto Sans SC"/>
                <a:sym typeface="Noto Sans SC"/>
              </a:rPr>
              <a:t>3. 团队协作：互助支持，攻克难点任务。</a:t>
            </a:r>
          </a:p>
        </p:txBody>
      </p:sp>
      <p:sp>
        <p:nvSpPr>
          <p:cNvPr id="19" name="AutoShape 19"/>
          <p:cNvSpPr/>
          <p:nvPr/>
        </p:nvSpPr>
        <p:spPr>
          <a:xfrm>
            <a:off x="8026400" y="1270000"/>
            <a:ext cx="3378200" cy="3556000"/>
          </a:xfrm>
          <a:prstGeom prst="roundRect">
            <a:avLst>
              <a:gd name="adj" fmla="val 3759"/>
            </a:avLst>
          </a:prstGeom>
          <a:solidFill>
            <a:srgbClr val="FFFFFF">
              <a:alpha val="5000"/>
            </a:srgbClr>
          </a:solidFill>
          <a:ln w="12700" cap="flat" cmpd="sng">
            <a:solidFill>
              <a:srgbClr val="E6E6FA">
                <a:alpha val="10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16900" y="1460500"/>
            <a:ext cx="304800" cy="304800"/>
          </a:xfrm>
          <a:prstGeom prst="rect">
            <a:avLst/>
          </a:prstGeom>
        </p:spPr>
      </p:pic>
      <p:sp>
        <p:nvSpPr>
          <p:cNvPr id="21" name="AutoShape 21"/>
          <p:cNvSpPr/>
          <p:nvPr/>
        </p:nvSpPr>
        <p:spPr>
          <a:xfrm>
            <a:off x="8597900" y="1422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Noto Sans SC"/>
                <a:ea typeface="Noto Sans SC"/>
                <a:cs typeface="Noto Sans SC"/>
                <a:sym typeface="Noto Sans SC"/>
              </a:rPr>
              <a:t>团队风险</a:t>
            </a:r>
            <a:endParaRPr lang="en-US" sz="1100"/>
          </a:p>
        </p:txBody>
      </p:sp>
      <p:sp>
        <p:nvSpPr>
          <p:cNvPr id="22" name="AutoShape 22"/>
          <p:cNvSpPr/>
          <p:nvPr/>
        </p:nvSpPr>
        <p:spPr>
          <a:xfrm>
            <a:off x="8216900" y="1841500"/>
            <a:ext cx="29972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90196"/>
                  </a:srgbClr>
                </a:solidFill>
                <a:latin typeface="Noto Sans SC"/>
                <a:ea typeface="Noto Sans SC"/>
                <a:cs typeface="Noto Sans SC"/>
                <a:sym typeface="Noto Sans SC"/>
              </a:rPr>
              <a:t>• 成员因考试或个人事务参与度下降。</a:t>
            </a:r>
            <a:endParaRPr lang="en-US" sz="1100"/>
          </a:p>
          <a:p>
            <a:pPr indent="0" algn="l">
              <a:lnSpc>
                <a:spcPct val="100000"/>
              </a:lnSpc>
            </a:pPr>
            <a:r>
              <a:rPr lang="en-US" sz="1200" b="0" i="0" u="none" strike="noStrike">
                <a:solidFill>
                  <a:srgbClr val="FFFFFF">
                    <a:alpha val="90196"/>
                  </a:srgbClr>
                </a:solidFill>
                <a:latin typeface="Noto Sans SC"/>
                <a:ea typeface="Noto Sans SC"/>
                <a:cs typeface="Noto Sans SC"/>
                <a:sym typeface="Noto Sans SC"/>
              </a:rPr>
              <a:t>• 关键任务单点依赖，影响整体进度。</a:t>
            </a:r>
          </a:p>
        </p:txBody>
      </p:sp>
      <p:sp>
        <p:nvSpPr>
          <p:cNvPr id="23" name="AutoShape 23"/>
          <p:cNvSpPr/>
          <p:nvPr/>
        </p:nvSpPr>
        <p:spPr>
          <a:xfrm>
            <a:off x="8216900" y="2667000"/>
            <a:ext cx="762000" cy="254000"/>
          </a:xfrm>
          <a:prstGeom prst="roundRect">
            <a:avLst>
              <a:gd name="adj" fmla="val 25000"/>
            </a:avLst>
          </a:prstGeom>
          <a:solidFill>
            <a:srgbClr val="00BFFF">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00BFFF"/>
                </a:solidFill>
                <a:latin typeface="Noto Sans SC"/>
                <a:ea typeface="Noto Sans SC"/>
                <a:cs typeface="Noto Sans SC"/>
                <a:sym typeface="Noto Sans SC"/>
              </a:rPr>
              <a:t>可能性:中</a:t>
            </a:r>
            <a:endParaRPr lang="en-US" sz="1100"/>
          </a:p>
        </p:txBody>
      </p:sp>
      <p:sp>
        <p:nvSpPr>
          <p:cNvPr id="24" name="AutoShape 24"/>
          <p:cNvSpPr/>
          <p:nvPr/>
        </p:nvSpPr>
        <p:spPr>
          <a:xfrm>
            <a:off x="9042400" y="2667000"/>
            <a:ext cx="762000" cy="254000"/>
          </a:xfrm>
          <a:prstGeom prst="roundRect">
            <a:avLst>
              <a:gd name="adj" fmla="val 25000"/>
            </a:avLst>
          </a:prstGeom>
          <a:solidFill>
            <a:srgbClr val="00BFFF">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00BFFF"/>
                </a:solidFill>
                <a:latin typeface="Noto Sans SC"/>
                <a:ea typeface="Noto Sans SC"/>
                <a:cs typeface="Noto Sans SC"/>
                <a:sym typeface="Noto Sans SC"/>
              </a:rPr>
              <a:t>影响:中</a:t>
            </a:r>
            <a:endParaRPr lang="en-US" sz="1100"/>
          </a:p>
        </p:txBody>
      </p:sp>
      <p:sp>
        <p:nvSpPr>
          <p:cNvPr id="25" name="AutoShape 25"/>
          <p:cNvSpPr/>
          <p:nvPr/>
        </p:nvSpPr>
        <p:spPr>
          <a:xfrm>
            <a:off x="8216900" y="3048000"/>
            <a:ext cx="29972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FFFFFF"/>
                </a:solidFill>
                <a:latin typeface="Noto Sans SC"/>
                <a:ea typeface="Noto Sans SC"/>
                <a:cs typeface="Noto Sans SC"/>
                <a:sym typeface="Noto Sans SC"/>
              </a:rPr>
              <a:t>应对策略：</a:t>
            </a:r>
            <a:endParaRPr lang="en-US" sz="1100"/>
          </a:p>
          <a:p>
            <a:pPr indent="0" algn="l">
              <a:lnSpc>
                <a:spcPct val="100000"/>
              </a:lnSpc>
            </a:pPr>
            <a:r>
              <a:rPr lang="en-US" sz="1100" b="0" i="0" u="none" strike="noStrike">
                <a:solidFill>
                  <a:srgbClr val="FFFFFF">
                    <a:alpha val="80000"/>
                  </a:srgbClr>
                </a:solidFill>
                <a:latin typeface="Noto Sans SC"/>
                <a:ea typeface="Noto Sans SC"/>
                <a:cs typeface="Noto Sans SC"/>
                <a:sym typeface="Noto Sans SC"/>
              </a:rPr>
              <a:t>1. 提前沟通：预判时间冲突，调整分配。</a:t>
            </a:r>
          </a:p>
          <a:p>
            <a:pPr indent="0" algn="l">
              <a:lnSpc>
                <a:spcPct val="100000"/>
              </a:lnSpc>
            </a:pPr>
            <a:r>
              <a:rPr lang="en-US" sz="1100" b="0" i="0" u="none" strike="noStrike">
                <a:solidFill>
                  <a:srgbClr val="FFFFFF">
                    <a:alpha val="80000"/>
                  </a:srgbClr>
                </a:solidFill>
                <a:latin typeface="Noto Sans SC"/>
                <a:ea typeface="Noto Sans SC"/>
                <a:cs typeface="Noto Sans SC"/>
                <a:sym typeface="Noto Sans SC"/>
              </a:rPr>
              <a:t>2. 任务备份：避免单点依赖，交叉熟悉任务。</a:t>
            </a:r>
          </a:p>
          <a:p>
            <a:pPr indent="0" algn="l">
              <a:lnSpc>
                <a:spcPct val="100000"/>
              </a:lnSpc>
            </a:pPr>
            <a:r>
              <a:rPr lang="en-US" sz="1100" b="0" i="0" u="none" strike="noStrike">
                <a:solidFill>
                  <a:srgbClr val="FFFFFF">
                    <a:alpha val="80000"/>
                  </a:srgbClr>
                </a:solidFill>
                <a:latin typeface="Noto Sans SC"/>
                <a:ea typeface="Noto Sans SC"/>
                <a:cs typeface="Noto Sans SC"/>
                <a:sym typeface="Noto Sans SC"/>
              </a:rPr>
              <a:t>3. 保持氛围：积极互助，鼓励克服困难。</a:t>
            </a:r>
          </a:p>
        </p:txBody>
      </p:sp>
      <p:sp>
        <p:nvSpPr>
          <p:cNvPr id="26" name="AutoShape 26"/>
          <p:cNvSpPr/>
          <p:nvPr/>
        </p:nvSpPr>
        <p:spPr>
          <a:xfrm>
            <a:off x="762000" y="5080000"/>
            <a:ext cx="10668000" cy="635000"/>
          </a:xfrm>
          <a:prstGeom prst="roundRect">
            <a:avLst>
              <a:gd name="adj" fmla="val 2000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5245100"/>
            <a:ext cx="304800" cy="304800"/>
          </a:xfrm>
          <a:prstGeom prst="rect">
            <a:avLst/>
          </a:prstGeom>
        </p:spPr>
      </p:pic>
      <p:sp>
        <p:nvSpPr>
          <p:cNvPr id="28" name="AutoShape 28"/>
          <p:cNvSpPr/>
          <p:nvPr/>
        </p:nvSpPr>
        <p:spPr>
          <a:xfrm>
            <a:off x="1397000" y="5207000"/>
            <a:ext cx="990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行动指令：</a:t>
            </a:r>
            <a:r>
              <a:rPr lang="en-US" sz="1400" b="0" i="0" u="none" strike="noStrike">
                <a:solidFill>
                  <a:srgbClr val="FFFFFF">
                    <a:alpha val="90196"/>
                  </a:srgbClr>
                </a:solidFill>
                <a:latin typeface="Noto Sans SC"/>
                <a:ea typeface="Noto Sans SC"/>
                <a:cs typeface="Noto Sans SC"/>
                <a:sym typeface="Noto Sans SC"/>
              </a:rPr>
              <a:t>结合你们团队的具体情况，识别更多潜在风险，并制定相应的应对策略。</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812800" y="508000"/>
            <a:ext cx="10566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Sprint 2 详细时间规划（两周计划）</a:t>
            </a:r>
            <a:endParaRPr lang="en-US" sz="1100"/>
          </a:p>
        </p:txBody>
      </p:sp>
      <p:sp>
        <p:nvSpPr>
          <p:cNvPr id="5" name="AutoShape 5"/>
          <p:cNvSpPr/>
          <p:nvPr/>
        </p:nvSpPr>
        <p:spPr>
          <a:xfrm>
            <a:off x="812800" y="1397000"/>
            <a:ext cx="5080000" cy="3048000"/>
          </a:xfrm>
          <a:prstGeom prst="roundRect">
            <a:avLst>
              <a:gd name="adj" fmla="val 4166"/>
            </a:avLst>
          </a:prstGeom>
          <a:solidFill>
            <a:srgbClr val="00BFFF">
              <a:alpha val="10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304800" cy="304800"/>
          </a:xfrm>
          <a:prstGeom prst="rect">
            <a:avLst/>
          </a:prstGeom>
        </p:spPr>
      </p:pic>
      <p:sp>
        <p:nvSpPr>
          <p:cNvPr id="7" name="AutoShape 7"/>
          <p:cNvSpPr/>
          <p:nvPr/>
        </p:nvSpPr>
        <p:spPr>
          <a:xfrm>
            <a:off x="1397000" y="1549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Poppins"/>
                <a:ea typeface="Poppins"/>
                <a:cs typeface="Poppins"/>
                <a:sym typeface="Poppins"/>
              </a:rPr>
              <a:t>第一周：乘车模式开发</a:t>
            </a:r>
            <a:endParaRPr lang="en-US" sz="1100"/>
          </a:p>
        </p:txBody>
      </p:sp>
      <p:sp>
        <p:nvSpPr>
          <p:cNvPr id="8" name="AutoShape 8"/>
          <p:cNvSpPr/>
          <p:nvPr/>
        </p:nvSpPr>
        <p:spPr>
          <a:xfrm>
            <a:off x="1016000" y="2032000"/>
            <a:ext cx="4699000" cy="215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FFB6C1"/>
                </a:solidFill>
                <a:latin typeface="Poppins"/>
                <a:ea typeface="Poppins"/>
                <a:cs typeface="Poppins"/>
                <a:sym typeface="Poppins"/>
              </a:rPr>
              <a:t>Day 1-2：</a:t>
            </a:r>
            <a:r>
              <a:rPr lang="en-US" sz="1400" b="0" i="0" u="none" strike="noStrike">
                <a:solidFill>
                  <a:srgbClr val="E6E6FA"/>
                </a:solidFill>
                <a:latin typeface="Poppins"/>
                <a:ea typeface="Poppins"/>
                <a:cs typeface="Poppins"/>
                <a:sym typeface="Poppins"/>
              </a:rPr>
              <a:t>完成乘车模式界面设计、UI布局和基础框架搭建。</a:t>
            </a:r>
            <a:endParaRPr lang="en-US" sz="1100"/>
          </a:p>
          <a:p>
            <a:pPr indent="0" algn="l">
              <a:lnSpc>
                <a:spcPct val="108333"/>
              </a:lnSpc>
            </a:pPr>
            <a:r>
              <a:rPr lang="en-US" sz="1400" b="1" i="0" u="none" strike="noStrike">
                <a:solidFill>
                  <a:srgbClr val="FFB6C1"/>
                </a:solidFill>
                <a:latin typeface="Poppins"/>
                <a:ea typeface="Poppins"/>
                <a:cs typeface="Poppins"/>
                <a:sym typeface="Poppins"/>
              </a:rPr>
              <a:t>Day 3-4：</a:t>
            </a:r>
            <a:r>
              <a:rPr lang="en-US" sz="1400" b="0" i="0" u="none" strike="noStrike">
                <a:solidFill>
                  <a:srgbClr val="E6E6FA"/>
                </a:solidFill>
                <a:latin typeface="Poppins"/>
                <a:ea typeface="Poppins"/>
                <a:cs typeface="Poppins"/>
                <a:sym typeface="Poppins"/>
              </a:rPr>
              <a:t>实现车牌手动输入功能和模拟来电基础界面。</a:t>
            </a:r>
          </a:p>
          <a:p>
            <a:pPr indent="0" algn="l">
              <a:lnSpc>
                <a:spcPct val="108333"/>
              </a:lnSpc>
            </a:pPr>
            <a:r>
              <a:rPr lang="en-US" sz="1400" b="1" i="0" u="none" strike="noStrike">
                <a:solidFill>
                  <a:srgbClr val="FFB6C1"/>
                </a:solidFill>
                <a:latin typeface="Poppins"/>
                <a:ea typeface="Poppins"/>
                <a:cs typeface="Poppins"/>
                <a:sym typeface="Poppins"/>
              </a:rPr>
              <a:t>Day 5：</a:t>
            </a:r>
            <a:r>
              <a:rPr lang="en-US" sz="1400" b="0" i="0" u="none" strike="noStrike">
                <a:solidFill>
                  <a:srgbClr val="E6E6FA"/>
                </a:solidFill>
                <a:latin typeface="Poppins"/>
                <a:ea typeface="Poppins"/>
                <a:cs typeface="Poppins"/>
                <a:sym typeface="Poppins"/>
              </a:rPr>
              <a:t>集成Twilio API，完成真实模拟来电功能开发与测试。</a:t>
            </a:r>
          </a:p>
          <a:p>
            <a:pPr indent="0" algn="l">
              <a:lnSpc>
                <a:spcPct val="108333"/>
              </a:lnSpc>
            </a:pPr>
            <a:r>
              <a:rPr lang="en-US" sz="1400" b="1" i="0" u="none" strike="noStrike">
                <a:solidFill>
                  <a:srgbClr val="FFB6C1"/>
                </a:solidFill>
                <a:latin typeface="Poppins"/>
                <a:ea typeface="Poppins"/>
                <a:cs typeface="Poppins"/>
                <a:sym typeface="Poppins"/>
              </a:rPr>
              <a:t>Day 6-7：</a:t>
            </a:r>
            <a:r>
              <a:rPr lang="en-US" sz="1400" b="0" i="0" u="none" strike="noStrike">
                <a:solidFill>
                  <a:srgbClr val="E6E6FA"/>
                </a:solidFill>
                <a:latin typeface="Poppins"/>
                <a:ea typeface="Poppins"/>
                <a:cs typeface="Poppins"/>
                <a:sym typeface="Poppins"/>
              </a:rPr>
              <a:t>实现一键SOS功能，进行乘车模式联调测试。</a:t>
            </a:r>
          </a:p>
        </p:txBody>
      </p:sp>
      <p:sp>
        <p:nvSpPr>
          <p:cNvPr id="9" name="AutoShape 9"/>
          <p:cNvSpPr/>
          <p:nvPr/>
        </p:nvSpPr>
        <p:spPr>
          <a:xfrm>
            <a:off x="6299200" y="1397000"/>
            <a:ext cx="5080000" cy="3048000"/>
          </a:xfrm>
          <a:prstGeom prst="roundRect">
            <a:avLst>
              <a:gd name="adj" fmla="val 4166"/>
            </a:avLst>
          </a:prstGeom>
          <a:solidFill>
            <a:srgbClr val="E6E6FA">
              <a:alpha val="10000"/>
            </a:srgbClr>
          </a:solidFill>
          <a:ln w="12700" cap="flat" cmpd="sng">
            <a:solidFill>
              <a:srgbClr val="E6E6FA">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02400" y="1587500"/>
            <a:ext cx="304800" cy="304800"/>
          </a:xfrm>
          <a:prstGeom prst="rect">
            <a:avLst/>
          </a:prstGeom>
        </p:spPr>
      </p:pic>
      <p:sp>
        <p:nvSpPr>
          <p:cNvPr id="11" name="AutoShape 11"/>
          <p:cNvSpPr/>
          <p:nvPr/>
        </p:nvSpPr>
        <p:spPr>
          <a:xfrm>
            <a:off x="6883400" y="1549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E6E6FA"/>
                </a:solidFill>
                <a:latin typeface="Poppins"/>
                <a:ea typeface="Poppins"/>
                <a:cs typeface="Poppins"/>
                <a:sym typeface="Poppins"/>
              </a:rPr>
              <a:t>第二周：AI关怀开发与优化</a:t>
            </a:r>
            <a:endParaRPr lang="en-US" sz="1100"/>
          </a:p>
        </p:txBody>
      </p:sp>
      <p:sp>
        <p:nvSpPr>
          <p:cNvPr id="12" name="AutoShape 12"/>
          <p:cNvSpPr/>
          <p:nvPr/>
        </p:nvSpPr>
        <p:spPr>
          <a:xfrm>
            <a:off x="6502400" y="2032000"/>
            <a:ext cx="4699000" cy="215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00BFFF"/>
                </a:solidFill>
                <a:latin typeface="Poppins"/>
                <a:ea typeface="Poppins"/>
                <a:cs typeface="Poppins"/>
                <a:sym typeface="Poppins"/>
              </a:rPr>
              <a:t>Day 8-9：</a:t>
            </a:r>
            <a:r>
              <a:rPr lang="en-US" sz="1400" b="0" i="0" u="none" strike="noStrike">
                <a:solidFill>
                  <a:srgbClr val="E6E6FA"/>
                </a:solidFill>
                <a:latin typeface="Poppins"/>
                <a:ea typeface="Poppins"/>
                <a:cs typeface="Poppins"/>
                <a:sym typeface="Poppins"/>
              </a:rPr>
              <a:t>设计AI关怀触发机制和对话流程，编写规则引擎。</a:t>
            </a:r>
            <a:endParaRPr lang="en-US" sz="1100"/>
          </a:p>
          <a:p>
            <a:pPr indent="0" algn="l">
              <a:lnSpc>
                <a:spcPct val="108333"/>
              </a:lnSpc>
            </a:pPr>
            <a:r>
              <a:rPr lang="en-US" sz="1400" b="1" i="0" u="none" strike="noStrike">
                <a:solidFill>
                  <a:srgbClr val="00BFFF"/>
                </a:solidFill>
                <a:latin typeface="Poppins"/>
                <a:ea typeface="Poppins"/>
                <a:cs typeface="Poppins"/>
                <a:sym typeface="Poppins"/>
              </a:rPr>
              <a:t>Day 10-11：</a:t>
            </a:r>
            <a:r>
              <a:rPr lang="en-US" sz="1400" b="0" i="0" u="none" strike="noStrike">
                <a:solidFill>
                  <a:srgbClr val="E6E6FA"/>
                </a:solidFill>
                <a:latin typeface="Poppins"/>
                <a:ea typeface="Poppins"/>
                <a:cs typeface="Poppins"/>
                <a:sym typeface="Poppins"/>
              </a:rPr>
              <a:t>实现AI关怀核心对话功能，进行初步测试调优。</a:t>
            </a:r>
          </a:p>
          <a:p>
            <a:pPr indent="0" algn="l">
              <a:lnSpc>
                <a:spcPct val="108333"/>
              </a:lnSpc>
            </a:pPr>
            <a:r>
              <a:rPr lang="en-US" sz="1400" b="1" i="0" u="none" strike="noStrike">
                <a:solidFill>
                  <a:srgbClr val="00BFFF"/>
                </a:solidFill>
                <a:latin typeface="Poppins"/>
                <a:ea typeface="Poppins"/>
                <a:cs typeface="Poppins"/>
                <a:sym typeface="Poppins"/>
              </a:rPr>
              <a:t>Day 12-13：</a:t>
            </a:r>
            <a:r>
              <a:rPr lang="en-US" sz="1400" b="0" i="0" u="none" strike="noStrike">
                <a:solidFill>
                  <a:srgbClr val="E6E6FA"/>
                </a:solidFill>
                <a:latin typeface="Poppins"/>
                <a:ea typeface="Poppins"/>
                <a:cs typeface="Poppins"/>
                <a:sym typeface="Poppins"/>
              </a:rPr>
              <a:t>全面功能测试，修复Bug，优化用户体验。</a:t>
            </a:r>
          </a:p>
          <a:p>
            <a:pPr indent="0" algn="l">
              <a:lnSpc>
                <a:spcPct val="108333"/>
              </a:lnSpc>
            </a:pPr>
            <a:r>
              <a:rPr lang="en-US" sz="1400" b="1" i="0" u="none" strike="noStrike">
                <a:solidFill>
                  <a:srgbClr val="00BFFF"/>
                </a:solidFill>
                <a:latin typeface="Poppins"/>
                <a:ea typeface="Poppins"/>
                <a:cs typeface="Poppins"/>
                <a:sym typeface="Poppins"/>
              </a:rPr>
              <a:t>Day 14：</a:t>
            </a:r>
            <a:r>
              <a:rPr lang="en-US" sz="1400" b="0" i="0" u="none" strike="noStrike">
                <a:solidFill>
                  <a:srgbClr val="E6E6FA"/>
                </a:solidFill>
                <a:latin typeface="Poppins"/>
                <a:ea typeface="Poppins"/>
                <a:cs typeface="Poppins"/>
                <a:sym typeface="Poppins"/>
              </a:rPr>
              <a:t>准备Sprint 2评审演示材料，完善项目文档。</a:t>
            </a:r>
          </a:p>
        </p:txBody>
      </p:sp>
      <p:sp>
        <p:nvSpPr>
          <p:cNvPr id="13" name="AutoShape 13"/>
          <p:cNvSpPr/>
          <p:nvPr/>
        </p:nvSpPr>
        <p:spPr>
          <a:xfrm>
            <a:off x="812800" y="4699000"/>
            <a:ext cx="10566400" cy="1016000"/>
          </a:xfrm>
          <a:prstGeom prst="roundRect">
            <a:avLst>
              <a:gd name="adj" fmla="val 12500"/>
            </a:avLst>
          </a:prstGeom>
          <a:solidFill>
            <a:srgbClr val="FFFFFF">
              <a:alpha val="10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003800"/>
            <a:ext cx="406400" cy="406400"/>
          </a:xfrm>
          <a:prstGeom prst="rect">
            <a:avLst/>
          </a:prstGeom>
        </p:spPr>
      </p:pic>
      <p:sp>
        <p:nvSpPr>
          <p:cNvPr id="15" name="AutoShape 15"/>
          <p:cNvSpPr/>
          <p:nvPr/>
        </p:nvSpPr>
        <p:spPr>
          <a:xfrm>
            <a:off x="1524000" y="4826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Poppins"/>
                <a:ea typeface="Poppins"/>
                <a:cs typeface="Poppins"/>
                <a:sym typeface="Poppins"/>
              </a:rPr>
              <a:t>学生行动指令：</a:t>
            </a:r>
            <a:r>
              <a:rPr lang="en-US" sz="1600" b="0" i="0" u="none" strike="noStrike">
                <a:solidFill>
                  <a:srgbClr val="FFFFFF"/>
                </a:solidFill>
                <a:latin typeface="Poppins"/>
                <a:ea typeface="Poppins"/>
                <a:cs typeface="Poppins"/>
                <a:sym typeface="Poppins"/>
              </a:rPr>
              <a:t>根据这个详细的时间规划，结合团队成员的分工，制定你们团队的每日任务清单，确保开发进度可控。</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Sprint 2 成果展示与评审准备指南</a:t>
            </a:r>
            <a:endParaRPr lang="en-US" sz="1100"/>
          </a:p>
        </p:txBody>
      </p:sp>
      <p:sp>
        <p:nvSpPr>
          <p:cNvPr id="5" name="AutoShape 5"/>
          <p:cNvSpPr/>
          <p:nvPr/>
        </p:nvSpPr>
        <p:spPr>
          <a:xfrm>
            <a:off x="762000" y="1397000"/>
            <a:ext cx="3429000" cy="2794000"/>
          </a:xfrm>
          <a:prstGeom prst="roundRect">
            <a:avLst>
              <a:gd name="adj" fmla="val 4545"/>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51000"/>
            <a:ext cx="406400" cy="406400"/>
          </a:xfrm>
          <a:prstGeom prst="rect">
            <a:avLst/>
          </a:prstGeom>
        </p:spPr>
      </p:pic>
      <p:sp>
        <p:nvSpPr>
          <p:cNvPr id="7" name="AutoShape 7"/>
          <p:cNvSpPr/>
          <p:nvPr/>
        </p:nvSpPr>
        <p:spPr>
          <a:xfrm>
            <a:off x="15240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Poppins"/>
                <a:ea typeface="Poppins"/>
                <a:cs typeface="Poppins"/>
                <a:sym typeface="Poppins"/>
              </a:rPr>
              <a:t>演示内容准备</a:t>
            </a:r>
            <a:endParaRPr lang="en-US" sz="1100"/>
          </a:p>
        </p:txBody>
      </p:sp>
      <p:sp>
        <p:nvSpPr>
          <p:cNvPr id="8" name="AutoShape 8"/>
          <p:cNvSpPr/>
          <p:nvPr/>
        </p:nvSpPr>
        <p:spPr>
          <a:xfrm>
            <a:off x="952500" y="2159000"/>
            <a:ext cx="30480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FFFFFF"/>
                </a:solidFill>
                <a:latin typeface="Noto Sans SC"/>
                <a:ea typeface="Noto Sans SC"/>
                <a:cs typeface="Noto Sans SC"/>
                <a:sym typeface="Noto Sans SC"/>
              </a:rPr>
              <a:t>功能演示视频：</a:t>
            </a:r>
            <a:r>
              <a:rPr lang="en-US" sz="1300" b="0" i="0" u="none" strike="noStrike">
                <a:solidFill>
                  <a:srgbClr val="FFFFFF">
                    <a:alpha val="80000"/>
                  </a:srgbClr>
                </a:solidFill>
                <a:latin typeface="Noto Sans SC"/>
                <a:ea typeface="Noto Sans SC"/>
                <a:cs typeface="Noto Sans SC"/>
                <a:sym typeface="Noto Sans SC"/>
              </a:rPr>
              <a:t>录制3-5分钟视频，展示乘车模式与AI关怀功能全流程。</a:t>
            </a:r>
            <a:endParaRPr lang="en-US" sz="1100"/>
          </a:p>
          <a:p>
            <a:pPr indent="0" algn="l">
              <a:lnSpc>
                <a:spcPct val="108333"/>
              </a:lnSpc>
            </a:pPr>
            <a:r>
              <a:rPr lang="en-US" sz="1400" b="1" i="0" u="none" strike="noStrike">
                <a:solidFill>
                  <a:srgbClr val="FFFFFF"/>
                </a:solidFill>
                <a:latin typeface="Noto Sans SC"/>
                <a:ea typeface="Noto Sans SC"/>
                <a:cs typeface="Noto Sans SC"/>
                <a:sym typeface="Noto Sans SC"/>
              </a:rPr>
              <a:t>演示PPT：</a:t>
            </a:r>
            <a:r>
              <a:rPr lang="en-US" sz="1300" b="0" i="0" u="none" strike="noStrike">
                <a:solidFill>
                  <a:srgbClr val="FFFFFF">
                    <a:alpha val="80000"/>
                  </a:srgbClr>
                </a:solidFill>
                <a:latin typeface="Noto Sans SC"/>
                <a:ea typeface="Noto Sans SC"/>
                <a:cs typeface="Noto Sans SC"/>
                <a:sym typeface="Noto Sans SC"/>
              </a:rPr>
              <a:t>回顾目标、功能亮点、技术挑战及下一步计划。</a:t>
            </a:r>
          </a:p>
        </p:txBody>
      </p:sp>
      <p:sp>
        <p:nvSpPr>
          <p:cNvPr id="9" name="AutoShape 9"/>
          <p:cNvSpPr/>
          <p:nvPr/>
        </p:nvSpPr>
        <p:spPr>
          <a:xfrm>
            <a:off x="4381500" y="1397000"/>
            <a:ext cx="3429000" cy="2794000"/>
          </a:xfrm>
          <a:prstGeom prst="roundRect">
            <a:avLst>
              <a:gd name="adj" fmla="val 4545"/>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1651000"/>
            <a:ext cx="406400" cy="406400"/>
          </a:xfrm>
          <a:prstGeom prst="rect">
            <a:avLst/>
          </a:prstGeom>
        </p:spPr>
      </p:pic>
      <p:sp>
        <p:nvSpPr>
          <p:cNvPr id="11" name="AutoShape 11"/>
          <p:cNvSpPr/>
          <p:nvPr/>
        </p:nvSpPr>
        <p:spPr>
          <a:xfrm>
            <a:off x="51435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B6C1"/>
                </a:solidFill>
                <a:latin typeface="Poppins"/>
                <a:ea typeface="Poppins"/>
                <a:cs typeface="Poppins"/>
                <a:sym typeface="Poppins"/>
              </a:rPr>
              <a:t>评审要点应对</a:t>
            </a:r>
            <a:endParaRPr lang="en-US" sz="1100"/>
          </a:p>
        </p:txBody>
      </p:sp>
      <p:sp>
        <p:nvSpPr>
          <p:cNvPr id="12" name="AutoShape 12"/>
          <p:cNvSpPr/>
          <p:nvPr/>
        </p:nvSpPr>
        <p:spPr>
          <a:xfrm>
            <a:off x="4572000" y="2159000"/>
            <a:ext cx="30480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FFFFFF"/>
                </a:solidFill>
                <a:latin typeface="Noto Sans SC"/>
                <a:ea typeface="Noto Sans SC"/>
                <a:cs typeface="Noto Sans SC"/>
                <a:sym typeface="Noto Sans SC"/>
              </a:rPr>
              <a:t>功能完整性：</a:t>
            </a:r>
            <a:r>
              <a:rPr lang="en-US" sz="1300" b="0" i="0" u="none" strike="noStrike">
                <a:solidFill>
                  <a:srgbClr val="FFFFFF">
                    <a:alpha val="80000"/>
                  </a:srgbClr>
                </a:solidFill>
                <a:latin typeface="Noto Sans SC"/>
                <a:ea typeface="Noto Sans SC"/>
                <a:cs typeface="Noto Sans SC"/>
                <a:sym typeface="Noto Sans SC"/>
              </a:rPr>
              <a:t>确保核心功能正常演示，无重大Bug。</a:t>
            </a:r>
            <a:endParaRPr lang="en-US" sz="1100"/>
          </a:p>
          <a:p>
            <a:pPr indent="0" algn="l">
              <a:lnSpc>
                <a:spcPct val="108333"/>
              </a:lnSpc>
            </a:pPr>
            <a:r>
              <a:rPr lang="en-US" sz="1400" b="1" i="0" u="none" strike="noStrike">
                <a:solidFill>
                  <a:srgbClr val="FFFFFF"/>
                </a:solidFill>
                <a:latin typeface="Noto Sans SC"/>
                <a:ea typeface="Noto Sans SC"/>
                <a:cs typeface="Noto Sans SC"/>
                <a:sym typeface="Noto Sans SC"/>
              </a:rPr>
              <a:t>体验与技术：</a:t>
            </a:r>
            <a:r>
              <a:rPr lang="en-US" sz="1300" b="0" i="0" u="none" strike="noStrike">
                <a:solidFill>
                  <a:srgbClr val="FFFFFF">
                    <a:alpha val="80000"/>
                  </a:srgbClr>
                </a:solidFill>
                <a:latin typeface="Noto Sans SC"/>
                <a:ea typeface="Noto Sans SC"/>
                <a:cs typeface="Noto Sans SC"/>
                <a:sym typeface="Noto Sans SC"/>
              </a:rPr>
              <a:t>优化交互细节，准备技术选型讲解。</a:t>
            </a:r>
          </a:p>
          <a:p>
            <a:pPr indent="0" algn="l">
              <a:lnSpc>
                <a:spcPct val="108333"/>
              </a:lnSpc>
            </a:pPr>
            <a:r>
              <a:rPr lang="en-US" sz="1400" b="1" i="0" u="none" strike="noStrike">
                <a:solidFill>
                  <a:srgbClr val="FFFFFF"/>
                </a:solidFill>
                <a:latin typeface="Noto Sans SC"/>
                <a:ea typeface="Noto Sans SC"/>
                <a:cs typeface="Noto Sans SC"/>
                <a:sym typeface="Noto Sans SC"/>
              </a:rPr>
              <a:t>团队成长：</a:t>
            </a:r>
            <a:r>
              <a:rPr lang="en-US" sz="1300" b="0" i="0" u="none" strike="noStrike">
                <a:solidFill>
                  <a:srgbClr val="FFFFFF">
                    <a:alpha val="80000"/>
                  </a:srgbClr>
                </a:solidFill>
                <a:latin typeface="Noto Sans SC"/>
                <a:ea typeface="Noto Sans SC"/>
                <a:cs typeface="Noto Sans SC"/>
                <a:sym typeface="Noto Sans SC"/>
              </a:rPr>
              <a:t>总结项目管理与协作能力的进步。</a:t>
            </a:r>
          </a:p>
        </p:txBody>
      </p:sp>
      <p:sp>
        <p:nvSpPr>
          <p:cNvPr id="13" name="AutoShape 13"/>
          <p:cNvSpPr/>
          <p:nvPr/>
        </p:nvSpPr>
        <p:spPr>
          <a:xfrm>
            <a:off x="8001000" y="1397000"/>
            <a:ext cx="3429000" cy="2794000"/>
          </a:xfrm>
          <a:prstGeom prst="roundRect">
            <a:avLst>
              <a:gd name="adj" fmla="val 4545"/>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1651000"/>
            <a:ext cx="406400" cy="406400"/>
          </a:xfrm>
          <a:prstGeom prst="rect">
            <a:avLst/>
          </a:prstGeom>
        </p:spPr>
      </p:pic>
      <p:sp>
        <p:nvSpPr>
          <p:cNvPr id="15" name="AutoShape 15"/>
          <p:cNvSpPr/>
          <p:nvPr/>
        </p:nvSpPr>
        <p:spPr>
          <a:xfrm>
            <a:off x="87630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E6E6FA"/>
                </a:solidFill>
                <a:latin typeface="Poppins"/>
                <a:ea typeface="Poppins"/>
                <a:cs typeface="Poppins"/>
                <a:sym typeface="Poppins"/>
              </a:rPr>
              <a:t>关键准备工作</a:t>
            </a:r>
            <a:endParaRPr lang="en-US" sz="1100"/>
          </a:p>
        </p:txBody>
      </p:sp>
      <p:sp>
        <p:nvSpPr>
          <p:cNvPr id="16" name="AutoShape 16"/>
          <p:cNvSpPr/>
          <p:nvPr/>
        </p:nvSpPr>
        <p:spPr>
          <a:xfrm>
            <a:off x="8191500" y="2159000"/>
            <a:ext cx="3048000" cy="1778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16666"/>
              </a:lnSpc>
              <a:buClr>
                <a:srgbClr val="FFFFFF"/>
              </a:buClr>
              <a:buChar char="•"/>
              <a:defRPr/>
            </a:pPr>
            <a:r>
              <a:rPr lang="en-US" sz="1300" b="0" i="0" u="none" strike="noStrike">
                <a:solidFill>
                  <a:srgbClr val="FFFFFF">
                    <a:alpha val="90196"/>
                  </a:srgbClr>
                </a:solidFill>
                <a:latin typeface="Noto Sans SC"/>
                <a:ea typeface="Noto Sans SC"/>
                <a:cs typeface="Noto Sans SC"/>
                <a:sym typeface="Noto Sans SC"/>
              </a:rPr>
              <a:t>多次内部预演，熟悉流程与话术</a:t>
            </a:r>
            <a:endParaRPr lang="en-US" sz="1100"/>
          </a:p>
          <a:p>
            <a:pPr marL="165100" indent="-165100" algn="l">
              <a:lnSpc>
                <a:spcPct val="116666"/>
              </a:lnSpc>
              <a:buClr>
                <a:srgbClr val="FFFFFF"/>
              </a:buClr>
              <a:buChar char="•"/>
            </a:pPr>
            <a:r>
              <a:rPr lang="en-US" sz="1300" b="0" i="0" u="none" strike="noStrike">
                <a:solidFill>
                  <a:srgbClr val="FFFFFF">
                    <a:alpha val="90196"/>
                  </a:srgbClr>
                </a:solidFill>
                <a:latin typeface="Noto Sans SC"/>
                <a:ea typeface="Noto Sans SC"/>
                <a:cs typeface="Noto Sans SC"/>
                <a:sym typeface="Noto Sans SC"/>
              </a:rPr>
              <a:t>收集用户测试反馈，展示优化价值</a:t>
            </a:r>
          </a:p>
          <a:p>
            <a:pPr marL="165100" indent="-165100" algn="l">
              <a:lnSpc>
                <a:spcPct val="116666"/>
              </a:lnSpc>
              <a:buClr>
                <a:srgbClr val="FFFFFF"/>
              </a:buClr>
              <a:buChar char="•"/>
            </a:pPr>
            <a:r>
              <a:rPr lang="en-US" sz="1300" b="0" i="0" u="none" strike="noStrike">
                <a:solidFill>
                  <a:srgbClr val="FFFFFF">
                    <a:alpha val="90196"/>
                  </a:srgbClr>
                </a:solidFill>
                <a:latin typeface="Noto Sans SC"/>
                <a:ea typeface="Noto Sans SC"/>
                <a:cs typeface="Noto Sans SC"/>
                <a:sym typeface="Noto Sans SC"/>
              </a:rPr>
              <a:t>调试演示环境，确保设备网络正常</a:t>
            </a:r>
          </a:p>
        </p:txBody>
      </p:sp>
      <p:sp>
        <p:nvSpPr>
          <p:cNvPr id="17" name="AutoShape 17"/>
          <p:cNvSpPr/>
          <p:nvPr/>
        </p:nvSpPr>
        <p:spPr>
          <a:xfrm>
            <a:off x="762000" y="4572000"/>
            <a:ext cx="10668000" cy="762000"/>
          </a:xfrm>
          <a:prstGeom prst="roundRect">
            <a:avLst>
              <a:gd name="adj" fmla="val 16666"/>
            </a:avLst>
          </a:prstGeom>
          <a:gradFill rotWithShape="1">
            <a:gsLst>
              <a:gs pos="0">
                <a:srgbClr val="00BFFF">
                  <a:alpha val="20000"/>
                </a:srgbClr>
              </a:gs>
              <a:gs pos="100000">
                <a:srgbClr val="FFB6C1">
                  <a:alpha val="20000"/>
                </a:srgbClr>
              </a:gs>
            </a:gsLst>
            <a:lin ang="0"/>
          </a:gra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800600"/>
            <a:ext cx="304800" cy="304800"/>
          </a:xfrm>
          <a:prstGeom prst="rect">
            <a:avLst/>
          </a:prstGeom>
        </p:spPr>
      </p:pic>
      <p:sp>
        <p:nvSpPr>
          <p:cNvPr id="19" name="AutoShape 19"/>
          <p:cNvSpPr/>
          <p:nvPr/>
        </p:nvSpPr>
        <p:spPr>
          <a:xfrm>
            <a:off x="1460500" y="47625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行动指令：</a:t>
            </a:r>
            <a:r>
              <a:rPr lang="en-US" sz="1600" b="0" i="0" u="none" strike="noStrike">
                <a:solidFill>
                  <a:srgbClr val="FFFFFF">
                    <a:alpha val="90196"/>
                  </a:srgbClr>
                </a:solidFill>
                <a:latin typeface="Poppins"/>
                <a:ea typeface="Poppins"/>
                <a:cs typeface="Poppins"/>
                <a:sym typeface="Poppins"/>
              </a:rPr>
              <a:t>立即开始准备团队的Sprint 2演示材料，并安排一次内部预演，确保评审顺利。</a:t>
            </a:r>
            <a:endParaRPr lang="en-US" sz="1100"/>
          </a:p>
        </p:txBody>
      </p:sp>
      <p:sp>
        <p:nvSpPr>
          <p:cNvPr id="20" name="AutoShape 20"/>
          <p:cNvSpPr/>
          <p:nvPr/>
        </p:nvSpPr>
        <p:spPr>
          <a:xfrm>
            <a:off x="762000" y="5588000"/>
            <a:ext cx="10668000" cy="25400"/>
          </a:xfrm>
          <a:prstGeom prst="roundRect">
            <a:avLst>
              <a:gd name="adj" fmla="val 0"/>
            </a:avLst>
          </a:prstGeom>
          <a:gradFill rotWithShape="1">
            <a:gsLst>
              <a:gs pos="0">
                <a:srgbClr val="00BFFF">
                  <a:alpha val="100000"/>
                </a:srgbClr>
              </a:gs>
              <a:gs pos="100000">
                <a:srgbClr val="FFB6C1">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5029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课程总结与项目展望</a:t>
            </a:r>
            <a:endParaRPr lang="en-US" sz="1100"/>
          </a:p>
        </p:txBody>
      </p:sp>
      <p:sp>
        <p:nvSpPr>
          <p:cNvPr id="5" name="AutoShape 5"/>
          <p:cNvSpPr/>
          <p:nvPr/>
        </p:nvSpPr>
        <p:spPr>
          <a:xfrm>
            <a:off x="762000" y="1397000"/>
            <a:ext cx="3378200" cy="2794000"/>
          </a:xfrm>
          <a:prstGeom prst="roundRect">
            <a:avLst>
              <a:gd name="adj" fmla="val 4545"/>
            </a:avLst>
          </a:prstGeom>
          <a:solidFill>
            <a:srgbClr val="FFFFFF">
              <a:alpha val="8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51000"/>
            <a:ext cx="304800" cy="304800"/>
          </a:xfrm>
          <a:prstGeom prst="rect">
            <a:avLst/>
          </a:prstGeom>
        </p:spPr>
      </p:pic>
      <p:sp>
        <p:nvSpPr>
          <p:cNvPr id="7" name="AutoShape 7"/>
          <p:cNvSpPr/>
          <p:nvPr/>
        </p:nvSpPr>
        <p:spPr>
          <a:xfrm>
            <a:off x="1397000" y="16002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Poppins"/>
                <a:ea typeface="Poppins"/>
                <a:cs typeface="Poppins"/>
                <a:sym typeface="Poppins"/>
              </a:rPr>
              <a:t>核心收获</a:t>
            </a:r>
            <a:endParaRPr lang="en-US" sz="1100"/>
          </a:p>
        </p:txBody>
      </p:sp>
      <p:sp>
        <p:nvSpPr>
          <p:cNvPr id="8" name="AutoShape 8"/>
          <p:cNvSpPr/>
          <p:nvPr/>
        </p:nvSpPr>
        <p:spPr>
          <a:xfrm>
            <a:off x="1016000" y="2032000"/>
            <a:ext cx="2870200" cy="1905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08333"/>
              </a:lnSpc>
              <a:buClr>
                <a:srgbClr val="E6E6E6"/>
              </a:buClr>
              <a:buChar char="•"/>
              <a:defRPr/>
            </a:pPr>
            <a:r>
              <a:rPr lang="en-US" sz="1300" b="0" i="0" u="none" strike="noStrike">
                <a:solidFill>
                  <a:srgbClr val="E6E6E6"/>
                </a:solidFill>
                <a:latin typeface="Noto Sans SC"/>
                <a:ea typeface="Noto Sans SC"/>
                <a:cs typeface="Noto Sans SC"/>
                <a:sym typeface="Noto Sans SC"/>
              </a:rPr>
              <a:t>深入掌握乘车模式与AI关怀功能的需求分析与技术实现</a:t>
            </a:r>
            <a:endParaRPr lang="en-US" sz="1100"/>
          </a:p>
          <a:p>
            <a:pPr marL="165100" indent="-165100" algn="l">
              <a:lnSpc>
                <a:spcPct val="108333"/>
              </a:lnSpc>
              <a:buClr>
                <a:srgbClr val="E6E6E6"/>
              </a:buClr>
              <a:buChar char="•"/>
            </a:pPr>
            <a:r>
              <a:rPr lang="en-US" sz="1300" b="0" i="0" u="none" strike="noStrike">
                <a:solidFill>
                  <a:srgbClr val="E6E6E6"/>
                </a:solidFill>
                <a:latin typeface="Noto Sans SC"/>
                <a:ea typeface="Noto Sans SC"/>
                <a:cs typeface="Noto Sans SC"/>
                <a:sym typeface="Noto Sans SC"/>
              </a:rPr>
              <a:t>学会技术选型、测试用例设计及风险管理方法</a:t>
            </a:r>
          </a:p>
          <a:p>
            <a:pPr marL="165100" indent="-165100" algn="l">
              <a:lnSpc>
                <a:spcPct val="108333"/>
              </a:lnSpc>
              <a:buClr>
                <a:srgbClr val="E6E6E6"/>
              </a:buClr>
              <a:buChar char="•"/>
            </a:pPr>
            <a:r>
              <a:rPr lang="en-US" sz="1300" b="0" i="0" u="none" strike="noStrike">
                <a:solidFill>
                  <a:srgbClr val="E6E6E6"/>
                </a:solidFill>
                <a:latin typeface="Noto Sans SC"/>
                <a:ea typeface="Noto Sans SC"/>
                <a:cs typeface="Noto Sans SC"/>
                <a:sym typeface="Noto Sans SC"/>
              </a:rPr>
              <a:t>明确Sprint 2开发计划与评审要求</a:t>
            </a:r>
          </a:p>
        </p:txBody>
      </p:sp>
      <p:sp>
        <p:nvSpPr>
          <p:cNvPr id="9" name="AutoShape 9"/>
          <p:cNvSpPr/>
          <p:nvPr/>
        </p:nvSpPr>
        <p:spPr>
          <a:xfrm>
            <a:off x="4394200" y="1397000"/>
            <a:ext cx="3378200" cy="2794000"/>
          </a:xfrm>
          <a:prstGeom prst="roundRect">
            <a:avLst>
              <a:gd name="adj" fmla="val 4545"/>
            </a:avLst>
          </a:prstGeom>
          <a:solidFill>
            <a:srgbClr val="FFFFFF">
              <a:alpha val="8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1651000"/>
            <a:ext cx="304800" cy="304800"/>
          </a:xfrm>
          <a:prstGeom prst="rect">
            <a:avLst/>
          </a:prstGeom>
        </p:spPr>
      </p:pic>
      <p:sp>
        <p:nvSpPr>
          <p:cNvPr id="11" name="AutoShape 11"/>
          <p:cNvSpPr/>
          <p:nvPr/>
        </p:nvSpPr>
        <p:spPr>
          <a:xfrm>
            <a:off x="5029200" y="16002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Poppins"/>
                <a:ea typeface="Poppins"/>
                <a:cs typeface="Poppins"/>
                <a:sym typeface="Poppins"/>
              </a:rPr>
              <a:t>项目状态</a:t>
            </a:r>
            <a:endParaRPr lang="en-US" sz="1100"/>
          </a:p>
        </p:txBody>
      </p:sp>
      <p:sp>
        <p:nvSpPr>
          <p:cNvPr id="12" name="AutoShape 12"/>
          <p:cNvSpPr/>
          <p:nvPr/>
        </p:nvSpPr>
        <p:spPr>
          <a:xfrm>
            <a:off x="4648200" y="2032000"/>
            <a:ext cx="2870200" cy="1905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08333"/>
              </a:lnSpc>
              <a:buClr>
                <a:srgbClr val="E6E6E6"/>
              </a:buClr>
              <a:buChar char="•"/>
              <a:defRPr/>
            </a:pPr>
            <a:r>
              <a:rPr lang="en-US" sz="1300" b="0" i="0" u="none" strike="noStrike">
                <a:solidFill>
                  <a:srgbClr val="E6E6E6"/>
                </a:solidFill>
                <a:latin typeface="Noto Sans SC"/>
                <a:ea typeface="Noto Sans SC"/>
                <a:cs typeface="Noto Sans SC"/>
                <a:sym typeface="Noto Sans SC"/>
              </a:rPr>
              <a:t>步行模式MVP已成功实现，运行稳定</a:t>
            </a:r>
            <a:endParaRPr lang="en-US" sz="1100"/>
          </a:p>
          <a:p>
            <a:pPr marL="165100" indent="-165100" algn="l">
              <a:lnSpc>
                <a:spcPct val="108333"/>
              </a:lnSpc>
              <a:buClr>
                <a:srgbClr val="E6E6E6"/>
              </a:buClr>
              <a:buChar char="•"/>
            </a:pPr>
            <a:r>
              <a:rPr lang="en-US" sz="1300" b="0" i="0" u="none" strike="noStrike">
                <a:solidFill>
                  <a:srgbClr val="E6E6E6"/>
                </a:solidFill>
                <a:latin typeface="Noto Sans SC"/>
                <a:ea typeface="Noto Sans SC"/>
                <a:cs typeface="Noto Sans SC"/>
                <a:sym typeface="Noto Sans SC"/>
              </a:rPr>
              <a:t>乘车模式与AI关怀功能开发接近尾声</a:t>
            </a:r>
          </a:p>
          <a:p>
            <a:pPr marL="165100" indent="-165100" algn="l">
              <a:lnSpc>
                <a:spcPct val="108333"/>
              </a:lnSpc>
              <a:buClr>
                <a:srgbClr val="E6E6E6"/>
              </a:buClr>
              <a:buChar char="•"/>
            </a:pPr>
            <a:r>
              <a:rPr lang="en-US" sz="1300" b="0" i="0" u="none" strike="noStrike">
                <a:solidFill>
                  <a:srgbClr val="E6E6E6"/>
                </a:solidFill>
                <a:latin typeface="Noto Sans SC"/>
                <a:ea typeface="Noto Sans SC"/>
                <a:cs typeface="Noto Sans SC"/>
                <a:sym typeface="Noto Sans SC"/>
              </a:rPr>
              <a:t>产品功能完整，具备最终评审条件</a:t>
            </a:r>
          </a:p>
        </p:txBody>
      </p:sp>
      <p:sp>
        <p:nvSpPr>
          <p:cNvPr id="13" name="AutoShape 13"/>
          <p:cNvSpPr/>
          <p:nvPr/>
        </p:nvSpPr>
        <p:spPr>
          <a:xfrm>
            <a:off x="8026400" y="1397000"/>
            <a:ext cx="3378200" cy="2794000"/>
          </a:xfrm>
          <a:prstGeom prst="roundRect">
            <a:avLst>
              <a:gd name="adj" fmla="val 4545"/>
            </a:avLst>
          </a:prstGeom>
          <a:solidFill>
            <a:srgbClr val="FFFFFF">
              <a:alpha val="8000"/>
            </a:srgbClr>
          </a:solidFill>
          <a:ln w="12700" cap="flat" cmpd="sng">
            <a:solidFill>
              <a:srgbClr val="E6E6FA">
                <a:alpha val="5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1651000"/>
            <a:ext cx="304800" cy="304800"/>
          </a:xfrm>
          <a:prstGeom prst="rect">
            <a:avLst/>
          </a:prstGeom>
        </p:spPr>
      </p:pic>
      <p:sp>
        <p:nvSpPr>
          <p:cNvPr id="15" name="AutoShape 15"/>
          <p:cNvSpPr/>
          <p:nvPr/>
        </p:nvSpPr>
        <p:spPr>
          <a:xfrm>
            <a:off x="8661400" y="16002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Poppins"/>
                <a:ea typeface="Poppins"/>
                <a:cs typeface="Poppins"/>
                <a:sym typeface="Poppins"/>
              </a:rPr>
              <a:t>后续重点</a:t>
            </a:r>
            <a:endParaRPr lang="en-US" sz="1100"/>
          </a:p>
        </p:txBody>
      </p:sp>
      <p:sp>
        <p:nvSpPr>
          <p:cNvPr id="16" name="AutoShape 16"/>
          <p:cNvSpPr/>
          <p:nvPr/>
        </p:nvSpPr>
        <p:spPr>
          <a:xfrm>
            <a:off x="8280400" y="2032000"/>
            <a:ext cx="2870200" cy="1905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08333"/>
              </a:lnSpc>
              <a:buClr>
                <a:srgbClr val="E6E6E6"/>
              </a:buClr>
              <a:buChar char="•"/>
              <a:defRPr/>
            </a:pPr>
            <a:r>
              <a:rPr lang="en-US" sz="1300" b="1" i="0" u="none" strike="noStrike">
                <a:solidFill>
                  <a:srgbClr val="E6E6E6"/>
                </a:solidFill>
                <a:latin typeface="Noto Sans SC"/>
                <a:ea typeface="Noto Sans SC"/>
                <a:cs typeface="Noto Sans SC"/>
                <a:sym typeface="Noto Sans SC"/>
              </a:rPr>
              <a:t>开发冲刺：</a:t>
            </a:r>
            <a:r>
              <a:rPr lang="en-US" sz="1300" b="0" i="0" u="none" strike="noStrike">
                <a:solidFill>
                  <a:srgbClr val="E6E6E6"/>
                </a:solidFill>
                <a:latin typeface="Noto Sans SC"/>
                <a:ea typeface="Noto Sans SC"/>
                <a:cs typeface="Noto Sans SC"/>
                <a:sym typeface="Noto Sans SC"/>
              </a:rPr>
              <a:t>高质量完成Sprint 2所有功能</a:t>
            </a:r>
            <a:endParaRPr lang="en-US" sz="1100"/>
          </a:p>
          <a:p>
            <a:pPr marL="165100" indent="-165100" algn="l">
              <a:lnSpc>
                <a:spcPct val="108333"/>
              </a:lnSpc>
              <a:buClr>
                <a:srgbClr val="E6E6E6"/>
              </a:buClr>
              <a:buChar char="•"/>
            </a:pPr>
            <a:r>
              <a:rPr lang="en-US" sz="1300" b="1" i="0" u="none" strike="noStrike">
                <a:solidFill>
                  <a:srgbClr val="E6E6E6"/>
                </a:solidFill>
                <a:latin typeface="Noto Sans SC"/>
                <a:ea typeface="Noto Sans SC"/>
                <a:cs typeface="Noto Sans SC"/>
                <a:sym typeface="Noto Sans SC"/>
              </a:rPr>
              <a:t>测试优化：</a:t>
            </a:r>
            <a:r>
              <a:rPr lang="en-US" sz="1300" b="0" i="0" u="none" strike="noStrike">
                <a:solidFill>
                  <a:srgbClr val="E6E6E6"/>
                </a:solidFill>
                <a:latin typeface="Noto Sans SC"/>
                <a:ea typeface="Noto Sans SC"/>
                <a:cs typeface="Noto Sans SC"/>
                <a:sym typeface="Noto Sans SC"/>
              </a:rPr>
              <a:t>多轮测试并根据反馈迭代体验</a:t>
            </a:r>
          </a:p>
          <a:p>
            <a:pPr marL="165100" indent="-165100" algn="l">
              <a:lnSpc>
                <a:spcPct val="108333"/>
              </a:lnSpc>
              <a:buClr>
                <a:srgbClr val="E6E6E6"/>
              </a:buClr>
              <a:buChar char="•"/>
            </a:pPr>
            <a:r>
              <a:rPr lang="en-US" sz="1300" b="1" i="0" u="none" strike="noStrike">
                <a:solidFill>
                  <a:srgbClr val="E6E6E6"/>
                </a:solidFill>
                <a:latin typeface="Noto Sans SC"/>
                <a:ea typeface="Noto Sans SC"/>
                <a:cs typeface="Noto Sans SC"/>
                <a:sym typeface="Noto Sans SC"/>
              </a:rPr>
              <a:t>展示准备：</a:t>
            </a:r>
            <a:r>
              <a:rPr lang="en-US" sz="1300" b="0" i="0" u="none" strike="noStrike">
                <a:solidFill>
                  <a:srgbClr val="E6E6E6"/>
                </a:solidFill>
                <a:latin typeface="Noto Sans SC"/>
                <a:ea typeface="Noto Sans SC"/>
                <a:cs typeface="Noto Sans SC"/>
                <a:sym typeface="Noto Sans SC"/>
              </a:rPr>
              <a:t>制作演示视频与PPT，备战决赛</a:t>
            </a:r>
          </a:p>
        </p:txBody>
      </p:sp>
      <p:sp>
        <p:nvSpPr>
          <p:cNvPr id="17" name="AutoShape 17"/>
          <p:cNvSpPr/>
          <p:nvPr/>
        </p:nvSpPr>
        <p:spPr>
          <a:xfrm>
            <a:off x="762000" y="4445000"/>
            <a:ext cx="10642600" cy="1016000"/>
          </a:xfrm>
          <a:prstGeom prst="roundRect">
            <a:avLst>
              <a:gd name="adj" fmla="val 12500"/>
            </a:avLst>
          </a:prstGeom>
          <a:gradFill rotWithShape="1">
            <a:gsLst>
              <a:gs pos="0">
                <a:srgbClr val="00BFFF">
                  <a:alpha val="15000"/>
                </a:srgbClr>
              </a:gs>
              <a:gs pos="100000">
                <a:srgbClr val="FFB6C1">
                  <a:alpha val="15000"/>
                </a:srgbClr>
              </a:gs>
            </a:gsLst>
            <a:lin ang="0"/>
          </a:gra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749800"/>
            <a:ext cx="406400" cy="406400"/>
          </a:xfrm>
          <a:prstGeom prst="rect">
            <a:avLst/>
          </a:prstGeom>
        </p:spPr>
      </p:pic>
      <p:sp>
        <p:nvSpPr>
          <p:cNvPr id="19" name="AutoShape 19"/>
          <p:cNvSpPr/>
          <p:nvPr/>
        </p:nvSpPr>
        <p:spPr>
          <a:xfrm>
            <a:off x="1587500" y="4572000"/>
            <a:ext cx="889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500" b="0" i="0" u="none" strike="noStrike">
                <a:solidFill>
                  <a:srgbClr val="E6E6E6"/>
                </a:solidFill>
                <a:latin typeface="Noto Sans SC"/>
                <a:ea typeface="Noto Sans SC"/>
                <a:cs typeface="Noto Sans SC"/>
                <a:sym typeface="Noto Sans SC"/>
              </a:rPr>
              <a:t>请写下你对项目最终成功的信心，以及你个人在接下来开发工作中的行动计划。</a:t>
            </a:r>
            <a:endParaRPr lang="en-US" sz="1100"/>
          </a:p>
        </p:txBody>
      </p:sp>
      <p:cxnSp>
        <p:nvCxnSpPr>
          <p:cNvPr id="20" name="Connector 20"/>
          <p:cNvCxnSpPr/>
          <p:nvPr/>
        </p:nvCxnSpPr>
        <p:spPr>
          <a:xfrm rot="-4092">
            <a:off x="762004" y="113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566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Sprint 2 目标：乘车模式与AI关怀</a:t>
            </a:r>
            <a:endParaRPr lang="en-US" sz="1100"/>
          </a:p>
        </p:txBody>
      </p:sp>
      <p:sp>
        <p:nvSpPr>
          <p:cNvPr id="5" name="AutoShape 5"/>
          <p:cNvSpPr/>
          <p:nvPr/>
        </p:nvSpPr>
        <p:spPr>
          <a:xfrm>
            <a:off x="762000" y="1270000"/>
            <a:ext cx="10668000" cy="762000"/>
          </a:xfrm>
          <a:prstGeom prst="roundRect">
            <a:avLst>
              <a:gd name="adj" fmla="val 16666"/>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498600"/>
            <a:ext cx="304800" cy="304800"/>
          </a:xfrm>
          <a:prstGeom prst="rect">
            <a:avLst/>
          </a:prstGeom>
        </p:spPr>
      </p:pic>
      <p:sp>
        <p:nvSpPr>
          <p:cNvPr id="7" name="AutoShape 7"/>
          <p:cNvSpPr/>
          <p:nvPr/>
        </p:nvSpPr>
        <p:spPr>
          <a:xfrm>
            <a:off x="1460500" y="1397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核心目标：</a:t>
            </a:r>
            <a:r>
              <a:rPr lang="en-US" sz="1600" b="0" i="0" u="none" strike="noStrike">
                <a:solidFill>
                  <a:srgbClr val="E5E7EB"/>
                </a:solidFill>
                <a:latin typeface="Noto Sans SC"/>
                <a:ea typeface="Noto Sans SC"/>
                <a:cs typeface="Noto Sans SC"/>
                <a:sym typeface="Noto Sans SC"/>
              </a:rPr>
              <a:t>完成“乘车模式”基础功能开发，为“步行模式”添加更具温度的AI关怀功能。</a:t>
            </a:r>
            <a:endParaRPr lang="en-US" sz="1100"/>
          </a:p>
        </p:txBody>
      </p:sp>
      <p:sp>
        <p:nvSpPr>
          <p:cNvPr id="8" name="AutoShape 8"/>
          <p:cNvSpPr/>
          <p:nvPr/>
        </p:nvSpPr>
        <p:spPr>
          <a:xfrm>
            <a:off x="762000" y="2222500"/>
            <a:ext cx="5207000" cy="1905000"/>
          </a:xfrm>
          <a:prstGeom prst="roundRect">
            <a:avLst>
              <a:gd name="adj" fmla="val 6666"/>
            </a:avLst>
          </a:prstGeom>
          <a:solidFill>
            <a:srgbClr val="00B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2413000"/>
            <a:ext cx="406400" cy="406400"/>
          </a:xfrm>
          <a:prstGeom prst="rect">
            <a:avLst/>
          </a:prstGeom>
        </p:spPr>
      </p:pic>
      <p:sp>
        <p:nvSpPr>
          <p:cNvPr id="10" name="AutoShape 10"/>
          <p:cNvSpPr/>
          <p:nvPr/>
        </p:nvSpPr>
        <p:spPr>
          <a:xfrm>
            <a:off x="1524000" y="2387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乘车模式功能</a:t>
            </a:r>
            <a:endParaRPr lang="en-US" sz="1100"/>
          </a:p>
        </p:txBody>
      </p:sp>
      <p:sp>
        <p:nvSpPr>
          <p:cNvPr id="11" name="AutoShape 11"/>
          <p:cNvSpPr/>
          <p:nvPr/>
        </p:nvSpPr>
        <p:spPr>
          <a:xfrm>
            <a:off x="1016000" y="2857500"/>
            <a:ext cx="4699000" cy="1143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E5E7EB"/>
              </a:buClr>
              <a:buChar char="•"/>
              <a:defRPr/>
            </a:pPr>
            <a:r>
              <a:rPr lang="en-US" sz="1400" b="0" i="0" u="none" strike="noStrike">
                <a:solidFill>
                  <a:srgbClr val="E5E7EB"/>
                </a:solidFill>
                <a:latin typeface="Noto Sans SC"/>
                <a:ea typeface="Noto Sans SC"/>
                <a:cs typeface="Noto Sans SC"/>
                <a:sym typeface="Noto Sans SC"/>
              </a:rPr>
              <a:t>车牌信息录入与识别（手动/OCR自动识别）</a:t>
            </a:r>
            <a:endParaRPr lang="en-US" sz="1100"/>
          </a:p>
          <a:p>
            <a:pPr marL="177800" indent="-177800" algn="l">
              <a:lnSpc>
                <a:spcPct val="125000"/>
              </a:lnSpc>
              <a:buClr>
                <a:srgbClr val="E5E7EB"/>
              </a:buClr>
              <a:buChar char="•"/>
            </a:pPr>
            <a:r>
              <a:rPr lang="en-US" sz="1400" b="0" i="0" u="none" strike="noStrike">
                <a:solidFill>
                  <a:srgbClr val="E5E7EB"/>
                </a:solidFill>
                <a:latin typeface="Noto Sans SC"/>
                <a:ea typeface="Noto Sans SC"/>
                <a:cs typeface="Noto Sans SC"/>
                <a:sym typeface="Noto Sans SC"/>
              </a:rPr>
              <a:t>模拟真实来电功能，紧急情况找借口脱身</a:t>
            </a:r>
          </a:p>
          <a:p>
            <a:pPr marL="177800" indent="-177800" algn="l">
              <a:lnSpc>
                <a:spcPct val="125000"/>
              </a:lnSpc>
              <a:buClr>
                <a:srgbClr val="E5E7EB"/>
              </a:buClr>
              <a:buChar char="•"/>
            </a:pPr>
            <a:r>
              <a:rPr lang="en-US" sz="1400" b="0" i="0" u="none" strike="noStrike">
                <a:solidFill>
                  <a:srgbClr val="E5E7EB"/>
                </a:solidFill>
                <a:latin typeface="Noto Sans SC"/>
                <a:ea typeface="Noto Sans SC"/>
                <a:cs typeface="Noto Sans SC"/>
                <a:sym typeface="Noto Sans SC"/>
              </a:rPr>
              <a:t>一键SOS，快速发送位置及车牌求助信息</a:t>
            </a:r>
          </a:p>
        </p:txBody>
      </p:sp>
      <p:sp>
        <p:nvSpPr>
          <p:cNvPr id="12" name="AutoShape 12"/>
          <p:cNvSpPr/>
          <p:nvPr/>
        </p:nvSpPr>
        <p:spPr>
          <a:xfrm>
            <a:off x="6223000" y="2222500"/>
            <a:ext cx="5207000" cy="1905000"/>
          </a:xfrm>
          <a:prstGeom prst="roundRect">
            <a:avLst>
              <a:gd name="adj" fmla="val 6666"/>
            </a:avLst>
          </a:prstGeom>
          <a:solidFill>
            <a:srgbClr val="FFB6C1">
              <a:alpha val="10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2413000"/>
            <a:ext cx="406400" cy="406400"/>
          </a:xfrm>
          <a:prstGeom prst="rect">
            <a:avLst/>
          </a:prstGeom>
        </p:spPr>
      </p:pic>
      <p:sp>
        <p:nvSpPr>
          <p:cNvPr id="14" name="AutoShape 14"/>
          <p:cNvSpPr/>
          <p:nvPr/>
        </p:nvSpPr>
        <p:spPr>
          <a:xfrm>
            <a:off x="6985000" y="2387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B6C1"/>
                </a:solidFill>
                <a:latin typeface="Noto Sans SC"/>
                <a:ea typeface="Noto Sans SC"/>
                <a:cs typeface="Noto Sans SC"/>
                <a:sym typeface="Noto Sans SC"/>
              </a:rPr>
              <a:t>步行模式 AI关怀</a:t>
            </a:r>
            <a:endParaRPr lang="en-US" sz="1100"/>
          </a:p>
        </p:txBody>
      </p:sp>
      <p:sp>
        <p:nvSpPr>
          <p:cNvPr id="15" name="AutoShape 15"/>
          <p:cNvSpPr/>
          <p:nvPr/>
        </p:nvSpPr>
        <p:spPr>
          <a:xfrm>
            <a:off x="6477000" y="2857500"/>
            <a:ext cx="4699000" cy="1143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E5E7EB"/>
              </a:buClr>
              <a:buChar char="•"/>
              <a:defRPr/>
            </a:pPr>
            <a:r>
              <a:rPr lang="en-US" sz="1400" b="0" i="0" u="none" strike="noStrike">
                <a:solidFill>
                  <a:srgbClr val="E5E7EB"/>
                </a:solidFill>
                <a:latin typeface="Noto Sans SC"/>
                <a:ea typeface="Noto Sans SC"/>
                <a:cs typeface="Noto Sans SC"/>
                <a:sym typeface="Noto Sans SC"/>
              </a:rPr>
              <a:t>AI主动关怀对话，根据行程状态发起暖心交流</a:t>
            </a:r>
            <a:endParaRPr lang="en-US" sz="1100"/>
          </a:p>
          <a:p>
            <a:pPr marL="177800" indent="-177800" algn="l">
              <a:lnSpc>
                <a:spcPct val="125000"/>
              </a:lnSpc>
              <a:buClr>
                <a:srgbClr val="E5E7EB"/>
              </a:buClr>
              <a:buChar char="•"/>
            </a:pPr>
            <a:r>
              <a:rPr lang="en-US" sz="1400" b="0" i="0" u="none" strike="noStrike">
                <a:solidFill>
                  <a:srgbClr val="E5E7EB"/>
                </a:solidFill>
                <a:latin typeface="Noto Sans SC"/>
                <a:ea typeface="Noto Sans SC"/>
                <a:cs typeface="Noto Sans SC"/>
                <a:sym typeface="Noto Sans SC"/>
              </a:rPr>
              <a:t>异常行为检测（长时间停留、突然加速）并提醒</a:t>
            </a:r>
          </a:p>
        </p:txBody>
      </p:sp>
      <p:sp>
        <p:nvSpPr>
          <p:cNvPr id="16" name="AutoShape 16"/>
          <p:cNvSpPr/>
          <p:nvPr/>
        </p:nvSpPr>
        <p:spPr>
          <a:xfrm>
            <a:off x="762000" y="4318000"/>
            <a:ext cx="10668000" cy="635000"/>
          </a:xfrm>
          <a:prstGeom prst="roundRect">
            <a:avLst>
              <a:gd name="adj" fmla="val 20000"/>
            </a:avLst>
          </a:prstGeom>
          <a:solidFill>
            <a:srgbClr val="E6E6FA">
              <a:alpha val="10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483100"/>
            <a:ext cx="304800" cy="304800"/>
          </a:xfrm>
          <a:prstGeom prst="rect">
            <a:avLst/>
          </a:prstGeom>
        </p:spPr>
      </p:pic>
      <p:sp>
        <p:nvSpPr>
          <p:cNvPr id="18" name="AutoShape 18"/>
          <p:cNvSpPr/>
          <p:nvPr/>
        </p:nvSpPr>
        <p:spPr>
          <a:xfrm>
            <a:off x="1460500" y="44450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E6FA"/>
                </a:solidFill>
                <a:latin typeface="Noto Sans SC"/>
                <a:ea typeface="Noto Sans SC"/>
                <a:cs typeface="Noto Sans SC"/>
                <a:sym typeface="Noto Sans SC"/>
              </a:rPr>
              <a:t>交付物：</a:t>
            </a:r>
            <a:r>
              <a:rPr lang="en-US" sz="1600" b="0" i="0" u="none" strike="noStrike">
                <a:solidFill>
                  <a:srgbClr val="E5E7EB"/>
                </a:solidFill>
                <a:latin typeface="Noto Sans SC"/>
                <a:ea typeface="Noto Sans SC"/>
                <a:cs typeface="Noto Sans SC"/>
                <a:sym typeface="Noto Sans SC"/>
              </a:rPr>
              <a:t>包含新功能的APP测试版本，功能更完善，体验更佳。</a:t>
            </a:r>
            <a:endParaRPr lang="en-US" sz="1100"/>
          </a:p>
        </p:txBody>
      </p:sp>
      <p:sp>
        <p:nvSpPr>
          <p:cNvPr id="19" name="AutoShape 19"/>
          <p:cNvSpPr/>
          <p:nvPr/>
        </p:nvSpPr>
        <p:spPr>
          <a:xfrm>
            <a:off x="762000" y="5143500"/>
            <a:ext cx="10668000" cy="635000"/>
          </a:xfrm>
          <a:prstGeom prst="roundRect">
            <a:avLst>
              <a:gd name="adj" fmla="val 20000"/>
            </a:avLst>
          </a:prstGeom>
          <a:solidFill>
            <a:srgbClr val="FFFFFF">
              <a:alpha val="5000"/>
            </a:srgbClr>
          </a:solidFill>
          <a:ln w="12700" cap="flat" cmpd="sng">
            <a:solidFill>
              <a:srgbClr val="FFFFFF">
                <a:alpha val="10000"/>
              </a:srgbClr>
            </a:solidFill>
            <a:prstDash val="dash"/>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308600"/>
            <a:ext cx="304800" cy="304800"/>
          </a:xfrm>
          <a:prstGeom prst="rect">
            <a:avLst/>
          </a:prstGeom>
        </p:spPr>
      </p:pic>
      <p:sp>
        <p:nvSpPr>
          <p:cNvPr id="21" name="AutoShape 21"/>
          <p:cNvSpPr/>
          <p:nvPr/>
        </p:nvSpPr>
        <p:spPr>
          <a:xfrm>
            <a:off x="1460500" y="5270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E5E7EB"/>
                </a:solidFill>
                <a:latin typeface="Noto Sans SC"/>
                <a:ea typeface="Noto Sans SC"/>
                <a:cs typeface="Noto Sans SC"/>
                <a:sym typeface="Noto Sans SC"/>
              </a:rPr>
              <a:t>回顾乘车模式的用户故事，确认Sprint 2的目标是否覆盖了你认为的核心需求。</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90551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Sprint 2 任务分解：乘车模式</a:t>
            </a:r>
            <a:endParaRPr lang="en-US" sz="1100"/>
          </a:p>
        </p:txBody>
      </p:sp>
      <p:sp>
        <p:nvSpPr>
          <p:cNvPr id="5" name="AutoShape 5"/>
          <p:cNvSpPr/>
          <p:nvPr/>
        </p:nvSpPr>
        <p:spPr>
          <a:xfrm>
            <a:off x="762000" y="1524000"/>
            <a:ext cx="3378200" cy="2794000"/>
          </a:xfrm>
          <a:prstGeom prst="roundRect">
            <a:avLst>
              <a:gd name="adj" fmla="val 4545"/>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14500"/>
            <a:ext cx="406400" cy="406400"/>
          </a:xfrm>
          <a:prstGeom prst="rect">
            <a:avLst/>
          </a:prstGeom>
        </p:spPr>
      </p:pic>
      <p:sp>
        <p:nvSpPr>
          <p:cNvPr id="7" name="AutoShape 7"/>
          <p:cNvSpPr/>
          <p:nvPr/>
        </p:nvSpPr>
        <p:spPr>
          <a:xfrm>
            <a:off x="1524000" y="1676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Poppins"/>
                <a:ea typeface="Poppins"/>
                <a:cs typeface="Poppins"/>
                <a:sym typeface="Poppins"/>
              </a:rPr>
              <a:t>车牌信息管理</a:t>
            </a:r>
            <a:endParaRPr lang="en-US" sz="1100"/>
          </a:p>
        </p:txBody>
      </p:sp>
      <p:sp>
        <p:nvSpPr>
          <p:cNvPr id="8" name="AutoShape 8"/>
          <p:cNvSpPr/>
          <p:nvPr/>
        </p:nvSpPr>
        <p:spPr>
          <a:xfrm>
            <a:off x="952500" y="2159000"/>
            <a:ext cx="2997200" cy="1778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E5E7EB"/>
              </a:buClr>
              <a:buChar char="•"/>
              <a:defRPr/>
            </a:pPr>
            <a:r>
              <a:rPr lang="en-US" sz="1400" b="0" i="0" u="none" strike="noStrike">
                <a:solidFill>
                  <a:srgbClr val="E5E7EB"/>
                </a:solidFill>
                <a:latin typeface="Poppins"/>
                <a:ea typeface="Poppins"/>
                <a:cs typeface="Poppins"/>
                <a:sym typeface="Poppins"/>
              </a:rPr>
              <a:t>设计并实现车牌输入界面</a:t>
            </a:r>
            <a:endParaRPr lang="en-US" sz="1100"/>
          </a:p>
          <a:p>
            <a:pPr marL="177800" indent="-177800" algn="l">
              <a:lnSpc>
                <a:spcPct val="125000"/>
              </a:lnSpc>
              <a:buClr>
                <a:srgbClr val="E5E7EB"/>
              </a:buClr>
              <a:buChar char="•"/>
            </a:pPr>
            <a:r>
              <a:rPr lang="en-US" sz="1400" b="0" i="0" u="none" strike="noStrike">
                <a:solidFill>
                  <a:srgbClr val="E5E7EB"/>
                </a:solidFill>
                <a:latin typeface="Poppins"/>
                <a:ea typeface="Poppins"/>
                <a:cs typeface="Poppins"/>
                <a:sym typeface="Poppins"/>
              </a:rPr>
              <a:t>集成第三方OCR库实现自动识别</a:t>
            </a:r>
          </a:p>
          <a:p>
            <a:pPr marL="177800" indent="-177800" algn="l">
              <a:lnSpc>
                <a:spcPct val="125000"/>
              </a:lnSpc>
              <a:buClr>
                <a:srgbClr val="E5E7EB"/>
              </a:buClr>
              <a:buChar char="•"/>
            </a:pPr>
            <a:r>
              <a:rPr lang="en-US" sz="1400" b="0" i="0" u="none" strike="noStrike">
                <a:solidFill>
                  <a:srgbClr val="E5E7EB"/>
                </a:solidFill>
                <a:latin typeface="Poppins"/>
                <a:ea typeface="Poppins"/>
                <a:cs typeface="Poppins"/>
                <a:sym typeface="Poppins"/>
              </a:rPr>
              <a:t>关联行程并发送给守护者</a:t>
            </a:r>
          </a:p>
        </p:txBody>
      </p:sp>
      <p:sp>
        <p:nvSpPr>
          <p:cNvPr id="9" name="AutoShape 9"/>
          <p:cNvSpPr/>
          <p:nvPr/>
        </p:nvSpPr>
        <p:spPr>
          <a:xfrm>
            <a:off x="4394200" y="1524000"/>
            <a:ext cx="3378200" cy="2794000"/>
          </a:xfrm>
          <a:prstGeom prst="roundRect">
            <a:avLst>
              <a:gd name="adj" fmla="val 4545"/>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1714500"/>
            <a:ext cx="406400" cy="406400"/>
          </a:xfrm>
          <a:prstGeom prst="rect">
            <a:avLst/>
          </a:prstGeom>
        </p:spPr>
      </p:pic>
      <p:sp>
        <p:nvSpPr>
          <p:cNvPr id="11" name="AutoShape 11"/>
          <p:cNvSpPr/>
          <p:nvPr/>
        </p:nvSpPr>
        <p:spPr>
          <a:xfrm>
            <a:off x="5156200" y="1676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Poppins"/>
                <a:ea typeface="Poppins"/>
                <a:cs typeface="Poppins"/>
                <a:sym typeface="Poppins"/>
              </a:rPr>
              <a:t>模拟来电模块</a:t>
            </a:r>
            <a:endParaRPr lang="en-US" sz="1100"/>
          </a:p>
        </p:txBody>
      </p:sp>
      <p:sp>
        <p:nvSpPr>
          <p:cNvPr id="12" name="AutoShape 12"/>
          <p:cNvSpPr/>
          <p:nvPr/>
        </p:nvSpPr>
        <p:spPr>
          <a:xfrm>
            <a:off x="4584700" y="2159000"/>
            <a:ext cx="2997200" cy="1778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E5E7EB"/>
              </a:buClr>
              <a:buChar char="•"/>
              <a:defRPr/>
            </a:pPr>
            <a:r>
              <a:rPr lang="en-US" sz="1400" b="0" i="0" u="none" strike="noStrike">
                <a:solidFill>
                  <a:srgbClr val="E5E7EB"/>
                </a:solidFill>
                <a:latin typeface="Poppins"/>
                <a:ea typeface="Poppins"/>
                <a:cs typeface="Poppins"/>
                <a:sym typeface="Poppins"/>
              </a:rPr>
              <a:t>注册Twilio并获取API密钥</a:t>
            </a:r>
            <a:endParaRPr lang="en-US" sz="1100"/>
          </a:p>
          <a:p>
            <a:pPr marL="177800" indent="-177800" algn="l">
              <a:lnSpc>
                <a:spcPct val="125000"/>
              </a:lnSpc>
              <a:buClr>
                <a:srgbClr val="E5E7EB"/>
              </a:buClr>
              <a:buChar char="•"/>
            </a:pPr>
            <a:r>
              <a:rPr lang="en-US" sz="1400" b="0" i="0" u="none" strike="noStrike">
                <a:solidFill>
                  <a:srgbClr val="E5E7EB"/>
                </a:solidFill>
                <a:latin typeface="Poppins"/>
                <a:ea typeface="Poppins"/>
                <a:cs typeface="Poppins"/>
                <a:sym typeface="Poppins"/>
              </a:rPr>
              <a:t>设计触发按钮与自定义设置</a:t>
            </a:r>
          </a:p>
          <a:p>
            <a:pPr marL="177800" indent="-177800" algn="l">
              <a:lnSpc>
                <a:spcPct val="125000"/>
              </a:lnSpc>
              <a:buClr>
                <a:srgbClr val="E5E7EB"/>
              </a:buClr>
              <a:buChar char="•"/>
            </a:pPr>
            <a:r>
              <a:rPr lang="en-US" sz="1400" b="0" i="0" u="none" strike="noStrike">
                <a:solidFill>
                  <a:srgbClr val="E5E7EB"/>
                </a:solidFill>
                <a:latin typeface="Poppins"/>
                <a:ea typeface="Poppins"/>
                <a:cs typeface="Poppins"/>
                <a:sym typeface="Poppins"/>
              </a:rPr>
              <a:t>调用API实现真实来电功能</a:t>
            </a:r>
          </a:p>
        </p:txBody>
      </p:sp>
      <p:sp>
        <p:nvSpPr>
          <p:cNvPr id="13" name="AutoShape 13"/>
          <p:cNvSpPr/>
          <p:nvPr/>
        </p:nvSpPr>
        <p:spPr>
          <a:xfrm>
            <a:off x="8026400" y="1524000"/>
            <a:ext cx="3378200" cy="2794000"/>
          </a:xfrm>
          <a:prstGeom prst="roundRect">
            <a:avLst>
              <a:gd name="adj" fmla="val 4545"/>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1714500"/>
            <a:ext cx="406400" cy="406400"/>
          </a:xfrm>
          <a:prstGeom prst="rect">
            <a:avLst/>
          </a:prstGeom>
        </p:spPr>
      </p:pic>
      <p:sp>
        <p:nvSpPr>
          <p:cNvPr id="15" name="AutoShape 15"/>
          <p:cNvSpPr/>
          <p:nvPr/>
        </p:nvSpPr>
        <p:spPr>
          <a:xfrm>
            <a:off x="8788400" y="1676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Poppins"/>
                <a:ea typeface="Poppins"/>
                <a:cs typeface="Poppins"/>
                <a:sym typeface="Poppins"/>
              </a:rPr>
              <a:t>一键SOS模块</a:t>
            </a:r>
            <a:endParaRPr lang="en-US" sz="1100"/>
          </a:p>
        </p:txBody>
      </p:sp>
      <p:sp>
        <p:nvSpPr>
          <p:cNvPr id="16" name="AutoShape 16"/>
          <p:cNvSpPr/>
          <p:nvPr/>
        </p:nvSpPr>
        <p:spPr>
          <a:xfrm>
            <a:off x="8216900" y="2159000"/>
            <a:ext cx="2997200" cy="1778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E5E7EB"/>
              </a:buClr>
              <a:buChar char="•"/>
              <a:defRPr/>
            </a:pPr>
            <a:r>
              <a:rPr lang="en-US" sz="1400" b="0" i="0" u="none" strike="noStrike">
                <a:solidFill>
                  <a:srgbClr val="E5E7EB"/>
                </a:solidFill>
                <a:latin typeface="Poppins"/>
                <a:ea typeface="Poppins"/>
                <a:cs typeface="Poppins"/>
                <a:sym typeface="Poppins"/>
              </a:rPr>
              <a:t>设计醒目的紧急SOS按钮</a:t>
            </a:r>
            <a:endParaRPr lang="en-US" sz="1100"/>
          </a:p>
          <a:p>
            <a:pPr marL="177800" indent="-177800" algn="l">
              <a:lnSpc>
                <a:spcPct val="125000"/>
              </a:lnSpc>
              <a:buClr>
                <a:srgbClr val="E5E7EB"/>
              </a:buClr>
              <a:buChar char="•"/>
            </a:pPr>
            <a:r>
              <a:rPr lang="en-US" sz="1400" b="0" i="0" u="none" strike="noStrike">
                <a:solidFill>
                  <a:srgbClr val="E5E7EB"/>
                </a:solidFill>
                <a:latin typeface="Poppins"/>
                <a:ea typeface="Poppins"/>
                <a:cs typeface="Poppins"/>
                <a:sym typeface="Poppins"/>
              </a:rPr>
              <a:t>触发后发送位置与车牌通知</a:t>
            </a:r>
          </a:p>
          <a:p>
            <a:pPr marL="177800" indent="-177800" algn="l">
              <a:lnSpc>
                <a:spcPct val="125000"/>
              </a:lnSpc>
              <a:buClr>
                <a:srgbClr val="E5E7EB"/>
              </a:buClr>
              <a:buChar char="•"/>
            </a:pPr>
            <a:r>
              <a:rPr lang="en-US" sz="1400" b="0" i="0" u="none" strike="noStrike">
                <a:solidFill>
                  <a:srgbClr val="E5E7EB"/>
                </a:solidFill>
                <a:latin typeface="Poppins"/>
                <a:ea typeface="Poppins"/>
                <a:cs typeface="Poppins"/>
                <a:sym typeface="Poppins"/>
              </a:rPr>
              <a:t>（可选）实现现场自动录音</a:t>
            </a:r>
          </a:p>
        </p:txBody>
      </p:sp>
      <p:sp>
        <p:nvSpPr>
          <p:cNvPr id="17" name="AutoShape 17"/>
          <p:cNvSpPr/>
          <p:nvPr/>
        </p:nvSpPr>
        <p:spPr>
          <a:xfrm>
            <a:off x="762000" y="4699000"/>
            <a:ext cx="10642600" cy="762000"/>
          </a:xfrm>
          <a:prstGeom prst="roundRect">
            <a:avLst>
              <a:gd name="adj" fmla="val 16666"/>
            </a:avLst>
          </a:prstGeom>
          <a:solidFill>
            <a:srgbClr val="00BFFF">
              <a:alpha val="15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902200"/>
            <a:ext cx="355600" cy="355600"/>
          </a:xfrm>
          <a:prstGeom prst="rect">
            <a:avLst/>
          </a:prstGeom>
        </p:spPr>
      </p:pic>
      <p:sp>
        <p:nvSpPr>
          <p:cNvPr id="19" name="AutoShape 19"/>
          <p:cNvSpPr/>
          <p:nvPr/>
        </p:nvSpPr>
        <p:spPr>
          <a:xfrm>
            <a:off x="1524000" y="4826000"/>
            <a:ext cx="952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行动指令：</a:t>
            </a:r>
            <a:r>
              <a:rPr lang="en-US" sz="1600" b="0" i="0" u="none" strike="noStrike">
                <a:solidFill>
                  <a:srgbClr val="E5E7EB"/>
                </a:solidFill>
                <a:latin typeface="Poppins"/>
                <a:ea typeface="Poppins"/>
                <a:cs typeface="Poppins"/>
                <a:sym typeface="Poppins"/>
              </a:rPr>
              <a:t>针对你负责的乘车模式相关任务，思考还需要哪些更细的技术步骤？</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21212">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AI关怀功能设计：有温度的陪伴</a:t>
            </a:r>
            <a:endParaRPr lang="en-US" sz="1100"/>
          </a:p>
        </p:txBody>
      </p:sp>
      <p:sp>
        <p:nvSpPr>
          <p:cNvPr id="5" name="AutoShape 5"/>
          <p:cNvSpPr/>
          <p:nvPr/>
        </p:nvSpPr>
        <p:spPr>
          <a:xfrm>
            <a:off x="762000" y="1397000"/>
            <a:ext cx="3429000" cy="2286000"/>
          </a:xfrm>
          <a:prstGeom prst="roundRect">
            <a:avLst>
              <a:gd name="adj" fmla="val 5555"/>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587500"/>
            <a:ext cx="304800" cy="304800"/>
          </a:xfrm>
          <a:prstGeom prst="rect">
            <a:avLst/>
          </a:prstGeom>
        </p:spPr>
      </p:pic>
      <p:sp>
        <p:nvSpPr>
          <p:cNvPr id="7" name="AutoShape 7"/>
          <p:cNvSpPr/>
          <p:nvPr/>
        </p:nvSpPr>
        <p:spPr>
          <a:xfrm>
            <a:off x="1333500" y="15494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触发条件设计</a:t>
            </a:r>
            <a:endParaRPr lang="en-US" sz="1100"/>
          </a:p>
        </p:txBody>
      </p:sp>
      <p:sp>
        <p:nvSpPr>
          <p:cNvPr id="8" name="AutoShape 8"/>
          <p:cNvSpPr/>
          <p:nvPr/>
        </p:nvSpPr>
        <p:spPr>
          <a:xfrm>
            <a:off x="952500" y="1968500"/>
            <a:ext cx="3048000" cy="1397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25000"/>
              </a:lnSpc>
              <a:buClr>
                <a:srgbClr val="E2E8F0"/>
              </a:buClr>
              <a:buChar char="•"/>
              <a:defRPr/>
            </a:pPr>
            <a:r>
              <a:rPr lang="en-US" sz="1300" b="0" i="0" u="none" strike="noStrike">
                <a:solidFill>
                  <a:srgbClr val="E2E8F0"/>
                </a:solidFill>
                <a:latin typeface="Noto Sans SC"/>
                <a:ea typeface="Noto Sans SC"/>
                <a:cs typeface="Noto Sans SC"/>
                <a:sym typeface="Noto Sans SC"/>
              </a:rPr>
              <a:t>行程过半时主动询问状态</a:t>
            </a:r>
            <a:endParaRPr lang="en-US" sz="1100"/>
          </a:p>
          <a:p>
            <a:pPr marL="165100" indent="-165100" algn="l">
              <a:lnSpc>
                <a:spcPct val="125000"/>
              </a:lnSpc>
              <a:buClr>
                <a:srgbClr val="E2E8F0"/>
              </a:buClr>
              <a:buChar char="•"/>
            </a:pPr>
            <a:r>
              <a:rPr lang="en-US" sz="1300" b="0" i="0" u="none" strike="noStrike">
                <a:solidFill>
                  <a:srgbClr val="E2E8F0"/>
                </a:solidFill>
                <a:latin typeface="Noto Sans SC"/>
                <a:ea typeface="Noto Sans SC"/>
                <a:cs typeface="Noto Sans SC"/>
                <a:sym typeface="Noto Sans SC"/>
              </a:rPr>
              <a:t>停留超3分钟未移动</a:t>
            </a:r>
          </a:p>
          <a:p>
            <a:pPr marL="165100" indent="-165100" algn="l">
              <a:lnSpc>
                <a:spcPct val="125000"/>
              </a:lnSpc>
              <a:buClr>
                <a:srgbClr val="E2E8F0"/>
              </a:buClr>
              <a:buChar char="•"/>
            </a:pPr>
            <a:r>
              <a:rPr lang="en-US" sz="1300" b="0" i="0" u="none" strike="noStrike">
                <a:solidFill>
                  <a:srgbClr val="E2E8F0"/>
                </a:solidFill>
                <a:latin typeface="Noto Sans SC"/>
                <a:ea typeface="Noto Sans SC"/>
                <a:cs typeface="Noto Sans SC"/>
                <a:sym typeface="Noto Sans SC"/>
              </a:rPr>
              <a:t>检测到突然加速跑动</a:t>
            </a:r>
          </a:p>
          <a:p>
            <a:pPr marL="165100" indent="-165100" algn="l">
              <a:lnSpc>
                <a:spcPct val="125000"/>
              </a:lnSpc>
              <a:buClr>
                <a:srgbClr val="E2E8F0"/>
              </a:buClr>
              <a:buChar char="•"/>
            </a:pPr>
            <a:r>
              <a:rPr lang="en-US" sz="1300" b="0" i="0" u="none" strike="noStrike">
                <a:solidFill>
                  <a:srgbClr val="E2E8F0"/>
                </a:solidFill>
                <a:latin typeface="Noto Sans SC"/>
                <a:ea typeface="Noto Sans SC"/>
                <a:cs typeface="Noto Sans SC"/>
                <a:sym typeface="Noto Sans SC"/>
              </a:rPr>
              <a:t>偏离预设路线一定距离</a:t>
            </a:r>
          </a:p>
        </p:txBody>
      </p:sp>
      <p:sp>
        <p:nvSpPr>
          <p:cNvPr id="9" name="AutoShape 9"/>
          <p:cNvSpPr/>
          <p:nvPr/>
        </p:nvSpPr>
        <p:spPr>
          <a:xfrm>
            <a:off x="4381500" y="1397000"/>
            <a:ext cx="3429000" cy="2286000"/>
          </a:xfrm>
          <a:prstGeom prst="roundRect">
            <a:avLst>
              <a:gd name="adj" fmla="val 5555"/>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1587500"/>
            <a:ext cx="304800" cy="304800"/>
          </a:xfrm>
          <a:prstGeom prst="rect">
            <a:avLst/>
          </a:prstGeom>
        </p:spPr>
      </p:pic>
      <p:sp>
        <p:nvSpPr>
          <p:cNvPr id="11" name="AutoShape 11"/>
          <p:cNvSpPr/>
          <p:nvPr/>
        </p:nvSpPr>
        <p:spPr>
          <a:xfrm>
            <a:off x="4953000" y="15494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对话流程设计</a:t>
            </a:r>
            <a:endParaRPr lang="en-US" sz="1100"/>
          </a:p>
        </p:txBody>
      </p:sp>
      <p:sp>
        <p:nvSpPr>
          <p:cNvPr id="12" name="AutoShape 12"/>
          <p:cNvSpPr/>
          <p:nvPr/>
        </p:nvSpPr>
        <p:spPr>
          <a:xfrm>
            <a:off x="4572000" y="19685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2E8F0"/>
                </a:solidFill>
                <a:latin typeface="Noto Sans SC"/>
                <a:ea typeface="Noto Sans SC"/>
                <a:cs typeface="Noto Sans SC"/>
                <a:sym typeface="Noto Sans SC"/>
              </a:rPr>
              <a:t>场景：行程过半</a:t>
            </a:r>
            <a:endParaRPr lang="en-US" sz="1100"/>
          </a:p>
          <a:p>
            <a:pPr indent="0" algn="l">
              <a:lnSpc>
                <a:spcPct val="125000"/>
              </a:lnSpc>
            </a:pPr>
            <a:r>
              <a:rPr lang="en-US" sz="1200" b="0" i="0" u="none" strike="noStrike">
                <a:solidFill>
                  <a:srgbClr val="E2E8F0">
                    <a:alpha val="80000"/>
                  </a:srgbClr>
                </a:solidFill>
                <a:latin typeface="Noto Sans SC"/>
                <a:ea typeface="Noto Sans SC"/>
                <a:cs typeface="Noto Sans SC"/>
                <a:sym typeface="Noto Sans SC"/>
              </a:rPr>
              <a:t>AI：“已经走了一半啦，现在感觉怎么样？”</a:t>
            </a:r>
          </a:p>
          <a:p>
            <a:pPr indent="0" algn="l">
              <a:lnSpc>
                <a:spcPct val="125000"/>
              </a:lnSpc>
            </a:pPr>
            <a:r>
              <a:rPr lang="en-US" sz="1200" b="0" i="0" u="none" strike="noStrike">
                <a:solidFill>
                  <a:srgbClr val="E2E8F0">
                    <a:alpha val="80000"/>
                  </a:srgbClr>
                </a:solidFill>
                <a:latin typeface="Noto Sans SC"/>
                <a:ea typeface="Noto Sans SC"/>
                <a:cs typeface="Noto Sans SC"/>
                <a:sym typeface="Noto Sans SC"/>
              </a:rPr>
              <a:t>用户：“有点害怕”</a:t>
            </a:r>
          </a:p>
          <a:p>
            <a:pPr indent="0" algn="l">
              <a:lnSpc>
                <a:spcPct val="125000"/>
              </a:lnSpc>
            </a:pPr>
            <a:r>
              <a:rPr lang="en-US" sz="1200" b="0" i="0" u="none" strike="noStrike">
                <a:solidFill>
                  <a:srgbClr val="E2E8F0">
                    <a:alpha val="80000"/>
                  </a:srgbClr>
                </a:solidFill>
                <a:latin typeface="Noto Sans SC"/>
                <a:ea typeface="Noto Sans SC"/>
                <a:cs typeface="Noto Sans SC"/>
                <a:sym typeface="Noto Sans SC"/>
              </a:rPr>
              <a:t>AI：“需要联系守护者或陪你聊天吗？”</a:t>
            </a:r>
          </a:p>
        </p:txBody>
      </p:sp>
      <p:sp>
        <p:nvSpPr>
          <p:cNvPr id="13" name="AutoShape 13"/>
          <p:cNvSpPr/>
          <p:nvPr/>
        </p:nvSpPr>
        <p:spPr>
          <a:xfrm>
            <a:off x="8001000" y="1397000"/>
            <a:ext cx="3429000" cy="2286000"/>
          </a:xfrm>
          <a:prstGeom prst="roundRect">
            <a:avLst>
              <a:gd name="adj" fmla="val 5555"/>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1587500"/>
            <a:ext cx="304800" cy="304800"/>
          </a:xfrm>
          <a:prstGeom prst="rect">
            <a:avLst/>
          </a:prstGeom>
        </p:spPr>
      </p:pic>
      <p:sp>
        <p:nvSpPr>
          <p:cNvPr id="15" name="AutoShape 15"/>
          <p:cNvSpPr/>
          <p:nvPr/>
        </p:nvSpPr>
        <p:spPr>
          <a:xfrm>
            <a:off x="8572500" y="15494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Noto Sans SC"/>
                <a:ea typeface="Noto Sans SC"/>
                <a:cs typeface="Noto Sans SC"/>
                <a:sym typeface="Noto Sans SC"/>
              </a:rPr>
              <a:t>技术实现思路</a:t>
            </a:r>
            <a:endParaRPr lang="en-US" sz="1100"/>
          </a:p>
        </p:txBody>
      </p:sp>
      <p:sp>
        <p:nvSpPr>
          <p:cNvPr id="16" name="AutoShape 16"/>
          <p:cNvSpPr/>
          <p:nvPr/>
        </p:nvSpPr>
        <p:spPr>
          <a:xfrm>
            <a:off x="8191500" y="19685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2E8F0"/>
                </a:solidFill>
                <a:latin typeface="Noto Sans SC"/>
                <a:ea typeface="Noto Sans SC"/>
                <a:cs typeface="Noto Sans SC"/>
                <a:sym typeface="Noto Sans SC"/>
              </a:rPr>
              <a:t>阶段一：规则引擎</a:t>
            </a:r>
            <a:endParaRPr lang="en-US" sz="1100"/>
          </a:p>
          <a:p>
            <a:pPr indent="0" algn="l">
              <a:lnSpc>
                <a:spcPct val="125000"/>
              </a:lnSpc>
            </a:pPr>
            <a:r>
              <a:rPr lang="en-US" sz="1200" b="0" i="0" u="none" strike="noStrike">
                <a:solidFill>
                  <a:srgbClr val="E2E8F0">
                    <a:alpha val="80000"/>
                  </a:srgbClr>
                </a:solidFill>
                <a:latin typeface="Noto Sans SC"/>
                <a:ea typeface="Noto Sans SC"/>
                <a:cs typeface="Noto Sans SC"/>
                <a:sym typeface="Noto Sans SC"/>
              </a:rPr>
              <a:t>基于预设关键词和场景，实现基础逻辑对话，快速落地。</a:t>
            </a:r>
          </a:p>
          <a:p>
            <a:pPr indent="0" algn="l">
              <a:lnSpc>
                <a:spcPct val="125000"/>
              </a:lnSpc>
            </a:pPr>
            <a:r>
              <a:rPr lang="en-US" sz="1300" b="1" i="0" u="none" strike="noStrike">
                <a:solidFill>
                  <a:srgbClr val="E2E8F0"/>
                </a:solidFill>
                <a:latin typeface="Noto Sans SC"/>
                <a:ea typeface="Noto Sans SC"/>
                <a:cs typeface="Noto Sans SC"/>
                <a:sym typeface="Noto Sans SC"/>
              </a:rPr>
              <a:t>阶段二：大模型集成</a:t>
            </a:r>
          </a:p>
          <a:p>
            <a:pPr indent="0" algn="l">
              <a:lnSpc>
                <a:spcPct val="125000"/>
              </a:lnSpc>
            </a:pPr>
            <a:r>
              <a:rPr lang="en-US" sz="1200" b="0" i="0" u="none" strike="noStrike">
                <a:solidFill>
                  <a:srgbClr val="E2E8F0">
                    <a:alpha val="80000"/>
                  </a:srgbClr>
                </a:solidFill>
                <a:latin typeface="Noto Sans SC"/>
                <a:ea typeface="Noto Sans SC"/>
                <a:cs typeface="Noto Sans SC"/>
                <a:sym typeface="Noto Sans SC"/>
              </a:rPr>
              <a:t>接入ChatGPT等API，实现更自然、人性化的交互能力。</a:t>
            </a:r>
          </a:p>
        </p:txBody>
      </p:sp>
      <p:sp>
        <p:nvSpPr>
          <p:cNvPr id="17" name="AutoShape 17"/>
          <p:cNvSpPr/>
          <p:nvPr/>
        </p:nvSpPr>
        <p:spPr>
          <a:xfrm>
            <a:off x="762000" y="3937000"/>
            <a:ext cx="10668000" cy="1016000"/>
          </a:xfrm>
          <a:prstGeom prst="roundRect">
            <a:avLst>
              <a:gd name="adj" fmla="val 12500"/>
            </a:avLst>
          </a:prstGeom>
          <a:gradFill rotWithShape="1">
            <a:gsLst>
              <a:gs pos="0">
                <a:srgbClr val="00BFFF">
                  <a:alpha val="20000"/>
                </a:srgbClr>
              </a:gs>
              <a:gs pos="100000">
                <a:srgbClr val="FFB6C1">
                  <a:alpha val="20000"/>
                </a:srgbClr>
              </a:gs>
            </a:gsLst>
            <a:lin ang="0"/>
          </a:gra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241800"/>
            <a:ext cx="406400" cy="406400"/>
          </a:xfrm>
          <a:prstGeom prst="rect">
            <a:avLst/>
          </a:prstGeom>
        </p:spPr>
      </p:pic>
      <p:sp>
        <p:nvSpPr>
          <p:cNvPr id="19" name="AutoShape 19"/>
          <p:cNvSpPr/>
          <p:nvPr/>
        </p:nvSpPr>
        <p:spPr>
          <a:xfrm>
            <a:off x="1587500" y="4064000"/>
            <a:ext cx="889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学生行动指令</a:t>
            </a:r>
            <a:endParaRPr lang="en-US" sz="1100"/>
          </a:p>
          <a:p>
            <a:pPr indent="0" algn="l">
              <a:lnSpc>
                <a:spcPct val="125000"/>
              </a:lnSpc>
            </a:pPr>
            <a:r>
              <a:rPr lang="en-US" sz="1400" b="0" i="0" u="none" strike="noStrike">
                <a:solidFill>
                  <a:srgbClr val="FFFFFF">
                    <a:alpha val="90196"/>
                  </a:srgbClr>
                </a:solidFill>
                <a:latin typeface="Noto Sans SC"/>
                <a:ea typeface="Noto Sans SC"/>
                <a:cs typeface="Noto Sans SC"/>
                <a:sym typeface="Noto Sans SC"/>
              </a:rPr>
              <a:t>选择一个触发条件（如：偏离路线），设计一个完整的AI关怀对话场景，并写出对应的提示词。</a:t>
            </a:r>
          </a:p>
        </p:txBody>
      </p:sp>
      <p:cxnSp>
        <p:nvCxnSpPr>
          <p:cNvPr id="20" name="Connector 20"/>
          <p:cNvCxnSpPr/>
          <p:nvPr/>
        </p:nvCxnSpPr>
        <p:spPr>
          <a:xfrm rot="-4092">
            <a:off x="762004" y="5327650"/>
            <a:ext cx="10668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21" name="AutoShape 21"/>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1" u="none" strike="noStrike">
                <a:solidFill>
                  <a:srgbClr val="FFFFFF">
                    <a:alpha val="70196"/>
                  </a:srgbClr>
                </a:solidFill>
                <a:latin typeface="Noto Sans SC"/>
                <a:ea typeface="Noto Sans SC"/>
                <a:cs typeface="Noto Sans SC"/>
                <a:sym typeface="Noto Sans SC"/>
              </a:rPr>
              <a:t>“让AI不仅是工具，更是深夜回家路上温暖的守护者。”</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6045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技术方案详解：模拟来电功能</a:t>
            </a:r>
            <a:endParaRPr lang="en-US" sz="1100"/>
          </a:p>
        </p:txBody>
      </p:sp>
      <p:sp>
        <p:nvSpPr>
          <p:cNvPr id="5" name="AutoShape 5"/>
          <p:cNvSpPr/>
          <p:nvPr/>
        </p:nvSpPr>
        <p:spPr>
          <a:xfrm>
            <a:off x="762000" y="1270000"/>
            <a:ext cx="10668000" cy="635000"/>
          </a:xfrm>
          <a:prstGeom prst="roundRect">
            <a:avLst>
              <a:gd name="adj" fmla="val 20000"/>
            </a:avLst>
          </a:prstGeom>
          <a:solidFill>
            <a:srgbClr val="FFF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435100"/>
            <a:ext cx="304800" cy="304800"/>
          </a:xfrm>
          <a:prstGeom prst="rect">
            <a:avLst/>
          </a:prstGeom>
        </p:spPr>
      </p:pic>
      <p:sp>
        <p:nvSpPr>
          <p:cNvPr id="7" name="AutoShape 7"/>
          <p:cNvSpPr/>
          <p:nvPr/>
        </p:nvSpPr>
        <p:spPr>
          <a:xfrm>
            <a:off x="1397000" y="13970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E6FA"/>
                </a:solidFill>
                <a:latin typeface="Noto Sans SC"/>
                <a:ea typeface="Noto Sans SC"/>
                <a:cs typeface="Noto Sans SC"/>
                <a:sym typeface="Noto Sans SC"/>
              </a:rPr>
              <a:t>核心技术选型：</a:t>
            </a:r>
            <a:r>
              <a:rPr lang="en-US" sz="1600" b="0" i="0" u="none" strike="noStrike">
                <a:solidFill>
                  <a:srgbClr val="FFFFFF"/>
                </a:solidFill>
                <a:latin typeface="Noto Sans SC"/>
                <a:ea typeface="Noto Sans SC"/>
                <a:cs typeface="Noto Sans SC"/>
                <a:sym typeface="Noto Sans SC"/>
              </a:rPr>
              <a:t>Twilio API（云通信服务平台）</a:t>
            </a:r>
            <a:endParaRPr lang="en-US" sz="1100"/>
          </a:p>
        </p:txBody>
      </p:sp>
      <p:sp>
        <p:nvSpPr>
          <p:cNvPr id="8" name="AutoShape 8"/>
          <p:cNvSpPr/>
          <p:nvPr/>
        </p:nvSpPr>
        <p:spPr>
          <a:xfrm>
            <a:off x="762000" y="2159000"/>
            <a:ext cx="4953000" cy="1016000"/>
          </a:xfrm>
          <a:prstGeom prst="roundRect">
            <a:avLst>
              <a:gd name="adj" fmla="val 1250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2463800"/>
            <a:ext cx="406400" cy="406400"/>
          </a:xfrm>
          <a:prstGeom prst="rect">
            <a:avLst/>
          </a:prstGeom>
        </p:spPr>
      </p:pic>
      <p:sp>
        <p:nvSpPr>
          <p:cNvPr id="10" name="AutoShape 10"/>
          <p:cNvSpPr/>
          <p:nvPr/>
        </p:nvSpPr>
        <p:spPr>
          <a:xfrm>
            <a:off x="1460500" y="2286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01. 注册与配置</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注册Twilio账号，完成身份验证，获取Account SID和Auth Token。</a:t>
            </a:r>
          </a:p>
        </p:txBody>
      </p:sp>
      <p:sp>
        <p:nvSpPr>
          <p:cNvPr id="11" name="AutoShape 11"/>
          <p:cNvSpPr/>
          <p:nvPr/>
        </p:nvSpPr>
        <p:spPr>
          <a:xfrm>
            <a:off x="5969000" y="2159000"/>
            <a:ext cx="4953000" cy="1016000"/>
          </a:xfrm>
          <a:prstGeom prst="roundRect">
            <a:avLst>
              <a:gd name="adj" fmla="val 1250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59500" y="2463800"/>
            <a:ext cx="406400" cy="406400"/>
          </a:xfrm>
          <a:prstGeom prst="rect">
            <a:avLst/>
          </a:prstGeom>
        </p:spPr>
      </p:pic>
      <p:sp>
        <p:nvSpPr>
          <p:cNvPr id="13" name="AutoShape 13"/>
          <p:cNvSpPr/>
          <p:nvPr/>
        </p:nvSpPr>
        <p:spPr>
          <a:xfrm>
            <a:off x="6667500" y="2286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02. 购买号码</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在控制台购买可用电话号码，作为发起通话的主叫号码。</a:t>
            </a:r>
          </a:p>
        </p:txBody>
      </p:sp>
      <p:sp>
        <p:nvSpPr>
          <p:cNvPr id="14" name="AutoShape 14"/>
          <p:cNvSpPr/>
          <p:nvPr/>
        </p:nvSpPr>
        <p:spPr>
          <a:xfrm>
            <a:off x="762000" y="3302000"/>
            <a:ext cx="4953000" cy="1016000"/>
          </a:xfrm>
          <a:prstGeom prst="roundRect">
            <a:avLst>
              <a:gd name="adj" fmla="val 1250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3606800"/>
            <a:ext cx="406400" cy="406400"/>
          </a:xfrm>
          <a:prstGeom prst="rect">
            <a:avLst/>
          </a:prstGeom>
        </p:spPr>
      </p:pic>
      <p:sp>
        <p:nvSpPr>
          <p:cNvPr id="16" name="AutoShape 16"/>
          <p:cNvSpPr/>
          <p:nvPr/>
        </p:nvSpPr>
        <p:spPr>
          <a:xfrm>
            <a:off x="1460500" y="3429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03. 集成API</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通过HTTP请求调用REST API或使用官方SDK，实现通信功能对接。</a:t>
            </a:r>
          </a:p>
        </p:txBody>
      </p:sp>
      <p:sp>
        <p:nvSpPr>
          <p:cNvPr id="17" name="AutoShape 17"/>
          <p:cNvSpPr/>
          <p:nvPr/>
        </p:nvSpPr>
        <p:spPr>
          <a:xfrm>
            <a:off x="5969000" y="3302000"/>
            <a:ext cx="4953000" cy="1016000"/>
          </a:xfrm>
          <a:prstGeom prst="roundRect">
            <a:avLst>
              <a:gd name="adj" fmla="val 1250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59500" y="3606800"/>
            <a:ext cx="406400" cy="406400"/>
          </a:xfrm>
          <a:prstGeom prst="rect">
            <a:avLst/>
          </a:prstGeom>
        </p:spPr>
      </p:pic>
      <p:sp>
        <p:nvSpPr>
          <p:cNvPr id="19" name="AutoShape 19"/>
          <p:cNvSpPr/>
          <p:nvPr/>
        </p:nvSpPr>
        <p:spPr>
          <a:xfrm>
            <a:off x="6667500" y="3429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04. 设计界面</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设计触发按钮及设置界面，支持用户自定义来电显示名称和内容。</a:t>
            </a:r>
          </a:p>
        </p:txBody>
      </p:sp>
      <p:sp>
        <p:nvSpPr>
          <p:cNvPr id="20" name="AutoShape 20"/>
          <p:cNvSpPr/>
          <p:nvPr/>
        </p:nvSpPr>
        <p:spPr>
          <a:xfrm>
            <a:off x="762000" y="4445000"/>
            <a:ext cx="4953000" cy="1016000"/>
          </a:xfrm>
          <a:prstGeom prst="roundRect">
            <a:avLst>
              <a:gd name="adj" fmla="val 1250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4749800"/>
            <a:ext cx="406400" cy="406400"/>
          </a:xfrm>
          <a:prstGeom prst="rect">
            <a:avLst/>
          </a:prstGeom>
        </p:spPr>
      </p:pic>
      <p:sp>
        <p:nvSpPr>
          <p:cNvPr id="22" name="AutoShape 22"/>
          <p:cNvSpPr/>
          <p:nvPr/>
        </p:nvSpPr>
        <p:spPr>
          <a:xfrm>
            <a:off x="1460500" y="4572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05. 发起通话</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点击按钮后，APP调用API向用户手机发起来电，显示预设名称。</a:t>
            </a:r>
          </a:p>
        </p:txBody>
      </p:sp>
      <p:sp>
        <p:nvSpPr>
          <p:cNvPr id="23" name="AutoShape 23"/>
          <p:cNvSpPr/>
          <p:nvPr/>
        </p:nvSpPr>
        <p:spPr>
          <a:xfrm>
            <a:off x="5969000" y="4445000"/>
            <a:ext cx="4953000" cy="1016000"/>
          </a:xfrm>
          <a:prstGeom prst="roundRect">
            <a:avLst>
              <a:gd name="adj" fmla="val 1250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159500" y="4749800"/>
            <a:ext cx="406400" cy="406400"/>
          </a:xfrm>
          <a:prstGeom prst="rect">
            <a:avLst/>
          </a:prstGeom>
        </p:spPr>
      </p:pic>
      <p:sp>
        <p:nvSpPr>
          <p:cNvPr id="25" name="AutoShape 25"/>
          <p:cNvSpPr/>
          <p:nvPr/>
        </p:nvSpPr>
        <p:spPr>
          <a:xfrm>
            <a:off x="6667500" y="4572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06. 处理通话</a:t>
            </a:r>
            <a:endParaRPr lang="en-US" sz="1100"/>
          </a:p>
          <a:p>
            <a:pPr indent="0" algn="l">
              <a:lnSpc>
                <a:spcPct val="125000"/>
              </a:lnSpc>
            </a:pPr>
            <a:r>
              <a:rPr lang="en-US" sz="1200" b="0" i="0" u="none" strike="noStrike">
                <a:solidFill>
                  <a:srgbClr val="DCDCDC"/>
                </a:solidFill>
                <a:latin typeface="Noto Sans SC"/>
                <a:ea typeface="Noto Sans SC"/>
                <a:cs typeface="Noto Sans SC"/>
                <a:sym typeface="Noto Sans SC"/>
              </a:rPr>
              <a:t>用户接听后，自动播放预设录音，实现“假装有人来电”效果。</a:t>
            </a:r>
          </a:p>
        </p:txBody>
      </p:sp>
      <p:sp>
        <p:nvSpPr>
          <p:cNvPr id="26" name="AutoShape 26"/>
          <p:cNvSpPr/>
          <p:nvPr/>
        </p:nvSpPr>
        <p:spPr>
          <a:xfrm>
            <a:off x="762000" y="5715000"/>
            <a:ext cx="10668000" cy="635000"/>
          </a:xfrm>
          <a:prstGeom prst="roundRect">
            <a:avLst>
              <a:gd name="adj" fmla="val 20000"/>
            </a:avLst>
          </a:prstGeom>
          <a:solidFill>
            <a:srgbClr val="FFB6C1">
              <a:alpha val="15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52500" y="5880100"/>
            <a:ext cx="304800" cy="304800"/>
          </a:xfrm>
          <a:prstGeom prst="rect">
            <a:avLst/>
          </a:prstGeom>
        </p:spPr>
      </p:pic>
      <p:sp>
        <p:nvSpPr>
          <p:cNvPr id="28" name="AutoShape 28"/>
          <p:cNvSpPr/>
          <p:nvPr/>
        </p:nvSpPr>
        <p:spPr>
          <a:xfrm>
            <a:off x="1397000" y="58420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思考：</a:t>
            </a:r>
            <a:r>
              <a:rPr lang="en-US" sz="1600" b="0" i="0" u="none" strike="noStrike">
                <a:solidFill>
                  <a:srgbClr val="E6E6FA"/>
                </a:solidFill>
                <a:latin typeface="Noto Sans SC"/>
                <a:ea typeface="Noto Sans SC"/>
                <a:cs typeface="Noto Sans SC"/>
                <a:sym typeface="Noto Sans SC"/>
              </a:rPr>
              <a:t>如何实现让用户自定义模拟来电中的通话内容？（提示：录音功能集成）</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6604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Sprint 2 行动部署</a:t>
            </a:r>
            <a:endParaRPr lang="en-US" sz="1100"/>
          </a:p>
        </p:txBody>
      </p:sp>
      <p:sp>
        <p:nvSpPr>
          <p:cNvPr id="5" name="AutoShape 5"/>
          <p:cNvSpPr/>
          <p:nvPr/>
        </p:nvSpPr>
        <p:spPr>
          <a:xfrm>
            <a:off x="762000" y="1524000"/>
            <a:ext cx="3302000" cy="3048000"/>
          </a:xfrm>
          <a:prstGeom prst="roundRect">
            <a:avLst>
              <a:gd name="adj" fmla="val 4166"/>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406400" cy="406400"/>
          </a:xfrm>
          <a:prstGeom prst="rect">
            <a:avLst/>
          </a:prstGeom>
        </p:spPr>
      </p:pic>
      <p:sp>
        <p:nvSpPr>
          <p:cNvPr id="7" name="AutoShape 7"/>
          <p:cNvSpPr/>
          <p:nvPr/>
        </p:nvSpPr>
        <p:spPr>
          <a:xfrm>
            <a:off x="1524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时间规划</a:t>
            </a:r>
            <a:endParaRPr lang="en-US" sz="1100"/>
          </a:p>
        </p:txBody>
      </p:sp>
      <p:sp>
        <p:nvSpPr>
          <p:cNvPr id="8" name="AutoShape 8"/>
          <p:cNvSpPr/>
          <p:nvPr/>
        </p:nvSpPr>
        <p:spPr>
          <a:xfrm>
            <a:off x="1016000" y="2286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FFFFFF"/>
                </a:solidFill>
                <a:latin typeface="Noto Sans SC"/>
                <a:ea typeface="Noto Sans SC"/>
                <a:cs typeface="Noto Sans SC"/>
                <a:sym typeface="Noto Sans SC"/>
              </a:rPr>
              <a:t>第1周：</a:t>
            </a:r>
            <a:r>
              <a:rPr lang="en-US" sz="1300" b="0" i="0" u="none" strike="noStrike">
                <a:solidFill>
                  <a:srgbClr val="FFFFFF">
                    <a:alpha val="80000"/>
                  </a:srgbClr>
                </a:solidFill>
                <a:latin typeface="Noto Sans SC"/>
                <a:ea typeface="Noto Sans SC"/>
                <a:cs typeface="Noto Sans SC"/>
                <a:sym typeface="Noto Sans SC"/>
              </a:rPr>
              <a:t>完成乘车模式的车牌录入和模拟来电功能开发。</a:t>
            </a:r>
            <a:endParaRPr lang="en-US" sz="1100"/>
          </a:p>
          <a:p>
            <a:pPr indent="0" algn="l">
              <a:lnSpc>
                <a:spcPct val="108333"/>
              </a:lnSpc>
            </a:pPr>
            <a:r>
              <a:rPr lang="en-US" sz="1400" b="1" i="0" u="none" strike="noStrike">
                <a:solidFill>
                  <a:srgbClr val="FFFFFF"/>
                </a:solidFill>
                <a:latin typeface="Noto Sans SC"/>
                <a:ea typeface="Noto Sans SC"/>
                <a:cs typeface="Noto Sans SC"/>
                <a:sym typeface="Noto Sans SC"/>
              </a:rPr>
              <a:t>第2周：</a:t>
            </a:r>
            <a:r>
              <a:rPr lang="en-US" sz="1300" b="0" i="0" u="none" strike="noStrike">
                <a:solidFill>
                  <a:srgbClr val="FFFFFF">
                    <a:alpha val="80000"/>
                  </a:srgbClr>
                </a:solidFill>
                <a:latin typeface="Noto Sans SC"/>
                <a:ea typeface="Noto Sans SC"/>
                <a:cs typeface="Noto Sans SC"/>
                <a:sym typeface="Noto Sans SC"/>
              </a:rPr>
              <a:t>完成一键SOS和AI关怀功能开发，进行整体测试优化。</a:t>
            </a:r>
          </a:p>
        </p:txBody>
      </p:sp>
      <p:sp>
        <p:nvSpPr>
          <p:cNvPr id="9" name="AutoShape 9"/>
          <p:cNvSpPr/>
          <p:nvPr/>
        </p:nvSpPr>
        <p:spPr>
          <a:xfrm>
            <a:off x="4445000" y="1524000"/>
            <a:ext cx="3302000" cy="3048000"/>
          </a:xfrm>
          <a:prstGeom prst="roundRect">
            <a:avLst>
              <a:gd name="adj" fmla="val 4166"/>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778000"/>
            <a:ext cx="406400" cy="406400"/>
          </a:xfrm>
          <a:prstGeom prst="rect">
            <a:avLst/>
          </a:prstGeom>
        </p:spPr>
      </p:pic>
      <p:sp>
        <p:nvSpPr>
          <p:cNvPr id="11" name="AutoShape 11"/>
          <p:cNvSpPr/>
          <p:nvPr/>
        </p:nvSpPr>
        <p:spPr>
          <a:xfrm>
            <a:off x="5207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B6C1"/>
                </a:solidFill>
                <a:latin typeface="Noto Sans SC"/>
                <a:ea typeface="Noto Sans SC"/>
                <a:cs typeface="Noto Sans SC"/>
                <a:sym typeface="Noto Sans SC"/>
              </a:rPr>
              <a:t>任务分配</a:t>
            </a:r>
            <a:endParaRPr lang="en-US" sz="1100"/>
          </a:p>
        </p:txBody>
      </p:sp>
      <p:sp>
        <p:nvSpPr>
          <p:cNvPr id="12" name="AutoShape 12"/>
          <p:cNvSpPr/>
          <p:nvPr/>
        </p:nvSpPr>
        <p:spPr>
          <a:xfrm>
            <a:off x="4699000" y="2286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FFFFFF">
                    <a:alpha val="90196"/>
                  </a:srgbClr>
                </a:solidFill>
                <a:latin typeface="Noto Sans SC"/>
                <a:ea typeface="Noto Sans SC"/>
                <a:cs typeface="Noto Sans SC"/>
                <a:sym typeface="Noto Sans SC"/>
              </a:rPr>
              <a:t>根据团队成员的兴趣和技能，将乘车模式和AI关怀的开发任务分配给不同的小组或个人，确保人尽其才。</a:t>
            </a:r>
            <a:endParaRPr lang="en-US" sz="1100"/>
          </a:p>
        </p:txBody>
      </p:sp>
      <p:sp>
        <p:nvSpPr>
          <p:cNvPr id="13" name="AutoShape 13"/>
          <p:cNvSpPr/>
          <p:nvPr/>
        </p:nvSpPr>
        <p:spPr>
          <a:xfrm>
            <a:off x="8128000" y="1524000"/>
            <a:ext cx="3302000" cy="3048000"/>
          </a:xfrm>
          <a:prstGeom prst="roundRect">
            <a:avLst>
              <a:gd name="adj" fmla="val 4166"/>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778000"/>
            <a:ext cx="406400" cy="406400"/>
          </a:xfrm>
          <a:prstGeom prst="rect">
            <a:avLst/>
          </a:prstGeom>
        </p:spPr>
      </p:pic>
      <p:sp>
        <p:nvSpPr>
          <p:cNvPr id="15" name="AutoShape 15"/>
          <p:cNvSpPr/>
          <p:nvPr/>
        </p:nvSpPr>
        <p:spPr>
          <a:xfrm>
            <a:off x="8890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E6E6FA"/>
                </a:solidFill>
                <a:latin typeface="Noto Sans SC"/>
                <a:ea typeface="Noto Sans SC"/>
                <a:cs typeface="Noto Sans SC"/>
                <a:sym typeface="Noto Sans SC"/>
              </a:rPr>
              <a:t>风险预案</a:t>
            </a:r>
            <a:endParaRPr lang="en-US" sz="1100"/>
          </a:p>
        </p:txBody>
      </p:sp>
      <p:sp>
        <p:nvSpPr>
          <p:cNvPr id="16" name="AutoShape 16"/>
          <p:cNvSpPr/>
          <p:nvPr/>
        </p:nvSpPr>
        <p:spPr>
          <a:xfrm>
            <a:off x="8382000" y="2286000"/>
            <a:ext cx="2794000" cy="190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FFFFFF"/>
                </a:solidFill>
                <a:latin typeface="Noto Sans SC"/>
                <a:ea typeface="Noto Sans SC"/>
                <a:cs typeface="Noto Sans SC"/>
                <a:sym typeface="Noto Sans SC"/>
              </a:rPr>
              <a:t>风险：</a:t>
            </a:r>
            <a:r>
              <a:rPr lang="en-US" sz="1300" b="0" i="0" u="none" strike="noStrike">
                <a:solidFill>
                  <a:srgbClr val="FFFFFF">
                    <a:alpha val="80000"/>
                  </a:srgbClr>
                </a:solidFill>
                <a:latin typeface="Noto Sans SC"/>
                <a:ea typeface="Noto Sans SC"/>
                <a:cs typeface="Noto Sans SC"/>
                <a:sym typeface="Noto Sans SC"/>
              </a:rPr>
              <a:t>AI对话交互难实现。</a:t>
            </a:r>
            <a:endParaRPr lang="en-US" sz="1100"/>
          </a:p>
          <a:p>
            <a:pPr indent="0" algn="l">
              <a:lnSpc>
                <a:spcPct val="108333"/>
              </a:lnSpc>
            </a:pPr>
            <a:r>
              <a:rPr lang="en-US" sz="1400" b="1" i="0" u="none" strike="noStrike">
                <a:solidFill>
                  <a:srgbClr val="FFFFFF"/>
                </a:solidFill>
                <a:latin typeface="Noto Sans SC"/>
                <a:ea typeface="Noto Sans SC"/>
                <a:cs typeface="Noto Sans SC"/>
                <a:sym typeface="Noto Sans SC"/>
              </a:rPr>
              <a:t>应对：</a:t>
            </a:r>
            <a:r>
              <a:rPr lang="en-US" sz="1300" b="0" i="0" u="none" strike="noStrike">
                <a:solidFill>
                  <a:srgbClr val="FFFFFF">
                    <a:alpha val="80000"/>
                  </a:srgbClr>
                </a:solidFill>
                <a:latin typeface="Noto Sans SC"/>
                <a:ea typeface="Noto Sans SC"/>
                <a:cs typeface="Noto Sans SC"/>
                <a:sym typeface="Noto Sans SC"/>
              </a:rPr>
              <a:t>先简后繁，先规则后优化。</a:t>
            </a:r>
          </a:p>
          <a:p>
            <a:pPr indent="0" algn="l">
              <a:lnSpc>
                <a:spcPct val="108333"/>
              </a:lnSpc>
            </a:pPr>
            <a:r>
              <a:rPr lang="en-US" sz="1400" b="1" i="0" u="none" strike="noStrike">
                <a:solidFill>
                  <a:srgbClr val="FFFFFF"/>
                </a:solidFill>
                <a:latin typeface="Noto Sans SC"/>
                <a:ea typeface="Noto Sans SC"/>
                <a:cs typeface="Noto Sans SC"/>
                <a:sym typeface="Noto Sans SC"/>
              </a:rPr>
              <a:t>风险：</a:t>
            </a:r>
            <a:r>
              <a:rPr lang="en-US" sz="1300" b="0" i="0" u="none" strike="noStrike">
                <a:solidFill>
                  <a:srgbClr val="FFFFFF">
                    <a:alpha val="80000"/>
                  </a:srgbClr>
                </a:solidFill>
                <a:latin typeface="Noto Sans SC"/>
                <a:ea typeface="Noto Sans SC"/>
                <a:cs typeface="Noto Sans SC"/>
                <a:sym typeface="Noto Sans SC"/>
              </a:rPr>
              <a:t>API成本超预算。</a:t>
            </a:r>
          </a:p>
          <a:p>
            <a:pPr indent="0" algn="l">
              <a:lnSpc>
                <a:spcPct val="108333"/>
              </a:lnSpc>
            </a:pPr>
            <a:r>
              <a:rPr lang="en-US" sz="1400" b="1" i="0" u="none" strike="noStrike">
                <a:solidFill>
                  <a:srgbClr val="FFFFFF"/>
                </a:solidFill>
                <a:latin typeface="Noto Sans SC"/>
                <a:ea typeface="Noto Sans SC"/>
                <a:cs typeface="Noto Sans SC"/>
                <a:sym typeface="Noto Sans SC"/>
              </a:rPr>
              <a:t>应对：</a:t>
            </a:r>
            <a:r>
              <a:rPr lang="en-US" sz="1300" b="0" i="0" u="none" strike="noStrike">
                <a:solidFill>
                  <a:srgbClr val="FFFFFF">
                    <a:alpha val="80000"/>
                  </a:srgbClr>
                </a:solidFill>
                <a:latin typeface="Noto Sans SC"/>
                <a:ea typeface="Noto Sans SC"/>
                <a:cs typeface="Noto Sans SC"/>
                <a:sym typeface="Noto Sans SC"/>
              </a:rPr>
              <a:t>利用免费额度或寻找替代方案。</a:t>
            </a:r>
          </a:p>
        </p:txBody>
      </p:sp>
      <p:sp>
        <p:nvSpPr>
          <p:cNvPr id="17" name="AutoShape 17"/>
          <p:cNvSpPr/>
          <p:nvPr/>
        </p:nvSpPr>
        <p:spPr>
          <a:xfrm>
            <a:off x="762000" y="4953000"/>
            <a:ext cx="10668000" cy="1016000"/>
          </a:xfrm>
          <a:prstGeom prst="roundRect">
            <a:avLst>
              <a:gd name="adj" fmla="val 12500"/>
            </a:avLst>
          </a:prstGeom>
          <a:solidFill>
            <a:srgbClr val="00BFFF">
              <a:alpha val="10000"/>
            </a:srgbClr>
          </a:solidFill>
          <a:ln w="12700" cap="flat" cmpd="sng">
            <a:solidFill>
              <a:srgbClr val="00BFFF">
                <a:alpha val="50000"/>
              </a:srgbClr>
            </a:solidFill>
            <a:prstDash val="dash"/>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283200"/>
            <a:ext cx="355600" cy="355600"/>
          </a:xfrm>
          <a:prstGeom prst="rect">
            <a:avLst/>
          </a:prstGeom>
        </p:spPr>
      </p:pic>
      <p:sp>
        <p:nvSpPr>
          <p:cNvPr id="19" name="AutoShape 19"/>
          <p:cNvSpPr/>
          <p:nvPr/>
        </p:nvSpPr>
        <p:spPr>
          <a:xfrm>
            <a:off x="1524000" y="51435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400" b="0" i="0" u="none" strike="noStrike">
                <a:solidFill>
                  <a:srgbClr val="FFFFFF">
                    <a:alpha val="90196"/>
                  </a:srgbClr>
                </a:solidFill>
                <a:latin typeface="Noto Sans SC"/>
                <a:ea typeface="Noto Sans SC"/>
                <a:cs typeface="Noto Sans SC"/>
                <a:sym typeface="Noto Sans SC"/>
              </a:rPr>
              <a:t>请各团队根据自身情况，制定一份详细的Sprint 2执行计划，明确任务分配和时间节点，确保开发工作有序推进。</a:t>
            </a:r>
            <a:endParaRPr lang="en-US" sz="11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4064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课程总结与展望</a:t>
            </a:r>
            <a:endParaRPr lang="en-US" sz="1100"/>
          </a:p>
        </p:txBody>
      </p:sp>
      <p:sp>
        <p:nvSpPr>
          <p:cNvPr id="5" name="AutoShape 5"/>
          <p:cNvSpPr/>
          <p:nvPr/>
        </p:nvSpPr>
        <p:spPr>
          <a:xfrm>
            <a:off x="762000" y="1397000"/>
            <a:ext cx="5080000" cy="2540000"/>
          </a:xfrm>
          <a:prstGeom prst="roundRect">
            <a:avLst>
              <a:gd name="adj" fmla="val 5000"/>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304800" cy="304800"/>
          </a:xfrm>
          <a:prstGeom prst="rect">
            <a:avLst/>
          </a:prstGeom>
        </p:spPr>
      </p:pic>
      <p:sp>
        <p:nvSpPr>
          <p:cNvPr id="7" name="AutoShape 7"/>
          <p:cNvSpPr/>
          <p:nvPr/>
        </p:nvSpPr>
        <p:spPr>
          <a:xfrm>
            <a:off x="1397000" y="1549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本次课程收获</a:t>
            </a:r>
            <a:endParaRPr lang="en-US" sz="1100"/>
          </a:p>
        </p:txBody>
      </p:sp>
      <p:sp>
        <p:nvSpPr>
          <p:cNvPr id="8" name="AutoShape 8"/>
          <p:cNvSpPr/>
          <p:nvPr/>
        </p:nvSpPr>
        <p:spPr>
          <a:xfrm>
            <a:off x="1016000" y="2032000"/>
            <a:ext cx="4572000" cy="1651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E5E7EB"/>
              </a:buClr>
              <a:buChar char="•"/>
              <a:defRPr/>
            </a:pPr>
            <a:r>
              <a:rPr lang="en-US" sz="1400" b="0" i="0" u="none" strike="noStrike">
                <a:solidFill>
                  <a:srgbClr val="E5E7EB"/>
                </a:solidFill>
                <a:latin typeface="Noto Sans SC"/>
                <a:ea typeface="Noto Sans SC"/>
                <a:cs typeface="Noto Sans SC"/>
                <a:sym typeface="Noto Sans SC"/>
              </a:rPr>
              <a:t>掌握敏捷开发中 Sprint 评审与回顾的关键流程</a:t>
            </a:r>
            <a:endParaRPr lang="en-US" sz="1100"/>
          </a:p>
          <a:p>
            <a:pPr marL="177800" indent="-177800" algn="l">
              <a:lnSpc>
                <a:spcPct val="108333"/>
              </a:lnSpc>
              <a:buClr>
                <a:srgbClr val="E5E7EB"/>
              </a:buClr>
              <a:buChar char="•"/>
            </a:pPr>
            <a:r>
              <a:rPr lang="en-US" sz="1400" b="0" i="0" u="none" strike="noStrike">
                <a:solidFill>
                  <a:srgbClr val="E5E7EB"/>
                </a:solidFill>
                <a:latin typeface="Noto Sans SC"/>
                <a:ea typeface="Noto Sans SC"/>
                <a:cs typeface="Noto Sans SC"/>
                <a:sym typeface="Noto Sans SC"/>
              </a:rPr>
              <a:t>明确 Sprint 2 核心目标：乘车模式与 AI 关怀功能开发</a:t>
            </a:r>
          </a:p>
          <a:p>
            <a:pPr marL="177800" indent="-177800" algn="l">
              <a:lnSpc>
                <a:spcPct val="108333"/>
              </a:lnSpc>
              <a:buClr>
                <a:srgbClr val="E5E7EB"/>
              </a:buClr>
              <a:buChar char="•"/>
            </a:pPr>
            <a:r>
              <a:rPr lang="en-US" sz="1400" b="0" i="0" u="none" strike="noStrike">
                <a:solidFill>
                  <a:srgbClr val="E5E7EB"/>
                </a:solidFill>
                <a:latin typeface="Noto Sans SC"/>
                <a:ea typeface="Noto Sans SC"/>
                <a:cs typeface="Noto Sans SC"/>
                <a:sym typeface="Noto Sans SC"/>
              </a:rPr>
              <a:t>攻克模拟来电等关键功能的技术实现难点</a:t>
            </a:r>
          </a:p>
          <a:p>
            <a:pPr marL="177800" indent="-177800" algn="l">
              <a:lnSpc>
                <a:spcPct val="108333"/>
              </a:lnSpc>
              <a:buClr>
                <a:srgbClr val="E5E7EB"/>
              </a:buClr>
              <a:buChar char="•"/>
            </a:pPr>
            <a:r>
              <a:rPr lang="en-US" sz="1400" b="0" i="0" u="none" strike="noStrike">
                <a:solidFill>
                  <a:srgbClr val="E5E7EB"/>
                </a:solidFill>
                <a:latin typeface="Noto Sans SC"/>
                <a:ea typeface="Noto Sans SC"/>
                <a:cs typeface="Noto Sans SC"/>
                <a:sym typeface="Noto Sans SC"/>
              </a:rPr>
              <a:t>制定详细开发计划与风险应对策略</a:t>
            </a:r>
          </a:p>
        </p:txBody>
      </p:sp>
      <p:sp>
        <p:nvSpPr>
          <p:cNvPr id="9" name="AutoShape 9"/>
          <p:cNvSpPr/>
          <p:nvPr/>
        </p:nvSpPr>
        <p:spPr>
          <a:xfrm>
            <a:off x="6350000" y="1397000"/>
            <a:ext cx="5080000" cy="2540000"/>
          </a:xfrm>
          <a:prstGeom prst="roundRect">
            <a:avLst>
              <a:gd name="adj" fmla="val 5000"/>
            </a:avLst>
          </a:prstGeom>
          <a:solidFill>
            <a:srgbClr val="FFFFFF">
              <a:alpha val="5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1587500"/>
            <a:ext cx="304800" cy="304800"/>
          </a:xfrm>
          <a:prstGeom prst="rect">
            <a:avLst/>
          </a:prstGeom>
        </p:spPr>
      </p:pic>
      <p:sp>
        <p:nvSpPr>
          <p:cNvPr id="11" name="AutoShape 11"/>
          <p:cNvSpPr/>
          <p:nvPr/>
        </p:nvSpPr>
        <p:spPr>
          <a:xfrm>
            <a:off x="6985000" y="1549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B6C1"/>
                </a:solidFill>
                <a:latin typeface="Noto Sans SC"/>
                <a:ea typeface="Noto Sans SC"/>
                <a:cs typeface="Noto Sans SC"/>
                <a:sym typeface="Noto Sans SC"/>
              </a:rPr>
              <a:t>后续学习与开发方向</a:t>
            </a:r>
            <a:endParaRPr lang="en-US" sz="1100"/>
          </a:p>
        </p:txBody>
      </p:sp>
      <p:sp>
        <p:nvSpPr>
          <p:cNvPr id="12" name="AutoShape 12"/>
          <p:cNvSpPr/>
          <p:nvPr/>
        </p:nvSpPr>
        <p:spPr>
          <a:xfrm>
            <a:off x="6604000" y="2032000"/>
            <a:ext cx="4572000" cy="1651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E5E7EB"/>
              </a:buClr>
              <a:buChar char="•"/>
              <a:defRPr/>
            </a:pPr>
            <a:r>
              <a:rPr lang="en-US" sz="1400" b="0" i="0" u="none" strike="noStrike">
                <a:solidFill>
                  <a:srgbClr val="E5E7EB"/>
                </a:solidFill>
                <a:latin typeface="Noto Sans SC"/>
                <a:ea typeface="Noto Sans SC"/>
                <a:cs typeface="Noto Sans SC"/>
                <a:sym typeface="Noto Sans SC"/>
              </a:rPr>
              <a:t>深入探索 AI 大模型应用，提升交互体验</a:t>
            </a:r>
            <a:endParaRPr lang="en-US" sz="1100"/>
          </a:p>
          <a:p>
            <a:pPr marL="177800" indent="-177800" algn="l">
              <a:lnSpc>
                <a:spcPct val="108333"/>
              </a:lnSpc>
              <a:buClr>
                <a:srgbClr val="E5E7EB"/>
              </a:buClr>
              <a:buChar char="•"/>
            </a:pPr>
            <a:r>
              <a:rPr lang="en-US" sz="1400" b="0" i="0" u="none" strike="noStrike">
                <a:solidFill>
                  <a:srgbClr val="E5E7EB"/>
                </a:solidFill>
                <a:latin typeface="Noto Sans SC"/>
                <a:ea typeface="Noto Sans SC"/>
                <a:cs typeface="Noto Sans SC"/>
                <a:sym typeface="Noto Sans SC"/>
              </a:rPr>
              <a:t>持续用户测试，基于反馈优化功能与界面</a:t>
            </a:r>
          </a:p>
          <a:p>
            <a:pPr marL="177800" indent="-177800" algn="l">
              <a:lnSpc>
                <a:spcPct val="108333"/>
              </a:lnSpc>
              <a:buClr>
                <a:srgbClr val="E5E7EB"/>
              </a:buClr>
              <a:buChar char="•"/>
            </a:pPr>
            <a:r>
              <a:rPr lang="en-US" sz="1400" b="0" i="0" u="none" strike="noStrike">
                <a:solidFill>
                  <a:srgbClr val="E5E7EB"/>
                </a:solidFill>
                <a:latin typeface="Noto Sans SC"/>
                <a:ea typeface="Noto Sans SC"/>
                <a:cs typeface="Noto Sans SC"/>
                <a:sym typeface="Noto Sans SC"/>
              </a:rPr>
              <a:t>筹备最终展示材料（演示视频、PPT），迎接评审</a:t>
            </a:r>
          </a:p>
        </p:txBody>
      </p:sp>
      <p:sp>
        <p:nvSpPr>
          <p:cNvPr id="13" name="AutoShape 13"/>
          <p:cNvSpPr/>
          <p:nvPr/>
        </p:nvSpPr>
        <p:spPr>
          <a:xfrm>
            <a:off x="762000" y="4191000"/>
            <a:ext cx="10668000" cy="1016000"/>
          </a:xfrm>
          <a:prstGeom prst="roundRect">
            <a:avLst>
              <a:gd name="adj" fmla="val 12500"/>
            </a:avLst>
          </a:prstGeom>
          <a:solidFill>
            <a:srgbClr val="E6E6FA">
              <a:alpha val="10000"/>
            </a:srgbClr>
          </a:solidFill>
          <a:ln w="12700" cap="flat" cmpd="sng">
            <a:solidFill>
              <a:srgbClr val="E6E6FA">
                <a:alpha val="4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495800"/>
            <a:ext cx="406400" cy="406400"/>
          </a:xfrm>
          <a:prstGeom prst="rect">
            <a:avLst/>
          </a:prstGeom>
        </p:spPr>
      </p:pic>
      <p:sp>
        <p:nvSpPr>
          <p:cNvPr id="15" name="AutoShape 15"/>
          <p:cNvSpPr/>
          <p:nvPr/>
        </p:nvSpPr>
        <p:spPr>
          <a:xfrm>
            <a:off x="1524000" y="4318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E6FA"/>
                </a:solidFill>
                <a:latin typeface="Noto Sans SC"/>
                <a:ea typeface="Noto Sans SC"/>
                <a:cs typeface="Noto Sans SC"/>
                <a:sym typeface="Noto Sans SC"/>
              </a:rPr>
              <a:t>行动指令：</a:t>
            </a:r>
            <a:r>
              <a:rPr lang="en-US" sz="1600" b="0" i="0" u="none" strike="noStrike">
                <a:solidFill>
                  <a:srgbClr val="E5E7EB"/>
                </a:solidFill>
                <a:latin typeface="Noto Sans SC"/>
                <a:ea typeface="Noto Sans SC"/>
                <a:cs typeface="Noto Sans SC"/>
                <a:sym typeface="Noto Sans SC"/>
              </a:rPr>
              <a:t>请结合本次课程内容，写下你对 Sprint 2 开发的期待以及个人的详细学习计划。</a:t>
            </a:r>
            <a:endParaRPr lang="en-US" sz="1100"/>
          </a:p>
        </p:txBody>
      </p:sp>
      <p:sp>
        <p:nvSpPr>
          <p:cNvPr id="16" name="AutoShape 16"/>
          <p:cNvSpPr/>
          <p:nvPr/>
        </p:nvSpPr>
        <p:spPr>
          <a:xfrm>
            <a:off x="762000" y="5461000"/>
            <a:ext cx="10668000" cy="25400"/>
          </a:xfrm>
          <a:prstGeom prst="roundRect">
            <a:avLst>
              <a:gd name="adj" fmla="val 0"/>
            </a:avLst>
          </a:prstGeom>
          <a:gradFill rotWithShape="1">
            <a:gsLst>
              <a:gs pos="0">
                <a:srgbClr val="00BFFF">
                  <a:alpha val="100000"/>
                </a:srgbClr>
              </a:gs>
              <a:gs pos="100000">
                <a:srgbClr val="FFB6C1">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9600" y="1651000"/>
            <a:ext cx="812800" cy="812800"/>
          </a:xfrm>
          <a:prstGeom prst="rect">
            <a:avLst/>
          </a:prstGeom>
          <a:effectLst>
            <a:outerShdw blurRad="127000" dir="2700000" algn="tl" rotWithShape="0">
              <a:srgbClr val="00BFFF">
                <a:alpha val="50000"/>
              </a:srgbClr>
            </a:outerShdw>
          </a:effectLst>
        </p:spPr>
      </p:pic>
      <p:sp>
        <p:nvSpPr>
          <p:cNvPr id="5" name="AutoShape 5"/>
          <p:cNvSpPr/>
          <p:nvPr/>
        </p:nvSpPr>
        <p:spPr>
          <a:xfrm>
            <a:off x="4191000" y="2540000"/>
            <a:ext cx="381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FFFFFF"/>
                </a:solidFill>
                <a:latin typeface="Poppins"/>
                <a:ea typeface="Poppins"/>
                <a:cs typeface="Poppins"/>
                <a:sym typeface="Poppins"/>
              </a:rPr>
              <a:t>Q&amp;A</a:t>
            </a:r>
            <a:endParaRPr lang="en-US" sz="1100"/>
          </a:p>
        </p:txBody>
      </p:sp>
      <p:sp>
        <p:nvSpPr>
          <p:cNvPr id="6" name="AutoShape 6"/>
          <p:cNvSpPr/>
          <p:nvPr/>
        </p:nvSpPr>
        <p:spPr>
          <a:xfrm>
            <a:off x="2286000" y="3429000"/>
            <a:ext cx="762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0" i="0" u="none" strike="noStrike">
                <a:solidFill>
                  <a:srgbClr val="E6E6FA"/>
                </a:solidFill>
                <a:latin typeface="Noto Sans SC"/>
                <a:ea typeface="Noto Sans SC"/>
                <a:cs typeface="Noto Sans SC"/>
                <a:sym typeface="Noto Sans SC"/>
              </a:rPr>
              <a:t>有问题吗？</a:t>
            </a:r>
            <a:endParaRPr lang="en-US" sz="1100"/>
          </a:p>
        </p:txBody>
      </p:sp>
      <p:sp>
        <p:nvSpPr>
          <p:cNvPr id="7" name="AutoShape 7"/>
          <p:cNvSpPr/>
          <p:nvPr/>
        </p:nvSpPr>
        <p:spPr>
          <a:xfrm>
            <a:off x="1016000" y="5715000"/>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400" b="0" i="0" u="none" strike="noStrike">
                <a:solidFill>
                  <a:srgbClr val="FFFFFF">
                    <a:alpha val="60000"/>
                  </a:srgbClr>
                </a:solidFill>
                <a:latin typeface="Noto Sans SC"/>
                <a:ea typeface="Noto Sans SC"/>
                <a:cs typeface="Noto Sans SC"/>
                <a:sym typeface="Noto Sans SC"/>
              </a:rPr>
              <a:t>欢迎提出疑问或分享项目经验，我们一起探讨解决方案</a:t>
            </a:r>
            <a:endParaRPr lang="en-US" sz="1100"/>
          </a:p>
        </p:txBody>
      </p:sp>
      <p:cxnSp>
        <p:nvCxnSpPr>
          <p:cNvPr id="8" name="Connector 8"/>
          <p:cNvCxnSpPr/>
          <p:nvPr/>
        </p:nvCxnSpPr>
        <p:spPr>
          <a:xfrm rot="-34376">
            <a:off x="5461032" y="4057650"/>
            <a:ext cx="1270000" cy="12700"/>
          </a:xfrm>
          <a:prstGeom prst="line">
            <a:avLst/>
          </a:prstGeom>
          <a:solidFill>
            <a:srgbClr val="DEE0E3">
              <a:alpha val="100000"/>
            </a:srgbClr>
          </a:solidFill>
          <a:ln w="25400" cap="flat" cmpd="sng">
            <a:solidFill>
              <a:srgbClr val="FFB6C1">
                <a:alpha val="100000"/>
              </a:srgbClr>
            </a:solidFill>
            <a:prstDash val="solid"/>
            <a:round/>
            <a:headEnd type="none" w="lg" len="lg"/>
            <a:tailEnd type="none" w="lg" len="lg"/>
          </a:ln>
        </p:spPr>
      </p:cxn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3814</Words>
  <Application>Microsoft Office PowerPoint</Application>
  <PresentationFormat>宽屏</PresentationFormat>
  <Paragraphs>685</Paragraphs>
  <Slides>39</Slides>
  <Notes>39</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39</vt:i4>
      </vt:variant>
    </vt:vector>
  </HeadingPairs>
  <TitlesOfParts>
    <vt:vector size="45" baseType="lpstr">
      <vt:lpstr>Noto Sans SC</vt:lpstr>
      <vt:lpstr>Arial</vt:lpstr>
      <vt:lpstr>Consolas</vt:lpstr>
      <vt:lpstr>Poppins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PENG GG</cp:lastModifiedBy>
  <cp:revision>1</cp:revision>
  <dcterms:modified xsi:type="dcterms:W3CDTF">2026-03-17T19:38:01Z</dcterms:modified>
</cp:coreProperties>
</file>