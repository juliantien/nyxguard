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notesSlide+xml" PartName="/ppt/notesSlides/notesSlide25.xml"/>
  <Override ContentType="application/vnd.openxmlformats-officedocument.presentationml.notesSlide+xml" PartName="/ppt/notesSlides/notesSlide26.xml"/>
  <Override ContentType="application/vnd.openxmlformats-officedocument.presentationml.notesSlide+xml" PartName="/ppt/notesSlides/notesSlide27.xml"/>
  <Override ContentType="application/vnd.openxmlformats-officedocument.presentationml.notesSlide+xml" PartName="/ppt/notesSlides/notesSlide28.xml"/>
  <Override ContentType="application/vnd.openxmlformats-officedocument.presentationml.notesSlide+xml" PartName="/ppt/notesSlides/notesSlide29.xml"/>
  <Override ContentType="application/vnd.openxmlformats-officedocument.presentationml.notesSlide+xml" PartName="/ppt/notesSlides/notesSlide30.xml"/>
  <Override ContentType="application/vnd.openxmlformats-officedocument.presentationml.notesSlide+xml" PartName="/ppt/notesSlides/notesSlide31.xml"/>
  <Override ContentType="application/vnd.openxmlformats-officedocument.presentationml.notesSlide+xml" PartName="/ppt/notesSlides/notesSlide32.xml"/>
  <Override ContentType="application/vnd.openxmlformats-officedocument.presentationml.notesSlide+xml" PartName="/ppt/notesSlides/notesSlide33.xml"/>
  <Override ContentType="application/vnd.openxmlformats-officedocument.presentationml.notesSlide+xml" PartName="/ppt/notesSlides/notesSlide34.xml"/>
  <Override ContentType="application/vnd.openxmlformats-officedocument.presentationml.notesSlide+xml" PartName="/ppt/notesSlides/notesSlide35.xml"/>
  <Override ContentType="application/vnd.openxmlformats-officedocument.presentationml.notesSlide+xml" PartName="/ppt/notesSlides/notesSlide36.xml"/>
  <Override ContentType="application/vnd.openxmlformats-officedocument.presentationml.notesSlide+xml" PartName="/ppt/notesSlides/notesSlide37.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Lst>
  <p:sldSz cx="12192000" cy="685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slides/slide8.xml" Type="http://schemas.openxmlformats.org/officeDocument/2006/relationships/slide"/><Relationship Id="rId17" Target="slides/slide9.xml" Type="http://schemas.openxmlformats.org/officeDocument/2006/relationships/slide"/><Relationship Id="rId18" Target="slides/slide10.xml" Type="http://schemas.openxmlformats.org/officeDocument/2006/relationships/slide"/><Relationship Id="rId19" Target="slides/slide11.xml" Type="http://schemas.openxmlformats.org/officeDocument/2006/relationships/slide"/><Relationship Id="rId2" Target="viewProps.xml" Type="http://schemas.openxmlformats.org/officeDocument/2006/relationships/viewProps"/><Relationship Id="rId20" Target="slides/slide12.xml" Type="http://schemas.openxmlformats.org/officeDocument/2006/relationships/slide"/><Relationship Id="rId21" Target="slides/slide13.xml" Type="http://schemas.openxmlformats.org/officeDocument/2006/relationships/slide"/><Relationship Id="rId22" Target="slides/slide14.xml" Type="http://schemas.openxmlformats.org/officeDocument/2006/relationships/slide"/><Relationship Id="rId23" Target="slides/slide15.xml" Type="http://schemas.openxmlformats.org/officeDocument/2006/relationships/slide"/><Relationship Id="rId24" Target="slides/slide16.xml" Type="http://schemas.openxmlformats.org/officeDocument/2006/relationships/slide"/><Relationship Id="rId25" Target="slides/slide17.xml" Type="http://schemas.openxmlformats.org/officeDocument/2006/relationships/slide"/><Relationship Id="rId26" Target="slides/slide18.xml" Type="http://schemas.openxmlformats.org/officeDocument/2006/relationships/slide"/><Relationship Id="rId27" Target="slides/slide19.xml" Type="http://schemas.openxmlformats.org/officeDocument/2006/relationships/slide"/><Relationship Id="rId28" Target="slides/slide20.xml" Type="http://schemas.openxmlformats.org/officeDocument/2006/relationships/slide"/><Relationship Id="rId29" Target="slides/slide21.xml" Type="http://schemas.openxmlformats.org/officeDocument/2006/relationships/slide"/><Relationship Id="rId3" Target="presProps.xml" Type="http://schemas.openxmlformats.org/officeDocument/2006/relationships/presProps"/><Relationship Id="rId30" Target="slides/slide22.xml" Type="http://schemas.openxmlformats.org/officeDocument/2006/relationships/slide"/><Relationship Id="rId31" Target="slides/slide23.xml" Type="http://schemas.openxmlformats.org/officeDocument/2006/relationships/slide"/><Relationship Id="rId32" Target="slides/slide24.xml" Type="http://schemas.openxmlformats.org/officeDocument/2006/relationships/slide"/><Relationship Id="rId33" Target="slides/slide25.xml" Type="http://schemas.openxmlformats.org/officeDocument/2006/relationships/slide"/><Relationship Id="rId34" Target="slides/slide26.xml" Type="http://schemas.openxmlformats.org/officeDocument/2006/relationships/slide"/><Relationship Id="rId35" Target="slides/slide27.xml" Type="http://schemas.openxmlformats.org/officeDocument/2006/relationships/slide"/><Relationship Id="rId36" Target="slides/slide28.xml" Type="http://schemas.openxmlformats.org/officeDocument/2006/relationships/slide"/><Relationship Id="rId37" Target="slides/slide29.xml" Type="http://schemas.openxmlformats.org/officeDocument/2006/relationships/slide"/><Relationship Id="rId38" Target="slides/slide30.xml" Type="http://schemas.openxmlformats.org/officeDocument/2006/relationships/slide"/><Relationship Id="rId39" Target="slides/slide31.xml" Type="http://schemas.openxmlformats.org/officeDocument/2006/relationships/slide"/><Relationship Id="rId4" Target="slideMasters/slideMaster1.xml" Type="http://schemas.openxmlformats.org/officeDocument/2006/relationships/slideMaster"/><Relationship Id="rId40" Target="slides/slide32.xml" Type="http://schemas.openxmlformats.org/officeDocument/2006/relationships/slide"/><Relationship Id="rId41" Target="slides/slide33.xml" Type="http://schemas.openxmlformats.org/officeDocument/2006/relationships/slide"/><Relationship Id="rId42" Target="slides/slide34.xml" Type="http://schemas.openxmlformats.org/officeDocument/2006/relationships/slide"/><Relationship Id="rId43" Target="slides/slide35.xml" Type="http://schemas.openxmlformats.org/officeDocument/2006/relationships/slide"/><Relationship Id="rId44" Target="slides/slide36.xml" Type="http://schemas.openxmlformats.org/officeDocument/2006/relationships/slide"/><Relationship Id="rId45" Target="slides/slide37.xml" Type="http://schemas.openxmlformats.org/officeDocument/2006/relationships/slide"/><Relationship Id="rId46" Target="notesSlides/notesSlide1.xml" Type="http://schemas.openxmlformats.org/officeDocument/2006/relationships/notesSlide"/><Relationship Id="rId47" Target="notesSlides/notesSlide2.xml" Type="http://schemas.openxmlformats.org/officeDocument/2006/relationships/notesSlide"/><Relationship Id="rId48" Target="notesSlides/notesSlide3.xml" Type="http://schemas.openxmlformats.org/officeDocument/2006/relationships/notesSlide"/><Relationship Id="rId49" Target="notesSlides/notesSlide4.xml" Type="http://schemas.openxmlformats.org/officeDocument/2006/relationships/notesSlide"/><Relationship Id="rId50" Target="notesSlides/notesSlide5.xml" Type="http://schemas.openxmlformats.org/officeDocument/2006/relationships/notesSlide"/><Relationship Id="rId51" Target="notesSlides/notesSlide6.xml" Type="http://schemas.openxmlformats.org/officeDocument/2006/relationships/notesSlide"/><Relationship Id="rId52" Target="notesSlides/notesSlide7.xml" Type="http://schemas.openxmlformats.org/officeDocument/2006/relationships/notesSlide"/><Relationship Id="rId53" Target="notesSlides/notesSlide8.xml" Type="http://schemas.openxmlformats.org/officeDocument/2006/relationships/notesSlide"/><Relationship Id="rId54" Target="notesSlides/notesSlide9.xml" Type="http://schemas.openxmlformats.org/officeDocument/2006/relationships/notesSlide"/><Relationship Id="rId55" Target="notesSlides/notesSlide10.xml" Type="http://schemas.openxmlformats.org/officeDocument/2006/relationships/notesSlide"/><Relationship Id="rId56" Target="notesSlides/notesSlide11.xml" Type="http://schemas.openxmlformats.org/officeDocument/2006/relationships/notesSlide"/><Relationship Id="rId57" Target="notesSlides/notesSlide12.xml" Type="http://schemas.openxmlformats.org/officeDocument/2006/relationships/notesSlide"/><Relationship Id="rId58" Target="notesSlides/notesSlide13.xml" Type="http://schemas.openxmlformats.org/officeDocument/2006/relationships/notesSlide"/><Relationship Id="rId59" Target="notesSlides/notesSlide14.xml" Type="http://schemas.openxmlformats.org/officeDocument/2006/relationships/notesSlide"/><Relationship Id="rId6" Target="notesMasters/notesMaster1.xml" Type="http://schemas.openxmlformats.org/officeDocument/2006/relationships/notesMaster"/><Relationship Id="rId60" Target="notesSlides/notesSlide15.xml" Type="http://schemas.openxmlformats.org/officeDocument/2006/relationships/notesSlide"/><Relationship Id="rId61" Target="notesSlides/notesSlide16.xml" Type="http://schemas.openxmlformats.org/officeDocument/2006/relationships/notesSlide"/><Relationship Id="rId62" Target="notesSlides/notesSlide17.xml" Type="http://schemas.openxmlformats.org/officeDocument/2006/relationships/notesSlide"/><Relationship Id="rId63" Target="notesSlides/notesSlide18.xml" Type="http://schemas.openxmlformats.org/officeDocument/2006/relationships/notesSlide"/><Relationship Id="rId64" Target="notesSlides/notesSlide19.xml" Type="http://schemas.openxmlformats.org/officeDocument/2006/relationships/notesSlide"/><Relationship Id="rId65" Target="notesSlides/notesSlide20.xml" Type="http://schemas.openxmlformats.org/officeDocument/2006/relationships/notesSlide"/><Relationship Id="rId66" Target="notesSlides/notesSlide21.xml" Type="http://schemas.openxmlformats.org/officeDocument/2006/relationships/notesSlide"/><Relationship Id="rId67" Target="notesSlides/notesSlide22.xml" Type="http://schemas.openxmlformats.org/officeDocument/2006/relationships/notesSlide"/><Relationship Id="rId68" Target="notesSlides/notesSlide23.xml" Type="http://schemas.openxmlformats.org/officeDocument/2006/relationships/notesSlide"/><Relationship Id="rId69" Target="notesSlides/notesSlide24.xml" Type="http://schemas.openxmlformats.org/officeDocument/2006/relationships/notesSlide"/><Relationship Id="rId7" Target="theme/theme2.xml" Type="http://schemas.openxmlformats.org/officeDocument/2006/relationships/theme"/><Relationship Id="rId70" Target="notesSlides/notesSlide25.xml" Type="http://schemas.openxmlformats.org/officeDocument/2006/relationships/notesSlide"/><Relationship Id="rId71" Target="notesSlides/notesSlide26.xml" Type="http://schemas.openxmlformats.org/officeDocument/2006/relationships/notesSlide"/><Relationship Id="rId72" Target="notesSlides/notesSlide27.xml" Type="http://schemas.openxmlformats.org/officeDocument/2006/relationships/notesSlide"/><Relationship Id="rId73" Target="notesSlides/notesSlide28.xml" Type="http://schemas.openxmlformats.org/officeDocument/2006/relationships/notesSlide"/><Relationship Id="rId74" Target="notesSlides/notesSlide29.xml" Type="http://schemas.openxmlformats.org/officeDocument/2006/relationships/notesSlide"/><Relationship Id="rId75" Target="notesSlides/notesSlide30.xml" Type="http://schemas.openxmlformats.org/officeDocument/2006/relationships/notesSlide"/><Relationship Id="rId76" Target="notesSlides/notesSlide31.xml" Type="http://schemas.openxmlformats.org/officeDocument/2006/relationships/notesSlide"/><Relationship Id="rId77" Target="notesSlides/notesSlide32.xml" Type="http://schemas.openxmlformats.org/officeDocument/2006/relationships/notesSlide"/><Relationship Id="rId78" Target="notesSlides/notesSlide33.xml" Type="http://schemas.openxmlformats.org/officeDocument/2006/relationships/notesSlide"/><Relationship Id="rId79" Target="notesSlides/notesSlide34.xml" Type="http://schemas.openxmlformats.org/officeDocument/2006/relationships/notesSlide"/><Relationship Id="rId8" Target="slideMasters/slideMaster2.xml" Type="http://schemas.openxmlformats.org/officeDocument/2006/relationships/slideMaster"/><Relationship Id="rId80" Target="notesSlides/notesSlide35.xml" Type="http://schemas.openxmlformats.org/officeDocument/2006/relationships/notesSlide"/><Relationship Id="rId81" Target="notesSlides/notesSlide36.xml" Type="http://schemas.openxmlformats.org/officeDocument/2006/relationships/notesSlide"/><Relationship Id="rId82" Target="notesSlides/notesSlide37.xml" Type="http://schemas.openxmlformats.org/officeDocument/2006/relationships/notesSlide"/><Relationship Id="rId9" Target="slides/slide1.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2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_rels/notesSlide2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6.xml" Type="http://schemas.openxmlformats.org/officeDocument/2006/relationships/slide"/></Relationships>
</file>

<file path=ppt/notesSlides/_rels/notesSlide2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7.xml" Type="http://schemas.openxmlformats.org/officeDocument/2006/relationships/slide"/></Relationships>
</file>

<file path=ppt/notesSlides/_rels/notesSlide2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8.xml" Type="http://schemas.openxmlformats.org/officeDocument/2006/relationships/slide"/></Relationships>
</file>

<file path=ppt/notesSlides/_rels/notesSlide2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9.xml" Type="http://schemas.openxmlformats.org/officeDocument/2006/relationships/slide"/></Relationships>
</file>

<file path=ppt/notesSlides/_rels/notesSlide3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0.xml" Type="http://schemas.openxmlformats.org/officeDocument/2006/relationships/slide"/></Relationships>
</file>

<file path=ppt/notesSlides/_rels/notesSlide3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1.xml" Type="http://schemas.openxmlformats.org/officeDocument/2006/relationships/slide"/></Relationships>
</file>

<file path=ppt/notesSlides/_rels/notesSlide3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2.xml" Type="http://schemas.openxmlformats.org/officeDocument/2006/relationships/slide"/></Relationships>
</file>

<file path=ppt/notesSlides/_rels/notesSlide3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3.xml" Type="http://schemas.openxmlformats.org/officeDocument/2006/relationships/slide"/></Relationships>
</file>

<file path=ppt/notesSlides/_rels/notesSlide3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4.xml" Type="http://schemas.openxmlformats.org/officeDocument/2006/relationships/slide"/></Relationships>
</file>

<file path=ppt/notesSlides/_rels/notesSlide3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5.xml" Type="http://schemas.openxmlformats.org/officeDocument/2006/relationships/slide"/></Relationships>
</file>

<file path=ppt/notesSlides/_rels/notesSlide3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6.xml" Type="http://schemas.openxmlformats.org/officeDocument/2006/relationships/slide"/></Relationships>
</file>

<file path=ppt/notesSlides/_rels/notesSlide3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7.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欢迎来到SafeWalk项目实战的最后一课。在本次课程中，我们将完成项目的最终集成、部署和优化，包括AI对话引擎的深度集成、推送通知功能的实现、Zebra平台的部署、前后端联调以及性能优化。这是我们项目开发的收官阶段，希望通过今天的学习，大家能够顺利完成项目的最终交付。</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本次课程将分为七个模块，从项目状态评估开始，逐步深入到最终的集成、部署和优化，最后完成项目的交付和总结。希望这个清晰的目录能帮助大家更好地理解课程的整体结构和学习重点。</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在开始今天的内容之前，让我们一起回顾一下项目的进展。我们已经完成了所有功能模块的开发，现在是时候将它们整合起来，并进行最后的优化和部署。本次课程的目标非常明确，希望大家能紧跟节奏，完成最后的冲刺。</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首先，我们进入第一个模块：AI对话引擎的深度集成与优化。我们不仅要确保AI对话功能能够正常工作，还要通过优化，让它变得更加智能、更加自然，为用户提供更好的关怀体验。</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在深入优化之前，我们先回顾一下AI对话引擎的集成情况，并分析可能存在的问题。这些问题可能会影响用户体验，因此我们需要针对性地进行优化。希望大家能认真检查自己的项目，找出需要改进的地方。</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为了解决响应延迟的问题，我们可以采用缓存和本地存储的策略。通过缓存常见问题的答案，可以大大减少API调用次数，提高响应速度。同时，将对话历史存储在本地，也有助于后续的上下文管理。</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上下文管理是提升AI对话智能度的关键。通过将对话历史作为上下文发送给AI模型，可以让AI理解对话的上下文，做出更连贯、更准确的回答。这将大大提升用户体验。</a:t>
            </a:r>
          </a:p>
          <a:p>
            <a:pPr algn="l" indent="0">
              <a:lnSpc>
                <a:spcPct val="100000"/>
              </a:lnSpc>
            </a:pPr>
            <a:r>
              <a:rPr lang="en-US" b="false" i="false" strike="noStrike" u="none" sz="1400">
                <a:solidFill>
                  <a:srgbClr val="000000"/>
                </a:solidFill>
              </a:rPr>
              <a:t>我们主要介绍两种策略：</a:t>
            </a:r>
          </a:p>
          <a:p>
            <a:pPr algn="l" indent="0">
              <a:lnSpc>
                <a:spcPct val="100000"/>
              </a:lnSpc>
            </a:pPr>
            <a:r>
              <a:rPr lang="en-US" b="false" i="false" strike="noStrike" u="none" sz="1400">
                <a:solidFill>
                  <a:srgbClr val="000000"/>
                </a:solidFill>
              </a:rPr>
              <a:t>第一种是“上下文窗口”，这是最基础的方式，简单来说就是把最近的几轮对话打包发给AI，让它知道“前因”。</a:t>
            </a:r>
          </a:p>
          <a:p>
            <a:pPr algn="l" indent="0">
              <a:lnSpc>
                <a:spcPct val="100000"/>
              </a:lnSpc>
            </a:pPr>
            <a:r>
              <a:rPr lang="en-US" b="false" i="false" strike="noStrike" u="none" sz="1400">
                <a:solidFill>
                  <a:srgbClr val="000000"/>
                </a:solidFill>
              </a:rPr>
              <a:t>第二种是“摘要生成”，当对话特别长的时候，为了节省成本和提高速度，我们可以先让AI总结一下前面的对话内容，再基于这个摘要进行回答。</a:t>
            </a:r>
          </a:p>
          <a:p>
            <a:pPr algn="l" indent="0">
              <a:lnSpc>
                <a:spcPct val="100000"/>
              </a:lnSpc>
            </a:pPr>
            <a:r>
              <a:rPr lang="en-US" b="false" i="false" strike="noStrike" u="none" sz="1400">
                <a:solidFill>
                  <a:srgbClr val="000000"/>
                </a:solidFill>
              </a:rPr>
              <a:t>接下来，请大家动手修改代码，实现这一功能。</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提示词工程是提升AI回答质量的重要手段。通过精心设计的Prompt，我们可以引导AI生成更准确、更人性化、更符合我们期望的回答。希望大家能重视提示词的设计，不断优化自己的Prompt模板。</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优化完成后，我们需要对AI对话功能进行全面的测试和验证，确保其功能正常、性能良好、用户体验优秀。只有通过严格的测试，我们才能放心地将功能交付给用户使用。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接下来，我们进入第二个模块：推送通知功能的实现与管理。推送通知是连接用户和应用的重要桥梁，能够及时向用户传递重要信息，提升用户粘性和活跃度。</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推送通知功能的核心是确保信息能够及时、准确地触达用户。市场上有多种推送服务可供选择，每种服务都有其优缺点。我们需要根据项目的实际情况做出选择。这里我们推荐使用FCM作为基础方案，并集成其他厂商的推送服务以提高到达率。</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要集成FCM推送服务，首先需要完成一些环境准备工作。包括创建Firebase项目、添加Android应用、配置项目依赖和权限。这些步骤是后续开发的基础，请大家务必仔细完成。</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完成了环境配置后，我们就可以在Android应用中编写代码来实现FCM客户端的功能了。这里提供了核心的代码示例，包括设备注册、接收通知和显示通知。大家可以参考这个示例，实现自己的推送通知功能。</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要实现推送通知，还需要在后端编写代码来发送通知。这里提供了使用Firebase Admin SDK发送通知的Node.js代码示例。大家可以参考这个示例，实现自己的后端推送功能。</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推送通知是一把双刃剑，既能提升用户粘性，也可能对用户造成打扰。因此，我们需要制定合理的推送通知管理策略，在确保信息触达的同时，充分尊重用户的意愿，避免过度推送。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接下来，我们进入第三个模块：Zeabur部署平台的详解与实践。部署是项目开发的最后一步，也是将应用交付给用户的关键环节。Zeabur平台可以帮助我们轻松实现应用的自动化部署与管理。</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Zeabur是一个非常强大的AI驱动云部署平台，它可以帮助我们轻松地将应用部署到服务器上，并进行有效的管理。了解Zeabur的功能和优势，有助于我们更好地利用它来完成项目的部署工作。</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Zeabur平台是一个容器化的PaaS平台，无需用户手动安装Docker和Docker Compose，平台会自动处理。因此，我们只需要完成注册、登录和项目创建即可开始部署服务。请大家访问Zeabur官网，使用GitHub账号或邮箱注册登录，并创建第一个项目。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在Zeabur平台上部署服务非常简单。首先，我们在项目中选择部署方式，支持GitHub、模板、本地代码和Docker镜像等多种来源。然后，根据指引完成配置并启动部署。部署成功后，Zeabur会自动分配一个域名，让我们可以立即访问应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部署好Zeabur平台后，我们就可以使用它来部署我们的SafeWalk应用了。首先将代码推送到GitHub，然后在Zeabur控制台中关联仓库，配置好环境变量后一键部署即可。整个过程非常直观和简单，Zeabur会自动处理构建和启动流程。部署完成后，大家可以直接使用分配的域名访问自己的应用。希望大家能顺利完成这一步。</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接下来，我们进入第四个模块：前后端联调策略与问题排查。前后端联调是项目开发过程中非常重要的环节，它直接关系到项目能否顺利集成和交付。掌握有效的联调策略和问题排查方法，能够帮助我们高效地解决问题。</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良好的接口文档和Mock测试是高效前后端联调的基础。通过编写详细的接口文档，可以确保前后端开发人员的理解一致；通过使用Mock测试，可以让前后端开发并行进行，提高开发效率。</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搭建合适的联调环境是顺利进行前后端联调的前提。我们需要为开发和测试分别搭建独立的环境，并确保环境配置的一致性。这样可以避免因环境问题导致的联调困难。</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网络问题是前后端联调中最常见的问题之一。遇到网络问题时，我们需要冷静分析，逐步排查，从网络连接、API地址、接口可用性、防火墙设置等多个方面入手，找到问题的根源并解决。</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数据格式问题也是前后端联调中常见的问题。遇到这类问题时，我们需要仔细检查接口文档和前后端的代码，确保数据格式的一致性。使用抓包工具可以帮助我们快速定位问题所在。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接下来，我们进入第五个模块：项目性能优化与用户体验提升。一个优秀的产品不仅需要功能完善，还需要具备良好的性能和用户体验。在这个模块中，我们将学习如何对项目进行性能优化和用户体验提升。</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前端性能直接影响用户的使用体验。通过图片优化、代码优化、渲染优化和缓存策略等手段，我们可以显著提升前端页面的加载速度和交互流畅度，为用户提供更好的体验。</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后端性能是系统稳定运行的关键。通过数据库优化、缓存优化、异步处理和负载均衡等手段，我们可以显著提升后端系统的性能，确保系统能够处理大量的用户请求。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用户体验是产品成功的关键。一个好的用户体验能够让用户乐于使用我们的产品，并推荐给他人。我们需要从界面设计、交互设计、个性化推荐和无障碍设计等多个方面入手，不断提升用户体验。</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性能测试和监控是确保系统稳定运行的重要手段。通过性能测试，我们可以找出系统的性能瓶颈并进行优化；通过监控，我们可以实时了解系统的运行状态，及时发现和处理问题。</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最后，我们进入第六个模块：项目最终交付与总结展望。这是我们课程的最后一个模块，我们将一起回顾项目的开发历程，总结经验教训，并展望项目的未来发展方向。</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项目最终交付时，我们需要准备一系列的交付物，包括应用程序、源代码、技术文档、用户手册、演示材料和部署说明等。这份清单可以帮助大家确保所有交付物都已准备齐全，顺利完成项目交付。</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项目总结与反思是团队成长的重要环节。通过总结成功经验，分析遇到的挑战，反思不足之处，我们可以不断提升自己的能力，为未来的项目开发打下坚实的基础。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项目的交付并不意味着结束，而是新的开始。我们可以根据用户反馈和市场需求，持续对产品进行迭代和优化，探索新的功能和商业模式，让项目走得更远。</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Technovation Girls竞赛是展示我们项目成果的重要平台。希望大家能够认真准备，充分展示自己的项目和团队风采，在竞赛中取得优异的成绩。</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课程的主要内容已经结束，现在是问答环节。大家有任何问题，都可以提出来，我们一起讨论和解决。</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感谢大家的聆听！经过六次课程的学习，我们共同完成了SafeWalk项目的开发。这是一段充满挑战和收获的旅程，恭喜大家成功完成了自己的项目。希望大家能够继续保持对技术的热情，不断学习和创新，未来能够开发出更多优秀的产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2" Target="../slideLayouts/slideLayout12.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默认主题">
    <p:bg>
      <p:bgPr>
        <a:solidFill>
          <a:srgbClr val="FFFFFF">
            <a:alpha val="100000"/>
          </a:srgbClr>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5748369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2.svg" Type="http://schemas.openxmlformats.org/officeDocument/2006/relationships/image"/><Relationship Id="rId11" Target="../media/image13.png" Type="http://schemas.openxmlformats.org/officeDocument/2006/relationships/image"/><Relationship Id="rId12" Target="../media/image14.svg" Type="http://schemas.openxmlformats.org/officeDocument/2006/relationships/image"/><Relationship Id="rId13" Target="../media/image15.png" Type="http://schemas.openxmlformats.org/officeDocument/2006/relationships/image"/><Relationship Id="rId14" Target="../media/image16.svg" Type="http://schemas.openxmlformats.org/officeDocument/2006/relationships/image"/><Relationship Id="rId15" Target="../media/image17.png" Type="http://schemas.openxmlformats.org/officeDocument/2006/relationships/image"/><Relationship Id="rId16" Target="../media/image18.svg" Type="http://schemas.openxmlformats.org/officeDocument/2006/relationships/image"/><Relationship Id="rId17" Target="../notesSlides/notesSlide2.xml" Type="http://schemas.openxmlformats.org/officeDocument/2006/relationships/notesSlide"/><Relationship Id="rId2" Target="../media/image4.jpe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9.png" Type="http://schemas.openxmlformats.org/officeDocument/2006/relationships/image"/><Relationship Id="rId8" Target="../media/image10.svg" Type="http://schemas.openxmlformats.org/officeDocument/2006/relationships/image"/><Relationship Id="rId9" Target="../media/image11.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24.svg" Type="http://schemas.openxmlformats.org/officeDocument/2006/relationships/image"/><Relationship Id="rId11" Target="../notesSlides/notesSlide3.xml" Type="http://schemas.openxmlformats.org/officeDocument/2006/relationships/notesSlide"/><Relationship Id="rId2" Target="../media/image4.jpe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19.png" Type="http://schemas.openxmlformats.org/officeDocument/2006/relationships/image"/><Relationship Id="rId6" Target="../media/image20.svg" Type="http://schemas.openxmlformats.org/officeDocument/2006/relationships/image"/><Relationship Id="rId7" Target="../media/image21.png" Type="http://schemas.openxmlformats.org/officeDocument/2006/relationships/image"/><Relationship Id="rId8" Target="../media/image22.svg" Type="http://schemas.openxmlformats.org/officeDocument/2006/relationships/image"/><Relationship Id="rId9" Target="../media/image2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4.jpeg" Type="http://schemas.openxmlformats.org/officeDocument/2006/relationships/image"/><Relationship Id="rId3" Target="../media/image25.png" Type="http://schemas.openxmlformats.org/officeDocument/2006/relationships/image"/><Relationship Id="rId4" Target="../media/image26.svg" Type="http://schemas.openxmlformats.org/officeDocument/2006/relationships/image"/><Relationship Id="rId5"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34.svg" Type="http://schemas.openxmlformats.org/officeDocument/2006/relationships/image"/><Relationship Id="rId11" Target="../media/image35.png" Type="http://schemas.openxmlformats.org/officeDocument/2006/relationships/image"/><Relationship Id="rId12" Target="../media/image36.svg" Type="http://schemas.openxmlformats.org/officeDocument/2006/relationships/image"/><Relationship Id="rId13" Target="../media/image37.png" Type="http://schemas.openxmlformats.org/officeDocument/2006/relationships/image"/><Relationship Id="rId14" Target="../media/image38.svg" Type="http://schemas.openxmlformats.org/officeDocument/2006/relationships/image"/><Relationship Id="rId15" Target="../notesSlides/notesSlide5.xml" Type="http://schemas.openxmlformats.org/officeDocument/2006/relationships/notesSlide"/><Relationship Id="rId2" Target="../media/image4.jpeg" Type="http://schemas.openxmlformats.org/officeDocument/2006/relationships/image"/><Relationship Id="rId3" Target="../media/image27.png" Type="http://schemas.openxmlformats.org/officeDocument/2006/relationships/image"/><Relationship Id="rId4" Target="../media/image28.svg" Type="http://schemas.openxmlformats.org/officeDocument/2006/relationships/image"/><Relationship Id="rId5" Target="../media/image29.png" Type="http://schemas.openxmlformats.org/officeDocument/2006/relationships/image"/><Relationship Id="rId6" Target="../media/image30.svg" Type="http://schemas.openxmlformats.org/officeDocument/2006/relationships/image"/><Relationship Id="rId7" Target="../media/image31.png" Type="http://schemas.openxmlformats.org/officeDocument/2006/relationships/image"/><Relationship Id="rId8" Target="../media/image32.svg" Type="http://schemas.openxmlformats.org/officeDocument/2006/relationships/image"/><Relationship Id="rId9" Target="../media/image33.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4.jpeg" Type="http://schemas.openxmlformats.org/officeDocument/2006/relationships/image"/><Relationship Id="rId3" Target="../media/image39.png" Type="http://schemas.openxmlformats.org/officeDocument/2006/relationships/image"/><Relationship Id="rId4" Target="../media/image40.svg" Type="http://schemas.openxmlformats.org/officeDocument/2006/relationships/image"/><Relationship Id="rId5" Target="../media/image41.png" Type="http://schemas.openxmlformats.org/officeDocument/2006/relationships/image"/><Relationship Id="rId6" Target="../media/image42.svg" Type="http://schemas.openxmlformats.org/officeDocument/2006/relationships/image"/><Relationship Id="rId7" Target="../media/image43.png" Type="http://schemas.openxmlformats.org/officeDocument/2006/relationships/image"/><Relationship Id="rId8" Target="../media/image44.svg" Type="http://schemas.openxmlformats.org/officeDocument/2006/relationships/image"/><Relationship Id="rId9"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4.jpeg" Type="http://schemas.openxmlformats.org/officeDocument/2006/relationships/image"/><Relationship Id="rId3" Target="../media/image45.png" Type="http://schemas.openxmlformats.org/officeDocument/2006/relationships/image"/><Relationship Id="rId4" Target="../media/image46.svg" Type="http://schemas.openxmlformats.org/officeDocument/2006/relationships/image"/><Relationship Id="rId5" Target="../media/image47.png" Type="http://schemas.openxmlformats.org/officeDocument/2006/relationships/image"/><Relationship Id="rId6" Target="../media/image48.svg" Type="http://schemas.openxmlformats.org/officeDocument/2006/relationships/image"/><Relationship Id="rId7" Target="../media/image49.png" Type="http://schemas.openxmlformats.org/officeDocument/2006/relationships/image"/><Relationship Id="rId8" Target="../media/image50.svg" Type="http://schemas.openxmlformats.org/officeDocument/2006/relationships/image"/><Relationship Id="rId9"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56.svg" Type="http://schemas.openxmlformats.org/officeDocument/2006/relationships/image"/><Relationship Id="rId11" Target="../notesSlides/notesSlide8.xml" Type="http://schemas.openxmlformats.org/officeDocument/2006/relationships/notesSlide"/><Relationship Id="rId2" Target="../media/image4.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51.png" Type="http://schemas.openxmlformats.org/officeDocument/2006/relationships/image"/><Relationship Id="rId6" Target="../media/image52.svg" Type="http://schemas.openxmlformats.org/officeDocument/2006/relationships/image"/><Relationship Id="rId7" Target="../media/image53.png" Type="http://schemas.openxmlformats.org/officeDocument/2006/relationships/image"/><Relationship Id="rId8" Target="../media/image54.svg" Type="http://schemas.openxmlformats.org/officeDocument/2006/relationships/image"/><Relationship Id="rId9" Target="../media/image55.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62.svg" Type="http://schemas.openxmlformats.org/officeDocument/2006/relationships/image"/><Relationship Id="rId11" Target="../media/image7.png" Type="http://schemas.openxmlformats.org/officeDocument/2006/relationships/image"/><Relationship Id="rId12" Target="../media/image8.svg" Type="http://schemas.openxmlformats.org/officeDocument/2006/relationships/image"/><Relationship Id="rId13" Target="../notesSlides/notesSlide9.xml" Type="http://schemas.openxmlformats.org/officeDocument/2006/relationships/notesSlide"/><Relationship Id="rId2" Target="../media/image4.jpeg" Type="http://schemas.openxmlformats.org/officeDocument/2006/relationships/image"/><Relationship Id="rId3" Target="../media/image57.png" Type="http://schemas.openxmlformats.org/officeDocument/2006/relationships/image"/><Relationship Id="rId4" Target="../media/image58.svg" Type="http://schemas.openxmlformats.org/officeDocument/2006/relationships/image"/><Relationship Id="rId5" Target="../media/image59.png" Type="http://schemas.openxmlformats.org/officeDocument/2006/relationships/image"/><Relationship Id="rId6" Target="../media/image60.svg" Type="http://schemas.openxmlformats.org/officeDocument/2006/relationships/image"/><Relationship Id="rId7" Target="../media/image33.png" Type="http://schemas.openxmlformats.org/officeDocument/2006/relationships/image"/><Relationship Id="rId8" Target="../media/image34.svg" Type="http://schemas.openxmlformats.org/officeDocument/2006/relationships/image"/><Relationship Id="rId9" Target="../media/image61.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4.jpeg" Type="http://schemas.openxmlformats.org/officeDocument/2006/relationships/image"/><Relationship Id="rId3" Target="../media/image27.png" Type="http://schemas.openxmlformats.org/officeDocument/2006/relationships/image"/><Relationship Id="rId4" Target="../media/image28.svg" Type="http://schemas.openxmlformats.org/officeDocument/2006/relationships/image"/><Relationship Id="rId5" Target="../notesSlides/notesSlide10.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4.jpeg" Type="http://schemas.openxmlformats.org/officeDocument/2006/relationships/image"/><Relationship Id="rId3" Target="../media/image9.png" Type="http://schemas.openxmlformats.org/officeDocument/2006/relationships/image"/><Relationship Id="rId4" Target="../media/image10.svg" Type="http://schemas.openxmlformats.org/officeDocument/2006/relationships/image"/><Relationship Id="rId5" Target="../media/image63.png" Type="http://schemas.openxmlformats.org/officeDocument/2006/relationships/image"/><Relationship Id="rId6" Target="../media/image64.svg" Type="http://schemas.openxmlformats.org/officeDocument/2006/relationships/image"/><Relationship Id="rId7" Target="../media/image65.png" Type="http://schemas.openxmlformats.org/officeDocument/2006/relationships/image"/><Relationship Id="rId8" Target="../media/image66.svg" Type="http://schemas.openxmlformats.org/officeDocument/2006/relationships/image"/><Relationship Id="rId9" Target="../notesSlides/notesSlide11.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74.svg" Type="http://schemas.openxmlformats.org/officeDocument/2006/relationships/image"/><Relationship Id="rId11" Target="../media/image75.png" Type="http://schemas.openxmlformats.org/officeDocument/2006/relationships/image"/><Relationship Id="rId12" Target="../media/image76.svg" Type="http://schemas.openxmlformats.org/officeDocument/2006/relationships/image"/><Relationship Id="rId13" Target="../media/image77.png" Type="http://schemas.openxmlformats.org/officeDocument/2006/relationships/image"/><Relationship Id="rId14" Target="../media/image78.svg" Type="http://schemas.openxmlformats.org/officeDocument/2006/relationships/image"/><Relationship Id="rId15" Target="../notesSlides/notesSlide12.xml" Type="http://schemas.openxmlformats.org/officeDocument/2006/relationships/notesSlide"/><Relationship Id="rId2" Target="../media/image4.jpeg" Type="http://schemas.openxmlformats.org/officeDocument/2006/relationships/image"/><Relationship Id="rId3" Target="../media/image67.png" Type="http://schemas.openxmlformats.org/officeDocument/2006/relationships/image"/><Relationship Id="rId4" Target="../media/image68.svg" Type="http://schemas.openxmlformats.org/officeDocument/2006/relationships/image"/><Relationship Id="rId5" Target="../media/image69.png" Type="http://schemas.openxmlformats.org/officeDocument/2006/relationships/image"/><Relationship Id="rId6" Target="../media/image70.svg" Type="http://schemas.openxmlformats.org/officeDocument/2006/relationships/image"/><Relationship Id="rId7" Target="../media/image71.png" Type="http://schemas.openxmlformats.org/officeDocument/2006/relationships/image"/><Relationship Id="rId8" Target="../media/image72.svg" Type="http://schemas.openxmlformats.org/officeDocument/2006/relationships/image"/><Relationship Id="rId9" Target="../media/image73.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78.svg" Type="http://schemas.openxmlformats.org/officeDocument/2006/relationships/image"/><Relationship Id="rId11" Target="../notesSlides/notesSlide13.xml" Type="http://schemas.openxmlformats.org/officeDocument/2006/relationships/notesSlide"/><Relationship Id="rId2" Target="../media/image4.jpeg" Type="http://schemas.openxmlformats.org/officeDocument/2006/relationships/image"/><Relationship Id="rId3" Target="../media/image69.png" Type="http://schemas.openxmlformats.org/officeDocument/2006/relationships/image"/><Relationship Id="rId4" Target="../media/image70.svg" Type="http://schemas.openxmlformats.org/officeDocument/2006/relationships/image"/><Relationship Id="rId5" Target="../media/image79.png" Type="http://schemas.openxmlformats.org/officeDocument/2006/relationships/image"/><Relationship Id="rId6" Target="../media/image80.svg" Type="http://schemas.openxmlformats.org/officeDocument/2006/relationships/image"/><Relationship Id="rId7" Target="../media/image9.png" Type="http://schemas.openxmlformats.org/officeDocument/2006/relationships/image"/><Relationship Id="rId8" Target="../media/image10.svg" Type="http://schemas.openxmlformats.org/officeDocument/2006/relationships/image"/><Relationship Id="rId9" Target="../media/image77.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86.svg" Type="http://schemas.openxmlformats.org/officeDocument/2006/relationships/image"/><Relationship Id="rId11" Target="../notesSlides/notesSlide14.xml" Type="http://schemas.openxmlformats.org/officeDocument/2006/relationships/notesSlide"/><Relationship Id="rId2" Target="../media/image4.jpeg" Type="http://schemas.openxmlformats.org/officeDocument/2006/relationships/image"/><Relationship Id="rId3" Target="../media/image69.png" Type="http://schemas.openxmlformats.org/officeDocument/2006/relationships/image"/><Relationship Id="rId4" Target="../media/image70.svg" Type="http://schemas.openxmlformats.org/officeDocument/2006/relationships/image"/><Relationship Id="rId5" Target="../media/image81.png" Type="http://schemas.openxmlformats.org/officeDocument/2006/relationships/image"/><Relationship Id="rId6" Target="../media/image82.svg" Type="http://schemas.openxmlformats.org/officeDocument/2006/relationships/image"/><Relationship Id="rId7" Target="../media/image83.png" Type="http://schemas.openxmlformats.org/officeDocument/2006/relationships/image"/><Relationship Id="rId8" Target="../media/image84.svg" Type="http://schemas.openxmlformats.org/officeDocument/2006/relationships/image"/><Relationship Id="rId9" Target="../media/image85.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94.svg" Type="http://schemas.openxmlformats.org/officeDocument/2006/relationships/image"/><Relationship Id="rId11" Target="../notesSlides/notesSlide15.xml" Type="http://schemas.openxmlformats.org/officeDocument/2006/relationships/notesSlide"/><Relationship Id="rId2" Target="../media/image4.jpeg" Type="http://schemas.openxmlformats.org/officeDocument/2006/relationships/image"/><Relationship Id="rId3" Target="../media/image87.png" Type="http://schemas.openxmlformats.org/officeDocument/2006/relationships/image"/><Relationship Id="rId4" Target="../media/image88.svg" Type="http://schemas.openxmlformats.org/officeDocument/2006/relationships/image"/><Relationship Id="rId5" Target="../media/image89.png" Type="http://schemas.openxmlformats.org/officeDocument/2006/relationships/image"/><Relationship Id="rId6" Target="../media/image90.svg" Type="http://schemas.openxmlformats.org/officeDocument/2006/relationships/image"/><Relationship Id="rId7" Target="../media/image91.png" Type="http://schemas.openxmlformats.org/officeDocument/2006/relationships/image"/><Relationship Id="rId8" Target="../media/image92.svg" Type="http://schemas.openxmlformats.org/officeDocument/2006/relationships/image"/><Relationship Id="rId9" Target="../media/image93.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4.jpeg" Type="http://schemas.openxmlformats.org/officeDocument/2006/relationships/image"/><Relationship Id="rId3" Target="../media/image95.png" Type="http://schemas.openxmlformats.org/officeDocument/2006/relationships/image"/><Relationship Id="rId4" Target="../media/image96.svg" Type="http://schemas.openxmlformats.org/officeDocument/2006/relationships/image"/><Relationship Id="rId5" Target="../notesSlides/notesSlide16.xml" Type="http://schemas.openxmlformats.org/officeDocument/2006/relationships/notesSlide"/></Relationships>
</file>

<file path=ppt/slides/_rels/slide17.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00.svg" Type="http://schemas.openxmlformats.org/officeDocument/2006/relationships/image"/><Relationship Id="rId11" Target="../media/image101.png" Type="http://schemas.openxmlformats.org/officeDocument/2006/relationships/image"/><Relationship Id="rId12" Target="../media/image102.svg" Type="http://schemas.openxmlformats.org/officeDocument/2006/relationships/image"/><Relationship Id="rId13" Target="../media/image103.png" Type="http://schemas.openxmlformats.org/officeDocument/2006/relationships/image"/><Relationship Id="rId14" Target="../media/image104.svg" Type="http://schemas.openxmlformats.org/officeDocument/2006/relationships/image"/><Relationship Id="rId15" Target="../media/image105.png" Type="http://schemas.openxmlformats.org/officeDocument/2006/relationships/image"/><Relationship Id="rId16" Target="../media/image106.svg" Type="http://schemas.openxmlformats.org/officeDocument/2006/relationships/image"/><Relationship Id="rId17" Target="../media/image107.png" Type="http://schemas.openxmlformats.org/officeDocument/2006/relationships/image"/><Relationship Id="rId18" Target="../media/image108.svg" Type="http://schemas.openxmlformats.org/officeDocument/2006/relationships/image"/><Relationship Id="rId19" Target="../media/image77.png" Type="http://schemas.openxmlformats.org/officeDocument/2006/relationships/image"/><Relationship Id="rId2" Target="../media/image4.jpeg" Type="http://schemas.openxmlformats.org/officeDocument/2006/relationships/image"/><Relationship Id="rId20" Target="../media/image78.svg" Type="http://schemas.openxmlformats.org/officeDocument/2006/relationships/image"/><Relationship Id="rId21" Target="../notesSlides/notesSlide17.xml" Type="http://schemas.openxmlformats.org/officeDocument/2006/relationships/notesSlide"/><Relationship Id="rId3" Target="../media/image11.png" Type="http://schemas.openxmlformats.org/officeDocument/2006/relationships/image"/><Relationship Id="rId4" Target="../media/image12.svg" Type="http://schemas.openxmlformats.org/officeDocument/2006/relationships/image"/><Relationship Id="rId5" Target="../media/image83.png" Type="http://schemas.openxmlformats.org/officeDocument/2006/relationships/image"/><Relationship Id="rId6" Target="../media/image84.svg" Type="http://schemas.openxmlformats.org/officeDocument/2006/relationships/image"/><Relationship Id="rId7" Target="../media/image97.png" Type="http://schemas.openxmlformats.org/officeDocument/2006/relationships/image"/><Relationship Id="rId8" Target="../media/image98.svg" Type="http://schemas.openxmlformats.org/officeDocument/2006/relationships/image"/><Relationship Id="rId9" Target="../media/image99.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4.jpeg" Type="http://schemas.openxmlformats.org/officeDocument/2006/relationships/image"/><Relationship Id="rId3" Target="../media/image109.png" Type="http://schemas.openxmlformats.org/officeDocument/2006/relationships/image"/><Relationship Id="rId4" Target="../media/image110.svg" Type="http://schemas.openxmlformats.org/officeDocument/2006/relationships/image"/><Relationship Id="rId5" Target="../media/image75.png" Type="http://schemas.openxmlformats.org/officeDocument/2006/relationships/image"/><Relationship Id="rId6" Target="../media/image76.svg" Type="http://schemas.openxmlformats.org/officeDocument/2006/relationships/image"/><Relationship Id="rId7" Target="../media/image111.png" Type="http://schemas.openxmlformats.org/officeDocument/2006/relationships/image"/><Relationship Id="rId8" Target="../media/image112.svg" Type="http://schemas.openxmlformats.org/officeDocument/2006/relationships/image"/><Relationship Id="rId9" Target="../notesSlides/notesSlide18.xml" Type="http://schemas.openxmlformats.org/officeDocument/2006/relationships/notesSlide"/></Relationships>
</file>

<file path=ppt/slides/_rels/slide19.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4.jpeg" Type="http://schemas.openxmlformats.org/officeDocument/2006/relationships/image"/><Relationship Id="rId3" Target="../media/image73.png" Type="http://schemas.openxmlformats.org/officeDocument/2006/relationships/image"/><Relationship Id="rId4" Target="../media/image74.svg" Type="http://schemas.openxmlformats.org/officeDocument/2006/relationships/image"/><Relationship Id="rId5" Target="../media/image11.png" Type="http://schemas.openxmlformats.org/officeDocument/2006/relationships/image"/><Relationship Id="rId6" Target="../media/image12.svg" Type="http://schemas.openxmlformats.org/officeDocument/2006/relationships/image"/><Relationship Id="rId7" Target="../notesSlides/notesSlide19.xml" Type="http://schemas.openxmlformats.org/officeDocument/2006/relationships/notesSlide"/></Relationships>
</file>

<file path=ppt/slides/_rels/slide20.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4.jpeg" Type="http://schemas.openxmlformats.org/officeDocument/2006/relationships/image"/><Relationship Id="rId3" Target="../media/image17.png" Type="http://schemas.openxmlformats.org/officeDocument/2006/relationships/image"/><Relationship Id="rId4" Target="../media/image18.svg" Type="http://schemas.openxmlformats.org/officeDocument/2006/relationships/image"/><Relationship Id="rId5" Target="../media/image113.png" Type="http://schemas.openxmlformats.org/officeDocument/2006/relationships/image"/><Relationship Id="rId6" Target="../media/image114.svg" Type="http://schemas.openxmlformats.org/officeDocument/2006/relationships/image"/><Relationship Id="rId7" Target="../media/image115.png" Type="http://schemas.openxmlformats.org/officeDocument/2006/relationships/image"/><Relationship Id="rId8" Target="../media/image116.svg" Type="http://schemas.openxmlformats.org/officeDocument/2006/relationships/image"/><Relationship Id="rId9" Target="../notesSlides/notesSlide20.xml" Type="http://schemas.openxmlformats.org/officeDocument/2006/relationships/notesSlide"/></Relationships>
</file>

<file path=ppt/slides/_rels/slide2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4.jpeg" Type="http://schemas.openxmlformats.org/officeDocument/2006/relationships/image"/><Relationship Id="rId3" Target="../media/image13.png" Type="http://schemas.openxmlformats.org/officeDocument/2006/relationships/image"/><Relationship Id="rId4" Target="../media/image14.svg" Type="http://schemas.openxmlformats.org/officeDocument/2006/relationships/image"/><Relationship Id="rId5" Target="../notesSlides/notesSlide21.xml" Type="http://schemas.openxmlformats.org/officeDocument/2006/relationships/notesSlide"/></Relationships>
</file>

<file path=ppt/slides/_rels/slide22.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4.jpeg" Type="http://schemas.openxmlformats.org/officeDocument/2006/relationships/image"/><Relationship Id="rId3" Target="../media/image47.png" Type="http://schemas.openxmlformats.org/officeDocument/2006/relationships/image"/><Relationship Id="rId4" Target="../media/image48.svg" Type="http://schemas.openxmlformats.org/officeDocument/2006/relationships/image"/><Relationship Id="rId5" Target="../media/image117.png" Type="http://schemas.openxmlformats.org/officeDocument/2006/relationships/image"/><Relationship Id="rId6" Target="../media/image118.svg" Type="http://schemas.openxmlformats.org/officeDocument/2006/relationships/image"/><Relationship Id="rId7" Target="../media/image85.png" Type="http://schemas.openxmlformats.org/officeDocument/2006/relationships/image"/><Relationship Id="rId8" Target="../media/image86.svg" Type="http://schemas.openxmlformats.org/officeDocument/2006/relationships/image"/><Relationship Id="rId9" Target="../notesSlides/notesSlide22.xml" Type="http://schemas.openxmlformats.org/officeDocument/2006/relationships/notesSlide"/></Relationships>
</file>

<file path=ppt/slides/_rels/slide23.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26.svg" Type="http://schemas.openxmlformats.org/officeDocument/2006/relationships/image"/><Relationship Id="rId11" Target="../notesSlides/notesSlide23.xml" Type="http://schemas.openxmlformats.org/officeDocument/2006/relationships/notesSlide"/><Relationship Id="rId2" Target="../media/image4.jpeg" Type="http://schemas.openxmlformats.org/officeDocument/2006/relationships/image"/><Relationship Id="rId3" Target="../media/image119.png" Type="http://schemas.openxmlformats.org/officeDocument/2006/relationships/image"/><Relationship Id="rId4" Target="../media/image120.svg" Type="http://schemas.openxmlformats.org/officeDocument/2006/relationships/image"/><Relationship Id="rId5" Target="../media/image121.png" Type="http://schemas.openxmlformats.org/officeDocument/2006/relationships/image"/><Relationship Id="rId6" Target="../media/image122.svg" Type="http://schemas.openxmlformats.org/officeDocument/2006/relationships/image"/><Relationship Id="rId7" Target="../media/image123.png" Type="http://schemas.openxmlformats.org/officeDocument/2006/relationships/image"/><Relationship Id="rId8" Target="../media/image124.svg" Type="http://schemas.openxmlformats.org/officeDocument/2006/relationships/image"/><Relationship Id="rId9" Target="../media/image125.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32.svg" Type="http://schemas.openxmlformats.org/officeDocument/2006/relationships/image"/><Relationship Id="rId11" Target="../media/image75.png" Type="http://schemas.openxmlformats.org/officeDocument/2006/relationships/image"/><Relationship Id="rId12" Target="../media/image76.svg" Type="http://schemas.openxmlformats.org/officeDocument/2006/relationships/image"/><Relationship Id="rId13" Target="../media/image5.png" Type="http://schemas.openxmlformats.org/officeDocument/2006/relationships/image"/><Relationship Id="rId14" Target="../media/image6.svg" Type="http://schemas.openxmlformats.org/officeDocument/2006/relationships/image"/><Relationship Id="rId15" Target="../media/image133.png" Type="http://schemas.openxmlformats.org/officeDocument/2006/relationships/image"/><Relationship Id="rId16" Target="../media/image134.svg" Type="http://schemas.openxmlformats.org/officeDocument/2006/relationships/image"/><Relationship Id="rId17" Target="../notesSlides/notesSlide24.xml" Type="http://schemas.openxmlformats.org/officeDocument/2006/relationships/notesSlide"/><Relationship Id="rId2" Target="../media/image4.jpeg" Type="http://schemas.openxmlformats.org/officeDocument/2006/relationships/image"/><Relationship Id="rId3" Target="../media/image77.png" Type="http://schemas.openxmlformats.org/officeDocument/2006/relationships/image"/><Relationship Id="rId4" Target="../media/image78.svg" Type="http://schemas.openxmlformats.org/officeDocument/2006/relationships/image"/><Relationship Id="rId5" Target="../media/image127.png" Type="http://schemas.openxmlformats.org/officeDocument/2006/relationships/image"/><Relationship Id="rId6" Target="../media/image128.svg" Type="http://schemas.openxmlformats.org/officeDocument/2006/relationships/image"/><Relationship Id="rId7" Target="../media/image129.png" Type="http://schemas.openxmlformats.org/officeDocument/2006/relationships/image"/><Relationship Id="rId8" Target="../media/image130.svg" Type="http://schemas.openxmlformats.org/officeDocument/2006/relationships/image"/><Relationship Id="rId9" Target="../media/image131.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38.svg" Type="http://schemas.openxmlformats.org/officeDocument/2006/relationships/image"/><Relationship Id="rId11" Target="../media/image139.png" Type="http://schemas.openxmlformats.org/officeDocument/2006/relationships/image"/><Relationship Id="rId12" Target="../media/image140.svg" Type="http://schemas.openxmlformats.org/officeDocument/2006/relationships/image"/><Relationship Id="rId13" Target="../media/image77.png" Type="http://schemas.openxmlformats.org/officeDocument/2006/relationships/image"/><Relationship Id="rId14" Target="../media/image78.svg" Type="http://schemas.openxmlformats.org/officeDocument/2006/relationships/image"/><Relationship Id="rId15" Target="../notesSlides/notesSlide25.xml" Type="http://schemas.openxmlformats.org/officeDocument/2006/relationships/notesSlide"/><Relationship Id="rId2" Target="../media/image4.jpeg" Type="http://schemas.openxmlformats.org/officeDocument/2006/relationships/image"/><Relationship Id="rId3" Target="../media/image135.png" Type="http://schemas.openxmlformats.org/officeDocument/2006/relationships/image"/><Relationship Id="rId4" Target="../media/image136.svg" Type="http://schemas.openxmlformats.org/officeDocument/2006/relationships/image"/><Relationship Id="rId5" Target="../media/image47.png" Type="http://schemas.openxmlformats.org/officeDocument/2006/relationships/image"/><Relationship Id="rId6" Target="../media/image48.svg" Type="http://schemas.openxmlformats.org/officeDocument/2006/relationships/image"/><Relationship Id="rId7" Target="../media/image73.png" Type="http://schemas.openxmlformats.org/officeDocument/2006/relationships/image"/><Relationship Id="rId8" Target="../media/image74.svg" Type="http://schemas.openxmlformats.org/officeDocument/2006/relationships/image"/><Relationship Id="rId9" Target="../media/image137.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4.jpeg" Type="http://schemas.openxmlformats.org/officeDocument/2006/relationships/image"/><Relationship Id="rId3" Target="../media/image15.png" Type="http://schemas.openxmlformats.org/officeDocument/2006/relationships/image"/><Relationship Id="rId4" Target="../media/image16.svg" Type="http://schemas.openxmlformats.org/officeDocument/2006/relationships/image"/><Relationship Id="rId5" Target="../notesSlides/notesSlide26.xml" Type="http://schemas.openxmlformats.org/officeDocument/2006/relationships/notesSlide"/></Relationships>
</file>

<file path=ppt/slides/_rels/slide27.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48.svg" Type="http://schemas.openxmlformats.org/officeDocument/2006/relationships/image"/><Relationship Id="rId11" Target="../media/image77.png" Type="http://schemas.openxmlformats.org/officeDocument/2006/relationships/image"/><Relationship Id="rId12" Target="../media/image78.svg" Type="http://schemas.openxmlformats.org/officeDocument/2006/relationships/image"/><Relationship Id="rId13" Target="../notesSlides/notesSlide27.xml" Type="http://schemas.openxmlformats.org/officeDocument/2006/relationships/notesSlide"/><Relationship Id="rId2" Target="../media/image4.jpeg" Type="http://schemas.openxmlformats.org/officeDocument/2006/relationships/image"/><Relationship Id="rId3" Target="../media/image141.png" Type="http://schemas.openxmlformats.org/officeDocument/2006/relationships/image"/><Relationship Id="rId4" Target="../media/image142.svg" Type="http://schemas.openxmlformats.org/officeDocument/2006/relationships/image"/><Relationship Id="rId5" Target="../media/image143.png" Type="http://schemas.openxmlformats.org/officeDocument/2006/relationships/image"/><Relationship Id="rId6" Target="../media/image144.svg" Type="http://schemas.openxmlformats.org/officeDocument/2006/relationships/image"/><Relationship Id="rId7" Target="../media/image145.png" Type="http://schemas.openxmlformats.org/officeDocument/2006/relationships/image"/><Relationship Id="rId8" Target="../media/image146.svg" Type="http://schemas.openxmlformats.org/officeDocument/2006/relationships/image"/><Relationship Id="rId9" Target="../media/image147.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98.svg" Type="http://schemas.openxmlformats.org/officeDocument/2006/relationships/image"/><Relationship Id="rId11" Target="../media/image77.png" Type="http://schemas.openxmlformats.org/officeDocument/2006/relationships/image"/><Relationship Id="rId12" Target="../media/image78.svg" Type="http://schemas.openxmlformats.org/officeDocument/2006/relationships/image"/><Relationship Id="rId13" Target="../notesSlides/notesSlide28.xml" Type="http://schemas.openxmlformats.org/officeDocument/2006/relationships/notesSlide"/><Relationship Id="rId2" Target="../media/image4.jpeg" Type="http://schemas.openxmlformats.org/officeDocument/2006/relationships/image"/><Relationship Id="rId3" Target="../media/image149.png" Type="http://schemas.openxmlformats.org/officeDocument/2006/relationships/image"/><Relationship Id="rId4" Target="../media/image150.svg" Type="http://schemas.openxmlformats.org/officeDocument/2006/relationships/image"/><Relationship Id="rId5" Target="../media/image151.png" Type="http://schemas.openxmlformats.org/officeDocument/2006/relationships/image"/><Relationship Id="rId6" Target="../media/image152.svg" Type="http://schemas.openxmlformats.org/officeDocument/2006/relationships/image"/><Relationship Id="rId7" Target="../media/image153.png" Type="http://schemas.openxmlformats.org/officeDocument/2006/relationships/image"/><Relationship Id="rId8" Target="../media/image154.svg" Type="http://schemas.openxmlformats.org/officeDocument/2006/relationships/image"/><Relationship Id="rId9" Target="../media/image97.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62.svg" Type="http://schemas.openxmlformats.org/officeDocument/2006/relationships/image"/><Relationship Id="rId11" Target="../media/image43.png" Type="http://schemas.openxmlformats.org/officeDocument/2006/relationships/image"/><Relationship Id="rId12" Target="../media/image44.svg" Type="http://schemas.openxmlformats.org/officeDocument/2006/relationships/image"/><Relationship Id="rId13" Target="../notesSlides/notesSlide29.xml" Type="http://schemas.openxmlformats.org/officeDocument/2006/relationships/notesSlide"/><Relationship Id="rId2" Target="../media/image4.jpeg" Type="http://schemas.openxmlformats.org/officeDocument/2006/relationships/image"/><Relationship Id="rId3" Target="../media/image155.png" Type="http://schemas.openxmlformats.org/officeDocument/2006/relationships/image"/><Relationship Id="rId4" Target="../media/image156.svg" Type="http://schemas.openxmlformats.org/officeDocument/2006/relationships/image"/><Relationship Id="rId5" Target="../media/image157.png" Type="http://schemas.openxmlformats.org/officeDocument/2006/relationships/image"/><Relationship Id="rId6" Target="../media/image158.svg" Type="http://schemas.openxmlformats.org/officeDocument/2006/relationships/image"/><Relationship Id="rId7" Target="../media/image159.png" Type="http://schemas.openxmlformats.org/officeDocument/2006/relationships/image"/><Relationship Id="rId8" Target="../media/image160.svg" Type="http://schemas.openxmlformats.org/officeDocument/2006/relationships/image"/><Relationship Id="rId9" Target="../media/image161.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68.svg" Type="http://schemas.openxmlformats.org/officeDocument/2006/relationships/image"/><Relationship Id="rId11" Target="../notesSlides/notesSlide30.xml" Type="http://schemas.openxmlformats.org/officeDocument/2006/relationships/notesSlide"/><Relationship Id="rId2" Target="../media/image4.jpeg" Type="http://schemas.openxmlformats.org/officeDocument/2006/relationships/image"/><Relationship Id="rId3" Target="../media/image15.png" Type="http://schemas.openxmlformats.org/officeDocument/2006/relationships/image"/><Relationship Id="rId4" Target="../media/image16.svg" Type="http://schemas.openxmlformats.org/officeDocument/2006/relationships/image"/><Relationship Id="rId5" Target="../media/image163.png" Type="http://schemas.openxmlformats.org/officeDocument/2006/relationships/image"/><Relationship Id="rId6" Target="../media/image164.svg" Type="http://schemas.openxmlformats.org/officeDocument/2006/relationships/image"/><Relationship Id="rId7" Target="../media/image165.png" Type="http://schemas.openxmlformats.org/officeDocument/2006/relationships/image"/><Relationship Id="rId8" Target="../media/image166.svg" Type="http://schemas.openxmlformats.org/officeDocument/2006/relationships/image"/><Relationship Id="rId9" Target="../media/image167.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4.jpeg" Type="http://schemas.openxmlformats.org/officeDocument/2006/relationships/image"/><Relationship Id="rId3" Target="../media/image169.png" Type="http://schemas.openxmlformats.org/officeDocument/2006/relationships/image"/><Relationship Id="rId4" Target="../media/image170.svg" Type="http://schemas.openxmlformats.org/officeDocument/2006/relationships/image"/><Relationship Id="rId5" Target="../notesSlides/notesSlide31.xml" Type="http://schemas.openxmlformats.org/officeDocument/2006/relationships/notesSlide"/></Relationships>
</file>

<file path=ppt/slides/_rels/slide32.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74.svg" Type="http://schemas.openxmlformats.org/officeDocument/2006/relationships/image"/><Relationship Id="rId11" Target="../media/image175.png" Type="http://schemas.openxmlformats.org/officeDocument/2006/relationships/image"/><Relationship Id="rId12" Target="../media/image176.svg" Type="http://schemas.openxmlformats.org/officeDocument/2006/relationships/image"/><Relationship Id="rId13" Target="../media/image121.png" Type="http://schemas.openxmlformats.org/officeDocument/2006/relationships/image"/><Relationship Id="rId14" Target="../media/image122.svg" Type="http://schemas.openxmlformats.org/officeDocument/2006/relationships/image"/><Relationship Id="rId15" Target="../media/image125.png" Type="http://schemas.openxmlformats.org/officeDocument/2006/relationships/image"/><Relationship Id="rId16" Target="../media/image126.svg" Type="http://schemas.openxmlformats.org/officeDocument/2006/relationships/image"/><Relationship Id="rId17" Target="../notesSlides/notesSlide32.xml" Type="http://schemas.openxmlformats.org/officeDocument/2006/relationships/notesSlide"/><Relationship Id="rId2" Target="../media/image4.jpeg" Type="http://schemas.openxmlformats.org/officeDocument/2006/relationships/image"/><Relationship Id="rId3" Target="../media/image69.png" Type="http://schemas.openxmlformats.org/officeDocument/2006/relationships/image"/><Relationship Id="rId4" Target="../media/image70.svg" Type="http://schemas.openxmlformats.org/officeDocument/2006/relationships/image"/><Relationship Id="rId5" Target="../media/image143.png" Type="http://schemas.openxmlformats.org/officeDocument/2006/relationships/image"/><Relationship Id="rId6" Target="../media/image144.svg" Type="http://schemas.openxmlformats.org/officeDocument/2006/relationships/image"/><Relationship Id="rId7" Target="../media/image171.png" Type="http://schemas.openxmlformats.org/officeDocument/2006/relationships/image"/><Relationship Id="rId8" Target="../media/image172.svg" Type="http://schemas.openxmlformats.org/officeDocument/2006/relationships/image"/><Relationship Id="rId9" Target="../media/image173.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84.svg" Type="http://schemas.openxmlformats.org/officeDocument/2006/relationships/image"/><Relationship Id="rId11" Target="../media/image185.png" Type="http://schemas.openxmlformats.org/officeDocument/2006/relationships/image"/><Relationship Id="rId12" Target="../media/image186.svg" Type="http://schemas.openxmlformats.org/officeDocument/2006/relationships/image"/><Relationship Id="rId13" Target="../notesSlides/notesSlide33.xml" Type="http://schemas.openxmlformats.org/officeDocument/2006/relationships/notesSlide"/><Relationship Id="rId2" Target="../media/image4.jpeg" Type="http://schemas.openxmlformats.org/officeDocument/2006/relationships/image"/><Relationship Id="rId3" Target="../media/image177.png" Type="http://schemas.openxmlformats.org/officeDocument/2006/relationships/image"/><Relationship Id="rId4" Target="../media/image178.svg" Type="http://schemas.openxmlformats.org/officeDocument/2006/relationships/image"/><Relationship Id="rId5" Target="../media/image179.png" Type="http://schemas.openxmlformats.org/officeDocument/2006/relationships/image"/><Relationship Id="rId6" Target="../media/image180.svg" Type="http://schemas.openxmlformats.org/officeDocument/2006/relationships/image"/><Relationship Id="rId7" Target="../media/image181.png" Type="http://schemas.openxmlformats.org/officeDocument/2006/relationships/image"/><Relationship Id="rId8" Target="../media/image182.svg" Type="http://schemas.openxmlformats.org/officeDocument/2006/relationships/image"/><Relationship Id="rId9" Target="../media/image183.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84.svg" Type="http://schemas.openxmlformats.org/officeDocument/2006/relationships/image"/><Relationship Id="rId11" Target="../media/image77.png" Type="http://schemas.openxmlformats.org/officeDocument/2006/relationships/image"/><Relationship Id="rId12" Target="../media/image78.svg" Type="http://schemas.openxmlformats.org/officeDocument/2006/relationships/image"/><Relationship Id="rId13" Target="../notesSlides/notesSlide34.xml" Type="http://schemas.openxmlformats.org/officeDocument/2006/relationships/notesSlide"/><Relationship Id="rId2" Target="../media/image4.jpeg" Type="http://schemas.openxmlformats.org/officeDocument/2006/relationships/image"/><Relationship Id="rId3" Target="../media/image25.png" Type="http://schemas.openxmlformats.org/officeDocument/2006/relationships/image"/><Relationship Id="rId4" Target="../media/image26.svg" Type="http://schemas.openxmlformats.org/officeDocument/2006/relationships/image"/><Relationship Id="rId5" Target="../media/image187.png" Type="http://schemas.openxmlformats.org/officeDocument/2006/relationships/image"/><Relationship Id="rId6" Target="../media/image188.svg" Type="http://schemas.openxmlformats.org/officeDocument/2006/relationships/image"/><Relationship Id="rId7" Target="../media/image189.png" Type="http://schemas.openxmlformats.org/officeDocument/2006/relationships/image"/><Relationship Id="rId8" Target="../media/image190.svg" Type="http://schemas.openxmlformats.org/officeDocument/2006/relationships/image"/><Relationship Id="rId9" Target="../media/image183.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96.svg" Type="http://schemas.openxmlformats.org/officeDocument/2006/relationships/image"/><Relationship Id="rId11" Target="../media/image197.png" Type="http://schemas.openxmlformats.org/officeDocument/2006/relationships/image"/><Relationship Id="rId12" Target="../media/image198.svg" Type="http://schemas.openxmlformats.org/officeDocument/2006/relationships/image"/><Relationship Id="rId13" Target="../notesSlides/notesSlide35.xml" Type="http://schemas.openxmlformats.org/officeDocument/2006/relationships/notesSlide"/><Relationship Id="rId2" Target="../media/image4.jpeg" Type="http://schemas.openxmlformats.org/officeDocument/2006/relationships/image"/><Relationship Id="rId3" Target="../media/image191.png" Type="http://schemas.openxmlformats.org/officeDocument/2006/relationships/image"/><Relationship Id="rId4" Target="../media/image192.svg" Type="http://schemas.openxmlformats.org/officeDocument/2006/relationships/image"/><Relationship Id="rId5" Target="../media/image175.png" Type="http://schemas.openxmlformats.org/officeDocument/2006/relationships/image"/><Relationship Id="rId6" Target="../media/image176.svg" Type="http://schemas.openxmlformats.org/officeDocument/2006/relationships/image"/><Relationship Id="rId7" Target="../media/image193.png" Type="http://schemas.openxmlformats.org/officeDocument/2006/relationships/image"/><Relationship Id="rId8" Target="../media/image194.svg" Type="http://schemas.openxmlformats.org/officeDocument/2006/relationships/image"/><Relationship Id="rId9" Target="../media/image195.pn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4.jpeg" Type="http://schemas.openxmlformats.org/officeDocument/2006/relationships/image"/><Relationship Id="rId3" Target="../media/image195.png" Type="http://schemas.openxmlformats.org/officeDocument/2006/relationships/image"/><Relationship Id="rId4" Target="../media/image196.svg" Type="http://schemas.openxmlformats.org/officeDocument/2006/relationships/image"/><Relationship Id="rId5" Target="../notesSlides/notesSlide36.xml" Type="http://schemas.openxmlformats.org/officeDocument/2006/relationships/notesSlide"/></Relationships>
</file>

<file path=ppt/slides/_rels/slide37.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jpeg" Type="http://schemas.openxmlformats.org/officeDocument/2006/relationships/image"/><Relationship Id="rId3" Target="../media/image177.png" Type="http://schemas.openxmlformats.org/officeDocument/2006/relationships/image"/><Relationship Id="rId4" Target="../media/image178.svg" Type="http://schemas.openxmlformats.org/officeDocument/2006/relationships/image"/><Relationship Id="rId5" Target="../media/image199.png" Type="http://schemas.openxmlformats.org/officeDocument/2006/relationships/image"/><Relationship Id="rId6" Target="../media/image200.svg" Type="http://schemas.openxmlformats.org/officeDocument/2006/relationships/image"/><Relationship Id="rId7" Target="../notesSlides/notesSlide37.xml" Type="http://schemas.openxmlformats.org/officeDocument/2006/relationships/notesSlide"/><Relationship Id="rId8" Target="../media/image20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A0F1E">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192F">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0" y="0"/>
            <a:ext cx="12192000" cy="50800"/>
          </a:xfrm>
          <a:prstGeom prst="roundRect">
            <a:avLst>
              <a:gd name="adj" fmla="val 0"/>
            </a:avLst>
          </a:prstGeom>
          <a:gradFill rotWithShape="true">
            <a:gsLst>
              <a:gs pos="0">
                <a:srgbClr val="00BFFF">
                  <a:alpha val="100000"/>
                </a:srgbClr>
              </a:gs>
              <a:gs pos="100000">
                <a:srgbClr val="E6E6FA">
                  <a:alpha val="100000"/>
                </a:srgbClr>
              </a:gs>
            </a:gsLst>
            <a:lin ang="0"/>
          </a:gra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304800" y="2032000"/>
            <a:ext cx="11582400" cy="762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true" i="false" strike="noStrike" u="none" sz="3600">
                <a:solidFill>
                  <a:srgbClr val="FFFFFF"/>
                </a:solidFill>
                <a:latin typeface="Noto Sans SC"/>
                <a:ea typeface="Noto Sans SC"/>
                <a:cs typeface="Noto Sans SC"/>
                <a:sym typeface="Noto Sans SC"/>
              </a:rPr>
              <a:t>SafeWalk项目实战：最终集成、部署与优化</a:t>
            </a:r>
            <a:endParaRPr lang="en-US" sz="1100"/>
          </a:p>
        </p:txBody>
      </p:sp>
      <p:sp>
        <p:nvSpPr>
          <p:cNvPr name="AutoShape 6" id="6"/>
          <p:cNvSpPr/>
          <p:nvPr/>
        </p:nvSpPr>
        <p:spPr>
          <a:xfrm rot="0" flipH="false" flipV="false">
            <a:off x="609600" y="2857500"/>
            <a:ext cx="10972800" cy="508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false" i="false" strike="noStrike" u="none" sz="2000">
                <a:solidFill>
                  <a:srgbClr val="E6E6FA"/>
                </a:solidFill>
                <a:latin typeface="Noto Sans SC"/>
                <a:ea typeface="Noto Sans SC"/>
                <a:cs typeface="Noto Sans SC"/>
                <a:sym typeface="Noto Sans SC"/>
              </a:rPr>
              <a:t>Technovation Girls 第六次课程（3月21日）</a:t>
            </a:r>
            <a:endParaRPr lang="en-US" sz="1100"/>
          </a:p>
        </p:txBody>
      </p:sp>
      <p:cxnSp>
        <p:nvCxnSpPr>
          <p:cNvPr name="Connector 7" id="7"/>
          <p:cNvCxnSpPr/>
          <p:nvPr/>
        </p:nvCxnSpPr>
        <p:spPr>
          <a:xfrm rot="-34376" flipH="false" flipV="false">
            <a:off x="5461032" y="3549650"/>
            <a:ext cx="1270000" cy="12700"/>
          </a:xfrm>
          <a:prstGeom prst="straightConnector1">
            <a:avLst/>
          </a:prstGeom>
          <a:solidFill>
            <a:srgbClr val="DEE0E3">
              <a:alpha val="100000"/>
            </a:srgbClr>
          </a:solidFill>
          <a:ln w="25400" cmpd="sng" cap="flat">
            <a:solidFill>
              <a:srgbClr val="00BFFF">
                <a:alpha val="100000"/>
              </a:srgbClr>
            </a:solidFill>
            <a:prstDash val="solid"/>
            <a:round/>
            <a:headEnd type="none" w="lg" len="lg"/>
            <a:tailEnd type="none" w="lg" len="lg"/>
          </a:ln>
        </p:spPr>
      </p:cxnSp>
      <p:sp>
        <p:nvSpPr>
          <p:cNvPr name="AutoShape 8" id="8"/>
          <p:cNvSpPr/>
          <p:nvPr/>
        </p:nvSpPr>
        <p:spPr>
          <a:xfrm rot="0" flipH="false" flipV="false">
            <a:off x="4826000" y="3937000"/>
            <a:ext cx="2540000" cy="508000"/>
          </a:xfrm>
          <a:prstGeom prst="roundRect">
            <a:avLst>
              <a:gd name="adj" fmla="val 25000"/>
            </a:avLst>
          </a:prstGeom>
          <a:solidFill>
            <a:srgbClr val="00BFFF">
              <a:alpha val="15000"/>
            </a:srgbClr>
          </a:solidFill>
          <a:ln w="12700" cmpd="sng" cap="flat">
            <a:solidFill>
              <a:srgbClr val="00BFFF">
                <a:alpha val="50000"/>
              </a:srgbClr>
            </a:solidFill>
            <a:prstDash val="solid"/>
            <a:round/>
          </a:ln>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5016500" y="4064000"/>
            <a:ext cx="254000" cy="254000"/>
          </a:xfrm>
          <a:prstGeom prst="rect">
            <a:avLst/>
          </a:prstGeom>
        </p:spPr>
      </p:pic>
      <p:sp>
        <p:nvSpPr>
          <p:cNvPr name="AutoShape 10" id="10"/>
          <p:cNvSpPr/>
          <p:nvPr/>
        </p:nvSpPr>
        <p:spPr>
          <a:xfrm rot="0" flipH="false" flipV="false">
            <a:off x="5397500" y="4038600"/>
            <a:ext cx="1778000" cy="3048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false" i="false" strike="noStrike" u="none" sz="1600">
                <a:solidFill>
                  <a:srgbClr val="FFFFFF"/>
                </a:solidFill>
                <a:latin typeface="Noto Sans SC"/>
                <a:ea typeface="Noto Sans SC"/>
                <a:cs typeface="Noto Sans SC"/>
                <a:sym typeface="Noto Sans SC"/>
              </a:rPr>
              <a:t>讲师：田老师</a:t>
            </a:r>
            <a:endParaRPr lang="en-US" sz="1100"/>
          </a:p>
        </p:txBody>
      </p:sp>
      <p:sp>
        <p:nvSpPr>
          <p:cNvPr name="AutoShape 11" id="11"/>
          <p:cNvSpPr/>
          <p:nvPr/>
        </p:nvSpPr>
        <p:spPr>
          <a:xfrm rot="0" flipH="false" flipV="false">
            <a:off x="0" y="6832600"/>
            <a:ext cx="12192000" cy="25400"/>
          </a:xfrm>
          <a:prstGeom prst="roundRect">
            <a:avLst>
              <a:gd name="adj" fmla="val 0"/>
            </a:avLst>
          </a:prstGeom>
          <a:gradFill rotWithShape="true">
            <a:gsLst>
              <a:gs pos="0">
                <a:srgbClr val="FFB6C1">
                  <a:alpha val="100000"/>
                </a:srgbClr>
              </a:gs>
              <a:gs pos="100000">
                <a:srgbClr val="00BFFF">
                  <a:alpha val="100000"/>
                </a:srgbClr>
              </a:gs>
            </a:gsLst>
            <a:lin ang="0"/>
          </a:gradFill>
          <a:ln w="25400" cmpd="sng" cap="flat">
            <a:noFill/>
            <a:prstDash val="solid"/>
            <a:round/>
          </a:ln>
        </p:spPr>
        <p:txBody>
          <a:bodyPr anchor="ctr" rtlCol="false" vert="horz" wrap="square" lIns="63500" rIns="63500" tIns="63500" bIns="63500"/>
          <a:lstStyle/>
          <a:p>
            <a:pPr algn="ctr">
              <a:defRPr/>
            </a:pPr>
            <a:endParaR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A192F">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192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508000"/>
            <a:ext cx="20066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课程目录</a:t>
            </a:r>
            <a:endParaRPr lang="en-US" sz="1100"/>
          </a:p>
        </p:txBody>
      </p:sp>
      <p:sp>
        <p:nvSpPr>
          <p:cNvPr name="AutoShape 5" id="5"/>
          <p:cNvSpPr/>
          <p:nvPr/>
        </p:nvSpPr>
        <p:spPr>
          <a:xfrm rot="0" flipH="false" flipV="false">
            <a:off x="762000" y="1397000"/>
            <a:ext cx="5080000" cy="1016000"/>
          </a:xfrm>
          <a:prstGeom prst="roundRect">
            <a:avLst>
              <a:gd name="adj" fmla="val 12500"/>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1701800"/>
            <a:ext cx="406400" cy="406400"/>
          </a:xfrm>
          <a:prstGeom prst="rect">
            <a:avLst/>
          </a:prstGeom>
        </p:spPr>
      </p:pic>
      <p:sp>
        <p:nvSpPr>
          <p:cNvPr name="AutoShape 7" id="7"/>
          <p:cNvSpPr/>
          <p:nvPr/>
        </p:nvSpPr>
        <p:spPr>
          <a:xfrm rot="0" flipH="false" flipV="false">
            <a:off x="1587500" y="1549400"/>
            <a:ext cx="4064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课程回顾与项目状态评估</a:t>
            </a:r>
            <a:endParaRPr lang="en-US" sz="1100"/>
          </a:p>
        </p:txBody>
      </p:sp>
      <p:sp>
        <p:nvSpPr>
          <p:cNvPr name="AutoShape 8" id="8"/>
          <p:cNvSpPr/>
          <p:nvPr/>
        </p:nvSpPr>
        <p:spPr>
          <a:xfrm rot="0" flipH="false" flipV="false">
            <a:off x="1587500" y="1905000"/>
            <a:ext cx="4064000" cy="25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FFFFFF">
                    <a:alpha val="70196"/>
                  </a:srgbClr>
                </a:solidFill>
                <a:latin typeface="Noto Sans SC"/>
                <a:ea typeface="Noto Sans SC"/>
                <a:cs typeface="Noto Sans SC"/>
                <a:sym typeface="Noto Sans SC"/>
              </a:rPr>
              <a:t>回顾前序课程内容，评估项目当前状态</a:t>
            </a:r>
            <a:endParaRPr lang="en-US" sz="1100"/>
          </a:p>
        </p:txBody>
      </p:sp>
      <p:sp>
        <p:nvSpPr>
          <p:cNvPr name="AutoShape 9" id="9"/>
          <p:cNvSpPr/>
          <p:nvPr/>
        </p:nvSpPr>
        <p:spPr>
          <a:xfrm rot="0" flipH="false" flipV="false">
            <a:off x="762000" y="2603500"/>
            <a:ext cx="5080000" cy="1016000"/>
          </a:xfrm>
          <a:prstGeom prst="roundRect">
            <a:avLst>
              <a:gd name="adj" fmla="val 12500"/>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1016000" y="2908300"/>
            <a:ext cx="406400" cy="406400"/>
          </a:xfrm>
          <a:prstGeom prst="rect">
            <a:avLst/>
          </a:prstGeom>
        </p:spPr>
      </p:pic>
      <p:sp>
        <p:nvSpPr>
          <p:cNvPr name="AutoShape 11" id="11"/>
          <p:cNvSpPr/>
          <p:nvPr/>
        </p:nvSpPr>
        <p:spPr>
          <a:xfrm rot="0" flipH="false" flipV="false">
            <a:off x="1587500" y="2755900"/>
            <a:ext cx="4064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AI对话引擎深度集成与优化</a:t>
            </a:r>
            <a:endParaRPr lang="en-US" sz="1100"/>
          </a:p>
        </p:txBody>
      </p:sp>
      <p:sp>
        <p:nvSpPr>
          <p:cNvPr name="AutoShape 12" id="12"/>
          <p:cNvSpPr/>
          <p:nvPr/>
        </p:nvSpPr>
        <p:spPr>
          <a:xfrm rot="0" flipH="false" flipV="false">
            <a:off x="1587500" y="3111500"/>
            <a:ext cx="4064000" cy="25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FFFFFF">
                    <a:alpha val="70196"/>
                  </a:srgbClr>
                </a:solidFill>
                <a:latin typeface="Noto Sans SC"/>
                <a:ea typeface="Noto Sans SC"/>
                <a:cs typeface="Noto Sans SC"/>
                <a:sym typeface="Noto Sans SC"/>
              </a:rPr>
              <a:t>让AI关怀更智能、更自然</a:t>
            </a:r>
            <a:endParaRPr lang="en-US" sz="1100"/>
          </a:p>
        </p:txBody>
      </p:sp>
      <p:sp>
        <p:nvSpPr>
          <p:cNvPr name="AutoShape 13" id="13"/>
          <p:cNvSpPr/>
          <p:nvPr/>
        </p:nvSpPr>
        <p:spPr>
          <a:xfrm rot="0" flipH="false" flipV="false">
            <a:off x="762000" y="3810000"/>
            <a:ext cx="5080000" cy="1016000"/>
          </a:xfrm>
          <a:prstGeom prst="roundRect">
            <a:avLst>
              <a:gd name="adj" fmla="val 12500"/>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016000" y="4114800"/>
            <a:ext cx="406400" cy="406400"/>
          </a:xfrm>
          <a:prstGeom prst="rect">
            <a:avLst/>
          </a:prstGeom>
        </p:spPr>
      </p:pic>
      <p:sp>
        <p:nvSpPr>
          <p:cNvPr name="AutoShape 15" id="15"/>
          <p:cNvSpPr/>
          <p:nvPr/>
        </p:nvSpPr>
        <p:spPr>
          <a:xfrm rot="0" flipH="false" flipV="false">
            <a:off x="1587500" y="3962400"/>
            <a:ext cx="4064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推送通知功能实现与管理</a:t>
            </a:r>
            <a:endParaRPr lang="en-US" sz="1100"/>
          </a:p>
        </p:txBody>
      </p:sp>
      <p:sp>
        <p:nvSpPr>
          <p:cNvPr name="AutoShape 16" id="16"/>
          <p:cNvSpPr/>
          <p:nvPr/>
        </p:nvSpPr>
        <p:spPr>
          <a:xfrm rot="0" flipH="false" flipV="false">
            <a:off x="1587500" y="4318000"/>
            <a:ext cx="4064000" cy="25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FFFFFF">
                    <a:alpha val="70196"/>
                  </a:srgbClr>
                </a:solidFill>
                <a:latin typeface="Noto Sans SC"/>
                <a:ea typeface="Noto Sans SC"/>
                <a:cs typeface="Noto Sans SC"/>
                <a:sym typeface="Noto Sans SC"/>
              </a:rPr>
              <a:t>及时触达用户，提升用户粘性</a:t>
            </a:r>
            <a:endParaRPr lang="en-US" sz="1100"/>
          </a:p>
        </p:txBody>
      </p:sp>
      <p:sp>
        <p:nvSpPr>
          <p:cNvPr name="AutoShape 17" id="17"/>
          <p:cNvSpPr/>
          <p:nvPr/>
        </p:nvSpPr>
        <p:spPr>
          <a:xfrm rot="0" flipH="false" flipV="false">
            <a:off x="762000" y="5016500"/>
            <a:ext cx="5080000" cy="1016000"/>
          </a:xfrm>
          <a:prstGeom prst="roundRect">
            <a:avLst>
              <a:gd name="adj" fmla="val 12500"/>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1016000" y="5321300"/>
            <a:ext cx="406400" cy="406400"/>
          </a:xfrm>
          <a:prstGeom prst="rect">
            <a:avLst/>
          </a:prstGeom>
        </p:spPr>
      </p:pic>
      <p:sp>
        <p:nvSpPr>
          <p:cNvPr name="AutoShape 19" id="19"/>
          <p:cNvSpPr/>
          <p:nvPr/>
        </p:nvSpPr>
        <p:spPr>
          <a:xfrm rot="0" flipH="false" flipV="false">
            <a:off x="1587500" y="5168900"/>
            <a:ext cx="4064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Zebra部署平台详解与实践</a:t>
            </a:r>
            <a:endParaRPr lang="en-US" sz="1100"/>
          </a:p>
        </p:txBody>
      </p:sp>
      <p:sp>
        <p:nvSpPr>
          <p:cNvPr name="AutoShape 20" id="20"/>
          <p:cNvSpPr/>
          <p:nvPr/>
        </p:nvSpPr>
        <p:spPr>
          <a:xfrm rot="0" flipH="false" flipV="false">
            <a:off x="1587500" y="5524500"/>
            <a:ext cx="4064000" cy="25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FFFFFF">
                    <a:alpha val="70196"/>
                  </a:srgbClr>
                </a:solidFill>
                <a:latin typeface="Noto Sans SC"/>
                <a:ea typeface="Noto Sans SC"/>
                <a:cs typeface="Noto Sans SC"/>
                <a:sym typeface="Noto Sans SC"/>
              </a:rPr>
              <a:t>轻松实现应用的自动化部署与管理</a:t>
            </a:r>
            <a:endParaRPr lang="en-US" sz="1100"/>
          </a:p>
        </p:txBody>
      </p:sp>
      <p:sp>
        <p:nvSpPr>
          <p:cNvPr name="AutoShape 21" id="21"/>
          <p:cNvSpPr/>
          <p:nvPr/>
        </p:nvSpPr>
        <p:spPr>
          <a:xfrm rot="0" flipH="false" flipV="false">
            <a:off x="6350000" y="1397000"/>
            <a:ext cx="5080000" cy="1016000"/>
          </a:xfrm>
          <a:prstGeom prst="roundRect">
            <a:avLst>
              <a:gd name="adj" fmla="val 12500"/>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22" id="22"/>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6604000" y="1701800"/>
            <a:ext cx="406400" cy="406400"/>
          </a:xfrm>
          <a:prstGeom prst="rect">
            <a:avLst/>
          </a:prstGeom>
        </p:spPr>
      </p:pic>
      <p:sp>
        <p:nvSpPr>
          <p:cNvPr name="AutoShape 23" id="23"/>
          <p:cNvSpPr/>
          <p:nvPr/>
        </p:nvSpPr>
        <p:spPr>
          <a:xfrm rot="0" flipH="false" flipV="false">
            <a:off x="7175500" y="1549400"/>
            <a:ext cx="4064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前后端联调策略与问题排查</a:t>
            </a:r>
            <a:endParaRPr lang="en-US" sz="1100"/>
          </a:p>
        </p:txBody>
      </p:sp>
      <p:sp>
        <p:nvSpPr>
          <p:cNvPr name="AutoShape 24" id="24"/>
          <p:cNvSpPr/>
          <p:nvPr/>
        </p:nvSpPr>
        <p:spPr>
          <a:xfrm rot="0" flipH="false" flipV="false">
            <a:off x="7175500" y="1905000"/>
            <a:ext cx="4064000" cy="25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FFFFFF">
                    <a:alpha val="70196"/>
                  </a:srgbClr>
                </a:solidFill>
                <a:latin typeface="Noto Sans SC"/>
                <a:ea typeface="Noto Sans SC"/>
                <a:cs typeface="Noto Sans SC"/>
                <a:sym typeface="Noto Sans SC"/>
              </a:rPr>
              <a:t>确保前后端协同工作，高效解决问题</a:t>
            </a:r>
            <a:endParaRPr lang="en-US" sz="1100"/>
          </a:p>
        </p:txBody>
      </p:sp>
      <p:sp>
        <p:nvSpPr>
          <p:cNvPr name="AutoShape 25" id="25"/>
          <p:cNvSpPr/>
          <p:nvPr/>
        </p:nvSpPr>
        <p:spPr>
          <a:xfrm rot="0" flipH="false" flipV="false">
            <a:off x="6350000" y="2603500"/>
            <a:ext cx="5080000" cy="1016000"/>
          </a:xfrm>
          <a:prstGeom prst="roundRect">
            <a:avLst>
              <a:gd name="adj" fmla="val 12500"/>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26" id="26"/>
          <p:cNvPicPr>
            <a:picLocks noChangeAspect="true"/>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0" flipH="false" flipV="false">
            <a:off x="6604000" y="2908300"/>
            <a:ext cx="406400" cy="406400"/>
          </a:xfrm>
          <a:prstGeom prst="rect">
            <a:avLst/>
          </a:prstGeom>
        </p:spPr>
      </p:pic>
      <p:sp>
        <p:nvSpPr>
          <p:cNvPr name="AutoShape 27" id="27"/>
          <p:cNvSpPr/>
          <p:nvPr/>
        </p:nvSpPr>
        <p:spPr>
          <a:xfrm rot="0" flipH="false" flipV="false">
            <a:off x="7175500" y="2755900"/>
            <a:ext cx="4064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项目性能优化与用户体验提升</a:t>
            </a:r>
            <a:endParaRPr lang="en-US" sz="1100"/>
          </a:p>
        </p:txBody>
      </p:sp>
      <p:sp>
        <p:nvSpPr>
          <p:cNvPr name="AutoShape 28" id="28"/>
          <p:cNvSpPr/>
          <p:nvPr/>
        </p:nvSpPr>
        <p:spPr>
          <a:xfrm rot="0" flipH="false" flipV="false">
            <a:off x="7175500" y="3111500"/>
            <a:ext cx="4064000" cy="25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FFFFFF">
                    <a:alpha val="70196"/>
                  </a:srgbClr>
                </a:solidFill>
                <a:latin typeface="Noto Sans SC"/>
                <a:ea typeface="Noto Sans SC"/>
                <a:cs typeface="Noto Sans SC"/>
                <a:sym typeface="Noto Sans SC"/>
              </a:rPr>
              <a:t>打造流畅、高效的用户体验</a:t>
            </a:r>
            <a:endParaRPr lang="en-US" sz="1100"/>
          </a:p>
        </p:txBody>
      </p:sp>
      <p:sp>
        <p:nvSpPr>
          <p:cNvPr name="AutoShape 29" id="29"/>
          <p:cNvSpPr/>
          <p:nvPr/>
        </p:nvSpPr>
        <p:spPr>
          <a:xfrm rot="0" flipH="false" flipV="false">
            <a:off x="6350000" y="3810000"/>
            <a:ext cx="5080000" cy="1016000"/>
          </a:xfrm>
          <a:prstGeom prst="roundRect">
            <a:avLst>
              <a:gd name="adj" fmla="val 12500"/>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30" id="30"/>
          <p:cNvPicPr>
            <a:picLocks noChangeAspect="true"/>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rot="0" flipH="false" flipV="false">
            <a:off x="6604000" y="4114800"/>
            <a:ext cx="406400" cy="406400"/>
          </a:xfrm>
          <a:prstGeom prst="rect">
            <a:avLst/>
          </a:prstGeom>
        </p:spPr>
      </p:pic>
      <p:sp>
        <p:nvSpPr>
          <p:cNvPr name="AutoShape 31" id="31"/>
          <p:cNvSpPr/>
          <p:nvPr/>
        </p:nvSpPr>
        <p:spPr>
          <a:xfrm rot="0" flipH="false" flipV="false">
            <a:off x="7175500" y="3962400"/>
            <a:ext cx="4064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项目最终交付与总结展望</a:t>
            </a:r>
            <a:endParaRPr lang="en-US" sz="1100"/>
          </a:p>
        </p:txBody>
      </p:sp>
      <p:sp>
        <p:nvSpPr>
          <p:cNvPr name="AutoShape 32" id="32"/>
          <p:cNvSpPr/>
          <p:nvPr/>
        </p:nvSpPr>
        <p:spPr>
          <a:xfrm rot="0" flipH="false" flipV="false">
            <a:off x="7175500" y="4318000"/>
            <a:ext cx="4064000" cy="25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FFFFFF">
                    <a:alpha val="70196"/>
                  </a:srgbClr>
                </a:solidFill>
                <a:latin typeface="Noto Sans SC"/>
                <a:ea typeface="Noto Sans SC"/>
                <a:cs typeface="Noto Sans SC"/>
                <a:sym typeface="Noto Sans SC"/>
              </a:rPr>
              <a:t>回顾历程，展望未来</a:t>
            </a:r>
            <a:endParaRPr lang="en-US" sz="1100"/>
          </a:p>
        </p:txBody>
      </p:sp>
      <p:sp>
        <p:nvSpPr>
          <p:cNvPr name="AutoShape 33" id="33"/>
          <p:cNvSpPr/>
          <p:nvPr/>
        </p:nvSpPr>
        <p:spPr>
          <a:xfrm rot="0" flipH="false" flipV="false">
            <a:off x="6350000" y="5016500"/>
            <a:ext cx="5080000" cy="1016000"/>
          </a:xfrm>
          <a:prstGeom prst="roundRect">
            <a:avLst>
              <a:gd name="adj" fmla="val 0"/>
            </a:avLst>
          </a:prstGeom>
          <a:solidFill>
            <a:srgbClr val="00BFFF">
              <a:alpha val="10000"/>
            </a:srgbClr>
          </a:solidFill>
          <a:ln w="12700" cmpd="sng" cap="flat">
            <a:solidFill>
              <a:srgbClr val="00BFFF">
                <a:alpha val="50000"/>
              </a:srgbClr>
            </a:solidFill>
            <a:prstDash val="dash"/>
            <a:round/>
          </a:ln>
        </p:spPr>
        <p:txBody>
          <a:bodyPr anchor="ctr" rtlCol="false" vert="horz" wrap="square" lIns="63500" rIns="63500" tIns="63500" bIns="63500"/>
          <a:lstStyle/>
          <a:p>
            <a:pPr algn="ctr">
              <a:defRPr/>
            </a:pPr>
            <a:endParaRPr/>
          </a:p>
        </p:txBody>
      </p:sp>
      <p:sp>
        <p:nvSpPr>
          <p:cNvPr name="AutoShape 34" id="34"/>
          <p:cNvSpPr/>
          <p:nvPr/>
        </p:nvSpPr>
        <p:spPr>
          <a:xfrm rot="0" flipH="false" flipV="false">
            <a:off x="6477000" y="5270500"/>
            <a:ext cx="4826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400">
                <a:solidFill>
                  <a:srgbClr val="00BFFF"/>
                </a:solidFill>
                <a:latin typeface="Noto Sans SC"/>
                <a:ea typeface="Noto Sans SC"/>
                <a:cs typeface="Noto Sans SC"/>
                <a:sym typeface="Noto Sans SC"/>
              </a:rPr>
              <a:t>Ready to Start · 开启学习之旅</a:t>
            </a:r>
            <a:endParaRPr lang="en-US" sz="1100"/>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A192F">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B162C">
              <a:alpha val="9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508000"/>
            <a:ext cx="55372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课程回顾与项目状态评估</a:t>
            </a:r>
            <a:endParaRPr lang="en-US" sz="1100"/>
          </a:p>
        </p:txBody>
      </p:sp>
      <p:sp>
        <p:nvSpPr>
          <p:cNvPr name="AutoShape 5" id="5"/>
          <p:cNvSpPr/>
          <p:nvPr/>
        </p:nvSpPr>
        <p:spPr>
          <a:xfrm rot="0" flipH="false" flipV="false">
            <a:off x="762000" y="1397000"/>
            <a:ext cx="3378200" cy="2794000"/>
          </a:xfrm>
          <a:prstGeom prst="roundRect">
            <a:avLst>
              <a:gd name="adj" fmla="val 4545"/>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1651000"/>
            <a:ext cx="406400" cy="406400"/>
          </a:xfrm>
          <a:prstGeom prst="rect">
            <a:avLst/>
          </a:prstGeom>
        </p:spPr>
      </p:pic>
      <p:sp>
        <p:nvSpPr>
          <p:cNvPr name="AutoShape 7" id="7"/>
          <p:cNvSpPr/>
          <p:nvPr/>
        </p:nvSpPr>
        <p:spPr>
          <a:xfrm rot="0" flipH="false" flipV="false">
            <a:off x="1524000" y="1651000"/>
            <a:ext cx="254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课程回顾</a:t>
            </a:r>
            <a:endParaRPr lang="en-US" sz="1100"/>
          </a:p>
        </p:txBody>
      </p:sp>
      <p:sp>
        <p:nvSpPr>
          <p:cNvPr name="AutoShape 8" id="8"/>
          <p:cNvSpPr/>
          <p:nvPr/>
        </p:nvSpPr>
        <p:spPr>
          <a:xfrm rot="0" flipH="false" flipV="false">
            <a:off x="1016000" y="2159000"/>
            <a:ext cx="2870200" cy="1778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400">
                <a:solidFill>
                  <a:srgbClr val="FFFFFF">
                    <a:alpha val="90196"/>
                  </a:srgbClr>
                </a:solidFill>
                <a:latin typeface="Noto Sans SC"/>
                <a:ea typeface="Noto Sans SC"/>
                <a:cs typeface="Noto Sans SC"/>
                <a:sym typeface="Noto Sans SC"/>
              </a:rPr>
              <a:t>已完成需求分析与功能设计，核心功能（步行/乘车模式）及高级功能（模拟来电、视频通话、AI服务、数据统计）均已开发完毕，应用功能完整。</a:t>
            </a:r>
            <a:endParaRPr lang="en-US" sz="1100"/>
          </a:p>
        </p:txBody>
      </p:sp>
      <p:sp>
        <p:nvSpPr>
          <p:cNvPr name="AutoShape 9" id="9"/>
          <p:cNvSpPr/>
          <p:nvPr/>
        </p:nvSpPr>
        <p:spPr>
          <a:xfrm rot="0" flipH="false" flipV="false">
            <a:off x="4394200" y="1397000"/>
            <a:ext cx="3378200" cy="2794000"/>
          </a:xfrm>
          <a:prstGeom prst="roundRect">
            <a:avLst>
              <a:gd name="adj" fmla="val 4545"/>
            </a:avLst>
          </a:prstGeom>
          <a:solidFill>
            <a:srgbClr val="FFFFFF">
              <a:alpha val="5000"/>
            </a:srgbClr>
          </a:solidFill>
          <a:ln w="12700" cmpd="sng" cap="flat">
            <a:solidFill>
              <a:srgbClr val="FFB6C1">
                <a:alpha val="3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648200" y="1651000"/>
            <a:ext cx="406400" cy="406400"/>
          </a:xfrm>
          <a:prstGeom prst="rect">
            <a:avLst/>
          </a:prstGeom>
        </p:spPr>
      </p:pic>
      <p:sp>
        <p:nvSpPr>
          <p:cNvPr name="AutoShape 11" id="11"/>
          <p:cNvSpPr/>
          <p:nvPr/>
        </p:nvSpPr>
        <p:spPr>
          <a:xfrm rot="0" flipH="false" flipV="false">
            <a:off x="5156200" y="1651000"/>
            <a:ext cx="254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当前状态</a:t>
            </a:r>
            <a:endParaRPr lang="en-US" sz="1100"/>
          </a:p>
        </p:txBody>
      </p:sp>
      <p:sp>
        <p:nvSpPr>
          <p:cNvPr name="AutoShape 12" id="12"/>
          <p:cNvSpPr/>
          <p:nvPr/>
        </p:nvSpPr>
        <p:spPr>
          <a:xfrm rot="0" flipH="false" flipV="false">
            <a:off x="4648200" y="2159000"/>
            <a:ext cx="2870200" cy="1778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400">
                <a:solidFill>
                  <a:srgbClr val="FFFFFF">
                    <a:alpha val="90196"/>
                  </a:srgbClr>
                </a:solidFill>
                <a:latin typeface="Noto Sans SC"/>
                <a:ea typeface="Noto Sans SC"/>
                <a:cs typeface="Noto Sans SC"/>
                <a:sym typeface="Noto Sans SC"/>
              </a:rPr>
              <a:t>项目进入最终集成、测试与部署阶段。所有功能模块开发完成，需重点解决性能瓶颈与用户体验细节问题。</a:t>
            </a:r>
            <a:endParaRPr lang="en-US" sz="1100"/>
          </a:p>
        </p:txBody>
      </p:sp>
      <p:sp>
        <p:nvSpPr>
          <p:cNvPr name="AutoShape 13" id="13"/>
          <p:cNvSpPr/>
          <p:nvPr/>
        </p:nvSpPr>
        <p:spPr>
          <a:xfrm rot="0" flipH="false" flipV="false">
            <a:off x="8026400" y="1397000"/>
            <a:ext cx="3378200" cy="2794000"/>
          </a:xfrm>
          <a:prstGeom prst="roundRect">
            <a:avLst>
              <a:gd name="adj" fmla="val 4545"/>
            </a:avLst>
          </a:prstGeom>
          <a:solidFill>
            <a:srgbClr val="FFFFFF">
              <a:alpha val="5000"/>
            </a:srgbClr>
          </a:solidFill>
          <a:ln w="12700" cmpd="sng" cap="flat">
            <a:solidFill>
              <a:srgbClr val="E6E6FA">
                <a:alpha val="30000"/>
              </a:srgbClr>
            </a:solid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280400" y="1651000"/>
            <a:ext cx="406400" cy="406400"/>
          </a:xfrm>
          <a:prstGeom prst="rect">
            <a:avLst/>
          </a:prstGeom>
        </p:spPr>
      </p:pic>
      <p:sp>
        <p:nvSpPr>
          <p:cNvPr name="AutoShape 15" id="15"/>
          <p:cNvSpPr/>
          <p:nvPr/>
        </p:nvSpPr>
        <p:spPr>
          <a:xfrm rot="0" flipH="false" flipV="false">
            <a:off x="8788400" y="1651000"/>
            <a:ext cx="254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本次课程目标</a:t>
            </a:r>
            <a:endParaRPr lang="en-US" sz="1100"/>
          </a:p>
        </p:txBody>
      </p:sp>
      <p:sp>
        <p:nvSpPr>
          <p:cNvPr name="AutoShape 16" id="16"/>
          <p:cNvSpPr/>
          <p:nvPr/>
        </p:nvSpPr>
        <p:spPr>
          <a:xfrm rot="0" flipH="false" flipV="false">
            <a:off x="8280400" y="2159000"/>
            <a:ext cx="2870200" cy="1778000"/>
          </a:xfrm>
          <a:prstGeom prst="rect">
            <a:avLst/>
          </a:prstGeom>
          <a:noFill/>
          <a:ln w="12700" cmpd="sng" cap="flat">
            <a:noFill/>
            <a:prstDash val="solid"/>
            <a:round/>
          </a:ln>
        </p:spPr>
        <p:txBody>
          <a:bodyPr anchor="ctr" rtlCol="false" anchorCtr="false" vert="horz" wrap="square" lIns="0" rIns="0" tIns="0" bIns="0"/>
          <a:lstStyle/>
          <a:p>
            <a:pPr algn="l" indent="-165100" marL="165100">
              <a:lnSpc>
                <a:spcPct val="100000"/>
              </a:lnSpc>
              <a:buClr>
                <a:srgbClr val="FFFFFF"/>
              </a:buClr>
              <a:buChar char="•"/>
              <a:defRPr/>
            </a:pPr>
            <a:r>
              <a:rPr lang="en-US" b="false" i="false" strike="noStrike" u="none" sz="1300">
                <a:solidFill>
                  <a:srgbClr val="FFFFFF">
                    <a:alpha val="90196"/>
                  </a:srgbClr>
                </a:solidFill>
                <a:latin typeface="Noto Sans SC"/>
                <a:ea typeface="Noto Sans SC"/>
                <a:cs typeface="Noto Sans SC"/>
                <a:sym typeface="Noto Sans SC"/>
              </a:rPr>
              <a:t>深度集成与优化AI对话引擎</a:t>
            </a:r>
            <a:r>
              <a:rPr lang="en-US" b="false" i="false" strike="noStrike" u="none" sz="1300">
                <a:solidFill>
                  <a:srgbClr val="FFFFFF">
                    <a:alpha val="90196"/>
                  </a:srgbClr>
                </a:solidFill>
                <a:latin typeface="Noto Sans SC"/>
                <a:ea typeface="Noto Sans SC"/>
                <a:cs typeface="Noto Sans SC"/>
                <a:sym typeface="Noto Sans SC"/>
              </a:rPr>
              <a:t/>
            </a:r>
            <a:endParaRPr lang="en-US" sz="1100"/>
          </a:p>
          <a:p>
            <a:pPr algn="l" indent="-165100" marL="165100">
              <a:lnSpc>
                <a:spcPct val="100000"/>
              </a:lnSpc>
              <a:buClr>
                <a:srgbClr val="FFFFFF"/>
              </a:buClr>
              <a:buChar char="•"/>
            </a:pPr>
            <a:r>
              <a:rPr lang="en-US" b="false" i="false" strike="noStrike" u="none" sz="1300">
                <a:solidFill>
                  <a:srgbClr val="FFFFFF">
                    <a:alpha val="90196"/>
                  </a:srgbClr>
                </a:solidFill>
                <a:latin typeface="Noto Sans SC"/>
                <a:ea typeface="Noto Sans SC"/>
                <a:cs typeface="Noto Sans SC"/>
                <a:sym typeface="Noto Sans SC"/>
              </a:rPr>
              <a:t>实现并管理推送通知功能</a:t>
            </a:r>
            <a:r>
              <a:rPr lang="en-US" b="false" i="false" strike="noStrike" u="none" sz="1300">
                <a:solidFill>
                  <a:srgbClr val="FFFFFF">
                    <a:alpha val="90196"/>
                  </a:srgbClr>
                </a:solidFill>
                <a:latin typeface="Noto Sans SC"/>
                <a:ea typeface="Noto Sans SC"/>
                <a:cs typeface="Noto Sans SC"/>
                <a:sym typeface="Noto Sans SC"/>
              </a:rPr>
              <a:t/>
            </a:r>
          </a:p>
          <a:p>
            <a:pPr algn="l" indent="-165100" marL="165100">
              <a:lnSpc>
                <a:spcPct val="100000"/>
              </a:lnSpc>
              <a:buClr>
                <a:srgbClr val="FFFFFF"/>
              </a:buClr>
              <a:buChar char="•"/>
            </a:pPr>
            <a:r>
              <a:rPr lang="en-US" b="false" i="false" strike="noStrike" u="none" sz="1300">
                <a:solidFill>
                  <a:srgbClr val="FFFFFF">
                    <a:alpha val="90196"/>
                  </a:srgbClr>
                </a:solidFill>
                <a:latin typeface="Noto Sans SC"/>
                <a:ea typeface="Noto Sans SC"/>
                <a:cs typeface="Noto Sans SC"/>
                <a:sym typeface="Noto Sans SC"/>
              </a:rPr>
              <a:t>通过Zebra平台完成应用部署</a:t>
            </a:r>
            <a:r>
              <a:rPr lang="en-US" b="false" i="false" strike="noStrike" u="none" sz="1300">
                <a:solidFill>
                  <a:srgbClr val="FFFFFF">
                    <a:alpha val="90196"/>
                  </a:srgbClr>
                </a:solidFill>
                <a:latin typeface="Noto Sans SC"/>
                <a:ea typeface="Noto Sans SC"/>
                <a:cs typeface="Noto Sans SC"/>
                <a:sym typeface="Noto Sans SC"/>
              </a:rPr>
              <a:t/>
            </a:r>
          </a:p>
          <a:p>
            <a:pPr algn="l" indent="-165100" marL="165100">
              <a:lnSpc>
                <a:spcPct val="100000"/>
              </a:lnSpc>
              <a:buClr>
                <a:srgbClr val="FFFFFF"/>
              </a:buClr>
              <a:buChar char="•"/>
            </a:pPr>
            <a:r>
              <a:rPr lang="en-US" b="false" i="false" strike="noStrike" u="none" sz="1300">
                <a:solidFill>
                  <a:srgbClr val="FFFFFF">
                    <a:alpha val="90196"/>
                  </a:srgbClr>
                </a:solidFill>
                <a:latin typeface="Noto Sans SC"/>
                <a:ea typeface="Noto Sans SC"/>
                <a:cs typeface="Noto Sans SC"/>
                <a:sym typeface="Noto Sans SC"/>
              </a:rPr>
              <a:t>前后端联调及性能体验优化</a:t>
            </a:r>
            <a:r>
              <a:rPr lang="en-US" b="false" i="false" strike="noStrike" u="none" sz="1300">
                <a:solidFill>
                  <a:srgbClr val="FFFFFF">
                    <a:alpha val="90196"/>
                  </a:srgbClr>
                </a:solidFill>
                <a:latin typeface="Noto Sans SC"/>
                <a:ea typeface="Noto Sans SC"/>
                <a:cs typeface="Noto Sans SC"/>
                <a:sym typeface="Noto Sans SC"/>
              </a:rPr>
              <a:t/>
            </a:r>
          </a:p>
          <a:p>
            <a:pPr algn="l" indent="-165100" marL="165100">
              <a:lnSpc>
                <a:spcPct val="100000"/>
              </a:lnSpc>
              <a:buClr>
                <a:srgbClr val="FFFFFF"/>
              </a:buClr>
              <a:buChar char="•"/>
            </a:pPr>
            <a:r>
              <a:rPr lang="en-US" b="false" i="false" strike="noStrike" u="none" sz="1300">
                <a:solidFill>
                  <a:srgbClr val="FFFFFF">
                    <a:alpha val="90196"/>
                  </a:srgbClr>
                </a:solidFill>
                <a:latin typeface="Noto Sans SC"/>
                <a:ea typeface="Noto Sans SC"/>
                <a:cs typeface="Noto Sans SC"/>
                <a:sym typeface="Noto Sans SC"/>
              </a:rPr>
              <a:t>完成项目最终交付验收</a:t>
            </a:r>
          </a:p>
        </p:txBody>
      </p:sp>
      <p:sp>
        <p:nvSpPr>
          <p:cNvPr name="AutoShape 17" id="17"/>
          <p:cNvSpPr/>
          <p:nvPr/>
        </p:nvSpPr>
        <p:spPr>
          <a:xfrm rot="0" flipH="false" flipV="false">
            <a:off x="762000" y="4445000"/>
            <a:ext cx="10642600" cy="762000"/>
          </a:xfrm>
          <a:prstGeom prst="roundRect">
            <a:avLst>
              <a:gd name="adj" fmla="val 16666"/>
            </a:avLst>
          </a:prstGeom>
          <a:solidFill>
            <a:srgbClr val="00BFFF">
              <a:alpha val="10000"/>
            </a:srgbClr>
          </a:solidFill>
          <a:ln w="12700" cmpd="sng" cap="flat">
            <a:solidFill>
              <a:srgbClr val="00BFFF">
                <a:alpha val="50000"/>
              </a:srgbClr>
            </a:solidFill>
            <a:prstDash val="dash"/>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1016000" y="4673600"/>
            <a:ext cx="304800" cy="304800"/>
          </a:xfrm>
          <a:prstGeom prst="rect">
            <a:avLst/>
          </a:prstGeom>
        </p:spPr>
      </p:pic>
      <p:sp>
        <p:nvSpPr>
          <p:cNvPr name="AutoShape 19" id="19"/>
          <p:cNvSpPr/>
          <p:nvPr/>
        </p:nvSpPr>
        <p:spPr>
          <a:xfrm rot="0" flipH="false" flipV="false">
            <a:off x="1460500" y="4572000"/>
            <a:ext cx="9652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行动指令：</a:t>
            </a:r>
            <a:r>
              <a:rPr lang="en-US" b="false" i="false" strike="noStrike" u="none" sz="1600">
                <a:solidFill>
                  <a:srgbClr val="FFFFFF">
                    <a:alpha val="90196"/>
                  </a:srgbClr>
                </a:solidFill>
                <a:latin typeface="Noto Sans SC"/>
                <a:ea typeface="Noto Sans SC"/>
                <a:cs typeface="Noto Sans SC"/>
                <a:sym typeface="Noto Sans SC"/>
              </a:rPr>
              <a:t>请各团队对照课程目标，评估当前项目状态，明确本次课程需完成的具体冲刺任务。</a:t>
            </a:r>
            <a:endParaRPr lang="en-US" sz="1100"/>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00000">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192F">
              <a:alpha val="85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5791200" y="1524000"/>
            <a:ext cx="609600" cy="609600"/>
          </a:xfrm>
          <a:prstGeom prst="rect">
            <a:avLst/>
          </a:prstGeom>
        </p:spPr>
      </p:pic>
      <p:sp>
        <p:nvSpPr>
          <p:cNvPr name="AutoShape 5" id="5"/>
          <p:cNvSpPr/>
          <p:nvPr/>
        </p:nvSpPr>
        <p:spPr>
          <a:xfrm rot="0" flipH="false" flipV="false">
            <a:off x="635000" y="2413000"/>
            <a:ext cx="10922000" cy="635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true" i="false" strike="noStrike" u="none" sz="3200">
                <a:solidFill>
                  <a:srgbClr val="FFFFFF"/>
                </a:solidFill>
                <a:latin typeface="Noto Sans SC"/>
                <a:ea typeface="Noto Sans SC"/>
                <a:cs typeface="Noto Sans SC"/>
                <a:sym typeface="Noto Sans SC"/>
              </a:rPr>
              <a:t>模块一：AI对话引擎深度集成与优化</a:t>
            </a:r>
            <a:endParaRPr lang="en-US" sz="1100"/>
          </a:p>
        </p:txBody>
      </p:sp>
      <p:sp>
        <p:nvSpPr>
          <p:cNvPr name="AutoShape 6" id="6"/>
          <p:cNvSpPr/>
          <p:nvPr/>
        </p:nvSpPr>
        <p:spPr>
          <a:xfrm rot="0" flipH="false" flipV="false">
            <a:off x="5715000" y="3175000"/>
            <a:ext cx="762000" cy="50800"/>
          </a:xfrm>
          <a:prstGeom prst="roundRect">
            <a:avLst>
              <a:gd name="adj" fmla="val 0"/>
            </a:avLst>
          </a:prstGeom>
          <a:solidFill>
            <a:srgbClr val="00BFF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1016000" y="3429000"/>
            <a:ext cx="10160000" cy="508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false" i="false" strike="noStrike" u="none" sz="2000">
                <a:solidFill>
                  <a:srgbClr val="E6E6FA">
                    <a:alpha val="90196"/>
                  </a:srgbClr>
                </a:solidFill>
                <a:latin typeface="Noto Sans SC"/>
                <a:ea typeface="Noto Sans SC"/>
                <a:cs typeface="Noto Sans SC"/>
                <a:sym typeface="Noto Sans SC"/>
              </a:rPr>
              <a:t>让AI关怀更智能、更自然</a:t>
            </a:r>
            <a:endParaRPr lang="en-US" sz="1100"/>
          </a:p>
        </p:txBody>
      </p:sp>
      <p:sp>
        <p:nvSpPr>
          <p:cNvPr name="AutoShape 8" id="8"/>
          <p:cNvSpPr/>
          <p:nvPr/>
        </p:nvSpPr>
        <p:spPr>
          <a:xfrm rot="0" flipH="false" flipV="false">
            <a:off x="0" y="6781800"/>
            <a:ext cx="12192000" cy="76200"/>
          </a:xfrm>
          <a:prstGeom prst="roundRect">
            <a:avLst>
              <a:gd name="adj" fmla="val 0"/>
            </a:avLst>
          </a:prstGeom>
          <a:gradFill rotWithShape="true">
            <a:gsLst>
              <a:gs pos="0">
                <a:srgbClr val="00BFFF">
                  <a:alpha val="0"/>
                </a:srgbClr>
              </a:gs>
              <a:gs pos="50000">
                <a:srgbClr val="00BFFF">
                  <a:alpha val="100000"/>
                </a:srgbClr>
              </a:gs>
              <a:gs pos="100000">
                <a:srgbClr val="00BFFF">
                  <a:alpha val="0"/>
                </a:srgbClr>
              </a:gs>
            </a:gsLst>
            <a:lin ang="0"/>
          </a:gradFill>
          <a:ln w="25400" cmpd="sng" cap="flat">
            <a:noFill/>
            <a:prstDash val="solid"/>
            <a:round/>
          </a:ln>
        </p:spPr>
        <p:txBody>
          <a:bodyPr anchor="ctr" rtlCol="false" vert="horz" wrap="square" lIns="63500" rIns="63500" tIns="63500" bIns="63500"/>
          <a:lstStyle/>
          <a:p>
            <a:pPr algn="ctr">
              <a:defRPr/>
            </a:pPr>
            <a:endParaR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00000">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192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508000"/>
            <a:ext cx="10668000" cy="5842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AI对话引擎集成回顾与问题分析</a:t>
            </a:r>
            <a:endParaRPr lang="en-US" sz="1100"/>
          </a:p>
        </p:txBody>
      </p:sp>
      <p:sp>
        <p:nvSpPr>
          <p:cNvPr name="AutoShape 5" id="5"/>
          <p:cNvSpPr/>
          <p:nvPr/>
        </p:nvSpPr>
        <p:spPr>
          <a:xfrm rot="0" flipH="false" flipV="false">
            <a:off x="762000" y="1397000"/>
            <a:ext cx="3556000" cy="3302000"/>
          </a:xfrm>
          <a:prstGeom prst="roundRect">
            <a:avLst>
              <a:gd name="adj" fmla="val 3846"/>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1651000"/>
            <a:ext cx="406400" cy="406400"/>
          </a:xfrm>
          <a:prstGeom prst="rect">
            <a:avLst/>
          </a:prstGeom>
        </p:spPr>
      </p:pic>
      <p:sp>
        <p:nvSpPr>
          <p:cNvPr name="AutoShape 7" id="7"/>
          <p:cNvSpPr/>
          <p:nvPr/>
        </p:nvSpPr>
        <p:spPr>
          <a:xfrm rot="0" flipH="false" flipV="false">
            <a:off x="1524000" y="1651000"/>
            <a:ext cx="254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集成回顾</a:t>
            </a:r>
            <a:endParaRPr lang="en-US" sz="1100"/>
          </a:p>
        </p:txBody>
      </p:sp>
      <p:sp>
        <p:nvSpPr>
          <p:cNvPr name="AutoShape 8" id="8"/>
          <p:cNvSpPr/>
          <p:nvPr/>
        </p:nvSpPr>
        <p:spPr>
          <a:xfrm rot="0" flipH="false" flipV="false">
            <a:off x="1016000" y="2159000"/>
            <a:ext cx="3048000" cy="2286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400">
                <a:solidFill>
                  <a:srgbClr val="FFFFFF">
                    <a:alpha val="90196"/>
                  </a:srgbClr>
                </a:solidFill>
                <a:latin typeface="Noto Sans SC"/>
                <a:ea typeface="Noto Sans SC"/>
                <a:cs typeface="Noto Sans SC"/>
                <a:sym typeface="Noto Sans SC"/>
              </a:rPr>
              <a:t>我们已经实现了基于ChatGPT API的AI对话功能，用户可以通过文字与AI助手进行交流，获取安全建议和陪伴。</a:t>
            </a:r>
            <a:endParaRPr lang="en-US" sz="1100"/>
          </a:p>
        </p:txBody>
      </p:sp>
      <p:sp>
        <p:nvSpPr>
          <p:cNvPr name="AutoShape 9" id="9"/>
          <p:cNvSpPr/>
          <p:nvPr/>
        </p:nvSpPr>
        <p:spPr>
          <a:xfrm rot="0" flipH="false" flipV="false">
            <a:off x="4572000" y="1397000"/>
            <a:ext cx="6858000" cy="3302000"/>
          </a:xfrm>
          <a:prstGeom prst="roundRect">
            <a:avLst>
              <a:gd name="adj" fmla="val 3846"/>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826000" y="1651000"/>
            <a:ext cx="304800" cy="304800"/>
          </a:xfrm>
          <a:prstGeom prst="rect">
            <a:avLst/>
          </a:prstGeom>
        </p:spPr>
      </p:pic>
      <p:sp>
        <p:nvSpPr>
          <p:cNvPr name="AutoShape 11" id="11"/>
          <p:cNvSpPr/>
          <p:nvPr/>
        </p:nvSpPr>
        <p:spPr>
          <a:xfrm rot="0" flipH="false" flipV="false">
            <a:off x="5207000" y="1625600"/>
            <a:ext cx="2794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B6C1"/>
                </a:solidFill>
                <a:latin typeface="Noto Sans SC"/>
                <a:ea typeface="Noto Sans SC"/>
                <a:cs typeface="Noto Sans SC"/>
                <a:sym typeface="Noto Sans SC"/>
              </a:rPr>
              <a:t>响应延迟</a:t>
            </a:r>
            <a:endParaRPr lang="en-US" sz="1100"/>
          </a:p>
        </p:txBody>
      </p:sp>
      <p:sp>
        <p:nvSpPr>
          <p:cNvPr name="AutoShape 12" id="12"/>
          <p:cNvSpPr/>
          <p:nvPr/>
        </p:nvSpPr>
        <p:spPr>
          <a:xfrm rot="0" flipH="false" flipV="false">
            <a:off x="5207000" y="1968500"/>
            <a:ext cx="2794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200">
                <a:solidFill>
                  <a:srgbClr val="FFFFFF">
                    <a:alpha val="80000"/>
                  </a:srgbClr>
                </a:solidFill>
                <a:latin typeface="Noto Sans SC"/>
                <a:ea typeface="Noto Sans SC"/>
                <a:cs typeface="Noto Sans SC"/>
                <a:sym typeface="Noto Sans SC"/>
              </a:rPr>
              <a:t>调用远程API可能导致网络延迟，影响用户交互体验。</a:t>
            </a:r>
            <a:endParaRPr lang="en-US" sz="1100"/>
          </a:p>
        </p:txBody>
      </p:sp>
      <p:pic>
        <p:nvPicPr>
          <p:cNvPr name="Picture 13" id="13"/>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001000" y="1651000"/>
            <a:ext cx="304800" cy="304800"/>
          </a:xfrm>
          <a:prstGeom prst="rect">
            <a:avLst/>
          </a:prstGeom>
        </p:spPr>
      </p:pic>
      <p:sp>
        <p:nvSpPr>
          <p:cNvPr name="AutoShape 14" id="14"/>
          <p:cNvSpPr/>
          <p:nvPr/>
        </p:nvSpPr>
        <p:spPr>
          <a:xfrm rot="0" flipH="false" flipV="false">
            <a:off x="8382000" y="1625600"/>
            <a:ext cx="2794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B6C1"/>
                </a:solidFill>
                <a:latin typeface="Noto Sans SC"/>
                <a:ea typeface="Noto Sans SC"/>
                <a:cs typeface="Noto Sans SC"/>
                <a:sym typeface="Noto Sans SC"/>
              </a:rPr>
              <a:t>上下文丢失</a:t>
            </a:r>
            <a:endParaRPr lang="en-US" sz="1100"/>
          </a:p>
        </p:txBody>
      </p:sp>
      <p:sp>
        <p:nvSpPr>
          <p:cNvPr name="AutoShape 15" id="15"/>
          <p:cNvSpPr/>
          <p:nvPr/>
        </p:nvSpPr>
        <p:spPr>
          <a:xfrm rot="0" flipH="false" flipV="false">
            <a:off x="8382000" y="1968500"/>
            <a:ext cx="2794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200">
                <a:solidFill>
                  <a:srgbClr val="FFFFFF">
                    <a:alpha val="80000"/>
                  </a:srgbClr>
                </a:solidFill>
                <a:latin typeface="Noto Sans SC"/>
                <a:ea typeface="Noto Sans SC"/>
                <a:cs typeface="Noto Sans SC"/>
                <a:sym typeface="Noto Sans SC"/>
              </a:rPr>
              <a:t>模型难以记忆多轮对话上下文，导致回答缺乏连贯性。</a:t>
            </a:r>
            <a:endParaRPr lang="en-US" sz="1100"/>
          </a:p>
        </p:txBody>
      </p:sp>
      <p:pic>
        <p:nvPicPr>
          <p:cNvPr name="Picture 16" id="16"/>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4826000" y="2794000"/>
            <a:ext cx="304800" cy="304800"/>
          </a:xfrm>
          <a:prstGeom prst="rect">
            <a:avLst/>
          </a:prstGeom>
        </p:spPr>
      </p:pic>
      <p:sp>
        <p:nvSpPr>
          <p:cNvPr name="AutoShape 17" id="17"/>
          <p:cNvSpPr/>
          <p:nvPr/>
        </p:nvSpPr>
        <p:spPr>
          <a:xfrm rot="0" flipH="false" flipV="false">
            <a:off x="5207000" y="2768600"/>
            <a:ext cx="2794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E6E6FA"/>
                </a:solidFill>
                <a:latin typeface="Noto Sans SC"/>
                <a:ea typeface="Noto Sans SC"/>
                <a:cs typeface="Noto Sans SC"/>
                <a:sym typeface="Noto Sans SC"/>
              </a:rPr>
              <a:t>回答生硬</a:t>
            </a:r>
            <a:endParaRPr lang="en-US" sz="1100"/>
          </a:p>
        </p:txBody>
      </p:sp>
      <p:sp>
        <p:nvSpPr>
          <p:cNvPr name="AutoShape 18" id="18"/>
          <p:cNvSpPr/>
          <p:nvPr/>
        </p:nvSpPr>
        <p:spPr>
          <a:xfrm rot="0" flipH="false" flipV="false">
            <a:off x="5207000" y="3111500"/>
            <a:ext cx="2794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200">
                <a:solidFill>
                  <a:srgbClr val="FFFFFF">
                    <a:alpha val="80000"/>
                  </a:srgbClr>
                </a:solidFill>
                <a:latin typeface="Noto Sans SC"/>
                <a:ea typeface="Noto Sans SC"/>
                <a:cs typeface="Noto Sans SC"/>
                <a:sym typeface="Noto Sans SC"/>
              </a:rPr>
              <a:t>缺乏人性化情感关怀，无法真正理解用户情绪与需求。</a:t>
            </a:r>
            <a:endParaRPr lang="en-US" sz="1100"/>
          </a:p>
        </p:txBody>
      </p:sp>
      <p:pic>
        <p:nvPicPr>
          <p:cNvPr name="Picture 19" id="19"/>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8001000" y="2794000"/>
            <a:ext cx="304800" cy="304800"/>
          </a:xfrm>
          <a:prstGeom prst="rect">
            <a:avLst/>
          </a:prstGeom>
        </p:spPr>
      </p:pic>
      <p:sp>
        <p:nvSpPr>
          <p:cNvPr name="AutoShape 20" id="20"/>
          <p:cNvSpPr/>
          <p:nvPr/>
        </p:nvSpPr>
        <p:spPr>
          <a:xfrm rot="0" flipH="false" flipV="false">
            <a:off x="8382000" y="2768600"/>
            <a:ext cx="2794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E6E6FA"/>
                </a:solidFill>
                <a:latin typeface="Noto Sans SC"/>
                <a:ea typeface="Noto Sans SC"/>
                <a:cs typeface="Noto Sans SC"/>
                <a:sym typeface="Noto Sans SC"/>
              </a:rPr>
              <a:t>Token消耗过高</a:t>
            </a:r>
            <a:endParaRPr lang="en-US" sz="1100"/>
          </a:p>
        </p:txBody>
      </p:sp>
      <p:sp>
        <p:nvSpPr>
          <p:cNvPr name="AutoShape 21" id="21"/>
          <p:cNvSpPr/>
          <p:nvPr/>
        </p:nvSpPr>
        <p:spPr>
          <a:xfrm rot="0" flipH="false" flipV="false">
            <a:off x="8382000" y="3111500"/>
            <a:ext cx="2794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200">
                <a:solidFill>
                  <a:srgbClr val="FFFFFF">
                    <a:alpha val="80000"/>
                  </a:srgbClr>
                </a:solidFill>
                <a:latin typeface="Noto Sans SC"/>
                <a:ea typeface="Noto Sans SC"/>
                <a:cs typeface="Noto Sans SC"/>
                <a:sym typeface="Noto Sans SC"/>
              </a:rPr>
              <a:t>长对话或复杂Prompt会显著增加Token使用成本。</a:t>
            </a:r>
            <a:endParaRPr lang="en-US" sz="1100"/>
          </a:p>
        </p:txBody>
      </p:sp>
      <p:sp>
        <p:nvSpPr>
          <p:cNvPr name="AutoShape 22" id="22"/>
          <p:cNvSpPr/>
          <p:nvPr/>
        </p:nvSpPr>
        <p:spPr>
          <a:xfrm rot="0" flipH="false" flipV="false">
            <a:off x="762000" y="4953000"/>
            <a:ext cx="10668000" cy="1016000"/>
          </a:xfrm>
          <a:prstGeom prst="roundRect">
            <a:avLst>
              <a:gd name="adj" fmla="val 12500"/>
            </a:avLst>
          </a:prstGeom>
          <a:solidFill>
            <a:srgbClr val="00BFFF">
              <a:alpha val="15000"/>
            </a:srgbClr>
          </a:solidFill>
          <a:ln w="12700" cmpd="sng" cap="flat">
            <a:solidFill>
              <a:srgbClr val="00BFFF">
                <a:alpha val="50000"/>
              </a:srgbClr>
            </a:solidFill>
            <a:prstDash val="solid"/>
            <a:round/>
          </a:ln>
        </p:spPr>
        <p:txBody>
          <a:bodyPr anchor="ctr" rtlCol="false" vert="horz" wrap="square" lIns="63500" rIns="63500" tIns="63500" bIns="63500"/>
          <a:lstStyle/>
          <a:p>
            <a:pPr algn="ctr">
              <a:defRPr/>
            </a:pPr>
            <a:endParaRPr/>
          </a:p>
        </p:txBody>
      </p:sp>
      <p:pic>
        <p:nvPicPr>
          <p:cNvPr name="Picture 23" id="23"/>
          <p:cNvPicPr>
            <a:picLocks noChangeAspect="true"/>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0" flipH="false" flipV="false">
            <a:off x="1016000" y="5257800"/>
            <a:ext cx="406400" cy="406400"/>
          </a:xfrm>
          <a:prstGeom prst="rect">
            <a:avLst/>
          </a:prstGeom>
        </p:spPr>
      </p:pic>
      <p:sp>
        <p:nvSpPr>
          <p:cNvPr name="AutoShape 24" id="24"/>
          <p:cNvSpPr/>
          <p:nvPr/>
        </p:nvSpPr>
        <p:spPr>
          <a:xfrm rot="0" flipH="false" flipV="false">
            <a:off x="1524000" y="5143500"/>
            <a:ext cx="9652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学生行动指令：</a:t>
            </a:r>
            <a:r>
              <a:rPr lang="en-US" b="false" i="false" strike="noStrike" u="none" sz="1600">
                <a:solidFill>
                  <a:srgbClr val="FFFFFF">
                    <a:alpha val="90196"/>
                  </a:srgbClr>
                </a:solidFill>
                <a:latin typeface="Noto Sans SC"/>
                <a:ea typeface="Noto Sans SC"/>
                <a:cs typeface="Noto Sans SC"/>
                <a:sym typeface="Noto Sans SC"/>
              </a:rPr>
              <a:t>请大家检查自己团队的AI对话功能，分析可能存在的问题，并记录下来。</a:t>
            </a:r>
            <a:endParaRPr lang="en-US" sz="1100"/>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A192F">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192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508000"/>
            <a:ext cx="110617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AI对话引擎优化策略（一）：缓存与本地存储</a:t>
            </a:r>
            <a:endParaRPr lang="en-US" sz="1100"/>
          </a:p>
        </p:txBody>
      </p:sp>
      <p:sp>
        <p:nvSpPr>
          <p:cNvPr name="AutoShape 5" id="5"/>
          <p:cNvSpPr/>
          <p:nvPr/>
        </p:nvSpPr>
        <p:spPr>
          <a:xfrm rot="0" flipH="false" flipV="false">
            <a:off x="762000" y="1397000"/>
            <a:ext cx="5080000" cy="2794000"/>
          </a:xfrm>
          <a:prstGeom prst="roundRect">
            <a:avLst>
              <a:gd name="adj" fmla="val 4545"/>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1587500"/>
            <a:ext cx="406400" cy="406400"/>
          </a:xfrm>
          <a:prstGeom prst="rect">
            <a:avLst/>
          </a:prstGeom>
        </p:spPr>
      </p:pic>
      <p:sp>
        <p:nvSpPr>
          <p:cNvPr name="AutoShape 7" id="7"/>
          <p:cNvSpPr/>
          <p:nvPr/>
        </p:nvSpPr>
        <p:spPr>
          <a:xfrm rot="0" flipH="false" flipV="false">
            <a:off x="1524000" y="15494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缓存机制优化</a:t>
            </a:r>
            <a:endParaRPr lang="en-US" sz="1100"/>
          </a:p>
        </p:txBody>
      </p:sp>
      <p:sp>
        <p:nvSpPr>
          <p:cNvPr name="AutoShape 8" id="8"/>
          <p:cNvSpPr/>
          <p:nvPr/>
        </p:nvSpPr>
        <p:spPr>
          <a:xfrm rot="0" flipH="false" flipV="false">
            <a:off x="1016000" y="2032000"/>
            <a:ext cx="4572000" cy="1905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1400">
                <a:solidFill>
                  <a:srgbClr val="FFB6C1"/>
                </a:solidFill>
                <a:latin typeface="Noto Sans SC"/>
                <a:ea typeface="Noto Sans SC"/>
                <a:cs typeface="Noto Sans SC"/>
                <a:sym typeface="Noto Sans SC"/>
              </a:rPr>
              <a:t>实现思路：</a:t>
            </a:r>
            <a:r>
              <a:rPr lang="en-US" b="false" i="false" strike="noStrike" u="none" sz="1400">
                <a:solidFill>
                  <a:srgbClr val="E5E7EB"/>
                </a:solidFill>
                <a:latin typeface="Noto Sans SC"/>
                <a:ea typeface="Noto Sans SC"/>
                <a:cs typeface="Noto Sans SC"/>
                <a:sym typeface="Noto Sans SC"/>
              </a:rPr>
              <a:t>缓存高频问题与回答，复用结果避免重复调用。</a:t>
            </a:r>
            <a:r>
              <a:rPr lang="en-US" b="false" i="false" strike="noStrike" u="none" sz="1400">
                <a:solidFill>
                  <a:srgbClr val="1F2329"/>
                </a:solidFill>
                <a:latin typeface="Noto Sans SC"/>
                <a:ea typeface="Noto Sans SC"/>
                <a:cs typeface="Noto Sans SC"/>
                <a:sym typeface="Noto Sans SC"/>
              </a:rPr>
              <a:t/>
            </a:r>
            <a:endParaRPr lang="en-US" sz="1100"/>
          </a:p>
          <a:p>
            <a:pPr algn="l" indent="0">
              <a:lnSpc>
                <a:spcPct val="108333"/>
              </a:lnSpc>
            </a:pPr>
            <a:r>
              <a:rPr lang="en-US" b="true" i="false" strike="noStrike" u="none" sz="1400">
                <a:solidFill>
                  <a:srgbClr val="FFB6C1"/>
                </a:solidFill>
                <a:latin typeface="Noto Sans SC"/>
                <a:ea typeface="Noto Sans SC"/>
                <a:cs typeface="Noto Sans SC"/>
                <a:sym typeface="Noto Sans SC"/>
              </a:rPr>
              <a:t>技术选型：</a:t>
            </a:r>
            <a:r>
              <a:rPr lang="en-US" b="false" i="false" strike="noStrike" u="none" sz="1400">
                <a:solidFill>
                  <a:srgbClr val="E5E7EB"/>
                </a:solidFill>
                <a:latin typeface="Noto Sans SC"/>
                <a:ea typeface="Noto Sans SC"/>
                <a:cs typeface="Noto Sans SC"/>
                <a:sym typeface="Noto Sans SC"/>
              </a:rPr>
              <a:t>Redis内存数据库或移动端SharedPreferences。</a:t>
            </a:r>
            <a:r>
              <a:rPr lang="en-US" b="false" i="false" strike="noStrike" u="none" sz="1400">
                <a:solidFill>
                  <a:srgbClr val="1F2329"/>
                </a:solidFill>
                <a:latin typeface="Noto Sans SC"/>
                <a:ea typeface="Noto Sans SC"/>
                <a:cs typeface="Noto Sans SC"/>
                <a:sym typeface="Noto Sans SC"/>
              </a:rPr>
              <a:t/>
            </a:r>
          </a:p>
          <a:p>
            <a:pPr algn="l" indent="0">
              <a:lnSpc>
                <a:spcPct val="108333"/>
              </a:lnSpc>
            </a:pPr>
            <a:r>
              <a:rPr lang="en-US" b="true" i="false" strike="noStrike" u="none" sz="1400">
                <a:solidFill>
                  <a:srgbClr val="FFB6C1"/>
                </a:solidFill>
                <a:latin typeface="Noto Sans SC"/>
                <a:ea typeface="Noto Sans SC"/>
                <a:cs typeface="Noto Sans SC"/>
                <a:sym typeface="Noto Sans SC"/>
              </a:rPr>
              <a:t>核心优势：</a:t>
            </a:r>
            <a:r>
              <a:rPr lang="en-US" b="false" i="false" strike="noStrike" u="none" sz="1400">
                <a:solidFill>
                  <a:srgbClr val="E5E7EB"/>
                </a:solidFill>
                <a:latin typeface="Noto Sans SC"/>
                <a:ea typeface="Noto Sans SC"/>
                <a:cs typeface="Noto Sans SC"/>
                <a:sym typeface="Noto Sans SC"/>
              </a:rPr>
              <a:t>显著减少API调用，大幅降低延迟，提升响应速度。</a:t>
            </a:r>
          </a:p>
        </p:txBody>
      </p:sp>
      <p:sp>
        <p:nvSpPr>
          <p:cNvPr name="AutoShape 9" id="9"/>
          <p:cNvSpPr/>
          <p:nvPr/>
        </p:nvSpPr>
        <p:spPr>
          <a:xfrm rot="0" flipH="false" flipV="false">
            <a:off x="6350000" y="1397000"/>
            <a:ext cx="5080000" cy="2794000"/>
          </a:xfrm>
          <a:prstGeom prst="roundRect">
            <a:avLst>
              <a:gd name="adj" fmla="val 4545"/>
            </a:avLst>
          </a:prstGeom>
          <a:solidFill>
            <a:srgbClr val="FFFFFF">
              <a:alpha val="8000"/>
            </a:srgbClr>
          </a:solidFill>
          <a:ln w="12700" cmpd="sng" cap="flat">
            <a:solidFill>
              <a:srgbClr val="E6E6FA">
                <a:alpha val="3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604000" y="1587500"/>
            <a:ext cx="406400" cy="406400"/>
          </a:xfrm>
          <a:prstGeom prst="rect">
            <a:avLst/>
          </a:prstGeom>
        </p:spPr>
      </p:pic>
      <p:sp>
        <p:nvSpPr>
          <p:cNvPr name="AutoShape 11" id="11"/>
          <p:cNvSpPr/>
          <p:nvPr/>
        </p:nvSpPr>
        <p:spPr>
          <a:xfrm rot="0" flipH="false" flipV="false">
            <a:off x="7112000" y="15494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本地存储策略</a:t>
            </a:r>
            <a:endParaRPr lang="en-US" sz="1100"/>
          </a:p>
        </p:txBody>
      </p:sp>
      <p:sp>
        <p:nvSpPr>
          <p:cNvPr name="AutoShape 12" id="12"/>
          <p:cNvSpPr/>
          <p:nvPr/>
        </p:nvSpPr>
        <p:spPr>
          <a:xfrm rot="0" flipH="false" flipV="false">
            <a:off x="6604000" y="2032000"/>
            <a:ext cx="4572000" cy="1905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1400">
                <a:solidFill>
                  <a:srgbClr val="E6E6FA"/>
                </a:solidFill>
                <a:latin typeface="Noto Sans SC"/>
                <a:ea typeface="Noto Sans SC"/>
                <a:cs typeface="Noto Sans SC"/>
                <a:sym typeface="Noto Sans SC"/>
              </a:rPr>
              <a:t>实现思路：</a:t>
            </a:r>
            <a:r>
              <a:rPr lang="en-US" b="false" i="false" strike="noStrike" u="none" sz="1400">
                <a:solidFill>
                  <a:srgbClr val="E5E7EB"/>
                </a:solidFill>
                <a:latin typeface="Noto Sans SC"/>
                <a:ea typeface="Noto Sans SC"/>
                <a:cs typeface="Noto Sans SC"/>
                <a:sym typeface="Noto Sans SC"/>
              </a:rPr>
              <a:t>利用Room等本地数据库持久化存储对话历史记录。</a:t>
            </a:r>
            <a:r>
              <a:rPr lang="en-US" b="false" i="false" strike="noStrike" u="none" sz="1400">
                <a:solidFill>
                  <a:srgbClr val="1F2329"/>
                </a:solidFill>
                <a:latin typeface="Noto Sans SC"/>
                <a:ea typeface="Noto Sans SC"/>
                <a:cs typeface="Noto Sans SC"/>
                <a:sym typeface="Noto Sans SC"/>
              </a:rPr>
              <a:t/>
            </a:r>
            <a:endParaRPr lang="en-US" sz="1100"/>
          </a:p>
          <a:p>
            <a:pPr algn="l" indent="0">
              <a:lnSpc>
                <a:spcPct val="108333"/>
              </a:lnSpc>
            </a:pPr>
            <a:r>
              <a:rPr lang="en-US" b="true" i="false" strike="noStrike" u="none" sz="1400">
                <a:solidFill>
                  <a:srgbClr val="E6E6FA"/>
                </a:solidFill>
                <a:latin typeface="Noto Sans SC"/>
                <a:ea typeface="Noto Sans SC"/>
                <a:cs typeface="Noto Sans SC"/>
                <a:sym typeface="Noto Sans SC"/>
              </a:rPr>
              <a:t>核心优势：</a:t>
            </a:r>
            <a:r>
              <a:rPr lang="en-US" b="false" i="false" strike="noStrike" u="none" sz="1400">
                <a:solidFill>
                  <a:srgbClr val="E5E7EB"/>
                </a:solidFill>
                <a:latin typeface="Noto Sans SC"/>
                <a:ea typeface="Noto Sans SC"/>
                <a:cs typeface="Noto Sans SC"/>
                <a:sym typeface="Noto Sans SC"/>
              </a:rPr>
              <a:t>支持离线查看历史对话，为上下文理解提供数据支撑。</a:t>
            </a:r>
            <a:r>
              <a:rPr lang="en-US" b="false" i="false" strike="noStrike" u="none" sz="1400">
                <a:solidFill>
                  <a:srgbClr val="1F2329"/>
                </a:solidFill>
                <a:latin typeface="Noto Sans SC"/>
                <a:ea typeface="Noto Sans SC"/>
                <a:cs typeface="Noto Sans SC"/>
                <a:sym typeface="Noto Sans SC"/>
              </a:rPr>
              <a:t/>
            </a:r>
          </a:p>
          <a:p>
            <a:pPr algn="l" indent="0">
              <a:lnSpc>
                <a:spcPct val="108333"/>
              </a:lnSpc>
            </a:pPr>
            <a:r>
              <a:rPr lang="en-US" b="true" i="false" strike="noStrike" u="none" sz="1400">
                <a:solidFill>
                  <a:srgbClr val="E6E6FA"/>
                </a:solidFill>
                <a:latin typeface="Noto Sans SC"/>
                <a:ea typeface="Noto Sans SC"/>
                <a:cs typeface="Noto Sans SC"/>
                <a:sym typeface="Noto Sans SC"/>
              </a:rPr>
              <a:t>体验提升：</a:t>
            </a:r>
            <a:r>
              <a:rPr lang="en-US" b="false" i="false" strike="noStrike" u="none" sz="1400">
                <a:solidFill>
                  <a:srgbClr val="E5E7EB"/>
                </a:solidFill>
                <a:latin typeface="Noto Sans SC"/>
                <a:ea typeface="Noto Sans SC"/>
                <a:cs typeface="Noto Sans SC"/>
                <a:sym typeface="Noto Sans SC"/>
              </a:rPr>
              <a:t>减少对网络的依赖，提升用户操作连贯性。</a:t>
            </a:r>
          </a:p>
        </p:txBody>
      </p:sp>
      <p:sp>
        <p:nvSpPr>
          <p:cNvPr name="AutoShape 13" id="13"/>
          <p:cNvSpPr/>
          <p:nvPr/>
        </p:nvSpPr>
        <p:spPr>
          <a:xfrm rot="0" flipH="false" flipV="false">
            <a:off x="762000" y="4445000"/>
            <a:ext cx="10668000" cy="762000"/>
          </a:xfrm>
          <a:prstGeom prst="roundRect">
            <a:avLst>
              <a:gd name="adj" fmla="val 16666"/>
            </a:avLst>
          </a:prstGeom>
          <a:solidFill>
            <a:srgbClr val="00BFFF">
              <a:alpha val="15000"/>
            </a:srgbClr>
          </a:solidFill>
          <a:ln w="12700" cmpd="sng" cap="flat">
            <a:solidFill>
              <a:srgbClr val="00BFFF">
                <a:alpha val="50000"/>
              </a:srgbClr>
            </a:solid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016000" y="4648200"/>
            <a:ext cx="355600" cy="355600"/>
          </a:xfrm>
          <a:prstGeom prst="rect">
            <a:avLst/>
          </a:prstGeom>
        </p:spPr>
      </p:pic>
      <p:sp>
        <p:nvSpPr>
          <p:cNvPr name="AutoShape 15" id="15"/>
          <p:cNvSpPr/>
          <p:nvPr/>
        </p:nvSpPr>
        <p:spPr>
          <a:xfrm rot="0" flipH="false" flipV="false">
            <a:off x="1524000" y="4572000"/>
            <a:ext cx="9652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思考任务：</a:t>
            </a:r>
            <a:r>
              <a:rPr lang="en-US" b="false" i="false" strike="noStrike" u="none" sz="1600">
                <a:solidFill>
                  <a:srgbClr val="E5E7EB"/>
                </a:solidFill>
                <a:latin typeface="Noto Sans SC"/>
                <a:ea typeface="Noto Sans SC"/>
                <a:cs typeface="Noto Sans SC"/>
                <a:sym typeface="Noto Sans SC"/>
              </a:rPr>
              <a:t>请大家思考如何在自己的项目中结合业务场景，落地实现缓存和本地存储机制，以优化AI对话的响应速度。</a:t>
            </a:r>
            <a:endParaRPr lang="en-US" sz="1100"/>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A1428">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1428">
              <a:alpha val="9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AI对话引擎优化策略（二）：上下文管理</a:t>
            </a:r>
            <a:endParaRPr lang="en-US" sz="1100"/>
          </a:p>
        </p:txBody>
      </p:sp>
      <p:sp>
        <p:nvSpPr>
          <p:cNvPr name="AutoShape 5" id="5"/>
          <p:cNvSpPr/>
          <p:nvPr/>
        </p:nvSpPr>
        <p:spPr>
          <a:xfrm rot="0" flipH="false" flipV="false">
            <a:off x="762000" y="1397000"/>
            <a:ext cx="5143500" cy="3048000"/>
          </a:xfrm>
          <a:prstGeom prst="roundRect">
            <a:avLst>
              <a:gd name="adj" fmla="val 4166"/>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1651000"/>
            <a:ext cx="406400" cy="406400"/>
          </a:xfrm>
          <a:prstGeom prst="rect">
            <a:avLst/>
          </a:prstGeom>
        </p:spPr>
      </p:pic>
      <p:sp>
        <p:nvSpPr>
          <p:cNvPr name="AutoShape 7" id="7"/>
          <p:cNvSpPr/>
          <p:nvPr/>
        </p:nvSpPr>
        <p:spPr>
          <a:xfrm rot="0" flipH="false" flipV="false">
            <a:off x="1524000" y="16256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上下文窗口 (Context Window)</a:t>
            </a:r>
            <a:endParaRPr lang="en-US" sz="1100"/>
          </a:p>
        </p:txBody>
      </p:sp>
      <p:sp>
        <p:nvSpPr>
          <p:cNvPr name="AutoShape 8" id="8"/>
          <p:cNvSpPr/>
          <p:nvPr/>
        </p:nvSpPr>
        <p:spPr>
          <a:xfrm rot="0" flipH="false" flipV="false">
            <a:off x="1016000" y="2095500"/>
            <a:ext cx="46355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1400">
                <a:solidFill>
                  <a:srgbClr val="E6E6FA"/>
                </a:solidFill>
                <a:latin typeface="Noto Sans SC"/>
                <a:ea typeface="Noto Sans SC"/>
                <a:cs typeface="Noto Sans SC"/>
                <a:sym typeface="Noto Sans SC"/>
              </a:rPr>
              <a:t>实现思路：</a:t>
            </a:r>
            <a:r>
              <a:rPr lang="en-US" b="false" i="false" strike="noStrike" u="none" sz="1400">
                <a:solidFill>
                  <a:srgbClr val="DCDCDC"/>
                </a:solidFill>
                <a:latin typeface="Noto Sans SC"/>
                <a:ea typeface="Noto Sans SC"/>
                <a:cs typeface="Noto Sans SC"/>
                <a:sym typeface="Noto Sans SC"/>
              </a:rPr>
              <a:t>截取最近几轮对话（如5轮）作为上下文，与最新问题一并发送给模型，确保理解对话来龙去脉。</a:t>
            </a:r>
            <a:endParaRPr lang="en-US" sz="1100"/>
          </a:p>
        </p:txBody>
      </p:sp>
      <p:sp>
        <p:nvSpPr>
          <p:cNvPr name="AutoShape 9" id="9"/>
          <p:cNvSpPr/>
          <p:nvPr/>
        </p:nvSpPr>
        <p:spPr>
          <a:xfrm rot="0" flipH="false" flipV="false">
            <a:off x="1016000" y="2921000"/>
            <a:ext cx="46355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1400">
                <a:solidFill>
                  <a:srgbClr val="FFB6C1"/>
                </a:solidFill>
                <a:latin typeface="Noto Sans SC"/>
                <a:ea typeface="Noto Sans SC"/>
                <a:cs typeface="Noto Sans SC"/>
                <a:sym typeface="Noto Sans SC"/>
              </a:rPr>
              <a:t>示例场景：</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pPr>
            <a:r>
              <a:rPr lang="en-US" b="false" i="false" strike="noStrike" u="none" sz="1300">
                <a:solidFill>
                  <a:srgbClr val="C8C8C8"/>
                </a:solidFill>
                <a:latin typeface="Noto Sans SC"/>
                <a:ea typeface="Noto Sans SC"/>
                <a:cs typeface="Noto Sans SC"/>
                <a:sym typeface="Noto Sans SC"/>
              </a:rPr>
              <a:t>用户：“我在偏僻小路，有点害怕。”</a:t>
            </a:r>
            <a:r>
              <a:rPr lang="en-US" b="false" i="false" strike="noStrike" u="none" sz="1600">
                <a:solidFill>
                  <a:srgbClr val="1F2329"/>
                </a:solidFill>
                <a:latin typeface="Noto Sans SC"/>
                <a:ea typeface="Noto Sans SC"/>
                <a:cs typeface="Noto Sans SC"/>
                <a:sym typeface="Noto Sans SC"/>
              </a:rPr>
              <a:t/>
            </a:r>
          </a:p>
          <a:p>
            <a:pPr algn="l" indent="0">
              <a:lnSpc>
                <a:spcPct val="108333"/>
              </a:lnSpc>
            </a:pPr>
            <a:r>
              <a:rPr lang="en-US" b="false" i="false" strike="noStrike" u="none" sz="1300">
                <a:solidFill>
                  <a:srgbClr val="C8C8C8"/>
                </a:solidFill>
                <a:latin typeface="Noto Sans SC"/>
                <a:ea typeface="Noto Sans SC"/>
                <a:cs typeface="Noto Sans SC"/>
                <a:sym typeface="Noto Sans SC"/>
              </a:rPr>
              <a:t>AI：“请尽快前往人多的地方，已通知守护者。”</a:t>
            </a:r>
          </a:p>
        </p:txBody>
      </p:sp>
      <p:sp>
        <p:nvSpPr>
          <p:cNvPr name="AutoShape 10" id="10"/>
          <p:cNvSpPr/>
          <p:nvPr/>
        </p:nvSpPr>
        <p:spPr>
          <a:xfrm rot="0" flipH="false" flipV="false">
            <a:off x="6286500" y="1397000"/>
            <a:ext cx="5143500" cy="3048000"/>
          </a:xfrm>
          <a:prstGeom prst="roundRect">
            <a:avLst>
              <a:gd name="adj" fmla="val 4166"/>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540500" y="1651000"/>
            <a:ext cx="406400" cy="406400"/>
          </a:xfrm>
          <a:prstGeom prst="rect">
            <a:avLst/>
          </a:prstGeom>
        </p:spPr>
      </p:pic>
      <p:sp>
        <p:nvSpPr>
          <p:cNvPr name="AutoShape 12" id="12"/>
          <p:cNvSpPr/>
          <p:nvPr/>
        </p:nvSpPr>
        <p:spPr>
          <a:xfrm rot="0" flipH="false" flipV="false">
            <a:off x="7048500" y="16256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摘要生成 (Summary Generation)</a:t>
            </a:r>
            <a:endParaRPr lang="en-US" sz="1100"/>
          </a:p>
        </p:txBody>
      </p:sp>
      <p:sp>
        <p:nvSpPr>
          <p:cNvPr name="AutoShape 13" id="13"/>
          <p:cNvSpPr/>
          <p:nvPr/>
        </p:nvSpPr>
        <p:spPr>
          <a:xfrm rot="0" flipH="false" flipV="false">
            <a:off x="6540500" y="2095500"/>
            <a:ext cx="46355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1400">
                <a:solidFill>
                  <a:srgbClr val="E6E6FA"/>
                </a:solidFill>
                <a:latin typeface="Noto Sans SC"/>
                <a:ea typeface="Noto Sans SC"/>
                <a:cs typeface="Noto Sans SC"/>
                <a:sym typeface="Noto Sans SC"/>
              </a:rPr>
              <a:t>实现思路：</a:t>
            </a:r>
            <a:r>
              <a:rPr lang="en-US" b="false" i="false" strike="noStrike" u="none" sz="1400">
                <a:solidFill>
                  <a:srgbClr val="DCDCDC"/>
                </a:solidFill>
                <a:latin typeface="Noto Sans SC"/>
                <a:ea typeface="Noto Sans SC"/>
                <a:cs typeface="Noto Sans SC"/>
                <a:sym typeface="Noto Sans SC"/>
              </a:rPr>
              <a:t>针对超长对话历史，先调用模型生成对话摘要，再将摘要与新问题发送，减少Token消耗。</a:t>
            </a:r>
            <a:endParaRPr lang="en-US" sz="1100"/>
          </a:p>
        </p:txBody>
      </p:sp>
      <p:sp>
        <p:nvSpPr>
          <p:cNvPr name="AutoShape 14" id="14"/>
          <p:cNvSpPr/>
          <p:nvPr/>
        </p:nvSpPr>
        <p:spPr>
          <a:xfrm rot="0" flipH="false" flipV="false">
            <a:off x="6540500" y="2921000"/>
            <a:ext cx="46355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1400">
                <a:solidFill>
                  <a:srgbClr val="FFB6C1"/>
                </a:solidFill>
                <a:latin typeface="Noto Sans SC"/>
                <a:ea typeface="Noto Sans SC"/>
                <a:cs typeface="Noto Sans SC"/>
                <a:sym typeface="Noto Sans SC"/>
              </a:rPr>
              <a:t>核心优势：</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pPr>
            <a:r>
              <a:rPr lang="en-US" b="false" i="false" strike="noStrike" u="none" sz="1300">
                <a:solidFill>
                  <a:srgbClr val="C8C8C8"/>
                </a:solidFill>
                <a:latin typeface="Noto Sans SC"/>
                <a:ea typeface="Noto Sans SC"/>
                <a:cs typeface="Noto Sans SC"/>
                <a:sym typeface="Noto Sans SC"/>
              </a:rPr>
              <a:t>在保证上下文理解能力的前提下，显著降低API调用成本，并提升响应速度。</a:t>
            </a:r>
          </a:p>
        </p:txBody>
      </p:sp>
      <p:sp>
        <p:nvSpPr>
          <p:cNvPr name="AutoShape 15" id="15"/>
          <p:cNvSpPr/>
          <p:nvPr/>
        </p:nvSpPr>
        <p:spPr>
          <a:xfrm rot="0" flipH="false" flipV="false">
            <a:off x="762000" y="4826000"/>
            <a:ext cx="10668000" cy="889000"/>
          </a:xfrm>
          <a:prstGeom prst="roundRect">
            <a:avLst>
              <a:gd name="adj" fmla="val 14285"/>
            </a:avLst>
          </a:prstGeom>
          <a:solidFill>
            <a:srgbClr val="00BFFF">
              <a:alpha val="15000"/>
            </a:srgbClr>
          </a:solidFill>
          <a:ln w="12700" cmpd="sng" cap="flat">
            <a:solidFill>
              <a:srgbClr val="FFB6C1">
                <a:alpha val="100000"/>
              </a:srgbClr>
            </a:solidFill>
            <a:prstDash val="dash"/>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016000" y="5041900"/>
            <a:ext cx="457200" cy="457200"/>
          </a:xfrm>
          <a:prstGeom prst="rect">
            <a:avLst/>
          </a:prstGeom>
        </p:spPr>
      </p:pic>
      <p:sp>
        <p:nvSpPr>
          <p:cNvPr name="AutoShape 17" id="17"/>
          <p:cNvSpPr/>
          <p:nvPr/>
        </p:nvSpPr>
        <p:spPr>
          <a:xfrm rot="0" flipH="false" flipV="false">
            <a:off x="1651000" y="5016500"/>
            <a:ext cx="8890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B6C1"/>
                </a:solidFill>
                <a:latin typeface="Noto Sans SC"/>
                <a:ea typeface="Noto Sans SC"/>
                <a:cs typeface="Noto Sans SC"/>
                <a:sym typeface="Noto Sans SC"/>
              </a:rPr>
              <a:t>学生行动指令：</a:t>
            </a:r>
            <a:r>
              <a:rPr lang="en-US" b="false" i="false" strike="noStrike" u="none" sz="1800">
                <a:solidFill>
                  <a:srgbClr val="FFFFFF"/>
                </a:solidFill>
                <a:latin typeface="Noto Sans SC"/>
                <a:ea typeface="Noto Sans SC"/>
                <a:cs typeface="Noto Sans SC"/>
                <a:sym typeface="Noto Sans SC"/>
              </a:rPr>
              <a:t>修改代码实现上下文管理功能，让AI能够理解多轮对话的上下文逻辑。</a:t>
            </a:r>
            <a:endParaRPr lang="en-US" sz="1100"/>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A1428">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1428">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AI对话引擎优化策略（三）：提示词工程优化</a:t>
            </a:r>
            <a:endParaRPr lang="en-US" sz="1100"/>
          </a:p>
        </p:txBody>
      </p:sp>
      <p:sp>
        <p:nvSpPr>
          <p:cNvPr name="AutoShape 5" id="5"/>
          <p:cNvSpPr/>
          <p:nvPr/>
        </p:nvSpPr>
        <p:spPr>
          <a:xfrm rot="0" flipH="false" flipV="false">
            <a:off x="762000" y="1397000"/>
            <a:ext cx="3378200" cy="2286000"/>
          </a:xfrm>
          <a:prstGeom prst="roundRect">
            <a:avLst>
              <a:gd name="adj" fmla="val 5555"/>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1587500"/>
            <a:ext cx="406400" cy="406400"/>
          </a:xfrm>
          <a:prstGeom prst="rect">
            <a:avLst/>
          </a:prstGeom>
        </p:spPr>
      </p:pic>
      <p:sp>
        <p:nvSpPr>
          <p:cNvPr name="AutoShape 7" id="7"/>
          <p:cNvSpPr/>
          <p:nvPr/>
        </p:nvSpPr>
        <p:spPr>
          <a:xfrm rot="0" flipH="false" flipV="false">
            <a:off x="1524000" y="1549400"/>
            <a:ext cx="2413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角色设定</a:t>
            </a:r>
            <a:endParaRPr lang="en-US" sz="1100"/>
          </a:p>
        </p:txBody>
      </p:sp>
      <p:sp>
        <p:nvSpPr>
          <p:cNvPr name="AutoShape 8" id="8"/>
          <p:cNvSpPr/>
          <p:nvPr/>
        </p:nvSpPr>
        <p:spPr>
          <a:xfrm rot="0" flipH="false" flipV="false">
            <a:off x="952500" y="2032000"/>
            <a:ext cx="2997200" cy="1397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1300">
                <a:solidFill>
                  <a:srgbClr val="E6E6FA"/>
                </a:solidFill>
                <a:latin typeface="Noto Sans SC"/>
                <a:ea typeface="Noto Sans SC"/>
                <a:cs typeface="Noto Sans SC"/>
                <a:sym typeface="Noto Sans SC"/>
              </a:rPr>
              <a:t>实现思路：</a:t>
            </a:r>
            <a:r>
              <a:rPr lang="en-US" b="false" i="false" strike="noStrike" u="none" sz="1300">
                <a:solidFill>
                  <a:srgbClr val="E6E6FA"/>
                </a:solidFill>
                <a:latin typeface="Noto Sans SC"/>
                <a:ea typeface="Noto Sans SC"/>
                <a:cs typeface="Noto Sans SC"/>
                <a:sym typeface="Noto Sans SC"/>
              </a:rPr>
              <a:t>明确AI的角色身份，如“友善专业的安全助手SafeWalk”。</a:t>
            </a:r>
            <a:r>
              <a:rPr lang="en-US" b="false" i="false" strike="noStrike" u="none" sz="1300">
                <a:solidFill>
                  <a:srgbClr val="E6E6FA"/>
                </a:solidFill>
                <a:latin typeface="Noto Sans SC"/>
                <a:ea typeface="Noto Sans SC"/>
                <a:cs typeface="Noto Sans SC"/>
                <a:sym typeface="Noto Sans SC"/>
              </a:rPr>
              <a:t/>
            </a:r>
            <a:endParaRPr lang="en-US" sz="1100"/>
          </a:p>
          <a:p>
            <a:pPr algn="l" indent="0">
              <a:lnSpc>
                <a:spcPct val="108333"/>
              </a:lnSpc>
            </a:pPr>
            <a:r>
              <a:rPr lang="en-US" b="true" i="false" strike="noStrike" u="none" sz="1300">
                <a:solidFill>
                  <a:srgbClr val="E6E6FA"/>
                </a:solidFill>
                <a:latin typeface="Noto Sans SC"/>
                <a:ea typeface="Noto Sans SC"/>
                <a:cs typeface="Noto Sans SC"/>
                <a:sym typeface="Noto Sans SC"/>
              </a:rPr>
              <a:t>优势：</a:t>
            </a:r>
            <a:r>
              <a:rPr lang="en-US" b="false" i="false" strike="noStrike" u="none" sz="1300">
                <a:solidFill>
                  <a:srgbClr val="E6E6FA"/>
                </a:solidFill>
                <a:latin typeface="Noto Sans SC"/>
                <a:ea typeface="Noto Sans SC"/>
                <a:cs typeface="Noto Sans SC"/>
                <a:sym typeface="Noto Sans SC"/>
              </a:rPr>
              <a:t>回答更符合人设，增强人性化体验。</a:t>
            </a:r>
          </a:p>
        </p:txBody>
      </p:sp>
      <p:sp>
        <p:nvSpPr>
          <p:cNvPr name="AutoShape 9" id="9"/>
          <p:cNvSpPr/>
          <p:nvPr/>
        </p:nvSpPr>
        <p:spPr>
          <a:xfrm rot="0" flipH="false" flipV="false">
            <a:off x="4394200" y="1397000"/>
            <a:ext cx="3378200" cy="2286000"/>
          </a:xfrm>
          <a:prstGeom prst="roundRect">
            <a:avLst>
              <a:gd name="adj" fmla="val 5555"/>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648200" y="1587500"/>
            <a:ext cx="406400" cy="406400"/>
          </a:xfrm>
          <a:prstGeom prst="rect">
            <a:avLst/>
          </a:prstGeom>
        </p:spPr>
      </p:pic>
      <p:sp>
        <p:nvSpPr>
          <p:cNvPr name="AutoShape 11" id="11"/>
          <p:cNvSpPr/>
          <p:nvPr/>
        </p:nvSpPr>
        <p:spPr>
          <a:xfrm rot="0" flipH="false" flipV="false">
            <a:off x="5156200" y="1549400"/>
            <a:ext cx="2413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指令明确</a:t>
            </a:r>
            <a:endParaRPr lang="en-US" sz="1100"/>
          </a:p>
        </p:txBody>
      </p:sp>
      <p:sp>
        <p:nvSpPr>
          <p:cNvPr name="AutoShape 12" id="12"/>
          <p:cNvSpPr/>
          <p:nvPr/>
        </p:nvSpPr>
        <p:spPr>
          <a:xfrm rot="0" flipH="false" flipV="false">
            <a:off x="4584700" y="2032000"/>
            <a:ext cx="2997200" cy="1397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1300">
                <a:solidFill>
                  <a:srgbClr val="E6E6FA"/>
                </a:solidFill>
                <a:latin typeface="Noto Sans SC"/>
                <a:ea typeface="Noto Sans SC"/>
                <a:cs typeface="Noto Sans SC"/>
                <a:sym typeface="Noto Sans SC"/>
              </a:rPr>
              <a:t>实现思路：</a:t>
            </a:r>
            <a:r>
              <a:rPr lang="en-US" b="false" i="false" strike="noStrike" u="none" sz="1300">
                <a:solidFill>
                  <a:srgbClr val="E6E6FA"/>
                </a:solidFill>
                <a:latin typeface="Noto Sans SC"/>
                <a:ea typeface="Noto Sans SC"/>
                <a:cs typeface="Noto Sans SC"/>
                <a:sym typeface="Noto Sans SC"/>
              </a:rPr>
              <a:t>清晰告知任务和要求，如“提供实用建议并表达关心”。</a:t>
            </a:r>
            <a:r>
              <a:rPr lang="en-US" b="false" i="false" strike="noStrike" u="none" sz="1300">
                <a:solidFill>
                  <a:srgbClr val="E6E6FA"/>
                </a:solidFill>
                <a:latin typeface="Noto Sans SC"/>
                <a:ea typeface="Noto Sans SC"/>
                <a:cs typeface="Noto Sans SC"/>
                <a:sym typeface="Noto Sans SC"/>
              </a:rPr>
              <a:t/>
            </a:r>
            <a:endParaRPr lang="en-US" sz="1100"/>
          </a:p>
          <a:p>
            <a:pPr algn="l" indent="0">
              <a:lnSpc>
                <a:spcPct val="108333"/>
              </a:lnSpc>
            </a:pPr>
            <a:r>
              <a:rPr lang="en-US" b="true" i="false" strike="noStrike" u="none" sz="1300">
                <a:solidFill>
                  <a:srgbClr val="E6E6FA"/>
                </a:solidFill>
                <a:latin typeface="Noto Sans SC"/>
                <a:ea typeface="Noto Sans SC"/>
                <a:cs typeface="Noto Sans SC"/>
                <a:sym typeface="Noto Sans SC"/>
              </a:rPr>
              <a:t>优势：</a:t>
            </a:r>
            <a:r>
              <a:rPr lang="en-US" b="false" i="false" strike="noStrike" u="none" sz="1300">
                <a:solidFill>
                  <a:srgbClr val="E6E6FA"/>
                </a:solidFill>
                <a:latin typeface="Noto Sans SC"/>
                <a:ea typeface="Noto Sans SC"/>
                <a:cs typeface="Noto Sans SC"/>
                <a:sym typeface="Noto Sans SC"/>
              </a:rPr>
              <a:t>引导AI生成更精准、符合预期的回答。</a:t>
            </a:r>
          </a:p>
        </p:txBody>
      </p:sp>
      <p:sp>
        <p:nvSpPr>
          <p:cNvPr name="AutoShape 13" id="13"/>
          <p:cNvSpPr/>
          <p:nvPr/>
        </p:nvSpPr>
        <p:spPr>
          <a:xfrm rot="0" flipH="false" flipV="false">
            <a:off x="8026400" y="1397000"/>
            <a:ext cx="3378200" cy="2286000"/>
          </a:xfrm>
          <a:prstGeom prst="roundRect">
            <a:avLst>
              <a:gd name="adj" fmla="val 5555"/>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280400" y="1587500"/>
            <a:ext cx="406400" cy="406400"/>
          </a:xfrm>
          <a:prstGeom prst="rect">
            <a:avLst/>
          </a:prstGeom>
        </p:spPr>
      </p:pic>
      <p:sp>
        <p:nvSpPr>
          <p:cNvPr name="AutoShape 15" id="15"/>
          <p:cNvSpPr/>
          <p:nvPr/>
        </p:nvSpPr>
        <p:spPr>
          <a:xfrm rot="0" flipH="false" flipV="false">
            <a:off x="8788400" y="1549400"/>
            <a:ext cx="2413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示例引导</a:t>
            </a:r>
            <a:endParaRPr lang="en-US" sz="1100"/>
          </a:p>
        </p:txBody>
      </p:sp>
      <p:sp>
        <p:nvSpPr>
          <p:cNvPr name="AutoShape 16" id="16"/>
          <p:cNvSpPr/>
          <p:nvPr/>
        </p:nvSpPr>
        <p:spPr>
          <a:xfrm rot="0" flipH="false" flipV="false">
            <a:off x="8216900" y="2032000"/>
            <a:ext cx="2997200" cy="1397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1300">
                <a:solidFill>
                  <a:srgbClr val="E6E6FA"/>
                </a:solidFill>
                <a:latin typeface="Noto Sans SC"/>
                <a:ea typeface="Noto Sans SC"/>
                <a:cs typeface="Noto Sans SC"/>
                <a:sym typeface="Noto Sans SC"/>
              </a:rPr>
              <a:t>实现思路：</a:t>
            </a:r>
            <a:r>
              <a:rPr lang="en-US" b="false" i="false" strike="noStrike" u="none" sz="1300">
                <a:solidFill>
                  <a:srgbClr val="E6E6FA"/>
                </a:solidFill>
                <a:latin typeface="Noto Sans SC"/>
                <a:ea typeface="Noto Sans SC"/>
                <a:cs typeface="Noto Sans SC"/>
                <a:sym typeface="Noto Sans SC"/>
              </a:rPr>
              <a:t>提供高质量示例，引导AI模仿风格。</a:t>
            </a:r>
            <a:r>
              <a:rPr lang="en-US" b="false" i="false" strike="noStrike" u="none" sz="1300">
                <a:solidFill>
                  <a:srgbClr val="E6E6FA"/>
                </a:solidFill>
                <a:latin typeface="Noto Sans SC"/>
                <a:ea typeface="Noto Sans SC"/>
                <a:cs typeface="Noto Sans SC"/>
                <a:sym typeface="Noto Sans SC"/>
              </a:rPr>
              <a:t/>
            </a:r>
            <a:endParaRPr lang="en-US" sz="1100"/>
          </a:p>
          <a:p>
            <a:pPr algn="l" indent="0">
              <a:lnSpc>
                <a:spcPct val="108333"/>
              </a:lnSpc>
            </a:pPr>
            <a:r>
              <a:rPr lang="en-US" b="true" i="false" strike="noStrike" u="none" sz="1300">
                <a:solidFill>
                  <a:srgbClr val="E6E6FA"/>
                </a:solidFill>
                <a:latin typeface="Noto Sans SC"/>
                <a:ea typeface="Noto Sans SC"/>
                <a:cs typeface="Noto Sans SC"/>
                <a:sym typeface="Noto Sans SC"/>
              </a:rPr>
              <a:t>优势：</a:t>
            </a:r>
            <a:r>
              <a:rPr lang="en-US" b="false" i="false" strike="noStrike" u="none" sz="1300">
                <a:solidFill>
                  <a:srgbClr val="E6E6FA"/>
                </a:solidFill>
                <a:latin typeface="Noto Sans SC"/>
                <a:ea typeface="Noto Sans SC"/>
                <a:cs typeface="Noto Sans SC"/>
                <a:sym typeface="Noto Sans SC"/>
              </a:rPr>
              <a:t>帮助AI理解需求，降低回答偏差。</a:t>
            </a:r>
          </a:p>
        </p:txBody>
      </p:sp>
      <p:sp>
        <p:nvSpPr>
          <p:cNvPr name="AutoShape 17" id="17"/>
          <p:cNvSpPr/>
          <p:nvPr/>
        </p:nvSpPr>
        <p:spPr>
          <a:xfrm rot="0" flipH="false" flipV="false">
            <a:off x="762000" y="4064000"/>
            <a:ext cx="10668000" cy="1016000"/>
          </a:xfrm>
          <a:prstGeom prst="roundRect">
            <a:avLst>
              <a:gd name="adj" fmla="val 12500"/>
            </a:avLst>
          </a:prstGeom>
          <a:solidFill>
            <a:srgbClr val="00BFFF">
              <a:alpha val="15000"/>
            </a:srgbClr>
          </a:solidFill>
          <a:ln w="12700" cmpd="sng" cap="flat">
            <a:solidFill>
              <a:srgbClr val="00BFFF">
                <a:alpha val="50000"/>
              </a:srgbClr>
            </a:solid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1016000" y="4343400"/>
            <a:ext cx="457200" cy="457200"/>
          </a:xfrm>
          <a:prstGeom prst="rect">
            <a:avLst/>
          </a:prstGeom>
        </p:spPr>
      </p:pic>
      <p:sp>
        <p:nvSpPr>
          <p:cNvPr name="AutoShape 19" id="19"/>
          <p:cNvSpPr/>
          <p:nvPr/>
        </p:nvSpPr>
        <p:spPr>
          <a:xfrm rot="0" flipH="false" flipV="false">
            <a:off x="1651000" y="4191000"/>
            <a:ext cx="9652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00BFFF"/>
                </a:solidFill>
                <a:latin typeface="Noto Sans SC"/>
                <a:ea typeface="Noto Sans SC"/>
                <a:cs typeface="Noto Sans SC"/>
                <a:sym typeface="Noto Sans SC"/>
              </a:rPr>
              <a:t>学生行动指令：</a:t>
            </a:r>
            <a:r>
              <a:rPr lang="en-US" b="false" i="false" strike="noStrike" u="none" sz="1600">
                <a:solidFill>
                  <a:srgbClr val="FFFFFF"/>
                </a:solidFill>
                <a:latin typeface="Noto Sans SC"/>
                <a:ea typeface="Noto Sans SC"/>
                <a:cs typeface="Noto Sans SC"/>
                <a:sym typeface="Noto Sans SC"/>
              </a:rPr>
              <a:t>请大家优化自己项目中的Prompt模板，通过精心设计的提示词，提升AI回答的质量和人性化程度。</a:t>
            </a:r>
            <a:endParaRPr lang="en-US" sz="1100"/>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D1930">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1428">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508000"/>
            <a:ext cx="60325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AI对话功能测试与验证</a:t>
            </a:r>
            <a:endParaRPr lang="en-US" sz="1100"/>
          </a:p>
        </p:txBody>
      </p:sp>
      <p:sp>
        <p:nvSpPr>
          <p:cNvPr name="AutoShape 5" id="5"/>
          <p:cNvSpPr/>
          <p:nvPr/>
        </p:nvSpPr>
        <p:spPr>
          <a:xfrm rot="0" flipH="false" flipV="false">
            <a:off x="762000" y="1397000"/>
            <a:ext cx="5207000" cy="1524000"/>
          </a:xfrm>
          <a:prstGeom prst="roundRect">
            <a:avLst>
              <a:gd name="adj" fmla="val 8333"/>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1587500"/>
            <a:ext cx="406400" cy="406400"/>
          </a:xfrm>
          <a:prstGeom prst="rect">
            <a:avLst/>
          </a:prstGeom>
        </p:spPr>
      </p:pic>
      <p:sp>
        <p:nvSpPr>
          <p:cNvPr name="AutoShape 7" id="7"/>
          <p:cNvSpPr/>
          <p:nvPr/>
        </p:nvSpPr>
        <p:spPr>
          <a:xfrm rot="0" flipH="false" flipV="false">
            <a:off x="1524000" y="1549400"/>
            <a:ext cx="431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功能测试</a:t>
            </a:r>
            <a:endParaRPr lang="en-US" sz="1100"/>
          </a:p>
        </p:txBody>
      </p:sp>
      <p:sp>
        <p:nvSpPr>
          <p:cNvPr name="AutoShape 8" id="8"/>
          <p:cNvSpPr/>
          <p:nvPr/>
        </p:nvSpPr>
        <p:spPr>
          <a:xfrm rot="0" flipH="false" flipV="false">
            <a:off x="1524000" y="1968500"/>
            <a:ext cx="4318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300">
                <a:solidFill>
                  <a:srgbClr val="FFFFFF">
                    <a:alpha val="80000"/>
                  </a:srgbClr>
                </a:solidFill>
                <a:latin typeface="Noto Sans SC"/>
                <a:ea typeface="Noto Sans SC"/>
                <a:cs typeface="Noto Sans SC"/>
                <a:sym typeface="Noto Sans SC"/>
              </a:rPr>
              <a:t>测试不同场景下的对话流畅度与准确性（如紧急情况、路线询问）；验证AI对上下文的理解与连贯回答能力。</a:t>
            </a:r>
            <a:endParaRPr lang="en-US" sz="1100"/>
          </a:p>
        </p:txBody>
      </p:sp>
      <p:sp>
        <p:nvSpPr>
          <p:cNvPr name="AutoShape 9" id="9"/>
          <p:cNvSpPr/>
          <p:nvPr/>
        </p:nvSpPr>
        <p:spPr>
          <a:xfrm rot="0" flipH="false" flipV="false">
            <a:off x="6223000" y="1397000"/>
            <a:ext cx="5207000" cy="1524000"/>
          </a:xfrm>
          <a:prstGeom prst="roundRect">
            <a:avLst>
              <a:gd name="adj" fmla="val 8333"/>
            </a:avLst>
          </a:prstGeom>
          <a:solidFill>
            <a:srgbClr val="FFFFFF">
              <a:alpha val="8000"/>
            </a:srgbClr>
          </a:solidFill>
          <a:ln w="12700" cmpd="sng" cap="flat">
            <a:solidFill>
              <a:srgbClr val="FFB6C1">
                <a:alpha val="3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477000" y="1587500"/>
            <a:ext cx="406400" cy="406400"/>
          </a:xfrm>
          <a:prstGeom prst="rect">
            <a:avLst/>
          </a:prstGeom>
        </p:spPr>
      </p:pic>
      <p:sp>
        <p:nvSpPr>
          <p:cNvPr name="AutoShape 11" id="11"/>
          <p:cNvSpPr/>
          <p:nvPr/>
        </p:nvSpPr>
        <p:spPr>
          <a:xfrm rot="0" flipH="false" flipV="false">
            <a:off x="6985000" y="1549400"/>
            <a:ext cx="431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性能测试</a:t>
            </a:r>
            <a:endParaRPr lang="en-US" sz="1100"/>
          </a:p>
        </p:txBody>
      </p:sp>
      <p:sp>
        <p:nvSpPr>
          <p:cNvPr name="AutoShape 12" id="12"/>
          <p:cNvSpPr/>
          <p:nvPr/>
        </p:nvSpPr>
        <p:spPr>
          <a:xfrm rot="0" flipH="false" flipV="false">
            <a:off x="6985000" y="1968500"/>
            <a:ext cx="4318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300">
                <a:solidFill>
                  <a:srgbClr val="FFFFFF">
                    <a:alpha val="80000"/>
                  </a:srgbClr>
                </a:solidFill>
                <a:latin typeface="Noto Sans SC"/>
                <a:ea typeface="Noto Sans SC"/>
                <a:cs typeface="Noto Sans SC"/>
                <a:sym typeface="Noto Sans SC"/>
              </a:rPr>
              <a:t>确保单轮响应时间在2秒以内；验证高并发场景下系统的稳定性与响应速度，避免延迟过高。</a:t>
            </a:r>
            <a:endParaRPr lang="en-US" sz="1100"/>
          </a:p>
        </p:txBody>
      </p:sp>
      <p:sp>
        <p:nvSpPr>
          <p:cNvPr name="AutoShape 13" id="13"/>
          <p:cNvSpPr/>
          <p:nvPr/>
        </p:nvSpPr>
        <p:spPr>
          <a:xfrm rot="0" flipH="false" flipV="false">
            <a:off x="762000" y="3111500"/>
            <a:ext cx="5207000" cy="1524000"/>
          </a:xfrm>
          <a:prstGeom prst="roundRect">
            <a:avLst>
              <a:gd name="adj" fmla="val 8333"/>
            </a:avLst>
          </a:prstGeom>
          <a:solidFill>
            <a:srgbClr val="FFFFFF">
              <a:alpha val="8000"/>
            </a:srgbClr>
          </a:solidFill>
          <a:ln w="12700" cmpd="sng" cap="flat">
            <a:solidFill>
              <a:srgbClr val="E6E6FA">
                <a:alpha val="30000"/>
              </a:srgbClr>
            </a:solid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016000" y="3302000"/>
            <a:ext cx="406400" cy="406400"/>
          </a:xfrm>
          <a:prstGeom prst="rect">
            <a:avLst/>
          </a:prstGeom>
        </p:spPr>
      </p:pic>
      <p:sp>
        <p:nvSpPr>
          <p:cNvPr name="AutoShape 15" id="15"/>
          <p:cNvSpPr/>
          <p:nvPr/>
        </p:nvSpPr>
        <p:spPr>
          <a:xfrm rot="0" flipH="false" flipV="false">
            <a:off x="1524000" y="3263900"/>
            <a:ext cx="431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用户体验测试</a:t>
            </a:r>
            <a:endParaRPr lang="en-US" sz="1100"/>
          </a:p>
        </p:txBody>
      </p:sp>
      <p:sp>
        <p:nvSpPr>
          <p:cNvPr name="AutoShape 16" id="16"/>
          <p:cNvSpPr/>
          <p:nvPr/>
        </p:nvSpPr>
        <p:spPr>
          <a:xfrm rot="0" flipH="false" flipV="false">
            <a:off x="1524000" y="3683000"/>
            <a:ext cx="4318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300">
                <a:solidFill>
                  <a:srgbClr val="FFFFFF">
                    <a:alpha val="80000"/>
                  </a:srgbClr>
                </a:solidFill>
                <a:latin typeface="Noto Sans SC"/>
                <a:ea typeface="Noto Sans SC"/>
                <a:cs typeface="Noto Sans SC"/>
                <a:sym typeface="Noto Sans SC"/>
              </a:rPr>
              <a:t>邀请真实用户参与测试，收集反馈与满意度；评估AI回答的人性化程度及交互体验的自然度。</a:t>
            </a:r>
            <a:endParaRPr lang="en-US" sz="1100"/>
          </a:p>
        </p:txBody>
      </p:sp>
      <p:sp>
        <p:nvSpPr>
          <p:cNvPr name="AutoShape 17" id="17"/>
          <p:cNvSpPr/>
          <p:nvPr/>
        </p:nvSpPr>
        <p:spPr>
          <a:xfrm rot="0" flipH="false" flipV="false">
            <a:off x="6223000" y="3111500"/>
            <a:ext cx="5207000" cy="1524000"/>
          </a:xfrm>
          <a:prstGeom prst="roundRect">
            <a:avLst>
              <a:gd name="adj" fmla="val 8333"/>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6477000" y="3302000"/>
            <a:ext cx="406400" cy="406400"/>
          </a:xfrm>
          <a:prstGeom prst="rect">
            <a:avLst/>
          </a:prstGeom>
        </p:spPr>
      </p:pic>
      <p:sp>
        <p:nvSpPr>
          <p:cNvPr name="AutoShape 19" id="19"/>
          <p:cNvSpPr/>
          <p:nvPr/>
        </p:nvSpPr>
        <p:spPr>
          <a:xfrm rot="0" flipH="false" flipV="false">
            <a:off x="6985000" y="3263900"/>
            <a:ext cx="431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验证标准</a:t>
            </a:r>
            <a:endParaRPr lang="en-US" sz="1100"/>
          </a:p>
        </p:txBody>
      </p:sp>
      <p:sp>
        <p:nvSpPr>
          <p:cNvPr name="AutoShape 20" id="20"/>
          <p:cNvSpPr/>
          <p:nvPr/>
        </p:nvSpPr>
        <p:spPr>
          <a:xfrm rot="0" flipH="false" flipV="false">
            <a:off x="6985000" y="3683000"/>
            <a:ext cx="4318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300">
                <a:solidFill>
                  <a:srgbClr val="FFFFFF">
                    <a:alpha val="80000"/>
                  </a:srgbClr>
                </a:solidFill>
                <a:latin typeface="Noto Sans SC"/>
                <a:ea typeface="Noto Sans SC"/>
                <a:cs typeface="Noto Sans SC"/>
                <a:sym typeface="Noto Sans SC"/>
              </a:rPr>
              <a:t>核心指标：回答准确率（相关性）、平均响应速度、用户满意度评分，需全部达标方可上线。</a:t>
            </a:r>
            <a:endParaRPr lang="en-US" sz="1100"/>
          </a:p>
        </p:txBody>
      </p:sp>
      <p:sp>
        <p:nvSpPr>
          <p:cNvPr name="AutoShape 21" id="21"/>
          <p:cNvSpPr/>
          <p:nvPr/>
        </p:nvSpPr>
        <p:spPr>
          <a:xfrm rot="0" flipH="false" flipV="false">
            <a:off x="762000" y="4953000"/>
            <a:ext cx="10668000" cy="762000"/>
          </a:xfrm>
          <a:prstGeom prst="roundRect">
            <a:avLst>
              <a:gd name="adj" fmla="val 16666"/>
            </a:avLst>
          </a:prstGeom>
          <a:solidFill>
            <a:srgbClr val="00BFFF">
              <a:alpha val="15000"/>
            </a:srgbClr>
          </a:solidFill>
          <a:ln w="12700" cmpd="sng" cap="flat">
            <a:solidFill>
              <a:srgbClr val="00BFFF">
                <a:alpha val="50000"/>
              </a:srgbClr>
            </a:solidFill>
            <a:prstDash val="solid"/>
            <a:round/>
          </a:ln>
        </p:spPr>
        <p:txBody>
          <a:bodyPr anchor="ctr" rtlCol="false" vert="horz" wrap="square" lIns="63500" rIns="63500" tIns="63500" bIns="63500"/>
          <a:lstStyle/>
          <a:p>
            <a:pPr algn="ctr">
              <a:defRPr/>
            </a:pPr>
            <a:endParaRPr/>
          </a:p>
        </p:txBody>
      </p:sp>
      <p:pic>
        <p:nvPicPr>
          <p:cNvPr name="Picture 22" id="22"/>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1016000" y="5181600"/>
            <a:ext cx="304800" cy="304800"/>
          </a:xfrm>
          <a:prstGeom prst="rect">
            <a:avLst/>
          </a:prstGeom>
        </p:spPr>
      </p:pic>
      <p:sp>
        <p:nvSpPr>
          <p:cNvPr name="AutoShape 23" id="23"/>
          <p:cNvSpPr/>
          <p:nvPr/>
        </p:nvSpPr>
        <p:spPr>
          <a:xfrm rot="0" flipH="false" flipV="false">
            <a:off x="1460500" y="5080000"/>
            <a:ext cx="9652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500">
                <a:solidFill>
                  <a:srgbClr val="FFFFFF"/>
                </a:solidFill>
                <a:latin typeface="Noto Sans SC"/>
                <a:ea typeface="Noto Sans SC"/>
                <a:cs typeface="Noto Sans SC"/>
                <a:sym typeface="Noto Sans SC"/>
              </a:rPr>
              <a:t>行动指令：</a:t>
            </a:r>
            <a:r>
              <a:rPr lang="en-US" b="false" i="false" strike="noStrike" u="none" sz="1500">
                <a:solidFill>
                  <a:srgbClr val="FFFFFF">
                    <a:alpha val="90196"/>
                  </a:srgbClr>
                </a:solidFill>
                <a:latin typeface="Noto Sans SC"/>
                <a:ea typeface="Noto Sans SC"/>
                <a:cs typeface="Noto Sans SC"/>
                <a:sym typeface="Noto Sans SC"/>
              </a:rPr>
              <a:t>请大家对自己团队的AI对话功能进行全面的测试和验证，并根据测试结果进行针对性优化。</a:t>
            </a:r>
            <a:endParaRPr lang="en-US" sz="1100"/>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A192F">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192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0" y="0"/>
            <a:ext cx="12192000" cy="50800"/>
          </a:xfrm>
          <a:prstGeom prst="roundRect">
            <a:avLst>
              <a:gd name="adj" fmla="val 0"/>
            </a:avLst>
          </a:prstGeom>
          <a:gradFill rotWithShape="true">
            <a:gsLst>
              <a:gs pos="0">
                <a:srgbClr val="00BFFF">
                  <a:alpha val="100000"/>
                </a:srgbClr>
              </a:gs>
              <a:gs pos="100000">
                <a:srgbClr val="E6E6FA">
                  <a:alpha val="100000"/>
                </a:srgbClr>
              </a:gs>
            </a:gsLst>
            <a:lin ang="0"/>
          </a:gradFill>
          <a:ln w="25400" cmpd="sng" cap="flat">
            <a:no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5791200" y="1651000"/>
            <a:ext cx="609600" cy="609600"/>
          </a:xfrm>
          <a:prstGeom prst="rect">
            <a:avLst/>
          </a:prstGeom>
          <a:effectLst>
            <a:outerShdw dir="2700000" dist="0" blurRad="127000" algn="tl" rotWithShape="false">
              <a:srgbClr val="00BFFF">
                <a:alpha val="50000"/>
              </a:srgbClr>
            </a:outerShdw>
          </a:effectLst>
        </p:spPr>
      </p:pic>
      <p:sp>
        <p:nvSpPr>
          <p:cNvPr name="AutoShape 6" id="6"/>
          <p:cNvSpPr/>
          <p:nvPr/>
        </p:nvSpPr>
        <p:spPr>
          <a:xfrm rot="0" flipH="false" flipV="false">
            <a:off x="508000" y="2413000"/>
            <a:ext cx="11176000" cy="635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true" i="false" strike="noStrike" u="none" sz="3200">
                <a:solidFill>
                  <a:srgbClr val="FFFFFF"/>
                </a:solidFill>
                <a:latin typeface="Noto Sans SC"/>
                <a:ea typeface="Noto Sans SC"/>
                <a:cs typeface="Noto Sans SC"/>
                <a:sym typeface="Noto Sans SC"/>
              </a:rPr>
              <a:t>模块二：推送通知功能实现与管理</a:t>
            </a:r>
            <a:endParaRPr lang="en-US" sz="1100"/>
          </a:p>
        </p:txBody>
      </p:sp>
      <p:cxnSp>
        <p:nvCxnSpPr>
          <p:cNvPr name="Connector 7" id="7"/>
          <p:cNvCxnSpPr/>
          <p:nvPr/>
        </p:nvCxnSpPr>
        <p:spPr>
          <a:xfrm rot="-17188" flipH="false" flipV="false">
            <a:off x="4826016" y="3168650"/>
            <a:ext cx="2540000" cy="12700"/>
          </a:xfrm>
          <a:prstGeom prst="line">
            <a:avLst/>
          </a:prstGeom>
          <a:solidFill>
            <a:srgbClr val="DEE0E3">
              <a:alpha val="100000"/>
            </a:srgbClr>
          </a:solidFill>
          <a:ln w="25400" cmpd="sng" cap="flat">
            <a:solidFill>
              <a:srgbClr val="FFB6C1">
                <a:alpha val="100000"/>
              </a:srgbClr>
            </a:solidFill>
            <a:prstDash val="solid"/>
            <a:round/>
            <a:headEnd type="none" w="lg" len="lg"/>
            <a:tailEnd type="none" w="lg" len="lg"/>
          </a:ln>
        </p:spPr>
      </p:cxnSp>
      <p:sp>
        <p:nvSpPr>
          <p:cNvPr name="AutoShape 8" id="8"/>
          <p:cNvSpPr/>
          <p:nvPr/>
        </p:nvSpPr>
        <p:spPr>
          <a:xfrm rot="0" flipH="false" flipV="false">
            <a:off x="508000" y="3429000"/>
            <a:ext cx="11176000" cy="508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false" i="false" strike="noStrike" u="none" sz="2000">
                <a:solidFill>
                  <a:srgbClr val="E6E6FA"/>
                </a:solidFill>
                <a:latin typeface="Noto Sans SC"/>
                <a:ea typeface="Noto Sans SC"/>
                <a:cs typeface="Noto Sans SC"/>
                <a:sym typeface="Noto Sans SC"/>
              </a:rPr>
              <a:t>及时触达用户，提升用户粘性</a:t>
            </a:r>
            <a:endParaRPr lang="en-US" sz="1100"/>
          </a:p>
        </p:txBody>
      </p:sp>
      <p:sp>
        <p:nvSpPr>
          <p:cNvPr name="AutoShape 9" id="9"/>
          <p:cNvSpPr/>
          <p:nvPr/>
        </p:nvSpPr>
        <p:spPr>
          <a:xfrm rot="0" flipH="false" flipV="false">
            <a:off x="6057900" y="6096000"/>
            <a:ext cx="76200" cy="76200"/>
          </a:xfrm>
          <a:prstGeom prst="roundRect">
            <a:avLst>
              <a:gd name="adj" fmla="val 0"/>
            </a:avLst>
          </a:prstGeom>
          <a:solidFill>
            <a:srgbClr val="00BFF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5842000" y="6096000"/>
            <a:ext cx="76200" cy="76200"/>
          </a:xfrm>
          <a:prstGeom prst="roundRect">
            <a:avLst>
              <a:gd name="adj" fmla="val 0"/>
            </a:avLst>
          </a:prstGeom>
          <a:solidFill>
            <a:srgbClr val="00BFFF">
              <a:alpha val="5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6273800" y="6096000"/>
            <a:ext cx="76200" cy="76200"/>
          </a:xfrm>
          <a:prstGeom prst="roundRect">
            <a:avLst>
              <a:gd name="adj" fmla="val 0"/>
            </a:avLst>
          </a:prstGeom>
          <a:solidFill>
            <a:srgbClr val="00BFFF">
              <a:alpha val="50000"/>
            </a:srgbClr>
          </a:solidFill>
          <a:ln w="25400" cmpd="sng" cap="flat">
            <a:noFill/>
            <a:prstDash val="solid"/>
            <a:round/>
          </a:ln>
        </p:spPr>
        <p:txBody>
          <a:bodyPr anchor="ctr" rtlCol="false" vert="horz" wrap="square" lIns="63500" rIns="63500" tIns="63500" bIns="63500"/>
          <a:lstStyle/>
          <a:p>
            <a:pPr algn="ctr">
              <a:defRPr/>
            </a:pPr>
            <a:endParaR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A192F">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192F">
              <a:alpha val="9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推送通知功能需求分析与技术选型</a:t>
            </a:r>
            <a:endParaRPr lang="en-US" sz="1100"/>
          </a:p>
        </p:txBody>
      </p:sp>
      <p:sp>
        <p:nvSpPr>
          <p:cNvPr name="AutoShape 5" id="5"/>
          <p:cNvSpPr/>
          <p:nvPr/>
        </p:nvSpPr>
        <p:spPr>
          <a:xfrm rot="0" flipH="false" flipV="false">
            <a:off x="762000" y="1270000"/>
            <a:ext cx="10668000" cy="1016000"/>
          </a:xfrm>
          <a:prstGeom prst="roundRect">
            <a:avLst>
              <a:gd name="adj" fmla="val 12500"/>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1574800"/>
            <a:ext cx="406400" cy="406400"/>
          </a:xfrm>
          <a:prstGeom prst="rect">
            <a:avLst/>
          </a:prstGeom>
        </p:spPr>
      </p:pic>
      <p:sp>
        <p:nvSpPr>
          <p:cNvPr name="AutoShape 7" id="7"/>
          <p:cNvSpPr/>
          <p:nvPr/>
        </p:nvSpPr>
        <p:spPr>
          <a:xfrm rot="0" flipH="false" flipV="false">
            <a:off x="1524000" y="1397000"/>
            <a:ext cx="9652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00BFFF"/>
                </a:solidFill>
                <a:latin typeface="Noto Sans SC"/>
                <a:ea typeface="Noto Sans SC"/>
                <a:cs typeface="Noto Sans SC"/>
                <a:sym typeface="Noto Sans SC"/>
              </a:rPr>
              <a:t>核心需求：</a:t>
            </a:r>
            <a:r>
              <a:rPr lang="en-US" b="false" i="false" strike="noStrike" u="none" sz="1400">
                <a:solidFill>
                  <a:srgbClr val="FFFFFF"/>
                </a:solidFill>
                <a:latin typeface="Noto Sans SC"/>
                <a:ea typeface="Noto Sans SC"/>
                <a:cs typeface="Noto Sans SC"/>
                <a:sym typeface="Noto Sans SC"/>
              </a:rPr>
              <a:t>在用户触发SOS、行程到达或检测异常时，向用户和守护者发送通知；要求通知及时、准确触达设备。</a:t>
            </a:r>
            <a:endParaRPr lang="en-US" sz="1100"/>
          </a:p>
        </p:txBody>
      </p:sp>
      <p:graphicFrame>
        <p:nvGraphicFramePr>
          <p:cNvPr name="Table 8" id="8"/>
          <p:cNvGraphicFramePr>
            <a:graphicFrameLocks noGrp="true"/>
          </p:cNvGraphicFramePr>
          <p:nvPr/>
        </p:nvGraphicFramePr>
        <p:xfrm>
          <a:off x="762000" y="2476500"/>
          <a:ext cx="10668000" cy="2413000"/>
        </p:xfrm>
        <a:graphic>
          <a:graphicData uri="http://schemas.openxmlformats.org/drawingml/2006/table">
            <a:tbl>
              <a:tblPr>
                <a:effectLst/>
              </a:tblPr>
              <a:tblGrid>
                <a:gridCol w="2032000"/>
                <a:gridCol w="3048000"/>
                <a:gridCol w="2540000"/>
                <a:gridCol w="3048000"/>
              </a:tblGrid>
              <a:tr h="508000">
                <a:tc>
                  <a:txBody>
                    <a:bodyPr anchor="t" rtlCol="false"/>
                    <a:lstStyle/>
                    <a:p>
                      <a:pPr algn="ctr" indent="0">
                        <a:lnSpc>
                          <a:spcPct val="100000"/>
                        </a:lnSpc>
                        <a:defRPr/>
                      </a:pPr>
                      <a:r>
                        <a:rPr lang="en-US" b="true" i="false" strike="noStrike" u="none" sz="1400">
                          <a:solidFill>
                            <a:srgbClr val="FFFFFF"/>
                          </a:solidFill>
                          <a:latin typeface="Noto Sans SC"/>
                          <a:ea typeface="Noto Sans SC"/>
                          <a:cs typeface="Noto Sans SC"/>
                          <a:sym typeface="Noto Sans SC"/>
                        </a:rPr>
                        <a:t>技术方案</a:t>
                      </a:r>
                      <a:endParaRPr lang="en-US" sz="1100"/>
                    </a:p>
                  </a:txBody>
                  <a:tcPr anchor="ctr" anchorCtr="false" marL="101600" marR="101600" marT="101600" marB="101600">
                    <a:lnL>
                      <a:noFill/>
                    </a:lnL>
                    <a:lnR>
                      <a:noFill/>
                    </a:lnR>
                    <a:lnT>
                      <a:noFill/>
                    </a:lnT>
                    <a:lnB>
                      <a:noFill/>
                    </a:lnB>
                    <a:solidFill>
                      <a:srgbClr val="00BFFF">
                        <a:alpha val="20000"/>
                      </a:srgbClr>
                    </a:solidFill>
                  </a:tcPr>
                </a:tc>
                <a:tc>
                  <a:txBody>
                    <a:bodyPr anchor="t" rtlCol="false"/>
                    <a:lstStyle/>
                    <a:p>
                      <a:pPr algn="ctr" indent="0">
                        <a:lnSpc>
                          <a:spcPct val="100000"/>
                        </a:lnSpc>
                        <a:defRPr/>
                      </a:pPr>
                      <a:r>
                        <a:rPr lang="en-US" b="true" i="false" strike="noStrike" u="none" sz="1400">
                          <a:solidFill>
                            <a:srgbClr val="FFFFFF"/>
                          </a:solidFill>
                          <a:latin typeface="Noto Sans SC"/>
                          <a:ea typeface="Noto Sans SC"/>
                          <a:cs typeface="Noto Sans SC"/>
                          <a:sym typeface="Noto Sans SC"/>
                        </a:rPr>
                        <a:t>优点</a:t>
                      </a:r>
                      <a:endParaRPr lang="en-US" sz="1100"/>
                    </a:p>
                  </a:txBody>
                  <a:tcPr anchor="ctr" anchorCtr="false" marL="101600" marR="101600" marT="101600" marB="101600">
                    <a:lnL>
                      <a:noFill/>
                    </a:lnL>
                    <a:lnR>
                      <a:noFill/>
                    </a:lnR>
                    <a:lnT>
                      <a:noFill/>
                    </a:lnT>
                    <a:lnB>
                      <a:noFill/>
                    </a:lnB>
                    <a:solidFill>
                      <a:srgbClr val="00BFFF">
                        <a:alpha val="20000"/>
                      </a:srgbClr>
                    </a:solidFill>
                  </a:tcPr>
                </a:tc>
                <a:tc>
                  <a:txBody>
                    <a:bodyPr anchor="t" rtlCol="false"/>
                    <a:lstStyle/>
                    <a:p>
                      <a:pPr algn="ctr" indent="0">
                        <a:lnSpc>
                          <a:spcPct val="100000"/>
                        </a:lnSpc>
                        <a:defRPr/>
                      </a:pPr>
                      <a:r>
                        <a:rPr lang="en-US" b="true" i="false" strike="noStrike" u="none" sz="1400">
                          <a:solidFill>
                            <a:srgbClr val="FFFFFF"/>
                          </a:solidFill>
                          <a:latin typeface="Noto Sans SC"/>
                          <a:ea typeface="Noto Sans SC"/>
                          <a:cs typeface="Noto Sans SC"/>
                          <a:sym typeface="Noto Sans SC"/>
                        </a:rPr>
                        <a:t>缺点</a:t>
                      </a:r>
                      <a:endParaRPr lang="en-US" sz="1100"/>
                    </a:p>
                  </a:txBody>
                  <a:tcPr anchor="ctr" anchorCtr="false" marL="101600" marR="101600" marT="101600" marB="101600">
                    <a:lnL>
                      <a:noFill/>
                    </a:lnL>
                    <a:lnR>
                      <a:noFill/>
                    </a:lnR>
                    <a:lnT>
                      <a:noFill/>
                    </a:lnT>
                    <a:lnB>
                      <a:noFill/>
                    </a:lnB>
                    <a:solidFill>
                      <a:srgbClr val="00BFFF">
                        <a:alpha val="20000"/>
                      </a:srgbClr>
                    </a:solidFill>
                  </a:tcPr>
                </a:tc>
                <a:tc>
                  <a:txBody>
                    <a:bodyPr anchor="t" rtlCol="false"/>
                    <a:lstStyle/>
                    <a:p>
                      <a:pPr algn="ctr" indent="0">
                        <a:lnSpc>
                          <a:spcPct val="100000"/>
                        </a:lnSpc>
                        <a:defRPr/>
                      </a:pPr>
                      <a:r>
                        <a:rPr lang="en-US" b="true" i="false" strike="noStrike" u="none" sz="1400">
                          <a:solidFill>
                            <a:srgbClr val="FFFFFF"/>
                          </a:solidFill>
                          <a:latin typeface="Noto Sans SC"/>
                          <a:ea typeface="Noto Sans SC"/>
                          <a:cs typeface="Noto Sans SC"/>
                          <a:sym typeface="Noto Sans SC"/>
                        </a:rPr>
                        <a:t>适用场景</a:t>
                      </a:r>
                      <a:endParaRPr lang="en-US" sz="1100"/>
                    </a:p>
                  </a:txBody>
                  <a:tcPr anchor="ctr" anchorCtr="false" marL="101600" marR="101600" marT="101600" marB="101600">
                    <a:lnL>
                      <a:noFill/>
                    </a:lnL>
                    <a:lnR>
                      <a:noFill/>
                    </a:lnR>
                    <a:lnT>
                      <a:noFill/>
                    </a:lnT>
                    <a:lnB>
                      <a:noFill/>
                    </a:lnB>
                    <a:solidFill>
                      <a:srgbClr val="00BFFF">
                        <a:alpha val="20000"/>
                      </a:srgbClr>
                    </a:solidFill>
                  </a:tcPr>
                </a:tc>
              </a:tr>
              <a:tr h="635000">
                <a:tc>
                  <a:txBody>
                    <a:bodyPr anchor="t" rtlCol="false"/>
                    <a:lstStyle/>
                    <a:p>
                      <a:pPr algn="ctr" indent="0">
                        <a:lnSpc>
                          <a:spcPct val="100000"/>
                        </a:lnSpc>
                        <a:defRPr/>
                      </a:pPr>
                      <a:r>
                        <a:rPr lang="en-US" b="true" i="false" strike="noStrike" u="none" sz="1300">
                          <a:solidFill>
                            <a:srgbClr val="FFFFFF"/>
                          </a:solidFill>
                          <a:latin typeface="Noto Sans SC"/>
                          <a:ea typeface="Noto Sans SC"/>
                          <a:cs typeface="Noto Sans SC"/>
                          <a:sym typeface="Noto Sans SC"/>
                        </a:rPr>
                        <a:t>FCM</a:t>
                      </a:r>
                      <a:endParaRPr lang="en-US" sz="1100"/>
                    </a:p>
                  </a:txBody>
                  <a:tcPr anchor="ctr" anchorCtr="false" marL="101600" marR="101600" marT="101600" marB="101600">
                    <a:lnL>
                      <a:noFill/>
                    </a:lnL>
                    <a:lnR>
                      <a:noFill/>
                    </a:lnR>
                    <a:lnT>
                      <a:noFill/>
                    </a:lnT>
                    <a:lnB>
                      <a:noFill/>
                    </a:lnB>
                    <a:solidFill>
                      <a:srgbClr val="FFFFFF">
                        <a:alpha val="5000"/>
                      </a:srgbClr>
                    </a:solidFill>
                  </a:tcPr>
                </a:tc>
                <a:tc>
                  <a:txBody>
                    <a:bodyPr anchor="t" rtlCol="false"/>
                    <a:lstStyle/>
                    <a:p>
                      <a:pPr algn="l" indent="0" marL="63500">
                        <a:lnSpc>
                          <a:spcPct val="100000"/>
                        </a:lnSpc>
                        <a:defRPr/>
                      </a:pPr>
                      <a:r>
                        <a:rPr lang="en-US" b="false" i="false" strike="noStrike" u="none" sz="1200">
                          <a:solidFill>
                            <a:srgbClr val="DCDCDC"/>
                          </a:solidFill>
                          <a:latin typeface="Noto Sans SC"/>
                          <a:ea typeface="Noto Sans SC"/>
                          <a:cs typeface="Noto Sans SC"/>
                          <a:sym typeface="Noto Sans SC"/>
                        </a:rPr>
                        <a:t>生态集成好，跨平台，免费额度高，易用性强</a:t>
                      </a:r>
                      <a:endParaRPr lang="en-US" sz="1100"/>
                    </a:p>
                  </a:txBody>
                  <a:tcPr anchor="ctr" anchorCtr="false" marL="101600" marR="101600" marT="101600" marB="101600">
                    <a:lnL>
                      <a:noFill/>
                    </a:lnL>
                    <a:lnR>
                      <a:noFill/>
                    </a:lnR>
                    <a:lnT>
                      <a:noFill/>
                    </a:lnT>
                    <a:lnB>
                      <a:noFill/>
                    </a:lnB>
                    <a:solidFill>
                      <a:srgbClr val="FFFFFF">
                        <a:alpha val="5000"/>
                      </a:srgbClr>
                    </a:solidFill>
                  </a:tcPr>
                </a:tc>
                <a:tc>
                  <a:txBody>
                    <a:bodyPr anchor="t" rtlCol="false"/>
                    <a:lstStyle/>
                    <a:p>
                      <a:pPr algn="l" indent="0" marL="63500">
                        <a:lnSpc>
                          <a:spcPct val="100000"/>
                        </a:lnSpc>
                        <a:defRPr/>
                      </a:pPr>
                      <a:r>
                        <a:rPr lang="en-US" b="false" i="false" strike="noStrike" u="none" sz="1200">
                          <a:solidFill>
                            <a:srgbClr val="DCDCDC"/>
                          </a:solidFill>
                          <a:latin typeface="Noto Sans SC"/>
                          <a:ea typeface="Noto Sans SC"/>
                          <a:cs typeface="Noto Sans SC"/>
                          <a:sym typeface="Noto Sans SC"/>
                        </a:rPr>
                        <a:t>部分地区访问稳定性不确定</a:t>
                      </a:r>
                      <a:endParaRPr lang="en-US" sz="1100"/>
                    </a:p>
                  </a:txBody>
                  <a:tcPr anchor="ctr" anchorCtr="false" marL="101600" marR="101600" marT="101600" marB="101600">
                    <a:lnL>
                      <a:noFill/>
                    </a:lnL>
                    <a:lnR>
                      <a:noFill/>
                    </a:lnR>
                    <a:lnT>
                      <a:noFill/>
                    </a:lnT>
                    <a:lnB>
                      <a:noFill/>
                    </a:lnB>
                    <a:solidFill>
                      <a:srgbClr val="FFFFFF">
                        <a:alpha val="5000"/>
                      </a:srgbClr>
                    </a:solidFill>
                  </a:tcPr>
                </a:tc>
                <a:tc>
                  <a:txBody>
                    <a:bodyPr anchor="t" rtlCol="false"/>
                    <a:lstStyle/>
                    <a:p>
                      <a:pPr algn="l" indent="0" marL="63500">
                        <a:lnSpc>
                          <a:spcPct val="100000"/>
                        </a:lnSpc>
                        <a:defRPr/>
                      </a:pPr>
                      <a:r>
                        <a:rPr lang="en-US" b="false" i="false" strike="noStrike" u="none" sz="1200">
                          <a:solidFill>
                            <a:srgbClr val="DCDCDC"/>
                          </a:solidFill>
                          <a:latin typeface="Noto Sans SC"/>
                          <a:ea typeface="Noto Sans SC"/>
                          <a:cs typeface="Noto Sans SC"/>
                          <a:sym typeface="Noto Sans SC"/>
                        </a:rPr>
                        <a:t>全球应用，追求开发效率</a:t>
                      </a:r>
                      <a:endParaRPr lang="en-US" sz="1100"/>
                    </a:p>
                  </a:txBody>
                  <a:tcPr anchor="ctr" anchorCtr="false" marL="101600" marR="101600" marT="101600" marB="101600">
                    <a:lnL>
                      <a:noFill/>
                    </a:lnL>
                    <a:lnR>
                      <a:noFill/>
                    </a:lnR>
                    <a:lnT>
                      <a:noFill/>
                    </a:lnT>
                    <a:lnB>
                      <a:noFill/>
                    </a:lnB>
                    <a:solidFill>
                      <a:srgbClr val="FFFFFF">
                        <a:alpha val="5000"/>
                      </a:srgbClr>
                    </a:solidFill>
                  </a:tcPr>
                </a:tc>
              </a:tr>
              <a:tr h="635000">
                <a:tc>
                  <a:txBody>
                    <a:bodyPr anchor="t" rtlCol="false"/>
                    <a:lstStyle/>
                    <a:p>
                      <a:pPr algn="ctr" indent="0">
                        <a:lnSpc>
                          <a:spcPct val="100000"/>
                        </a:lnSpc>
                        <a:defRPr/>
                      </a:pPr>
                      <a:r>
                        <a:rPr lang="en-US" b="true" i="false" strike="noStrike" u="none" sz="1300">
                          <a:solidFill>
                            <a:srgbClr val="FFFFFF"/>
                          </a:solidFill>
                          <a:latin typeface="Noto Sans SC"/>
                          <a:ea typeface="Noto Sans SC"/>
                          <a:cs typeface="Noto Sans SC"/>
                          <a:sym typeface="Noto Sans SC"/>
                        </a:rPr>
                        <a:t>HMS Push</a:t>
                      </a:r>
                      <a:endParaRPr lang="en-US" sz="1100"/>
                    </a:p>
                  </a:txBody>
                  <a:tcPr anchor="ctr" anchorCtr="false" marL="101600" marR="101600" marT="101600" marB="101600">
                    <a:lnL>
                      <a:noFill/>
                    </a:lnL>
                    <a:lnR>
                      <a:noFill/>
                    </a:lnR>
                    <a:lnT>
                      <a:noFill/>
                    </a:lnT>
                    <a:lnB>
                      <a:noFill/>
                    </a:lnB>
                    <a:solidFill>
                      <a:srgbClr val="FFFFFF">
                        <a:alpha val="5000"/>
                      </a:srgbClr>
                    </a:solidFill>
                  </a:tcPr>
                </a:tc>
                <a:tc>
                  <a:txBody>
                    <a:bodyPr anchor="t" rtlCol="false"/>
                    <a:lstStyle/>
                    <a:p>
                      <a:pPr algn="l" indent="0" marL="63500">
                        <a:lnSpc>
                          <a:spcPct val="100000"/>
                        </a:lnSpc>
                        <a:defRPr/>
                      </a:pPr>
                      <a:r>
                        <a:rPr lang="en-US" b="false" i="false" strike="noStrike" u="none" sz="1200">
                          <a:solidFill>
                            <a:srgbClr val="DCDCDC"/>
                          </a:solidFill>
                          <a:latin typeface="Noto Sans SC"/>
                          <a:ea typeface="Noto Sans SC"/>
                          <a:cs typeface="Noto Sans SC"/>
                          <a:sym typeface="Noto Sans SC"/>
                        </a:rPr>
                        <a:t>针对华为手机，到达率高，功能丰富</a:t>
                      </a:r>
                      <a:endParaRPr lang="en-US" sz="1100"/>
                    </a:p>
                  </a:txBody>
                  <a:tcPr anchor="ctr" anchorCtr="false" marL="101600" marR="101600" marT="101600" marB="101600">
                    <a:lnL>
                      <a:noFill/>
                    </a:lnL>
                    <a:lnR>
                      <a:noFill/>
                    </a:lnR>
                    <a:lnT>
                      <a:noFill/>
                    </a:lnT>
                    <a:lnB>
                      <a:noFill/>
                    </a:lnB>
                    <a:solidFill>
                      <a:srgbClr val="FFFFFF">
                        <a:alpha val="5000"/>
                      </a:srgbClr>
                    </a:solidFill>
                  </a:tcPr>
                </a:tc>
                <a:tc>
                  <a:txBody>
                    <a:bodyPr anchor="t" rtlCol="false"/>
                    <a:lstStyle/>
                    <a:p>
                      <a:pPr algn="l" indent="0" marL="63500">
                        <a:lnSpc>
                          <a:spcPct val="100000"/>
                        </a:lnSpc>
                        <a:defRPr/>
                      </a:pPr>
                      <a:r>
                        <a:rPr lang="en-US" b="false" i="false" strike="noStrike" u="none" sz="1200">
                          <a:solidFill>
                            <a:srgbClr val="DCDCDC"/>
                          </a:solidFill>
                          <a:latin typeface="Noto Sans SC"/>
                          <a:ea typeface="Noto Sans SC"/>
                          <a:cs typeface="Noto Sans SC"/>
                          <a:sym typeface="Noto Sans SC"/>
                        </a:rPr>
                        <a:t>仅支持华为设备，覆盖范围有限</a:t>
                      </a:r>
                      <a:endParaRPr lang="en-US" sz="1100"/>
                    </a:p>
                  </a:txBody>
                  <a:tcPr anchor="ctr" anchorCtr="false" marL="101600" marR="101600" marT="101600" marB="101600">
                    <a:lnL>
                      <a:noFill/>
                    </a:lnL>
                    <a:lnR>
                      <a:noFill/>
                    </a:lnR>
                    <a:lnT>
                      <a:noFill/>
                    </a:lnT>
                    <a:lnB>
                      <a:noFill/>
                    </a:lnB>
                    <a:solidFill>
                      <a:srgbClr val="FFFFFF">
                        <a:alpha val="5000"/>
                      </a:srgbClr>
                    </a:solidFill>
                  </a:tcPr>
                </a:tc>
                <a:tc>
                  <a:txBody>
                    <a:bodyPr anchor="t" rtlCol="false"/>
                    <a:lstStyle/>
                    <a:p>
                      <a:pPr algn="l" indent="0" marL="63500">
                        <a:lnSpc>
                          <a:spcPct val="100000"/>
                        </a:lnSpc>
                        <a:defRPr/>
                      </a:pPr>
                      <a:r>
                        <a:rPr lang="en-US" b="false" i="false" strike="noStrike" u="none" sz="1200">
                          <a:solidFill>
                            <a:srgbClr val="DCDCDC"/>
                          </a:solidFill>
                          <a:latin typeface="Noto Sans SC"/>
                          <a:ea typeface="Noto Sans SC"/>
                          <a:cs typeface="Noto Sans SC"/>
                          <a:sym typeface="Noto Sans SC"/>
                        </a:rPr>
                        <a:t>用户群体以华为手机为主</a:t>
                      </a:r>
                      <a:endParaRPr lang="en-US" sz="1100"/>
                    </a:p>
                  </a:txBody>
                  <a:tcPr anchor="ctr" anchorCtr="false" marL="101600" marR="101600" marT="101600" marB="101600">
                    <a:lnL>
                      <a:noFill/>
                    </a:lnL>
                    <a:lnR>
                      <a:noFill/>
                    </a:lnR>
                    <a:lnT>
                      <a:noFill/>
                    </a:lnT>
                    <a:lnB>
                      <a:noFill/>
                    </a:lnB>
                    <a:solidFill>
                      <a:srgbClr val="FFFFFF">
                        <a:alpha val="5000"/>
                      </a:srgbClr>
                    </a:solidFill>
                  </a:tcPr>
                </a:tc>
              </a:tr>
              <a:tr h="635000">
                <a:tc>
                  <a:txBody>
                    <a:bodyPr anchor="t" rtlCol="false"/>
                    <a:lstStyle/>
                    <a:p>
                      <a:pPr algn="ctr" indent="0">
                        <a:lnSpc>
                          <a:spcPct val="100000"/>
                        </a:lnSpc>
                        <a:defRPr/>
                      </a:pPr>
                      <a:r>
                        <a:rPr lang="en-US" b="true" i="false" strike="noStrike" u="none" sz="1300">
                          <a:solidFill>
                            <a:srgbClr val="FFFFFF"/>
                          </a:solidFill>
                          <a:latin typeface="Noto Sans SC"/>
                          <a:ea typeface="Noto Sans SC"/>
                          <a:cs typeface="Noto Sans SC"/>
                          <a:sym typeface="Noto Sans SC"/>
                        </a:rPr>
                        <a:t>小米/OPPO推送</a:t>
                      </a:r>
                      <a:endParaRPr lang="en-US" sz="1100"/>
                    </a:p>
                  </a:txBody>
                  <a:tcPr anchor="ctr" anchorCtr="false" marL="101600" marR="101600" marT="101600" marB="101600">
                    <a:lnL>
                      <a:noFill/>
                    </a:lnL>
                    <a:lnR>
                      <a:noFill/>
                    </a:lnR>
                    <a:lnT>
                      <a:noFill/>
                    </a:lnT>
                    <a:lnB>
                      <a:noFill/>
                    </a:lnB>
                    <a:solidFill>
                      <a:srgbClr val="FFFFFF">
                        <a:alpha val="5000"/>
                      </a:srgbClr>
                    </a:solidFill>
                  </a:tcPr>
                </a:tc>
                <a:tc>
                  <a:txBody>
                    <a:bodyPr anchor="t" rtlCol="false"/>
                    <a:lstStyle/>
                    <a:p>
                      <a:pPr algn="l" indent="0" marL="63500">
                        <a:lnSpc>
                          <a:spcPct val="100000"/>
                        </a:lnSpc>
                        <a:defRPr/>
                      </a:pPr>
                      <a:r>
                        <a:rPr lang="en-US" b="false" i="false" strike="noStrike" u="none" sz="1200">
                          <a:solidFill>
                            <a:srgbClr val="DCDCDC"/>
                          </a:solidFill>
                          <a:latin typeface="Noto Sans SC"/>
                          <a:ea typeface="Noto Sans SC"/>
                          <a:cs typeface="Noto Sans SC"/>
                          <a:sym typeface="Noto Sans SC"/>
                        </a:rPr>
                        <a:t>品牌针对性强，推送效果优异</a:t>
                      </a:r>
                      <a:endParaRPr lang="en-US" sz="1100"/>
                    </a:p>
                  </a:txBody>
                  <a:tcPr anchor="ctr" anchorCtr="false" marL="101600" marR="101600" marT="101600" marB="101600">
                    <a:lnL>
                      <a:noFill/>
                    </a:lnL>
                    <a:lnR>
                      <a:noFill/>
                    </a:lnR>
                    <a:lnT>
                      <a:noFill/>
                    </a:lnT>
                    <a:lnB>
                      <a:noFill/>
                    </a:lnB>
                    <a:solidFill>
                      <a:srgbClr val="FFFFFF">
                        <a:alpha val="5000"/>
                      </a:srgbClr>
                    </a:solidFill>
                  </a:tcPr>
                </a:tc>
                <a:tc>
                  <a:txBody>
                    <a:bodyPr anchor="t" rtlCol="false"/>
                    <a:lstStyle/>
                    <a:p>
                      <a:pPr algn="l" indent="0" marL="63500">
                        <a:lnSpc>
                          <a:spcPct val="100000"/>
                        </a:lnSpc>
                        <a:defRPr/>
                      </a:pPr>
                      <a:r>
                        <a:rPr lang="en-US" b="false" i="false" strike="noStrike" u="none" sz="1200">
                          <a:solidFill>
                            <a:srgbClr val="DCDCDC"/>
                          </a:solidFill>
                          <a:latin typeface="Noto Sans SC"/>
                          <a:ea typeface="Noto Sans SC"/>
                          <a:cs typeface="Noto Sans SC"/>
                          <a:sym typeface="Noto Sans SC"/>
                        </a:rPr>
                        <a:t>碎片化严重，需集成多个SDK</a:t>
                      </a:r>
                      <a:endParaRPr lang="en-US" sz="1100"/>
                    </a:p>
                  </a:txBody>
                  <a:tcPr anchor="ctr" anchorCtr="false" marL="101600" marR="101600" marT="101600" marB="101600">
                    <a:lnL>
                      <a:noFill/>
                    </a:lnL>
                    <a:lnR>
                      <a:noFill/>
                    </a:lnR>
                    <a:lnT>
                      <a:noFill/>
                    </a:lnT>
                    <a:lnB>
                      <a:noFill/>
                    </a:lnB>
                    <a:solidFill>
                      <a:srgbClr val="FFFFFF">
                        <a:alpha val="5000"/>
                      </a:srgbClr>
                    </a:solidFill>
                  </a:tcPr>
                </a:tc>
                <a:tc>
                  <a:txBody>
                    <a:bodyPr anchor="t" rtlCol="false"/>
                    <a:lstStyle/>
                    <a:p>
                      <a:pPr algn="l" indent="0" marL="63500">
                        <a:lnSpc>
                          <a:spcPct val="100000"/>
                        </a:lnSpc>
                        <a:defRPr/>
                      </a:pPr>
                      <a:r>
                        <a:rPr lang="en-US" b="false" i="false" strike="noStrike" u="none" sz="1200">
                          <a:solidFill>
                            <a:srgbClr val="DCDCDC"/>
                          </a:solidFill>
                          <a:latin typeface="Noto Sans SC"/>
                          <a:ea typeface="Noto Sans SC"/>
                          <a:cs typeface="Noto Sans SC"/>
                          <a:sym typeface="Noto Sans SC"/>
                        </a:rPr>
                        <a:t>用户集中在特定品牌手机</a:t>
                      </a:r>
                      <a:endParaRPr lang="en-US" sz="1100"/>
                    </a:p>
                  </a:txBody>
                  <a:tcPr anchor="ctr" anchorCtr="false" marL="101600" marR="101600" marT="101600" marB="101600">
                    <a:lnL>
                      <a:noFill/>
                    </a:lnL>
                    <a:lnR>
                      <a:noFill/>
                    </a:lnR>
                    <a:lnT>
                      <a:noFill/>
                    </a:lnT>
                    <a:lnB>
                      <a:noFill/>
                    </a:lnB>
                    <a:solidFill>
                      <a:srgbClr val="FFFFFF">
                        <a:alpha val="5000"/>
                      </a:srgbClr>
                    </a:solidFill>
                  </a:tcPr>
                </a:tc>
              </a:tr>
            </a:tbl>
          </a:graphicData>
        </a:graphic>
      </p:graphicFrame>
      <p:sp>
        <p:nvSpPr>
          <p:cNvPr name="AutoShape 9" id="9"/>
          <p:cNvSpPr/>
          <p:nvPr/>
        </p:nvSpPr>
        <p:spPr>
          <a:xfrm rot="0" flipH="false" flipV="false">
            <a:off x="762000" y="5080000"/>
            <a:ext cx="10668000" cy="508000"/>
          </a:xfrm>
          <a:prstGeom prst="roundRect">
            <a:avLst>
              <a:gd name="adj" fmla="val 25000"/>
            </a:avLst>
          </a:prstGeom>
          <a:solidFill>
            <a:srgbClr val="00BFFF">
              <a:alpha val="15000"/>
            </a:srgbClr>
          </a:solidFill>
          <a:ln w="12700" cmpd="sng" cap="flat">
            <a:solidFill>
              <a:srgbClr val="00BFFF">
                <a:alpha val="10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1016000" y="5207000"/>
            <a:ext cx="254000" cy="254000"/>
          </a:xfrm>
          <a:prstGeom prst="rect">
            <a:avLst/>
          </a:prstGeom>
        </p:spPr>
      </p:pic>
      <p:sp>
        <p:nvSpPr>
          <p:cNvPr name="AutoShape 11" id="11"/>
          <p:cNvSpPr/>
          <p:nvPr/>
        </p:nvSpPr>
        <p:spPr>
          <a:xfrm rot="0" flipH="false" flipV="false">
            <a:off x="1397000" y="5143500"/>
            <a:ext cx="990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FFFFFF"/>
                </a:solidFill>
                <a:latin typeface="Noto Sans SC"/>
                <a:ea typeface="Noto Sans SC"/>
                <a:cs typeface="Noto Sans SC"/>
                <a:sym typeface="Noto Sans SC"/>
              </a:rPr>
              <a:t>最终选择：</a:t>
            </a:r>
            <a:r>
              <a:rPr lang="en-US" b="false" i="false" strike="noStrike" u="none" sz="1400">
                <a:solidFill>
                  <a:srgbClr val="DCDCDC"/>
                </a:solidFill>
                <a:latin typeface="Noto Sans SC"/>
                <a:ea typeface="Noto Sans SC"/>
                <a:cs typeface="Noto Sans SC"/>
                <a:sym typeface="Noto Sans SC"/>
              </a:rPr>
              <a:t>推荐使用FCM作为基础方案，同时根据目标群体集成厂商推送服务以提升到达率。</a:t>
            </a:r>
            <a:endParaRPr lang="en-US" sz="1100"/>
          </a:p>
        </p:txBody>
      </p:sp>
      <p:sp>
        <p:nvSpPr>
          <p:cNvPr name="AutoShape 12" id="12"/>
          <p:cNvSpPr/>
          <p:nvPr/>
        </p:nvSpPr>
        <p:spPr>
          <a:xfrm rot="0" flipH="false" flipV="false">
            <a:off x="762000" y="5715000"/>
            <a:ext cx="10668000" cy="508000"/>
          </a:xfrm>
          <a:prstGeom prst="roundRect">
            <a:avLst>
              <a:gd name="adj" fmla="val 25000"/>
            </a:avLst>
          </a:prstGeom>
          <a:solidFill>
            <a:srgbClr val="FFB6C1">
              <a:alpha val="15000"/>
            </a:srgbClr>
          </a:solidFill>
          <a:ln w="12700" cmpd="sng" cap="flat">
            <a:solidFill>
              <a:srgbClr val="FFB6C1">
                <a:alpha val="100000"/>
              </a:srgbClr>
            </a:solid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016000" y="5842000"/>
            <a:ext cx="254000" cy="254000"/>
          </a:xfrm>
          <a:prstGeom prst="rect">
            <a:avLst/>
          </a:prstGeom>
        </p:spPr>
      </p:pic>
      <p:sp>
        <p:nvSpPr>
          <p:cNvPr name="AutoShape 14" id="14"/>
          <p:cNvSpPr/>
          <p:nvPr/>
        </p:nvSpPr>
        <p:spPr>
          <a:xfrm rot="0" flipH="false" flipV="false">
            <a:off x="1397000" y="5778500"/>
            <a:ext cx="990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FFFFFF"/>
                </a:solidFill>
                <a:latin typeface="Noto Sans SC"/>
                <a:ea typeface="Noto Sans SC"/>
                <a:cs typeface="Noto Sans SC"/>
                <a:sym typeface="Noto Sans SC"/>
              </a:rPr>
              <a:t>行动指令：</a:t>
            </a:r>
            <a:r>
              <a:rPr lang="en-US" b="false" i="false" strike="noStrike" u="none" sz="1400">
                <a:solidFill>
                  <a:srgbClr val="DCDCDC"/>
                </a:solidFill>
                <a:latin typeface="Noto Sans SC"/>
                <a:ea typeface="Noto Sans SC"/>
                <a:cs typeface="Noto Sans SC"/>
                <a:sym typeface="Noto Sans SC"/>
              </a:rPr>
              <a:t>请根据团队目标用户群体和项目需求，确定最终的推送技术方案。</a:t>
            </a:r>
            <a:endParaRPr lang="en-US" sz="1100"/>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A192F">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192F">
              <a:alpha val="9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508000"/>
            <a:ext cx="91440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FCM集成详解（一）：环境准备与配置</a:t>
            </a:r>
            <a:endParaRPr lang="en-US" sz="1100"/>
          </a:p>
        </p:txBody>
      </p:sp>
      <p:sp>
        <p:nvSpPr>
          <p:cNvPr name="AutoShape 5" id="5"/>
          <p:cNvSpPr/>
          <p:nvPr/>
        </p:nvSpPr>
        <p:spPr>
          <a:xfrm rot="0" flipH="false" flipV="false">
            <a:off x="762000" y="1397000"/>
            <a:ext cx="5080000" cy="1016000"/>
          </a:xfrm>
          <a:prstGeom prst="roundRect">
            <a:avLst>
              <a:gd name="adj" fmla="val 12500"/>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1701800"/>
            <a:ext cx="406400" cy="406400"/>
          </a:xfrm>
          <a:prstGeom prst="rect">
            <a:avLst/>
          </a:prstGeom>
        </p:spPr>
      </p:pic>
      <p:sp>
        <p:nvSpPr>
          <p:cNvPr name="AutoShape 7" id="7"/>
          <p:cNvSpPr/>
          <p:nvPr/>
        </p:nvSpPr>
        <p:spPr>
          <a:xfrm rot="0" flipH="false" flipV="false">
            <a:off x="1524000" y="1524000"/>
            <a:ext cx="4191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1. 创建Firebase项目</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FFFFFF">
                    <a:alpha val="80000"/>
                  </a:srgbClr>
                </a:solidFill>
                <a:latin typeface="Noto Sans SC"/>
                <a:ea typeface="Noto Sans SC"/>
                <a:cs typeface="Noto Sans SC"/>
                <a:sym typeface="Noto Sans SC"/>
              </a:rPr>
              <a:t>访问控制台创建新项目：console.firebase.google.com</a:t>
            </a:r>
          </a:p>
        </p:txBody>
      </p:sp>
      <p:sp>
        <p:nvSpPr>
          <p:cNvPr name="AutoShape 8" id="8"/>
          <p:cNvSpPr/>
          <p:nvPr/>
        </p:nvSpPr>
        <p:spPr>
          <a:xfrm rot="0" flipH="false" flipV="false">
            <a:off x="6350000" y="1397000"/>
            <a:ext cx="5080000" cy="1016000"/>
          </a:xfrm>
          <a:prstGeom prst="roundRect">
            <a:avLst>
              <a:gd name="adj" fmla="val 12500"/>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604000" y="1701800"/>
            <a:ext cx="406400" cy="406400"/>
          </a:xfrm>
          <a:prstGeom prst="rect">
            <a:avLst/>
          </a:prstGeom>
        </p:spPr>
      </p:pic>
      <p:sp>
        <p:nvSpPr>
          <p:cNvPr name="AutoShape 10" id="10"/>
          <p:cNvSpPr/>
          <p:nvPr/>
        </p:nvSpPr>
        <p:spPr>
          <a:xfrm rot="0" flipH="false" flipV="false">
            <a:off x="7112000" y="1524000"/>
            <a:ext cx="4191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2. 添加Android应用</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FFFFFF">
                    <a:alpha val="80000"/>
                  </a:srgbClr>
                </a:solidFill>
                <a:latin typeface="Noto Sans SC"/>
                <a:ea typeface="Noto Sans SC"/>
                <a:cs typeface="Noto Sans SC"/>
                <a:sym typeface="Noto Sans SC"/>
              </a:rPr>
              <a:t>输入包名并下载 google-services.json 文件</a:t>
            </a:r>
          </a:p>
        </p:txBody>
      </p:sp>
      <p:sp>
        <p:nvSpPr>
          <p:cNvPr name="AutoShape 11" id="11"/>
          <p:cNvSpPr/>
          <p:nvPr/>
        </p:nvSpPr>
        <p:spPr>
          <a:xfrm rot="0" flipH="false" flipV="false">
            <a:off x="762000" y="2603500"/>
            <a:ext cx="5080000" cy="1016000"/>
          </a:xfrm>
          <a:prstGeom prst="roundRect">
            <a:avLst>
              <a:gd name="adj" fmla="val 12500"/>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016000" y="2908300"/>
            <a:ext cx="406400" cy="406400"/>
          </a:xfrm>
          <a:prstGeom prst="rect">
            <a:avLst/>
          </a:prstGeom>
        </p:spPr>
      </p:pic>
      <p:sp>
        <p:nvSpPr>
          <p:cNvPr name="AutoShape 13" id="13"/>
          <p:cNvSpPr/>
          <p:nvPr/>
        </p:nvSpPr>
        <p:spPr>
          <a:xfrm rot="0" flipH="false" flipV="false">
            <a:off x="1524000" y="2730500"/>
            <a:ext cx="4191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3. 配置Android项目</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FFFFFF">
                    <a:alpha val="80000"/>
                  </a:srgbClr>
                </a:solidFill>
                <a:latin typeface="Noto Sans SC"/>
                <a:ea typeface="Noto Sans SC"/>
                <a:cs typeface="Noto Sans SC"/>
                <a:sym typeface="Noto Sans SC"/>
              </a:rPr>
              <a:t>将下载的JSON文件放置在项目的 app 目录下</a:t>
            </a:r>
          </a:p>
        </p:txBody>
      </p:sp>
      <p:sp>
        <p:nvSpPr>
          <p:cNvPr name="AutoShape 14" id="14"/>
          <p:cNvSpPr/>
          <p:nvPr/>
        </p:nvSpPr>
        <p:spPr>
          <a:xfrm rot="0" flipH="false" flipV="false">
            <a:off x="6350000" y="2603500"/>
            <a:ext cx="5080000" cy="1270000"/>
          </a:xfrm>
          <a:prstGeom prst="roundRect">
            <a:avLst>
              <a:gd name="adj" fmla="val 10000"/>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6604000" y="2794000"/>
            <a:ext cx="406400" cy="406400"/>
          </a:xfrm>
          <a:prstGeom prst="rect">
            <a:avLst/>
          </a:prstGeom>
        </p:spPr>
      </p:pic>
      <p:sp>
        <p:nvSpPr>
          <p:cNvPr name="AutoShape 16" id="16"/>
          <p:cNvSpPr/>
          <p:nvPr/>
        </p:nvSpPr>
        <p:spPr>
          <a:xfrm rot="0" flipH="false" flipV="false">
            <a:off x="7112000" y="2730500"/>
            <a:ext cx="4191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4. 添加依赖 (build.gradle)</a:t>
            </a:r>
            <a:endParaRPr lang="en-US" sz="1100"/>
          </a:p>
        </p:txBody>
      </p:sp>
      <p:sp>
        <p:nvSpPr>
          <p:cNvPr name="AutoShape 17" id="17"/>
          <p:cNvSpPr/>
          <p:nvPr/>
        </p:nvSpPr>
        <p:spPr>
          <a:xfrm rot="0" flipH="false" flipV="false">
            <a:off x="7112000" y="3111500"/>
            <a:ext cx="4191000" cy="508000"/>
          </a:xfrm>
          <a:prstGeom prst="roundRect">
            <a:avLst>
              <a:gd name="adj" fmla="val 12500"/>
            </a:avLst>
          </a:prstGeom>
          <a:solidFill>
            <a:srgbClr val="000000">
              <a:alpha val="40000"/>
            </a:srgbClr>
          </a:solidFill>
          <a:ln w="25400" cmpd="sng" cap="flat">
            <a:noFill/>
            <a:prstDash val="solid"/>
            <a:round/>
          </a:ln>
        </p:spPr>
        <p:txBody>
          <a:bodyPr anchor="ctr" rtlCol="false" anchorCtr="false" vert="horz" wrap="square" lIns="127000" rIns="0" tIns="0" bIns="0"/>
          <a:lstStyle/>
          <a:p>
            <a:pPr algn="ctr" indent="0">
              <a:lnSpc>
                <a:spcPct val="125000"/>
              </a:lnSpc>
              <a:defRPr/>
            </a:pPr>
            <a:r>
              <a:rPr lang="en-US" b="false" i="false" strike="noStrike" u="none" sz="1200">
                <a:solidFill>
                  <a:srgbClr val="E6E6FA"/>
                </a:solidFill>
                <a:latin typeface="Noto Sans SC"/>
                <a:ea typeface="Noto Sans SC"/>
                <a:cs typeface="Noto Sans SC"/>
                <a:sym typeface="Noto Sans SC"/>
              </a:rPr>
              <a:t>implementation 'com.google.firebase:firebase-messaging:23.0.0'</a:t>
            </a:r>
            <a:endParaRPr lang="en-US" sz="1100"/>
          </a:p>
        </p:txBody>
      </p:sp>
      <p:sp>
        <p:nvSpPr>
          <p:cNvPr name="AutoShape 18" id="18"/>
          <p:cNvSpPr/>
          <p:nvPr/>
        </p:nvSpPr>
        <p:spPr>
          <a:xfrm rot="0" flipH="false" flipV="false">
            <a:off x="762000" y="3810000"/>
            <a:ext cx="5080000" cy="1270000"/>
          </a:xfrm>
          <a:prstGeom prst="roundRect">
            <a:avLst>
              <a:gd name="adj" fmla="val 10000"/>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9" id="19"/>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1016000" y="4000500"/>
            <a:ext cx="406400" cy="406400"/>
          </a:xfrm>
          <a:prstGeom prst="rect">
            <a:avLst/>
          </a:prstGeom>
        </p:spPr>
      </p:pic>
      <p:sp>
        <p:nvSpPr>
          <p:cNvPr name="AutoShape 20" id="20"/>
          <p:cNvSpPr/>
          <p:nvPr/>
        </p:nvSpPr>
        <p:spPr>
          <a:xfrm rot="0" flipH="false" flipV="false">
            <a:off x="1524000" y="3937000"/>
            <a:ext cx="4191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5. 配置权限 (AndroidManifest.xml)</a:t>
            </a:r>
            <a:endParaRPr lang="en-US" sz="1100"/>
          </a:p>
        </p:txBody>
      </p:sp>
      <p:sp>
        <p:nvSpPr>
          <p:cNvPr name="AutoShape 21" id="21"/>
          <p:cNvSpPr/>
          <p:nvPr/>
        </p:nvSpPr>
        <p:spPr>
          <a:xfrm rot="0" flipH="false" flipV="false">
            <a:off x="1524000" y="4318000"/>
            <a:ext cx="4191000" cy="508000"/>
          </a:xfrm>
          <a:prstGeom prst="roundRect">
            <a:avLst>
              <a:gd name="adj" fmla="val 12500"/>
            </a:avLst>
          </a:prstGeom>
          <a:solidFill>
            <a:srgbClr val="000000">
              <a:alpha val="40000"/>
            </a:srgbClr>
          </a:solidFill>
          <a:ln w="25400" cmpd="sng" cap="flat">
            <a:noFill/>
            <a:prstDash val="solid"/>
            <a:round/>
          </a:ln>
        </p:spPr>
        <p:txBody>
          <a:bodyPr anchor="ctr" rtlCol="false" anchorCtr="false" vert="horz" wrap="square" lIns="127000" rIns="0" tIns="0" bIns="0"/>
          <a:lstStyle/>
          <a:p>
            <a:pPr algn="ctr" indent="0">
              <a:lnSpc>
                <a:spcPct val="125000"/>
              </a:lnSpc>
              <a:defRPr/>
            </a:pPr>
            <a:r>
              <a:rPr lang="en-US" b="false" i="false" strike="noStrike" u="none" sz="1200">
                <a:solidFill>
                  <a:srgbClr val="E6E6FA"/>
                </a:solidFill>
                <a:latin typeface="Noto Sans SC"/>
                <a:ea typeface="Noto Sans SC"/>
                <a:cs typeface="Noto Sans SC"/>
                <a:sym typeface="Noto Sans SC"/>
              </a:rPr>
              <a:t>&lt;uses-permission android:name="android.permission.INTERNET" /&gt;</a:t>
            </a:r>
            <a:endParaRPr lang="en-US" sz="1100"/>
          </a:p>
        </p:txBody>
      </p:sp>
      <p:sp>
        <p:nvSpPr>
          <p:cNvPr name="AutoShape 22" id="22"/>
          <p:cNvSpPr/>
          <p:nvPr/>
        </p:nvSpPr>
        <p:spPr>
          <a:xfrm rot="0" flipH="false" flipV="false">
            <a:off x="762000" y="5334000"/>
            <a:ext cx="10668000" cy="762000"/>
          </a:xfrm>
          <a:prstGeom prst="roundRect">
            <a:avLst>
              <a:gd name="adj" fmla="val 16666"/>
            </a:avLst>
          </a:prstGeom>
          <a:solidFill>
            <a:srgbClr val="FFB6C1">
              <a:alpha val="15000"/>
            </a:srgbClr>
          </a:solidFill>
          <a:ln w="12700" cmpd="sng" cap="flat">
            <a:solidFill>
              <a:srgbClr val="FFB6C1">
                <a:alpha val="50000"/>
              </a:srgbClr>
            </a:solidFill>
            <a:prstDash val="solid"/>
            <a:round/>
          </a:ln>
        </p:spPr>
        <p:txBody>
          <a:bodyPr anchor="ctr" rtlCol="false" vert="horz" wrap="square" lIns="63500" rIns="63500" tIns="63500" bIns="63500"/>
          <a:lstStyle/>
          <a:p>
            <a:pPr algn="ctr">
              <a:defRPr/>
            </a:pPr>
            <a:endParaRPr/>
          </a:p>
        </p:txBody>
      </p:sp>
      <p:pic>
        <p:nvPicPr>
          <p:cNvPr name="Picture 23" id="23"/>
          <p:cNvPicPr>
            <a:picLocks noChangeAspect="true"/>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0" flipH="false" flipV="false">
            <a:off x="1016000" y="5537200"/>
            <a:ext cx="355600" cy="355600"/>
          </a:xfrm>
          <a:prstGeom prst="rect">
            <a:avLst/>
          </a:prstGeom>
        </p:spPr>
      </p:pic>
      <p:sp>
        <p:nvSpPr>
          <p:cNvPr name="AutoShape 24" id="24"/>
          <p:cNvSpPr/>
          <p:nvPr/>
        </p:nvSpPr>
        <p:spPr>
          <a:xfrm rot="0" flipH="false" flipV="false">
            <a:off x="1524000" y="5461000"/>
            <a:ext cx="9652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B6C1"/>
                </a:solidFill>
                <a:latin typeface="Noto Sans SC"/>
                <a:ea typeface="Noto Sans SC"/>
                <a:cs typeface="Noto Sans SC"/>
                <a:sym typeface="Noto Sans SC"/>
              </a:rPr>
              <a:t>行动指令：</a:t>
            </a:r>
            <a:r>
              <a:rPr lang="en-US" b="false" i="false" strike="noStrike" u="none" sz="1800">
                <a:solidFill>
                  <a:srgbClr val="FFFFFF"/>
                </a:solidFill>
                <a:latin typeface="Noto Sans SC"/>
                <a:ea typeface="Noto Sans SC"/>
                <a:cs typeface="Noto Sans SC"/>
                <a:sym typeface="Noto Sans SC"/>
              </a:rPr>
              <a:t>请大家按照上述步骤完成FCM的环境准备和配置，确保依赖同步成功。</a:t>
            </a:r>
            <a:endParaRPr lang="en-US" sz="1100"/>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A192F">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192F">
              <a:alpha val="9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508000"/>
            <a:ext cx="7035800" cy="508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FCM集成详解（二）：客户端实现</a:t>
            </a:r>
            <a:endParaRPr lang="en-US" sz="1100"/>
          </a:p>
        </p:txBody>
      </p:sp>
      <p:sp>
        <p:nvSpPr>
          <p:cNvPr name="AutoShape 5" id="5"/>
          <p:cNvSpPr/>
          <p:nvPr/>
        </p:nvSpPr>
        <p:spPr>
          <a:xfrm rot="0" flipH="false" flipV="false">
            <a:off x="762000" y="1397000"/>
            <a:ext cx="3378200" cy="3048000"/>
          </a:xfrm>
          <a:prstGeom prst="roundRect">
            <a:avLst>
              <a:gd name="adj" fmla="val 4166"/>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952500" y="1587500"/>
            <a:ext cx="304800" cy="304800"/>
          </a:xfrm>
          <a:prstGeom prst="rect">
            <a:avLst/>
          </a:prstGeom>
        </p:spPr>
      </p:pic>
      <p:sp>
        <p:nvSpPr>
          <p:cNvPr name="AutoShape 7" id="7"/>
          <p:cNvSpPr/>
          <p:nvPr/>
        </p:nvSpPr>
        <p:spPr>
          <a:xfrm rot="0" flipH="false" flipV="false">
            <a:off x="1333500" y="1549400"/>
            <a:ext cx="2540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1. 注册设备 (Token)</a:t>
            </a:r>
            <a:endParaRPr lang="en-US" sz="1100"/>
          </a:p>
        </p:txBody>
      </p:sp>
      <p:sp>
        <p:nvSpPr>
          <p:cNvPr name="AutoShape 8" id="8"/>
          <p:cNvSpPr/>
          <p:nvPr/>
        </p:nvSpPr>
        <p:spPr>
          <a:xfrm rot="0" flipH="false" flipV="false">
            <a:off x="889000" y="2032000"/>
            <a:ext cx="3124200" cy="1905000"/>
          </a:xfrm>
          <a:prstGeom prst="roundRect">
            <a:avLst>
              <a:gd name="adj" fmla="val 3333"/>
            </a:avLst>
          </a:prstGeom>
          <a:solidFill>
            <a:srgbClr val="000000">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952500" y="2095500"/>
            <a:ext cx="2997200" cy="1778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100">
                <a:solidFill>
                  <a:srgbClr val="FFB6C1"/>
                </a:solidFill>
                <a:latin typeface="Roboto Mono"/>
                <a:ea typeface="Roboto Mono"/>
                <a:cs typeface="Roboto Mono"/>
                <a:sym typeface="Roboto Mono"/>
              </a:rPr>
              <a:t>FirebaseMessaging</a:t>
            </a:r>
            <a:r>
              <a:rPr lang="en-US" b="false" i="false" strike="noStrike" u="none" sz="1100">
                <a:solidFill>
                  <a:srgbClr val="E6E6FA"/>
                </a:solidFill>
                <a:latin typeface="Roboto Mono"/>
                <a:ea typeface="Roboto Mono"/>
                <a:cs typeface="Roboto Mono"/>
                <a:sym typeface="Roboto Mono"/>
              </a:rPr>
              <a:t>.getInstance().getToken()</a:t>
            </a:r>
            <a:endParaRPr lang="en-US" sz="1100"/>
          </a:p>
          <a:p>
            <a:pPr algn="l" indent="0">
              <a:lnSpc>
                <a:spcPct val="100000"/>
              </a:lnSpc>
            </a:pPr>
            <a:r>
              <a:rPr lang="en-US" b="false" i="false" strike="noStrike" u="none" sz="1100">
                <a:solidFill>
                  <a:srgbClr val="E6E6FA"/>
                </a:solidFill>
                <a:latin typeface="Roboto Mono"/>
                <a:ea typeface="Roboto Mono"/>
                <a:cs typeface="Roboto Mono"/>
                <a:sym typeface="Roboto Mono"/>
              </a:rPr>
              <a:t>.addOnCompleteListener(task -&gt; {</a:t>
            </a:r>
          </a:p>
          <a:p>
            <a:pPr algn="l" indent="0">
              <a:lnSpc>
                <a:spcPct val="100000"/>
              </a:lnSpc>
            </a:pPr>
            <a:r>
              <a:rPr lang="en-US" b="false" i="false" strike="noStrike" u="none" sz="1100">
                <a:solidFill>
                  <a:srgbClr val="FFB6C1"/>
                </a:solidFill>
                <a:latin typeface="Roboto Mono"/>
                <a:ea typeface="Roboto Mono"/>
                <a:cs typeface="Roboto Mono"/>
                <a:sym typeface="Roboto Mono"/>
              </a:rPr>
              <a:t>if</a:t>
            </a:r>
            <a:r>
              <a:rPr lang="en-US" b="false" i="false" strike="noStrike" u="none" sz="1100">
                <a:solidFill>
                  <a:srgbClr val="E6E6FA"/>
                </a:solidFill>
                <a:latin typeface="Roboto Mono"/>
                <a:ea typeface="Roboto Mono"/>
                <a:cs typeface="Roboto Mono"/>
                <a:sym typeface="Roboto Mono"/>
              </a:rPr>
              <a:t>(!task.isSuccessful()) {</a:t>
            </a:r>
          </a:p>
          <a:p>
            <a:pPr algn="l" indent="0">
              <a:lnSpc>
                <a:spcPct val="100000"/>
              </a:lnSpc>
            </a:pPr>
            <a:r>
              <a:rPr lang="en-US" b="false" i="false" strike="noStrike" u="none" sz="1100">
                <a:solidFill>
                  <a:srgbClr val="FFB6C1"/>
                </a:solidFill>
                <a:latin typeface="Roboto Mono"/>
                <a:ea typeface="Roboto Mono"/>
                <a:cs typeface="Roboto Mono"/>
                <a:sym typeface="Roboto Mono"/>
              </a:rPr>
              <a:t>return</a:t>
            </a:r>
            <a:r>
              <a:rPr lang="en-US" b="false" i="false" strike="noStrike" u="none" sz="1100">
                <a:solidFill>
                  <a:srgbClr val="E6E6FA"/>
                </a:solidFill>
                <a:latin typeface="Roboto Mono"/>
                <a:ea typeface="Roboto Mono"/>
                <a:cs typeface="Roboto Mono"/>
                <a:sym typeface="Roboto Mono"/>
              </a:rPr>
              <a:t>;</a:t>
            </a:r>
          </a:p>
          <a:p>
            <a:pPr algn="l" indent="0">
              <a:lnSpc>
                <a:spcPct val="100000"/>
              </a:lnSpc>
            </a:pPr>
            <a:r>
              <a:rPr lang="en-US" b="false" i="false" strike="noStrike" u="none" sz="1100">
                <a:solidFill>
                  <a:srgbClr val="E6E6FA"/>
                </a:solidFill>
                <a:latin typeface="Roboto Mono"/>
                <a:ea typeface="Roboto Mono"/>
                <a:cs typeface="Roboto Mono"/>
                <a:sym typeface="Roboto Mono"/>
              </a:rPr>
              <a:t>}</a:t>
            </a:r>
          </a:p>
          <a:p>
            <a:pPr algn="l" indent="0">
              <a:lnSpc>
                <a:spcPct val="100000"/>
              </a:lnSpc>
            </a:pPr>
            <a:r>
              <a:rPr lang="en-US" b="false" i="false" strike="noStrike" u="none" sz="1100">
                <a:solidFill>
                  <a:srgbClr val="E6E6FA"/>
                </a:solidFill>
                <a:latin typeface="Roboto Mono"/>
                <a:ea typeface="Roboto Mono"/>
                <a:cs typeface="Roboto Mono"/>
                <a:sym typeface="Roboto Mono"/>
              </a:rPr>
              <a:t>String token = task.getResult();</a:t>
            </a:r>
          </a:p>
          <a:p>
            <a:pPr algn="l" indent="0">
              <a:lnSpc>
                <a:spcPct val="100000"/>
              </a:lnSpc>
            </a:pPr>
            <a:r>
              <a:rPr lang="en-US" b="false" i="false" strike="noStrike" u="none" sz="1100">
                <a:solidFill>
                  <a:srgbClr val="E6E6FA"/>
                </a:solidFill>
                <a:latin typeface="Roboto Mono"/>
                <a:ea typeface="Roboto Mono"/>
                <a:cs typeface="Roboto Mono"/>
                <a:sym typeface="Roboto Mono"/>
              </a:rPr>
              <a:t>sendTokenToServer(token);</a:t>
            </a:r>
          </a:p>
          <a:p>
            <a:pPr algn="l" indent="0">
              <a:lnSpc>
                <a:spcPct val="100000"/>
              </a:lnSpc>
            </a:pPr>
            <a:r>
              <a:rPr lang="en-US" b="false" i="false" strike="noStrike" u="none" sz="1100">
                <a:solidFill>
                  <a:srgbClr val="E6E6FA"/>
                </a:solidFill>
                <a:latin typeface="Roboto Mono"/>
                <a:ea typeface="Roboto Mono"/>
                <a:cs typeface="Roboto Mono"/>
                <a:sym typeface="Roboto Mono"/>
              </a:rPr>
              <a:t>});</a:t>
            </a:r>
          </a:p>
        </p:txBody>
      </p:sp>
      <p:sp>
        <p:nvSpPr>
          <p:cNvPr name="AutoShape 10" id="10"/>
          <p:cNvSpPr/>
          <p:nvPr/>
        </p:nvSpPr>
        <p:spPr>
          <a:xfrm rot="0" flipH="false" flipV="false">
            <a:off x="4394200" y="1397000"/>
            <a:ext cx="3378200" cy="3048000"/>
          </a:xfrm>
          <a:prstGeom prst="roundRect">
            <a:avLst>
              <a:gd name="adj" fmla="val 4166"/>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584700" y="1587500"/>
            <a:ext cx="304800" cy="304800"/>
          </a:xfrm>
          <a:prstGeom prst="rect">
            <a:avLst/>
          </a:prstGeom>
        </p:spPr>
      </p:pic>
      <p:sp>
        <p:nvSpPr>
          <p:cNvPr name="AutoShape 12" id="12"/>
          <p:cNvSpPr/>
          <p:nvPr/>
        </p:nvSpPr>
        <p:spPr>
          <a:xfrm rot="0" flipH="false" flipV="false">
            <a:off x="4965700" y="1549400"/>
            <a:ext cx="2540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2. 接收通知 (Service)</a:t>
            </a:r>
            <a:endParaRPr lang="en-US" sz="1100"/>
          </a:p>
        </p:txBody>
      </p:sp>
      <p:sp>
        <p:nvSpPr>
          <p:cNvPr name="AutoShape 13" id="13"/>
          <p:cNvSpPr/>
          <p:nvPr/>
        </p:nvSpPr>
        <p:spPr>
          <a:xfrm rot="0" flipH="false" flipV="false">
            <a:off x="4521200" y="2032000"/>
            <a:ext cx="3124200" cy="1905000"/>
          </a:xfrm>
          <a:prstGeom prst="roundRect">
            <a:avLst>
              <a:gd name="adj" fmla="val 3333"/>
            </a:avLst>
          </a:prstGeom>
          <a:solidFill>
            <a:srgbClr val="000000">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4584700" y="2095500"/>
            <a:ext cx="2997200" cy="1778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100">
                <a:solidFill>
                  <a:srgbClr val="FFB6C1"/>
                </a:solidFill>
                <a:latin typeface="Roboto Mono"/>
                <a:ea typeface="Roboto Mono"/>
                <a:cs typeface="Roboto Mono"/>
                <a:sym typeface="Roboto Mono"/>
              </a:rPr>
              <a:t>public class</a:t>
            </a:r>
            <a:r>
              <a:rPr lang="en-US" b="false" i="false" strike="noStrike" u="none" sz="1100">
                <a:solidFill>
                  <a:srgbClr val="E6E6FA"/>
                </a:solidFill>
                <a:latin typeface="Roboto Mono"/>
                <a:ea typeface="Roboto Mono"/>
                <a:cs typeface="Roboto Mono"/>
                <a:sym typeface="Roboto Mono"/>
              </a:rPr>
              <a:t>MyFirebaseMsgService</a:t>
            </a:r>
            <a:r>
              <a:rPr lang="en-US" b="false" i="false" strike="noStrike" u="none" sz="1100">
                <a:solidFill>
                  <a:srgbClr val="FFB6C1"/>
                </a:solidFill>
                <a:latin typeface="Roboto Mono"/>
                <a:ea typeface="Roboto Mono"/>
                <a:cs typeface="Roboto Mono"/>
                <a:sym typeface="Roboto Mono"/>
              </a:rPr>
              <a:t>extends</a:t>
            </a:r>
            <a:r>
              <a:rPr lang="en-US" b="false" i="false" strike="noStrike" u="none" sz="1100">
                <a:solidFill>
                  <a:srgbClr val="E6E6FA"/>
                </a:solidFill>
                <a:latin typeface="Roboto Mono"/>
                <a:ea typeface="Roboto Mono"/>
                <a:cs typeface="Roboto Mono"/>
                <a:sym typeface="Roboto Mono"/>
              </a:rPr>
              <a:t>FirebaseMsgService {</a:t>
            </a:r>
            <a:endParaRPr lang="en-US" sz="1100"/>
          </a:p>
          <a:p>
            <a:pPr algn="l" indent="0">
              <a:lnSpc>
                <a:spcPct val="100000"/>
              </a:lnSpc>
            </a:pPr>
            <a:r>
              <a:rPr lang="en-US" b="false" i="false" strike="noStrike" u="none" sz="1100">
                <a:solidFill>
                  <a:srgbClr val="FFB6C1"/>
                </a:solidFill>
                <a:latin typeface="Roboto Mono"/>
                <a:ea typeface="Roboto Mono"/>
                <a:cs typeface="Roboto Mono"/>
                <a:sym typeface="Roboto Mono"/>
              </a:rPr>
              <a:t>@Override</a:t>
            </a:r>
            <a:r>
              <a:rPr lang="en-US" b="false" i="false" strike="noStrike" u="none" sz="1100">
                <a:solidFill>
                  <a:srgbClr val="E6E6FA"/>
                </a:solidFill>
                <a:latin typeface="Roboto Mono"/>
                <a:ea typeface="Roboto Mono"/>
                <a:cs typeface="Roboto Mono"/>
                <a:sym typeface="Roboto Mono"/>
              </a:rPr>
              <a:t/>
            </a:r>
          </a:p>
          <a:p>
            <a:pPr algn="l" indent="0">
              <a:lnSpc>
                <a:spcPct val="100000"/>
              </a:lnSpc>
            </a:pPr>
            <a:r>
              <a:rPr lang="en-US" b="false" i="false" strike="noStrike" u="none" sz="1100">
                <a:solidFill>
                  <a:srgbClr val="FFB6C1"/>
                </a:solidFill>
                <a:latin typeface="Roboto Mono"/>
                <a:ea typeface="Roboto Mono"/>
                <a:cs typeface="Roboto Mono"/>
                <a:sym typeface="Roboto Mono"/>
              </a:rPr>
              <a:t>public void</a:t>
            </a:r>
            <a:r>
              <a:rPr lang="en-US" b="false" i="false" strike="noStrike" u="none" sz="1100">
                <a:solidFill>
                  <a:srgbClr val="E6E6FA"/>
                </a:solidFill>
                <a:latin typeface="Roboto Mono"/>
                <a:ea typeface="Roboto Mono"/>
                <a:cs typeface="Roboto Mono"/>
                <a:sym typeface="Roboto Mono"/>
              </a:rPr>
              <a:t>onMessageReceived(RemoteMessage msg) {</a:t>
            </a:r>
          </a:p>
          <a:p>
            <a:pPr algn="l" indent="0">
              <a:lnSpc>
                <a:spcPct val="100000"/>
              </a:lnSpc>
            </a:pPr>
            <a:r>
              <a:rPr lang="en-US" b="false" i="false" strike="noStrike" u="none" sz="1100">
                <a:solidFill>
                  <a:srgbClr val="FFB6C1"/>
                </a:solidFill>
                <a:latin typeface="Roboto Mono"/>
                <a:ea typeface="Roboto Mono"/>
                <a:cs typeface="Roboto Mono"/>
                <a:sym typeface="Roboto Mono"/>
              </a:rPr>
              <a:t>if</a:t>
            </a:r>
            <a:r>
              <a:rPr lang="en-US" b="false" i="false" strike="noStrike" u="none" sz="1100">
                <a:solidFill>
                  <a:srgbClr val="E6E6FA"/>
                </a:solidFill>
                <a:latin typeface="Roboto Mono"/>
                <a:ea typeface="Roboto Mono"/>
                <a:cs typeface="Roboto Mono"/>
                <a:sym typeface="Roboto Mono"/>
              </a:rPr>
              <a:t>(msg.getNotification() !=</a:t>
            </a:r>
            <a:r>
              <a:rPr lang="en-US" b="false" i="false" strike="noStrike" u="none" sz="1100">
                <a:solidFill>
                  <a:srgbClr val="FFB6C1"/>
                </a:solidFill>
                <a:latin typeface="Roboto Mono"/>
                <a:ea typeface="Roboto Mono"/>
                <a:cs typeface="Roboto Mono"/>
                <a:sym typeface="Roboto Mono"/>
              </a:rPr>
              <a:t>null</a:t>
            </a:r>
            <a:r>
              <a:rPr lang="en-US" b="false" i="false" strike="noStrike" u="none" sz="1100">
                <a:solidFill>
                  <a:srgbClr val="E6E6FA"/>
                </a:solidFill>
                <a:latin typeface="Roboto Mono"/>
                <a:ea typeface="Roboto Mono"/>
                <a:cs typeface="Roboto Mono"/>
                <a:sym typeface="Roboto Mono"/>
              </a:rPr>
              <a:t>) {</a:t>
            </a:r>
          </a:p>
          <a:p>
            <a:pPr algn="l" indent="0">
              <a:lnSpc>
                <a:spcPct val="100000"/>
              </a:lnSpc>
            </a:pPr>
            <a:r>
              <a:rPr lang="en-US" b="false" i="false" strike="noStrike" u="none" sz="1100">
                <a:solidFill>
                  <a:srgbClr val="E6E6FA"/>
                </a:solidFill>
                <a:latin typeface="Roboto Mono"/>
                <a:ea typeface="Roboto Mono"/>
                <a:cs typeface="Roboto Mono"/>
                <a:sym typeface="Roboto Mono"/>
              </a:rPr>
              <a:t>showNotification(msg.getNotification().getTitle(),</a:t>
            </a:r>
          </a:p>
          <a:p>
            <a:pPr algn="l" indent="0">
              <a:lnSpc>
                <a:spcPct val="100000"/>
              </a:lnSpc>
            </a:pPr>
            <a:r>
              <a:rPr lang="en-US" b="false" i="false" strike="noStrike" u="none" sz="1100">
                <a:solidFill>
                  <a:srgbClr val="E6E6FA"/>
                </a:solidFill>
                <a:latin typeface="Roboto Mono"/>
                <a:ea typeface="Roboto Mono"/>
                <a:cs typeface="Roboto Mono"/>
                <a:sym typeface="Roboto Mono"/>
              </a:rPr>
              <a:t>msg.getNotification().getBody());</a:t>
            </a:r>
          </a:p>
          <a:p>
            <a:pPr algn="l" indent="0">
              <a:lnSpc>
                <a:spcPct val="100000"/>
              </a:lnSpc>
            </a:pPr>
            <a:r>
              <a:rPr lang="en-US" b="false" i="false" strike="noStrike" u="none" sz="1100">
                <a:solidFill>
                  <a:srgbClr val="E6E6FA"/>
                </a:solidFill>
                <a:latin typeface="Roboto Mono"/>
                <a:ea typeface="Roboto Mono"/>
                <a:cs typeface="Roboto Mono"/>
                <a:sym typeface="Roboto Mono"/>
              </a:rPr>
              <a:t>}</a:t>
            </a:r>
          </a:p>
          <a:p>
            <a:pPr algn="l" indent="0">
              <a:lnSpc>
                <a:spcPct val="100000"/>
              </a:lnSpc>
            </a:pPr>
            <a:r>
              <a:rPr lang="en-US" b="false" i="false" strike="noStrike" u="none" sz="1100">
                <a:solidFill>
                  <a:srgbClr val="E6E6FA"/>
                </a:solidFill>
                <a:latin typeface="Roboto Mono"/>
                <a:ea typeface="Roboto Mono"/>
                <a:cs typeface="Roboto Mono"/>
                <a:sym typeface="Roboto Mono"/>
              </a:rPr>
              <a:t>}</a:t>
            </a:r>
          </a:p>
          <a:p>
            <a:pPr algn="l" indent="0">
              <a:lnSpc>
                <a:spcPct val="100000"/>
              </a:lnSpc>
            </a:pPr>
            <a:r>
              <a:rPr lang="en-US" b="false" i="false" strike="noStrike" u="none" sz="1100">
                <a:solidFill>
                  <a:srgbClr val="E6E6FA"/>
                </a:solidFill>
                <a:latin typeface="Roboto Mono"/>
                <a:ea typeface="Roboto Mono"/>
                <a:cs typeface="Roboto Mono"/>
                <a:sym typeface="Roboto Mono"/>
              </a:rPr>
              <a:t>}</a:t>
            </a:r>
          </a:p>
        </p:txBody>
      </p:sp>
      <p:sp>
        <p:nvSpPr>
          <p:cNvPr name="AutoShape 15" id="15"/>
          <p:cNvSpPr/>
          <p:nvPr/>
        </p:nvSpPr>
        <p:spPr>
          <a:xfrm rot="0" flipH="false" flipV="false">
            <a:off x="8026400" y="1397000"/>
            <a:ext cx="3378200" cy="3048000"/>
          </a:xfrm>
          <a:prstGeom prst="roundRect">
            <a:avLst>
              <a:gd name="adj" fmla="val 4166"/>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216900" y="1587500"/>
            <a:ext cx="304800" cy="304800"/>
          </a:xfrm>
          <a:prstGeom prst="rect">
            <a:avLst/>
          </a:prstGeom>
        </p:spPr>
      </p:pic>
      <p:sp>
        <p:nvSpPr>
          <p:cNvPr name="AutoShape 17" id="17"/>
          <p:cNvSpPr/>
          <p:nvPr/>
        </p:nvSpPr>
        <p:spPr>
          <a:xfrm rot="0" flipH="false" flipV="false">
            <a:off x="8597900" y="1549400"/>
            <a:ext cx="2540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3. 显示通知 (Builder)</a:t>
            </a:r>
            <a:endParaRPr lang="en-US" sz="1100"/>
          </a:p>
        </p:txBody>
      </p:sp>
      <p:sp>
        <p:nvSpPr>
          <p:cNvPr name="AutoShape 18" id="18"/>
          <p:cNvSpPr/>
          <p:nvPr/>
        </p:nvSpPr>
        <p:spPr>
          <a:xfrm rot="0" flipH="false" flipV="false">
            <a:off x="8153400" y="2032000"/>
            <a:ext cx="3124200" cy="1905000"/>
          </a:xfrm>
          <a:prstGeom prst="roundRect">
            <a:avLst>
              <a:gd name="adj" fmla="val 3333"/>
            </a:avLst>
          </a:prstGeom>
          <a:solidFill>
            <a:srgbClr val="000000">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8216900" y="2095500"/>
            <a:ext cx="2997200" cy="1778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100">
                <a:solidFill>
                  <a:srgbClr val="FFB6C1"/>
                </a:solidFill>
                <a:latin typeface="Roboto Mono"/>
                <a:ea typeface="Roboto Mono"/>
                <a:cs typeface="Roboto Mono"/>
                <a:sym typeface="Roboto Mono"/>
              </a:rPr>
              <a:t>private void</a:t>
            </a:r>
            <a:r>
              <a:rPr lang="en-US" b="false" i="false" strike="noStrike" u="none" sz="1100">
                <a:solidFill>
                  <a:srgbClr val="E6E6FA"/>
                </a:solidFill>
                <a:latin typeface="Roboto Mono"/>
                <a:ea typeface="Roboto Mono"/>
                <a:cs typeface="Roboto Mono"/>
                <a:sym typeface="Roboto Mono"/>
              </a:rPr>
              <a:t>showNotification(String title, String body) {</a:t>
            </a:r>
            <a:endParaRPr lang="en-US" sz="1100"/>
          </a:p>
          <a:p>
            <a:pPr algn="l" indent="0">
              <a:lnSpc>
                <a:spcPct val="100000"/>
              </a:lnSpc>
            </a:pPr>
            <a:r>
              <a:rPr lang="en-US" b="false" i="false" strike="noStrike" u="none" sz="1100">
                <a:solidFill>
                  <a:srgbClr val="E6E6FA"/>
                </a:solidFill>
                <a:latin typeface="Roboto Mono"/>
                <a:ea typeface="Roboto Mono"/>
                <a:cs typeface="Roboto Mono"/>
                <a:sym typeface="Roboto Mono"/>
              </a:rPr>
              <a:t>NotificationCompat.Builder builder =</a:t>
            </a:r>
            <a:r>
              <a:rPr lang="en-US" b="false" i="false" strike="noStrike" u="none" sz="1100">
                <a:solidFill>
                  <a:srgbClr val="FFB6C1"/>
                </a:solidFill>
                <a:latin typeface="Roboto Mono"/>
                <a:ea typeface="Roboto Mono"/>
                <a:cs typeface="Roboto Mono"/>
                <a:sym typeface="Roboto Mono"/>
              </a:rPr>
              <a:t>new</a:t>
            </a:r>
            <a:r>
              <a:rPr lang="en-US" b="false" i="false" strike="noStrike" u="none" sz="1100">
                <a:solidFill>
                  <a:srgbClr val="E6E6FA"/>
                </a:solidFill>
                <a:latin typeface="Roboto Mono"/>
                <a:ea typeface="Roboto Mono"/>
                <a:cs typeface="Roboto Mono"/>
                <a:sym typeface="Roboto Mono"/>
              </a:rPr>
              <a:t>NotificationCompat.Builder(</a:t>
            </a:r>
            <a:r>
              <a:rPr lang="en-US" b="false" i="false" strike="noStrike" u="none" sz="1100">
                <a:solidFill>
                  <a:srgbClr val="FFB6C1"/>
                </a:solidFill>
                <a:latin typeface="Roboto Mono"/>
                <a:ea typeface="Roboto Mono"/>
                <a:cs typeface="Roboto Mono"/>
                <a:sym typeface="Roboto Mono"/>
              </a:rPr>
              <a:t>this</a:t>
            </a:r>
            <a:r>
              <a:rPr lang="en-US" b="false" i="false" strike="noStrike" u="none" sz="1100">
                <a:solidFill>
                  <a:srgbClr val="E6E6FA"/>
                </a:solidFill>
                <a:latin typeface="Roboto Mono"/>
                <a:ea typeface="Roboto Mono"/>
                <a:cs typeface="Roboto Mono"/>
                <a:sym typeface="Roboto Mono"/>
              </a:rPr>
              <a:t>, CHANNEL_ID)</a:t>
            </a:r>
          </a:p>
          <a:p>
            <a:pPr algn="l" indent="0">
              <a:lnSpc>
                <a:spcPct val="100000"/>
              </a:lnSpc>
            </a:pPr>
            <a:r>
              <a:rPr lang="en-US" b="false" i="false" strike="noStrike" u="none" sz="1100">
                <a:solidFill>
                  <a:srgbClr val="E6E6FA"/>
                </a:solidFill>
                <a:latin typeface="Roboto Mono"/>
                <a:ea typeface="Roboto Mono"/>
                <a:cs typeface="Roboto Mono"/>
                <a:sym typeface="Roboto Mono"/>
              </a:rPr>
              <a:t>.setSmallIcon(R.drawable.ic_notification)</a:t>
            </a:r>
          </a:p>
          <a:p>
            <a:pPr algn="l" indent="0">
              <a:lnSpc>
                <a:spcPct val="100000"/>
              </a:lnSpc>
            </a:pPr>
            <a:r>
              <a:rPr lang="en-US" b="false" i="false" strike="noStrike" u="none" sz="1100">
                <a:solidFill>
                  <a:srgbClr val="E6E6FA"/>
                </a:solidFill>
                <a:latin typeface="Roboto Mono"/>
                <a:ea typeface="Roboto Mono"/>
                <a:cs typeface="Roboto Mono"/>
                <a:sym typeface="Roboto Mono"/>
              </a:rPr>
              <a:t>.setContentTitle(title)</a:t>
            </a:r>
          </a:p>
          <a:p>
            <a:pPr algn="l" indent="0">
              <a:lnSpc>
                <a:spcPct val="100000"/>
              </a:lnSpc>
            </a:pPr>
            <a:r>
              <a:rPr lang="en-US" b="false" i="false" strike="noStrike" u="none" sz="1100">
                <a:solidFill>
                  <a:srgbClr val="E6E6FA"/>
                </a:solidFill>
                <a:latin typeface="Roboto Mono"/>
                <a:ea typeface="Roboto Mono"/>
                <a:cs typeface="Roboto Mono"/>
                <a:sym typeface="Roboto Mono"/>
              </a:rPr>
              <a:t>.setContentText(body);</a:t>
            </a:r>
          </a:p>
          <a:p>
            <a:pPr algn="l" indent="0">
              <a:lnSpc>
                <a:spcPct val="100000"/>
              </a:lnSpc>
            </a:pPr>
            <a:r>
              <a:rPr lang="en-US" b="false" i="false" strike="noStrike" u="none" sz="1100">
                <a:solidFill>
                  <a:srgbClr val="E6E6FA"/>
                </a:solidFill>
                <a:latin typeface="Roboto Mono"/>
                <a:ea typeface="Roboto Mono"/>
                <a:cs typeface="Roboto Mono"/>
                <a:sym typeface="Roboto Mono"/>
              </a:rPr>
              <a:t>NotificationManagerCompat.from(</a:t>
            </a:r>
            <a:r>
              <a:rPr lang="en-US" b="false" i="false" strike="noStrike" u="none" sz="1100">
                <a:solidFill>
                  <a:srgbClr val="FFB6C1"/>
                </a:solidFill>
                <a:latin typeface="Roboto Mono"/>
                <a:ea typeface="Roboto Mono"/>
                <a:cs typeface="Roboto Mono"/>
                <a:sym typeface="Roboto Mono"/>
              </a:rPr>
              <a:t>this</a:t>
            </a:r>
            <a:r>
              <a:rPr lang="en-US" b="false" i="false" strike="noStrike" u="none" sz="1100">
                <a:solidFill>
                  <a:srgbClr val="E6E6FA"/>
                </a:solidFill>
                <a:latin typeface="Roboto Mono"/>
                <a:ea typeface="Roboto Mono"/>
                <a:cs typeface="Roboto Mono"/>
                <a:sym typeface="Roboto Mono"/>
              </a:rPr>
              <a:t>).notify(id, builder.build());</a:t>
            </a:r>
          </a:p>
          <a:p>
            <a:pPr algn="l" indent="0">
              <a:lnSpc>
                <a:spcPct val="100000"/>
              </a:lnSpc>
            </a:pPr>
            <a:r>
              <a:rPr lang="en-US" b="false" i="false" strike="noStrike" u="none" sz="1100">
                <a:solidFill>
                  <a:srgbClr val="E6E6FA"/>
                </a:solidFill>
                <a:latin typeface="Roboto Mono"/>
                <a:ea typeface="Roboto Mono"/>
                <a:cs typeface="Roboto Mono"/>
                <a:sym typeface="Roboto Mono"/>
              </a:rPr>
              <a:t>}</a:t>
            </a:r>
          </a:p>
        </p:txBody>
      </p:sp>
      <p:sp>
        <p:nvSpPr>
          <p:cNvPr name="AutoShape 20" id="20"/>
          <p:cNvSpPr/>
          <p:nvPr/>
        </p:nvSpPr>
        <p:spPr>
          <a:xfrm rot="0" flipH="false" flipV="false">
            <a:off x="762000" y="4826000"/>
            <a:ext cx="10642600" cy="762000"/>
          </a:xfrm>
          <a:prstGeom prst="roundRect">
            <a:avLst>
              <a:gd name="adj" fmla="val 16666"/>
            </a:avLst>
          </a:prstGeom>
          <a:solidFill>
            <a:srgbClr val="00BFFF">
              <a:alpha val="15000"/>
            </a:srgbClr>
          </a:solidFill>
          <a:ln w="12700" cmpd="sng" cap="flat">
            <a:solidFill>
              <a:srgbClr val="00BFFF">
                <a:alpha val="50000"/>
              </a:srgbClr>
            </a:solidFill>
            <a:prstDash val="solid"/>
            <a:round/>
          </a:ln>
        </p:spPr>
        <p:txBody>
          <a:bodyPr anchor="ctr" rtlCol="false" vert="horz" wrap="square" lIns="63500" rIns="63500" tIns="63500" bIns="63500"/>
          <a:lstStyle/>
          <a:p>
            <a:pPr algn="ctr">
              <a:defRPr/>
            </a:pPr>
            <a:endParaRPr/>
          </a:p>
        </p:txBody>
      </p:sp>
      <p:pic>
        <p:nvPicPr>
          <p:cNvPr name="Picture 21" id="21"/>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1016000" y="5029200"/>
            <a:ext cx="355600" cy="355600"/>
          </a:xfrm>
          <a:prstGeom prst="rect">
            <a:avLst/>
          </a:prstGeom>
        </p:spPr>
      </p:pic>
      <p:sp>
        <p:nvSpPr>
          <p:cNvPr name="AutoShape 22" id="22"/>
          <p:cNvSpPr/>
          <p:nvPr/>
        </p:nvSpPr>
        <p:spPr>
          <a:xfrm rot="0" flipH="false" flipV="false">
            <a:off x="1524000" y="4953000"/>
            <a:ext cx="8890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行动指令：</a:t>
            </a:r>
            <a:r>
              <a:rPr lang="en-US" b="false" i="false" strike="noStrike" u="none" sz="1600">
                <a:solidFill>
                  <a:srgbClr val="E6E6FA"/>
                </a:solidFill>
                <a:latin typeface="Noto Sans SC"/>
                <a:ea typeface="Noto Sans SC"/>
                <a:cs typeface="Noto Sans SC"/>
                <a:sym typeface="Noto Sans SC"/>
              </a:rPr>
              <a:t>请大家参考上述示例代码，编写自己的FCM客户端代码，重点实现设备注册和通知接收功能。</a:t>
            </a:r>
            <a:endParaRPr lang="en-US" sz="1100"/>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0A192F">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192F">
              <a:alpha val="9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508000"/>
            <a:ext cx="75438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FCM集成详解（三）：后端实现</a:t>
            </a:r>
            <a:endParaRPr lang="en-US" sz="1100"/>
          </a:p>
        </p:txBody>
      </p:sp>
      <p:sp>
        <p:nvSpPr>
          <p:cNvPr name="AutoShape 5" id="5"/>
          <p:cNvSpPr/>
          <p:nvPr/>
        </p:nvSpPr>
        <p:spPr>
          <a:xfrm rot="0" flipH="false" flipV="false">
            <a:off x="762000" y="1397000"/>
            <a:ext cx="3810000" cy="1016000"/>
          </a:xfrm>
          <a:prstGeom prst="roundRect">
            <a:avLst>
              <a:gd name="adj" fmla="val 12500"/>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952500" y="1701800"/>
            <a:ext cx="406400" cy="406400"/>
          </a:xfrm>
          <a:prstGeom prst="rect">
            <a:avLst/>
          </a:prstGeom>
        </p:spPr>
      </p:pic>
      <p:sp>
        <p:nvSpPr>
          <p:cNvPr name="AutoShape 7" id="7"/>
          <p:cNvSpPr/>
          <p:nvPr/>
        </p:nvSpPr>
        <p:spPr>
          <a:xfrm rot="0" flipH="false" flipV="false">
            <a:off x="1460500" y="1524000"/>
            <a:ext cx="2921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获取设备Token</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FFFFFF">
                    <a:alpha val="70196"/>
                  </a:srgbClr>
                </a:solidFill>
                <a:latin typeface="Noto Sans SC"/>
                <a:ea typeface="Noto Sans SC"/>
                <a:cs typeface="Noto Sans SC"/>
                <a:sym typeface="Noto Sans SC"/>
              </a:rPr>
              <a:t>从数据库中查询目标用户的设备标识</a:t>
            </a:r>
          </a:p>
        </p:txBody>
      </p:sp>
      <p:sp>
        <p:nvSpPr>
          <p:cNvPr name="AutoShape 8" id="8"/>
          <p:cNvSpPr/>
          <p:nvPr/>
        </p:nvSpPr>
        <p:spPr>
          <a:xfrm rot="0" flipH="false" flipV="false">
            <a:off x="762000" y="2540000"/>
            <a:ext cx="3810000" cy="1016000"/>
          </a:xfrm>
          <a:prstGeom prst="roundRect">
            <a:avLst>
              <a:gd name="adj" fmla="val 12500"/>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952500" y="2844800"/>
            <a:ext cx="406400" cy="406400"/>
          </a:xfrm>
          <a:prstGeom prst="rect">
            <a:avLst/>
          </a:prstGeom>
        </p:spPr>
      </p:pic>
      <p:sp>
        <p:nvSpPr>
          <p:cNvPr name="AutoShape 10" id="10"/>
          <p:cNvSpPr/>
          <p:nvPr/>
        </p:nvSpPr>
        <p:spPr>
          <a:xfrm rot="0" flipH="false" flipV="false">
            <a:off x="1460500" y="2667000"/>
            <a:ext cx="2921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构建通知消息</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FFFFFF">
                    <a:alpha val="70196"/>
                  </a:srgbClr>
                </a:solidFill>
                <a:latin typeface="Noto Sans SC"/>
                <a:ea typeface="Noto Sans SC"/>
                <a:cs typeface="Noto Sans SC"/>
                <a:sym typeface="Noto Sans SC"/>
              </a:rPr>
              <a:t>封装标题、内容及点击动作等消息体</a:t>
            </a:r>
          </a:p>
        </p:txBody>
      </p:sp>
      <p:sp>
        <p:nvSpPr>
          <p:cNvPr name="AutoShape 11" id="11"/>
          <p:cNvSpPr/>
          <p:nvPr/>
        </p:nvSpPr>
        <p:spPr>
          <a:xfrm rot="0" flipH="false" flipV="false">
            <a:off x="762000" y="3683000"/>
            <a:ext cx="3810000" cy="1016000"/>
          </a:xfrm>
          <a:prstGeom prst="roundRect">
            <a:avLst>
              <a:gd name="adj" fmla="val 12500"/>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952500" y="3987800"/>
            <a:ext cx="406400" cy="406400"/>
          </a:xfrm>
          <a:prstGeom prst="rect">
            <a:avLst/>
          </a:prstGeom>
        </p:spPr>
      </p:pic>
      <p:sp>
        <p:nvSpPr>
          <p:cNvPr name="AutoShape 13" id="13"/>
          <p:cNvSpPr/>
          <p:nvPr/>
        </p:nvSpPr>
        <p:spPr>
          <a:xfrm rot="0" flipH="false" flipV="false">
            <a:off x="1460500" y="3810000"/>
            <a:ext cx="2921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发送通知</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FFFFFF">
                    <a:alpha val="70196"/>
                  </a:srgbClr>
                </a:solidFill>
                <a:latin typeface="Noto Sans SC"/>
                <a:ea typeface="Noto Sans SC"/>
                <a:cs typeface="Noto Sans SC"/>
                <a:sym typeface="Noto Sans SC"/>
              </a:rPr>
              <a:t>调用Admin SDK推送到指定Token设备</a:t>
            </a:r>
          </a:p>
        </p:txBody>
      </p:sp>
      <p:sp>
        <p:nvSpPr>
          <p:cNvPr name="AutoShape 14" id="14"/>
          <p:cNvSpPr/>
          <p:nvPr/>
        </p:nvSpPr>
        <p:spPr>
          <a:xfrm rot="0" flipH="false" flipV="false">
            <a:off x="4953000" y="1397000"/>
            <a:ext cx="6350000" cy="3302000"/>
          </a:xfrm>
          <a:prstGeom prst="roundRect">
            <a:avLst>
              <a:gd name="adj" fmla="val 3846"/>
            </a:avLst>
          </a:prstGeom>
          <a:solidFill>
            <a:srgbClr val="000000">
              <a:alpha val="60000"/>
            </a:srgbClr>
          </a:solidFill>
          <a:ln w="12700" cmpd="sng" cap="flat">
            <a:solidFill>
              <a:srgbClr val="E6E6FA">
                <a:alpha val="30000"/>
              </a:srgbClr>
            </a:solid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4953000" y="1397000"/>
            <a:ext cx="6350000" cy="381000"/>
          </a:xfrm>
          <a:prstGeom prst="roundRect">
            <a:avLst>
              <a:gd name="adj" fmla="val 0"/>
            </a:avLst>
          </a:prstGeom>
          <a:solidFill>
            <a:srgbClr val="FFFFFF">
              <a:alpha val="1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5080000" y="1460500"/>
            <a:ext cx="6096000" cy="25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FFFFFF">
                    <a:alpha val="60000"/>
                  </a:srgbClr>
                </a:solidFill>
                <a:latin typeface="Noto Sans SC"/>
                <a:ea typeface="Noto Sans SC"/>
                <a:cs typeface="Noto Sans SC"/>
                <a:sym typeface="Noto Sans SC"/>
              </a:rPr>
              <a:t>Node.js Implementation (Firebase Admin SDK)</a:t>
            </a:r>
            <a:endParaRPr lang="en-US" sz="1100"/>
          </a:p>
        </p:txBody>
      </p:sp>
      <p:sp>
        <p:nvSpPr>
          <p:cNvPr name="AutoShape 17" id="17"/>
          <p:cNvSpPr/>
          <p:nvPr/>
        </p:nvSpPr>
        <p:spPr>
          <a:xfrm rot="0" flipH="false" flipV="false">
            <a:off x="5080000" y="1841500"/>
            <a:ext cx="6096000" cy="2667000"/>
          </a:xfrm>
          <a:prstGeom prst="rect">
            <a:avLst/>
          </a:prstGeom>
          <a:noFill/>
          <a:ln w="12700" cmpd="sng" cap="flat">
            <a:noFill/>
            <a:prstDash val="solid"/>
            <a:round/>
          </a:ln>
        </p:spPr>
        <p:txBody>
          <a:bodyPr anchor="t" rtlCol="false" anchorCtr="false" vert="horz" wrap="square" lIns="0" rIns="0" tIns="0" bIns="0"/>
          <a:lstStyle/>
          <a:p>
            <a:pPr algn="l" indent="0">
              <a:lnSpc>
                <a:spcPct val="100000"/>
              </a:lnSpc>
              <a:defRPr/>
            </a:pPr>
            <a:r>
              <a:rPr lang="en-US" b="false" i="false" strike="noStrike" u="none" sz="1200">
                <a:solidFill>
                  <a:srgbClr val="C586C0"/>
                </a:solidFill>
                <a:latin typeface="Consolas"/>
                <a:ea typeface="Consolas"/>
                <a:cs typeface="Consolas"/>
                <a:sym typeface="Consolas"/>
              </a:rPr>
              <a:t>const</a:t>
            </a:r>
            <a:r>
              <a:rPr lang="en-US" b="false" i="false" strike="noStrike" u="none" sz="1200">
                <a:solidFill>
                  <a:srgbClr val="FFFFFF"/>
                </a:solidFill>
                <a:latin typeface="Consolas"/>
                <a:ea typeface="Consolas"/>
                <a:cs typeface="Consolas"/>
                <a:sym typeface="Consolas"/>
              </a:rPr>
              <a:t>admin =</a:t>
            </a:r>
            <a:r>
              <a:rPr lang="en-US" b="false" i="false" strike="noStrike" u="none" sz="1200">
                <a:solidFill>
                  <a:srgbClr val="DCDCAA"/>
                </a:solidFill>
                <a:latin typeface="Consolas"/>
                <a:ea typeface="Consolas"/>
                <a:cs typeface="Consolas"/>
                <a:sym typeface="Consolas"/>
              </a:rPr>
              <a:t>require</a:t>
            </a:r>
            <a:r>
              <a:rPr lang="en-US" b="false" i="false" strike="noStrike" u="none" sz="1200">
                <a:solidFill>
                  <a:srgbClr val="FFFFFF"/>
                </a:solidFill>
                <a:latin typeface="Consolas"/>
                <a:ea typeface="Consolas"/>
                <a:cs typeface="Consolas"/>
                <a:sym typeface="Consolas"/>
              </a:rPr>
              <a:t>(</a:t>
            </a:r>
            <a:r>
              <a:rPr lang="en-US" b="false" i="false" strike="noStrike" u="none" sz="1200">
                <a:solidFill>
                  <a:srgbClr val="CE9178"/>
                </a:solidFill>
                <a:latin typeface="Consolas"/>
                <a:ea typeface="Consolas"/>
                <a:cs typeface="Consolas"/>
                <a:sym typeface="Consolas"/>
              </a:rPr>
              <a:t>'firebase-admin'</a:t>
            </a:r>
            <a:r>
              <a:rPr lang="en-US" b="false" i="false" strike="noStrike" u="none" sz="1200">
                <a:solidFill>
                  <a:srgbClr val="FFFFFF"/>
                </a:solidFill>
                <a:latin typeface="Consolas"/>
                <a:ea typeface="Consolas"/>
                <a:cs typeface="Consolas"/>
                <a:sym typeface="Consolas"/>
              </a:rPr>
              <a:t>);</a:t>
            </a:r>
            <a:r>
              <a:rPr lang="en-US" b="false" i="false" strike="noStrike" u="none" sz="1200">
                <a:solidFill>
                  <a:srgbClr val="1F2329"/>
                </a:solidFill>
                <a:latin typeface="Consolas"/>
                <a:ea typeface="Consolas"/>
                <a:cs typeface="Consolas"/>
                <a:sym typeface="Consolas"/>
              </a:rPr>
              <a:t/>
            </a:r>
            <a:endParaRPr lang="en-US" sz="1100"/>
          </a:p>
          <a:p>
            <a:pPr algn="l" indent="0">
              <a:lnSpc>
                <a:spcPct val="100000"/>
              </a:lnSpc>
            </a:pPr>
            <a:r>
              <a:rPr lang="en-US" b="false" i="false" strike="noStrike" u="none" sz="1200">
                <a:solidFill>
                  <a:srgbClr val="C586C0"/>
                </a:solidFill>
                <a:latin typeface="Consolas"/>
                <a:ea typeface="Consolas"/>
                <a:cs typeface="Consolas"/>
                <a:sym typeface="Consolas"/>
              </a:rPr>
              <a:t>const</a:t>
            </a:r>
            <a:r>
              <a:rPr lang="en-US" b="false" i="false" strike="noStrike" u="none" sz="1200">
                <a:solidFill>
                  <a:srgbClr val="FFFFFF"/>
                </a:solidFill>
                <a:latin typeface="Consolas"/>
                <a:ea typeface="Consolas"/>
                <a:cs typeface="Consolas"/>
                <a:sym typeface="Consolas"/>
              </a:rPr>
              <a:t>serviceAccount =</a:t>
            </a:r>
            <a:r>
              <a:rPr lang="en-US" b="false" i="false" strike="noStrike" u="none" sz="1200">
                <a:solidFill>
                  <a:srgbClr val="DCDCAA"/>
                </a:solidFill>
                <a:latin typeface="Consolas"/>
                <a:ea typeface="Consolas"/>
                <a:cs typeface="Consolas"/>
                <a:sym typeface="Consolas"/>
              </a:rPr>
              <a:t>require</a:t>
            </a:r>
            <a:r>
              <a:rPr lang="en-US" b="false" i="false" strike="noStrike" u="none" sz="1200">
                <a:solidFill>
                  <a:srgbClr val="FFFFFF"/>
                </a:solidFill>
                <a:latin typeface="Consolas"/>
                <a:ea typeface="Consolas"/>
                <a:cs typeface="Consolas"/>
                <a:sym typeface="Consolas"/>
              </a:rPr>
              <a:t>(</a:t>
            </a:r>
            <a:r>
              <a:rPr lang="en-US" b="false" i="false" strike="noStrike" u="none" sz="1200">
                <a:solidFill>
                  <a:srgbClr val="CE9178"/>
                </a:solidFill>
                <a:latin typeface="Consolas"/>
                <a:ea typeface="Consolas"/>
                <a:cs typeface="Consolas"/>
                <a:sym typeface="Consolas"/>
              </a:rPr>
              <a:t>'./key.json'</a:t>
            </a:r>
            <a:r>
              <a:rPr lang="en-US" b="false" i="false" strike="noStrike" u="none" sz="1200">
                <a:solidFill>
                  <a:srgbClr val="FFFFFF"/>
                </a:solidFill>
                <a:latin typeface="Consolas"/>
                <a:ea typeface="Consolas"/>
                <a:cs typeface="Consolas"/>
                <a:sym typeface="Consolas"/>
              </a:rPr>
              <a:t>);</a:t>
            </a:r>
            <a:r>
              <a:rPr lang="en-US" b="false" i="false" strike="noStrike" u="none" sz="1200">
                <a:solidFill>
                  <a:srgbClr val="1F2329"/>
                </a:solidFill>
                <a:latin typeface="Consolas"/>
                <a:ea typeface="Consolas"/>
                <a:cs typeface="Consolas"/>
                <a:sym typeface="Consolas"/>
              </a:rPr>
              <a:t/>
            </a:r>
          </a:p>
          <a:p>
            <a:pPr algn="l" indent="0">
              <a:lnSpc>
                <a:spcPct val="100000"/>
              </a:lnSpc>
            </a:pPr>
            <a:r>
              <a:rPr lang="en-US" b="false" i="false" strike="noStrike" u="none" sz="1200">
                <a:solidFill>
                  <a:srgbClr val="FFFFFF"/>
                </a:solidFill>
                <a:latin typeface="Consolas"/>
                <a:ea typeface="Consolas"/>
                <a:cs typeface="Consolas"/>
                <a:sym typeface="Consolas"/>
              </a:rPr>
              <a:t>admin.initializeApp({ credential: admin.credential.cert(serviceAccount) });</a:t>
            </a:r>
            <a:r>
              <a:rPr lang="en-US" b="false" i="false" strike="noStrike" u="none" sz="1200">
                <a:solidFill>
                  <a:srgbClr val="1F2329"/>
                </a:solidFill>
                <a:latin typeface="Consolas"/>
                <a:ea typeface="Consolas"/>
                <a:cs typeface="Consolas"/>
                <a:sym typeface="Consolas"/>
              </a:rPr>
              <a:t/>
            </a:r>
          </a:p>
          <a:p>
            <a:pPr algn="l" indent="0">
              <a:lnSpc>
                <a:spcPct val="100000"/>
              </a:lnSpc>
            </a:pPr>
            <a:r>
              <a:rPr lang="en-US" b="false" i="false" strike="noStrike" u="none" sz="1200">
                <a:solidFill>
                  <a:srgbClr val="C586C0"/>
                </a:solidFill>
                <a:latin typeface="Consolas"/>
                <a:ea typeface="Consolas"/>
                <a:cs typeface="Consolas"/>
                <a:sym typeface="Consolas"/>
              </a:rPr>
              <a:t>async function</a:t>
            </a:r>
            <a:r>
              <a:rPr lang="en-US" b="false" i="false" strike="noStrike" u="none" sz="1200">
                <a:solidFill>
                  <a:srgbClr val="DCDCAA"/>
                </a:solidFill>
                <a:latin typeface="Consolas"/>
                <a:ea typeface="Consolas"/>
                <a:cs typeface="Consolas"/>
                <a:sym typeface="Consolas"/>
              </a:rPr>
              <a:t>sendNotification</a:t>
            </a:r>
            <a:r>
              <a:rPr lang="en-US" b="false" i="false" strike="noStrike" u="none" sz="1200">
                <a:solidFill>
                  <a:srgbClr val="FFFFFF"/>
                </a:solidFill>
                <a:latin typeface="Consolas"/>
                <a:ea typeface="Consolas"/>
                <a:cs typeface="Consolas"/>
                <a:sym typeface="Consolas"/>
              </a:rPr>
              <a:t>(token, title, body) {</a:t>
            </a:r>
            <a:r>
              <a:rPr lang="en-US" b="false" i="false" strike="noStrike" u="none" sz="1200">
                <a:solidFill>
                  <a:srgbClr val="1F2329"/>
                </a:solidFill>
                <a:latin typeface="Consolas"/>
                <a:ea typeface="Consolas"/>
                <a:cs typeface="Consolas"/>
                <a:sym typeface="Consolas"/>
              </a:rPr>
              <a:t/>
            </a:r>
          </a:p>
          <a:p>
            <a:pPr algn="l" indent="0">
              <a:lnSpc>
                <a:spcPct val="100000"/>
              </a:lnSpc>
            </a:pPr>
            <a:r>
              <a:rPr lang="en-US" b="false" i="false" strike="noStrike" u="none" sz="1200">
                <a:solidFill>
                  <a:srgbClr val="C586C0"/>
                </a:solidFill>
                <a:latin typeface="Consolas"/>
                <a:ea typeface="Consolas"/>
                <a:cs typeface="Consolas"/>
                <a:sym typeface="Consolas"/>
              </a:rPr>
              <a:t>const</a:t>
            </a:r>
            <a:r>
              <a:rPr lang="en-US" b="false" i="false" strike="noStrike" u="none" sz="1200">
                <a:solidFill>
                  <a:srgbClr val="FFFFFF"/>
                </a:solidFill>
                <a:latin typeface="Consolas"/>
                <a:ea typeface="Consolas"/>
                <a:cs typeface="Consolas"/>
                <a:sym typeface="Consolas"/>
              </a:rPr>
              <a:t>message = { notification: { title, body }, token };</a:t>
            </a:r>
            <a:r>
              <a:rPr lang="en-US" b="false" i="false" strike="noStrike" u="none" sz="1200">
                <a:solidFill>
                  <a:srgbClr val="1F2329"/>
                </a:solidFill>
                <a:latin typeface="Consolas"/>
                <a:ea typeface="Consolas"/>
                <a:cs typeface="Consolas"/>
                <a:sym typeface="Consolas"/>
              </a:rPr>
              <a:t/>
            </a:r>
          </a:p>
          <a:p>
            <a:pPr algn="l" indent="0">
              <a:lnSpc>
                <a:spcPct val="100000"/>
              </a:lnSpc>
            </a:pPr>
            <a:r>
              <a:rPr lang="en-US" b="false" i="false" strike="noStrike" u="none" sz="1200">
                <a:solidFill>
                  <a:srgbClr val="C586C0"/>
                </a:solidFill>
                <a:latin typeface="Consolas"/>
                <a:ea typeface="Consolas"/>
                <a:cs typeface="Consolas"/>
                <a:sym typeface="Consolas"/>
              </a:rPr>
              <a:t>try</a:t>
            </a:r>
            <a:r>
              <a:rPr lang="en-US" b="false" i="false" strike="noStrike" u="none" sz="1200">
                <a:solidFill>
                  <a:srgbClr val="FFFFFF"/>
                </a:solidFill>
                <a:latin typeface="Consolas"/>
                <a:ea typeface="Consolas"/>
                <a:cs typeface="Consolas"/>
                <a:sym typeface="Consolas"/>
              </a:rPr>
              <a:t>{</a:t>
            </a:r>
            <a:r>
              <a:rPr lang="en-US" b="false" i="false" strike="noStrike" u="none" sz="1200">
                <a:solidFill>
                  <a:srgbClr val="1F2329"/>
                </a:solidFill>
                <a:latin typeface="Consolas"/>
                <a:ea typeface="Consolas"/>
                <a:cs typeface="Consolas"/>
                <a:sym typeface="Consolas"/>
              </a:rPr>
              <a:t/>
            </a:r>
          </a:p>
          <a:p>
            <a:pPr algn="l" indent="0">
              <a:lnSpc>
                <a:spcPct val="100000"/>
              </a:lnSpc>
            </a:pPr>
            <a:r>
              <a:rPr lang="en-US" b="false" i="false" strike="noStrike" u="none" sz="1200">
                <a:solidFill>
                  <a:srgbClr val="C586C0"/>
                </a:solidFill>
                <a:latin typeface="Consolas"/>
                <a:ea typeface="Consolas"/>
                <a:cs typeface="Consolas"/>
                <a:sym typeface="Consolas"/>
              </a:rPr>
              <a:t>const</a:t>
            </a:r>
            <a:r>
              <a:rPr lang="en-US" b="false" i="false" strike="noStrike" u="none" sz="1200">
                <a:solidFill>
                  <a:srgbClr val="FFFFFF"/>
                </a:solidFill>
                <a:latin typeface="Consolas"/>
                <a:ea typeface="Consolas"/>
                <a:cs typeface="Consolas"/>
                <a:sym typeface="Consolas"/>
              </a:rPr>
              <a:t>res =</a:t>
            </a:r>
            <a:r>
              <a:rPr lang="en-US" b="false" i="false" strike="noStrike" u="none" sz="1200">
                <a:solidFill>
                  <a:srgbClr val="C586C0"/>
                </a:solidFill>
                <a:latin typeface="Consolas"/>
                <a:ea typeface="Consolas"/>
                <a:cs typeface="Consolas"/>
                <a:sym typeface="Consolas"/>
              </a:rPr>
              <a:t>await</a:t>
            </a:r>
            <a:r>
              <a:rPr lang="en-US" b="false" i="false" strike="noStrike" u="none" sz="1200">
                <a:solidFill>
                  <a:srgbClr val="FFFFFF"/>
                </a:solidFill>
                <a:latin typeface="Consolas"/>
                <a:ea typeface="Consolas"/>
                <a:cs typeface="Consolas"/>
                <a:sym typeface="Consolas"/>
              </a:rPr>
              <a:t>admin.messaging().send(message);</a:t>
            </a:r>
            <a:r>
              <a:rPr lang="en-US" b="false" i="false" strike="noStrike" u="none" sz="1200">
                <a:solidFill>
                  <a:srgbClr val="1F2329"/>
                </a:solidFill>
                <a:latin typeface="Consolas"/>
                <a:ea typeface="Consolas"/>
                <a:cs typeface="Consolas"/>
                <a:sym typeface="Consolas"/>
              </a:rPr>
              <a:t/>
            </a:r>
          </a:p>
          <a:p>
            <a:pPr algn="l" indent="0">
              <a:lnSpc>
                <a:spcPct val="100000"/>
              </a:lnSpc>
            </a:pPr>
            <a:r>
              <a:rPr lang="en-US" b="false" i="false" strike="noStrike" u="none" sz="1200">
                <a:solidFill>
                  <a:srgbClr val="FFFFFF"/>
                </a:solidFill>
                <a:latin typeface="Consolas"/>
                <a:ea typeface="Consolas"/>
                <a:cs typeface="Consolas"/>
                <a:sym typeface="Consolas"/>
              </a:rPr>
              <a:t>console.log(</a:t>
            </a:r>
            <a:r>
              <a:rPr lang="en-US" b="false" i="false" strike="noStrike" u="none" sz="1200">
                <a:solidFill>
                  <a:srgbClr val="CE9178"/>
                </a:solidFill>
                <a:latin typeface="Consolas"/>
                <a:ea typeface="Consolas"/>
                <a:cs typeface="Consolas"/>
                <a:sym typeface="Consolas"/>
              </a:rPr>
              <a:t>'Success:'</a:t>
            </a:r>
            <a:r>
              <a:rPr lang="en-US" b="false" i="false" strike="noStrike" u="none" sz="1200">
                <a:solidFill>
                  <a:srgbClr val="FFFFFF"/>
                </a:solidFill>
                <a:latin typeface="Consolas"/>
                <a:ea typeface="Consolas"/>
                <a:cs typeface="Consolas"/>
                <a:sym typeface="Consolas"/>
              </a:rPr>
              <a:t>, res);</a:t>
            </a:r>
            <a:r>
              <a:rPr lang="en-US" b="false" i="false" strike="noStrike" u="none" sz="1200">
                <a:solidFill>
                  <a:srgbClr val="1F2329"/>
                </a:solidFill>
                <a:latin typeface="Consolas"/>
                <a:ea typeface="Consolas"/>
                <a:cs typeface="Consolas"/>
                <a:sym typeface="Consolas"/>
              </a:rPr>
              <a:t/>
            </a:r>
          </a:p>
          <a:p>
            <a:pPr algn="l" indent="0">
              <a:lnSpc>
                <a:spcPct val="100000"/>
              </a:lnSpc>
            </a:pPr>
            <a:r>
              <a:rPr lang="en-US" b="false" i="false" strike="noStrike" u="none" sz="1200">
                <a:solidFill>
                  <a:srgbClr val="FFFFFF"/>
                </a:solidFill>
                <a:latin typeface="Consolas"/>
                <a:ea typeface="Consolas"/>
                <a:cs typeface="Consolas"/>
                <a:sym typeface="Consolas"/>
              </a:rPr>
              <a:t>}</a:t>
            </a:r>
            <a:r>
              <a:rPr lang="en-US" b="false" i="false" strike="noStrike" u="none" sz="1200">
                <a:solidFill>
                  <a:srgbClr val="C586C0"/>
                </a:solidFill>
                <a:latin typeface="Consolas"/>
                <a:ea typeface="Consolas"/>
                <a:cs typeface="Consolas"/>
                <a:sym typeface="Consolas"/>
              </a:rPr>
              <a:t>catch</a:t>
            </a:r>
            <a:r>
              <a:rPr lang="en-US" b="false" i="false" strike="noStrike" u="none" sz="1200">
                <a:solidFill>
                  <a:srgbClr val="FFFFFF"/>
                </a:solidFill>
                <a:latin typeface="Consolas"/>
                <a:ea typeface="Consolas"/>
                <a:cs typeface="Consolas"/>
                <a:sym typeface="Consolas"/>
              </a:rPr>
              <a:t>(err) { console.error(err); }</a:t>
            </a:r>
            <a:r>
              <a:rPr lang="en-US" b="false" i="false" strike="noStrike" u="none" sz="1200">
                <a:solidFill>
                  <a:srgbClr val="1F2329"/>
                </a:solidFill>
                <a:latin typeface="Consolas"/>
                <a:ea typeface="Consolas"/>
                <a:cs typeface="Consolas"/>
                <a:sym typeface="Consolas"/>
              </a:rPr>
              <a:t/>
            </a:r>
          </a:p>
          <a:p>
            <a:pPr algn="l" indent="0">
              <a:lnSpc>
                <a:spcPct val="100000"/>
              </a:lnSpc>
            </a:pPr>
            <a:r>
              <a:rPr lang="en-US" b="false" i="false" strike="noStrike" u="none" sz="1200">
                <a:solidFill>
                  <a:srgbClr val="FFFFFF"/>
                </a:solidFill>
                <a:latin typeface="Consolas"/>
                <a:ea typeface="Consolas"/>
                <a:cs typeface="Consolas"/>
                <a:sym typeface="Consolas"/>
              </a:rPr>
              <a:t>}</a:t>
            </a:r>
            <a:r>
              <a:rPr lang="en-US" b="false" i="false" strike="noStrike" u="none" sz="1200">
                <a:solidFill>
                  <a:srgbClr val="1F2329"/>
                </a:solidFill>
                <a:latin typeface="Consolas"/>
                <a:ea typeface="Consolas"/>
                <a:cs typeface="Consolas"/>
                <a:sym typeface="Consolas"/>
              </a:rPr>
              <a:t/>
            </a:r>
          </a:p>
          <a:p>
            <a:pPr algn="l" indent="0">
              <a:lnSpc>
                <a:spcPct val="100000"/>
              </a:lnSpc>
            </a:pPr>
            <a:r>
              <a:rPr lang="en-US" b="false" i="false" strike="noStrike" u="none" sz="1200">
                <a:solidFill>
                  <a:srgbClr val="6A9955"/>
                </a:solidFill>
                <a:latin typeface="Consolas"/>
                <a:ea typeface="Consolas"/>
                <a:cs typeface="Consolas"/>
                <a:sym typeface="Consolas"/>
              </a:rPr>
              <a:t>// 调用示例: sendNotification('token', '标题', '内容');</a:t>
            </a:r>
          </a:p>
        </p:txBody>
      </p:sp>
      <p:sp>
        <p:nvSpPr>
          <p:cNvPr name="AutoShape 18" id="18"/>
          <p:cNvSpPr/>
          <p:nvPr/>
        </p:nvSpPr>
        <p:spPr>
          <a:xfrm rot="0" flipH="false" flipV="false">
            <a:off x="762000" y="5080000"/>
            <a:ext cx="10668000" cy="762000"/>
          </a:xfrm>
          <a:prstGeom prst="roundRect">
            <a:avLst>
              <a:gd name="adj" fmla="val 16666"/>
            </a:avLst>
          </a:prstGeom>
          <a:solidFill>
            <a:srgbClr val="FFB6C1">
              <a:alpha val="15000"/>
            </a:srgbClr>
          </a:solidFill>
          <a:ln w="12700" cmpd="sng" cap="flat">
            <a:solidFill>
              <a:srgbClr val="FFB6C1">
                <a:alpha val="100000"/>
              </a:srgbClr>
            </a:solidFill>
            <a:prstDash val="solid"/>
            <a:round/>
          </a:ln>
        </p:spPr>
        <p:txBody>
          <a:bodyPr anchor="ctr" rtlCol="false" vert="horz" wrap="square" lIns="63500" rIns="63500" tIns="63500" bIns="63500"/>
          <a:lstStyle/>
          <a:p>
            <a:pPr algn="ctr">
              <a:defRPr/>
            </a:pPr>
            <a:endParaRPr/>
          </a:p>
        </p:txBody>
      </p:sp>
      <p:pic>
        <p:nvPicPr>
          <p:cNvPr name="Picture 19" id="19"/>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1016000" y="5283200"/>
            <a:ext cx="355600" cy="355600"/>
          </a:xfrm>
          <a:prstGeom prst="rect">
            <a:avLst/>
          </a:prstGeom>
        </p:spPr>
      </p:pic>
      <p:sp>
        <p:nvSpPr>
          <p:cNvPr name="AutoShape 20" id="20"/>
          <p:cNvSpPr/>
          <p:nvPr/>
        </p:nvSpPr>
        <p:spPr>
          <a:xfrm rot="0" flipH="false" flipV="false">
            <a:off x="1524000" y="5207000"/>
            <a:ext cx="9652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行动指令：</a:t>
            </a:r>
            <a:r>
              <a:rPr lang="en-US" b="false" i="false" strike="noStrike" u="none" sz="1600">
                <a:solidFill>
                  <a:srgbClr val="FFFFFF">
                    <a:alpha val="90196"/>
                  </a:srgbClr>
                </a:solidFill>
                <a:latin typeface="Noto Sans SC"/>
                <a:ea typeface="Noto Sans SC"/>
                <a:cs typeface="Noto Sans SC"/>
                <a:sym typeface="Noto Sans SC"/>
              </a:rPr>
              <a:t>请参考上述代码示例，编写自己的FCM后端代码，实现推送通知的发送功能。</a:t>
            </a:r>
            <a:endParaRPr lang="en-US" sz="1100"/>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0A192F">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192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508000"/>
            <a:ext cx="40259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推送通知管理策略</a:t>
            </a:r>
            <a:endParaRPr lang="en-US" sz="1100"/>
          </a:p>
        </p:txBody>
      </p:sp>
      <p:sp>
        <p:nvSpPr>
          <p:cNvPr name="AutoShape 5" id="5"/>
          <p:cNvSpPr/>
          <p:nvPr/>
        </p:nvSpPr>
        <p:spPr>
          <a:xfrm rot="0" flipH="false" flipV="false">
            <a:off x="762000" y="1524000"/>
            <a:ext cx="3302000" cy="2286000"/>
          </a:xfrm>
          <a:prstGeom prst="roundRect">
            <a:avLst>
              <a:gd name="adj" fmla="val 5555"/>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1714500"/>
            <a:ext cx="406400" cy="406400"/>
          </a:xfrm>
          <a:prstGeom prst="rect">
            <a:avLst/>
          </a:prstGeom>
        </p:spPr>
      </p:pic>
      <p:sp>
        <p:nvSpPr>
          <p:cNvPr name="AutoShape 7" id="7"/>
          <p:cNvSpPr/>
          <p:nvPr/>
        </p:nvSpPr>
        <p:spPr>
          <a:xfrm rot="0" flipH="false" flipV="false">
            <a:off x="1524000" y="1676400"/>
            <a:ext cx="254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通知分类管理</a:t>
            </a:r>
            <a:endParaRPr lang="en-US" sz="1100"/>
          </a:p>
        </p:txBody>
      </p:sp>
      <p:sp>
        <p:nvSpPr>
          <p:cNvPr name="AutoShape 8" id="8"/>
          <p:cNvSpPr/>
          <p:nvPr/>
        </p:nvSpPr>
        <p:spPr>
          <a:xfrm rot="0" flipH="false" flipV="false">
            <a:off x="1016000" y="2222500"/>
            <a:ext cx="2794000" cy="1270000"/>
          </a:xfrm>
          <a:prstGeom prst="rect">
            <a:avLst/>
          </a:prstGeom>
          <a:noFill/>
          <a:ln w="12700" cmpd="sng" cap="flat">
            <a:noFill/>
            <a:prstDash val="solid"/>
            <a:round/>
          </a:ln>
        </p:spPr>
        <p:txBody>
          <a:bodyPr anchor="ctr" rtlCol="false" anchorCtr="false" vert="horz" wrap="square" lIns="0" rIns="0" tIns="0" bIns="0"/>
          <a:lstStyle/>
          <a:p>
            <a:pPr algn="l" indent="-177800" marL="177800">
              <a:lnSpc>
                <a:spcPct val="125000"/>
              </a:lnSpc>
              <a:buClr>
                <a:srgbClr val="E6E6FA"/>
              </a:buClr>
              <a:buChar char="•"/>
              <a:defRPr/>
            </a:pPr>
            <a:r>
              <a:rPr lang="en-US" b="false" i="false" strike="noStrike" u="none" sz="1400">
                <a:solidFill>
                  <a:srgbClr val="E6E6FA"/>
                </a:solidFill>
                <a:latin typeface="Noto Sans SC"/>
                <a:ea typeface="Noto Sans SC"/>
                <a:cs typeface="Noto Sans SC"/>
                <a:sym typeface="Noto Sans SC"/>
              </a:rPr>
              <a:t>划分紧急、安全、行程等类别</a:t>
            </a:r>
            <a:r>
              <a:rPr lang="en-US" b="false" i="false" strike="noStrike" u="none" sz="1400">
                <a:solidFill>
                  <a:srgbClr val="E6E6FA"/>
                </a:solidFill>
                <a:latin typeface="Noto Sans SC"/>
                <a:ea typeface="Noto Sans SC"/>
                <a:cs typeface="Noto Sans SC"/>
                <a:sym typeface="Noto Sans SC"/>
              </a:rPr>
              <a:t/>
            </a:r>
            <a:endParaRPr lang="en-US" sz="1100"/>
          </a:p>
          <a:p>
            <a:pPr algn="l" indent="-177800" marL="177800">
              <a:lnSpc>
                <a:spcPct val="125000"/>
              </a:lnSpc>
              <a:buClr>
                <a:srgbClr val="E6E6FA"/>
              </a:buClr>
              <a:buChar char="•"/>
            </a:pPr>
            <a:r>
              <a:rPr lang="en-US" b="false" i="false" strike="noStrike" u="none" sz="1400">
                <a:solidFill>
                  <a:srgbClr val="E6E6FA"/>
                </a:solidFill>
                <a:latin typeface="Noto Sans SC"/>
                <a:ea typeface="Noto Sans SC"/>
                <a:cs typeface="Noto Sans SC"/>
                <a:sym typeface="Noto Sans SC"/>
              </a:rPr>
              <a:t>允许用户在设置中选择性开关</a:t>
            </a:r>
          </a:p>
        </p:txBody>
      </p:sp>
      <p:sp>
        <p:nvSpPr>
          <p:cNvPr name="AutoShape 9" id="9"/>
          <p:cNvSpPr/>
          <p:nvPr/>
        </p:nvSpPr>
        <p:spPr>
          <a:xfrm rot="0" flipH="false" flipV="false">
            <a:off x="4445000" y="1524000"/>
            <a:ext cx="3302000" cy="2286000"/>
          </a:xfrm>
          <a:prstGeom prst="roundRect">
            <a:avLst>
              <a:gd name="adj" fmla="val 5555"/>
            </a:avLst>
          </a:prstGeom>
          <a:solidFill>
            <a:srgbClr val="FFFFFF">
              <a:alpha val="8000"/>
            </a:srgbClr>
          </a:solidFill>
          <a:ln w="12700" cmpd="sng" cap="flat">
            <a:solidFill>
              <a:srgbClr val="FFB6C1">
                <a:alpha val="3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699000" y="1714500"/>
            <a:ext cx="406400" cy="406400"/>
          </a:xfrm>
          <a:prstGeom prst="rect">
            <a:avLst/>
          </a:prstGeom>
        </p:spPr>
      </p:pic>
      <p:sp>
        <p:nvSpPr>
          <p:cNvPr name="AutoShape 11" id="11"/>
          <p:cNvSpPr/>
          <p:nvPr/>
        </p:nvSpPr>
        <p:spPr>
          <a:xfrm rot="0" flipH="false" flipV="false">
            <a:off x="5207000" y="1676400"/>
            <a:ext cx="254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通知频率控制</a:t>
            </a:r>
            <a:endParaRPr lang="en-US" sz="1100"/>
          </a:p>
        </p:txBody>
      </p:sp>
      <p:sp>
        <p:nvSpPr>
          <p:cNvPr name="AutoShape 12" id="12"/>
          <p:cNvSpPr/>
          <p:nvPr/>
        </p:nvSpPr>
        <p:spPr>
          <a:xfrm rot="0" flipH="false" flipV="false">
            <a:off x="4699000" y="2222500"/>
            <a:ext cx="2794000" cy="1270000"/>
          </a:xfrm>
          <a:prstGeom prst="rect">
            <a:avLst/>
          </a:prstGeom>
          <a:noFill/>
          <a:ln w="12700" cmpd="sng" cap="flat">
            <a:noFill/>
            <a:prstDash val="solid"/>
            <a:round/>
          </a:ln>
        </p:spPr>
        <p:txBody>
          <a:bodyPr anchor="ctr" rtlCol="false" anchorCtr="false" vert="horz" wrap="square" lIns="0" rIns="0" tIns="0" bIns="0"/>
          <a:lstStyle/>
          <a:p>
            <a:pPr algn="l" indent="-177800" marL="177800">
              <a:lnSpc>
                <a:spcPct val="125000"/>
              </a:lnSpc>
              <a:buClr>
                <a:srgbClr val="E6E6FA"/>
              </a:buClr>
              <a:buChar char="•"/>
              <a:defRPr/>
            </a:pPr>
            <a:r>
              <a:rPr lang="en-US" b="false" i="false" strike="noStrike" u="none" sz="1400">
                <a:solidFill>
                  <a:srgbClr val="E6E6FA"/>
                </a:solidFill>
                <a:latin typeface="Noto Sans SC"/>
                <a:ea typeface="Noto Sans SC"/>
                <a:cs typeface="Noto Sans SC"/>
                <a:sym typeface="Noto Sans SC"/>
              </a:rPr>
              <a:t>限制同类通知日发送次数上限</a:t>
            </a:r>
            <a:r>
              <a:rPr lang="en-US" b="false" i="false" strike="noStrike" u="none" sz="1400">
                <a:solidFill>
                  <a:srgbClr val="E6E6FA"/>
                </a:solidFill>
                <a:latin typeface="Noto Sans SC"/>
                <a:ea typeface="Noto Sans SC"/>
                <a:cs typeface="Noto Sans SC"/>
                <a:sym typeface="Noto Sans SC"/>
              </a:rPr>
              <a:t/>
            </a:r>
            <a:endParaRPr lang="en-US" sz="1100"/>
          </a:p>
          <a:p>
            <a:pPr algn="l" indent="-177800" marL="177800">
              <a:lnSpc>
                <a:spcPct val="125000"/>
              </a:lnSpc>
              <a:buClr>
                <a:srgbClr val="E6E6FA"/>
              </a:buClr>
              <a:buChar char="•"/>
            </a:pPr>
            <a:r>
              <a:rPr lang="en-US" b="false" i="false" strike="noStrike" u="none" sz="1400">
                <a:solidFill>
                  <a:srgbClr val="E6E6FA"/>
                </a:solidFill>
                <a:latin typeface="Noto Sans SC"/>
                <a:ea typeface="Noto Sans SC"/>
                <a:cs typeface="Noto Sans SC"/>
                <a:sym typeface="Noto Sans SC"/>
              </a:rPr>
              <a:t>避开深夜等用户休息时段推送</a:t>
            </a:r>
          </a:p>
        </p:txBody>
      </p:sp>
      <p:sp>
        <p:nvSpPr>
          <p:cNvPr name="AutoShape 13" id="13"/>
          <p:cNvSpPr/>
          <p:nvPr/>
        </p:nvSpPr>
        <p:spPr>
          <a:xfrm rot="0" flipH="false" flipV="false">
            <a:off x="8128000" y="1524000"/>
            <a:ext cx="3302000" cy="2286000"/>
          </a:xfrm>
          <a:prstGeom prst="roundRect">
            <a:avLst>
              <a:gd name="adj" fmla="val 5555"/>
            </a:avLst>
          </a:prstGeom>
          <a:solidFill>
            <a:srgbClr val="FFFFFF">
              <a:alpha val="8000"/>
            </a:srgbClr>
          </a:solidFill>
          <a:ln w="12700" cmpd="sng" cap="flat">
            <a:solidFill>
              <a:srgbClr val="E6E6FA">
                <a:alpha val="30000"/>
              </a:srgbClr>
            </a:solid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382000" y="1714500"/>
            <a:ext cx="406400" cy="406400"/>
          </a:xfrm>
          <a:prstGeom prst="rect">
            <a:avLst/>
          </a:prstGeom>
        </p:spPr>
      </p:pic>
      <p:sp>
        <p:nvSpPr>
          <p:cNvPr name="AutoShape 15" id="15"/>
          <p:cNvSpPr/>
          <p:nvPr/>
        </p:nvSpPr>
        <p:spPr>
          <a:xfrm rot="0" flipH="false" flipV="false">
            <a:off x="8890000" y="1676400"/>
            <a:ext cx="254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用户自主设置</a:t>
            </a:r>
            <a:endParaRPr lang="en-US" sz="1100"/>
          </a:p>
        </p:txBody>
      </p:sp>
      <p:sp>
        <p:nvSpPr>
          <p:cNvPr name="AutoShape 16" id="16"/>
          <p:cNvSpPr/>
          <p:nvPr/>
        </p:nvSpPr>
        <p:spPr>
          <a:xfrm rot="0" flipH="false" flipV="false">
            <a:off x="8382000" y="2222500"/>
            <a:ext cx="2794000" cy="1270000"/>
          </a:xfrm>
          <a:prstGeom prst="rect">
            <a:avLst/>
          </a:prstGeom>
          <a:noFill/>
          <a:ln w="12700" cmpd="sng" cap="flat">
            <a:noFill/>
            <a:prstDash val="solid"/>
            <a:round/>
          </a:ln>
        </p:spPr>
        <p:txBody>
          <a:bodyPr anchor="ctr" rtlCol="false" anchorCtr="false" vert="horz" wrap="square" lIns="0" rIns="0" tIns="0" bIns="0"/>
          <a:lstStyle/>
          <a:p>
            <a:pPr algn="l" indent="-177800" marL="177800">
              <a:lnSpc>
                <a:spcPct val="125000"/>
              </a:lnSpc>
              <a:buClr>
                <a:srgbClr val="E6E6FA"/>
              </a:buClr>
              <a:buChar char="•"/>
              <a:defRPr/>
            </a:pPr>
            <a:r>
              <a:rPr lang="en-US" b="false" i="false" strike="noStrike" u="none" sz="1400">
                <a:solidFill>
                  <a:srgbClr val="E6E6FA"/>
                </a:solidFill>
                <a:latin typeface="Noto Sans SC"/>
                <a:ea typeface="Noto Sans SC"/>
                <a:cs typeface="Noto Sans SC"/>
                <a:sym typeface="Noto Sans SC"/>
              </a:rPr>
              <a:t>提供清晰易用的通知设置界面</a:t>
            </a:r>
            <a:r>
              <a:rPr lang="en-US" b="false" i="false" strike="noStrike" u="none" sz="1400">
                <a:solidFill>
                  <a:srgbClr val="E6E6FA"/>
                </a:solidFill>
                <a:latin typeface="Noto Sans SC"/>
                <a:ea typeface="Noto Sans SC"/>
                <a:cs typeface="Noto Sans SC"/>
                <a:sym typeface="Noto Sans SC"/>
              </a:rPr>
              <a:t/>
            </a:r>
            <a:endParaRPr lang="en-US" sz="1100"/>
          </a:p>
          <a:p>
            <a:pPr algn="l" indent="-177800" marL="177800">
              <a:lnSpc>
                <a:spcPct val="125000"/>
              </a:lnSpc>
              <a:buClr>
                <a:srgbClr val="E6E6FA"/>
              </a:buClr>
              <a:buChar char="•"/>
            </a:pPr>
            <a:r>
              <a:rPr lang="en-US" b="false" i="false" strike="noStrike" u="none" sz="1400">
                <a:solidFill>
                  <a:srgbClr val="E6E6FA"/>
                </a:solidFill>
                <a:latin typeface="Noto Sans SC"/>
                <a:ea typeface="Noto Sans SC"/>
                <a:cs typeface="Noto Sans SC"/>
                <a:sym typeface="Noto Sans SC"/>
              </a:rPr>
              <a:t>严格遵守用户关闭通知的选择</a:t>
            </a:r>
          </a:p>
        </p:txBody>
      </p:sp>
      <p:sp>
        <p:nvSpPr>
          <p:cNvPr name="AutoShape 17" id="17"/>
          <p:cNvSpPr/>
          <p:nvPr/>
        </p:nvSpPr>
        <p:spPr>
          <a:xfrm rot="0" flipH="false" flipV="false">
            <a:off x="762000" y="4191000"/>
            <a:ext cx="10668000" cy="1016000"/>
          </a:xfrm>
          <a:prstGeom prst="roundRect">
            <a:avLst>
              <a:gd name="adj" fmla="val 12500"/>
            </a:avLst>
          </a:prstGeom>
          <a:solidFill>
            <a:srgbClr val="00BFFF">
              <a:alpha val="15000"/>
            </a:srgbClr>
          </a:solidFill>
          <a:ln w="12700" cmpd="sng" cap="flat">
            <a:solidFill>
              <a:srgbClr val="00BFFF">
                <a:alpha val="50000"/>
              </a:srgbClr>
            </a:solidFill>
            <a:prstDash val="dash"/>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1016000" y="4495800"/>
            <a:ext cx="406400" cy="406400"/>
          </a:xfrm>
          <a:prstGeom prst="rect">
            <a:avLst/>
          </a:prstGeom>
        </p:spPr>
      </p:pic>
      <p:sp>
        <p:nvSpPr>
          <p:cNvPr name="AutoShape 19" id="19"/>
          <p:cNvSpPr/>
          <p:nvPr/>
        </p:nvSpPr>
        <p:spPr>
          <a:xfrm rot="0" flipH="false" flipV="false">
            <a:off x="1524000" y="4318000"/>
            <a:ext cx="9652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学生行动指令：</a:t>
            </a:r>
            <a:r>
              <a:rPr lang="en-US" b="false" i="false" strike="noStrike" u="none" sz="1600">
                <a:solidFill>
                  <a:srgbClr val="E6E6FA"/>
                </a:solidFill>
                <a:latin typeface="Noto Sans SC"/>
                <a:ea typeface="Noto Sans SC"/>
                <a:cs typeface="Noto Sans SC"/>
                <a:sym typeface="Noto Sans SC"/>
              </a:rPr>
              <a:t>请大家设计自己项目的推送通知管理策略，确保在及时触达用户的同时，不会对用户造成打扰。</a:t>
            </a:r>
            <a:endParaRPr lang="en-US" sz="1100"/>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0A192F">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192F">
              <a:alpha val="85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5791200" y="1651000"/>
            <a:ext cx="609600" cy="609600"/>
          </a:xfrm>
          <a:prstGeom prst="rect">
            <a:avLst/>
          </a:prstGeom>
          <a:effectLst>
            <a:outerShdw dir="2700000" dist="0" blurRad="127000" algn="tl" rotWithShape="false">
              <a:srgbClr val="00BFFF">
                <a:alpha val="50000"/>
              </a:srgbClr>
            </a:outerShdw>
          </a:effectLst>
        </p:spPr>
      </p:pic>
      <p:sp>
        <p:nvSpPr>
          <p:cNvPr name="AutoShape 5" id="5"/>
          <p:cNvSpPr/>
          <p:nvPr/>
        </p:nvSpPr>
        <p:spPr>
          <a:xfrm rot="0" flipH="false" flipV="false">
            <a:off x="508000" y="2413000"/>
            <a:ext cx="11176000" cy="635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true" i="false" strike="noStrike" u="none" sz="3200">
                <a:solidFill>
                  <a:srgbClr val="FFFFFF"/>
                </a:solidFill>
                <a:latin typeface="Noto Sans SC"/>
                <a:ea typeface="Noto Sans SC"/>
                <a:cs typeface="Noto Sans SC"/>
                <a:sym typeface="Noto Sans SC"/>
              </a:rPr>
              <a:t>模块三：Zeabur部署平台详解与实践</a:t>
            </a:r>
            <a:endParaRPr lang="en-US" sz="1100"/>
          </a:p>
        </p:txBody>
      </p:sp>
      <p:cxnSp>
        <p:nvCxnSpPr>
          <p:cNvPr name="Connector 6" id="6"/>
          <p:cNvCxnSpPr/>
          <p:nvPr/>
        </p:nvCxnSpPr>
        <p:spPr>
          <a:xfrm rot="-34376" flipH="false" flipV="false">
            <a:off x="5461032" y="3168650"/>
            <a:ext cx="1270000" cy="12700"/>
          </a:xfrm>
          <a:prstGeom prst="line">
            <a:avLst/>
          </a:prstGeom>
          <a:solidFill>
            <a:srgbClr val="DEE0E3">
              <a:alpha val="100000"/>
            </a:srgbClr>
          </a:solidFill>
          <a:ln w="25400" cmpd="sng" cap="flat">
            <a:solidFill>
              <a:srgbClr val="00BFFF">
                <a:alpha val="100000"/>
              </a:srgbClr>
            </a:solidFill>
            <a:prstDash val="solid"/>
            <a:round/>
            <a:headEnd type="none" w="lg" len="lg"/>
            <a:tailEnd type="none" w="lg" len="lg"/>
          </a:ln>
        </p:spPr>
      </p:cxnSp>
      <p:sp>
        <p:nvSpPr>
          <p:cNvPr name="AutoShape 7" id="7"/>
          <p:cNvSpPr/>
          <p:nvPr/>
        </p:nvSpPr>
        <p:spPr>
          <a:xfrm rot="0" flipH="false" flipV="false">
            <a:off x="508000" y="3429000"/>
            <a:ext cx="11176000" cy="508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false" i="false" strike="noStrike" u="none" sz="2000">
                <a:solidFill>
                  <a:srgbClr val="E6E6FA"/>
                </a:solidFill>
                <a:latin typeface="Noto Sans SC"/>
                <a:ea typeface="Noto Sans SC"/>
                <a:cs typeface="Noto Sans SC"/>
                <a:sym typeface="Noto Sans SC"/>
              </a:rPr>
              <a:t>轻松实现应用的自动化部署与管理</a:t>
            </a:r>
            <a:endParaRPr lang="en-US" sz="1100"/>
          </a:p>
        </p:txBody>
      </p:sp>
      <p:sp>
        <p:nvSpPr>
          <p:cNvPr name="AutoShape 8" id="8"/>
          <p:cNvSpPr/>
          <p:nvPr/>
        </p:nvSpPr>
        <p:spPr>
          <a:xfrm rot="0" flipH="false" flipV="false">
            <a:off x="5715000" y="4445000"/>
            <a:ext cx="762000" cy="50800"/>
          </a:xfrm>
          <a:prstGeom prst="roundRect">
            <a:avLst>
              <a:gd name="adj" fmla="val 50000"/>
            </a:avLst>
          </a:prstGeom>
          <a:solidFill>
            <a:srgbClr val="FFB6C1">
              <a:alpha val="100000"/>
            </a:srgbClr>
          </a:solidFill>
          <a:ln w="25400" cmpd="sng" cap="flat">
            <a:noFill/>
            <a:prstDash val="solid"/>
            <a:round/>
          </a:ln>
        </p:spPr>
        <p:txBody>
          <a:bodyPr anchor="ctr" rtlCol="false" vert="horz" wrap="square" lIns="63500" rIns="63500" tIns="63500" bIns="63500"/>
          <a:lstStyle/>
          <a:p>
            <a:pPr algn="ctr">
              <a:defRPr/>
            </a:pPr>
            <a:endParaRP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0A192F">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192F">
              <a:alpha val="9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508000"/>
            <a:ext cx="5029200" cy="508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Zeabur部署平台介绍</a:t>
            </a:r>
            <a:endParaRPr lang="en-US" sz="1100"/>
          </a:p>
        </p:txBody>
      </p:sp>
      <p:sp>
        <p:nvSpPr>
          <p:cNvPr name="AutoShape 5" id="5"/>
          <p:cNvSpPr/>
          <p:nvPr/>
        </p:nvSpPr>
        <p:spPr>
          <a:xfrm rot="0" flipH="false" flipV="false">
            <a:off x="762000" y="1270000"/>
            <a:ext cx="10668000" cy="762000"/>
          </a:xfrm>
          <a:prstGeom prst="roundRect">
            <a:avLst>
              <a:gd name="adj" fmla="val 16666"/>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889000" y="1397000"/>
            <a:ext cx="10414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FFFFFF"/>
                </a:solidFill>
                <a:latin typeface="Noto Sans SC"/>
                <a:ea typeface="Noto Sans SC"/>
                <a:cs typeface="Noto Sans SC"/>
                <a:sym typeface="Noto Sans SC"/>
              </a:rPr>
              <a:t>什么是Zeabur：</a:t>
            </a:r>
            <a:r>
              <a:rPr lang="en-US" b="false" i="false" strike="noStrike" u="none" sz="1400">
                <a:solidFill>
                  <a:srgbClr val="FFFFFF">
                    <a:alpha val="80000"/>
                  </a:srgbClr>
                </a:solidFill>
                <a:latin typeface="Noto Sans SC"/>
                <a:ea typeface="Noto Sans SC"/>
                <a:cs typeface="Noto Sans SC"/>
                <a:sym typeface="Noto Sans SC"/>
              </a:rPr>
              <a:t>Zeabur是一个AI驱动的云部署平台（PaaS），旨在简化应用的部署和管理流程。它能自动识别项目的语言和框架，实现一键部署，无需编写复杂的Dockerfile或配置文件。</a:t>
            </a:r>
            <a:endParaRPr lang="en-US" sz="1100"/>
          </a:p>
        </p:txBody>
      </p:sp>
      <p:sp>
        <p:nvSpPr>
          <p:cNvPr name="AutoShape 7" id="7"/>
          <p:cNvSpPr/>
          <p:nvPr/>
        </p:nvSpPr>
        <p:spPr>
          <a:xfrm rot="0" flipH="false" flipV="false">
            <a:off x="762000" y="2222500"/>
            <a:ext cx="2540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B6C1"/>
                </a:solidFill>
                <a:latin typeface="Noto Sans SC"/>
                <a:ea typeface="Noto Sans SC"/>
                <a:cs typeface="Noto Sans SC"/>
                <a:sym typeface="Noto Sans SC"/>
              </a:rPr>
              <a:t>核心功能</a:t>
            </a:r>
            <a:endParaRPr lang="en-US" sz="1100"/>
          </a:p>
        </p:txBody>
      </p:sp>
      <p:sp>
        <p:nvSpPr>
          <p:cNvPr name="AutoShape 8" id="8"/>
          <p:cNvSpPr/>
          <p:nvPr/>
        </p:nvSpPr>
        <p:spPr>
          <a:xfrm rot="0" flipH="false" flipV="false">
            <a:off x="762000" y="2667000"/>
            <a:ext cx="2476500" cy="1270000"/>
          </a:xfrm>
          <a:prstGeom prst="roundRect">
            <a:avLst>
              <a:gd name="adj" fmla="val 10000"/>
            </a:avLst>
          </a:prstGeom>
          <a:solidFill>
            <a:srgbClr val="00BFFF">
              <a:alpha val="10000"/>
            </a:srgbClr>
          </a:solidFill>
          <a:ln w="12700" cmpd="sng" cap="flat">
            <a:solidFill>
              <a:srgbClr val="00BFFF">
                <a:alpha val="20000"/>
              </a:srgbClr>
            </a:solidFill>
            <a:prstDash val="solid"/>
            <a:round/>
          </a:ln>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952500" y="2857500"/>
            <a:ext cx="304800" cy="304800"/>
          </a:xfrm>
          <a:prstGeom prst="rect">
            <a:avLst/>
          </a:prstGeom>
        </p:spPr>
      </p:pic>
      <p:sp>
        <p:nvSpPr>
          <p:cNvPr name="AutoShape 10" id="10"/>
          <p:cNvSpPr/>
          <p:nvPr/>
        </p:nvSpPr>
        <p:spPr>
          <a:xfrm rot="0" flipH="false" flipV="false">
            <a:off x="1333500" y="2819400"/>
            <a:ext cx="1778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应用部署</a:t>
            </a:r>
            <a:endParaRPr lang="en-US" sz="1100"/>
          </a:p>
        </p:txBody>
      </p:sp>
      <p:sp>
        <p:nvSpPr>
          <p:cNvPr name="AutoShape 11" id="11"/>
          <p:cNvSpPr/>
          <p:nvPr/>
        </p:nvSpPr>
        <p:spPr>
          <a:xfrm rot="0" flipH="false" flipV="false">
            <a:off x="889000" y="3238500"/>
            <a:ext cx="22225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FFFFFF">
                    <a:alpha val="70196"/>
                  </a:srgbClr>
                </a:solidFill>
                <a:latin typeface="Noto Sans SC"/>
                <a:ea typeface="Noto Sans SC"/>
                <a:cs typeface="Noto Sans SC"/>
                <a:sym typeface="Noto Sans SC"/>
              </a:rPr>
              <a:t>AI驱动自动识别框架，无需Dockerfile，一键完成应用部署。</a:t>
            </a:r>
            <a:endParaRPr lang="en-US" sz="1100"/>
          </a:p>
        </p:txBody>
      </p:sp>
      <p:sp>
        <p:nvSpPr>
          <p:cNvPr name="AutoShape 12" id="12"/>
          <p:cNvSpPr/>
          <p:nvPr/>
        </p:nvSpPr>
        <p:spPr>
          <a:xfrm rot="0" flipH="false" flipV="false">
            <a:off x="3492500" y="2667000"/>
            <a:ext cx="2476500" cy="1270000"/>
          </a:xfrm>
          <a:prstGeom prst="roundRect">
            <a:avLst>
              <a:gd name="adj" fmla="val 10000"/>
            </a:avLst>
          </a:prstGeom>
          <a:solidFill>
            <a:srgbClr val="00BFFF">
              <a:alpha val="10000"/>
            </a:srgbClr>
          </a:solidFill>
          <a:ln w="12700" cmpd="sng" cap="flat">
            <a:solidFill>
              <a:srgbClr val="00BFFF">
                <a:alpha val="20000"/>
              </a:srgbClr>
            </a:solid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3683000" y="2857500"/>
            <a:ext cx="304800" cy="304800"/>
          </a:xfrm>
          <a:prstGeom prst="rect">
            <a:avLst/>
          </a:prstGeom>
        </p:spPr>
      </p:pic>
      <p:sp>
        <p:nvSpPr>
          <p:cNvPr name="AutoShape 14" id="14"/>
          <p:cNvSpPr/>
          <p:nvPr/>
        </p:nvSpPr>
        <p:spPr>
          <a:xfrm rot="0" flipH="false" flipV="false">
            <a:off x="4064000" y="2819400"/>
            <a:ext cx="1778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服务发现</a:t>
            </a:r>
            <a:endParaRPr lang="en-US" sz="1100"/>
          </a:p>
        </p:txBody>
      </p:sp>
      <p:sp>
        <p:nvSpPr>
          <p:cNvPr name="AutoShape 15" id="15"/>
          <p:cNvSpPr/>
          <p:nvPr/>
        </p:nvSpPr>
        <p:spPr>
          <a:xfrm rot="0" flipH="false" flipV="false">
            <a:off x="3619500" y="3238500"/>
            <a:ext cx="22225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FFFFFF">
                    <a:alpha val="70196"/>
                  </a:srgbClr>
                </a:solidFill>
                <a:latin typeface="Noto Sans SC"/>
                <a:ea typeface="Noto Sans SC"/>
                <a:cs typeface="Noto Sans SC"/>
                <a:sym typeface="Noto Sans SC"/>
              </a:rPr>
              <a:t>自动服务发现与注册，集成CI/CD，简化服务间通信流程。</a:t>
            </a:r>
            <a:endParaRPr lang="en-US" sz="1100"/>
          </a:p>
        </p:txBody>
      </p:sp>
      <p:sp>
        <p:nvSpPr>
          <p:cNvPr name="AutoShape 16" id="16"/>
          <p:cNvSpPr/>
          <p:nvPr/>
        </p:nvSpPr>
        <p:spPr>
          <a:xfrm rot="0" flipH="false" flipV="false">
            <a:off x="6223000" y="2667000"/>
            <a:ext cx="2476500" cy="1270000"/>
          </a:xfrm>
          <a:prstGeom prst="roundRect">
            <a:avLst>
              <a:gd name="adj" fmla="val 10000"/>
            </a:avLst>
          </a:prstGeom>
          <a:solidFill>
            <a:srgbClr val="00BFFF">
              <a:alpha val="10000"/>
            </a:srgbClr>
          </a:solidFill>
          <a:ln w="12700" cmpd="sng" cap="flat">
            <a:solidFill>
              <a:srgbClr val="00BFFF">
                <a:alpha val="20000"/>
              </a:srgbClr>
            </a:solidFill>
            <a:prstDash val="solid"/>
            <a:round/>
          </a:ln>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6413500" y="2857500"/>
            <a:ext cx="304800" cy="304800"/>
          </a:xfrm>
          <a:prstGeom prst="rect">
            <a:avLst/>
          </a:prstGeom>
        </p:spPr>
      </p:pic>
      <p:sp>
        <p:nvSpPr>
          <p:cNvPr name="AutoShape 18" id="18"/>
          <p:cNvSpPr/>
          <p:nvPr/>
        </p:nvSpPr>
        <p:spPr>
          <a:xfrm rot="0" flipH="false" flipV="false">
            <a:off x="6794500" y="2819400"/>
            <a:ext cx="1778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负载均衡</a:t>
            </a:r>
            <a:endParaRPr lang="en-US" sz="1100"/>
          </a:p>
        </p:txBody>
      </p:sp>
      <p:sp>
        <p:nvSpPr>
          <p:cNvPr name="AutoShape 19" id="19"/>
          <p:cNvSpPr/>
          <p:nvPr/>
        </p:nvSpPr>
        <p:spPr>
          <a:xfrm rot="0" flipH="false" flipV="false">
            <a:off x="6350000" y="3238500"/>
            <a:ext cx="22225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FFFFFF">
                    <a:alpha val="70196"/>
                  </a:srgbClr>
                </a:solidFill>
                <a:latin typeface="Noto Sans SC"/>
                <a:ea typeface="Noto Sans SC"/>
                <a:cs typeface="Noto Sans SC"/>
                <a:sym typeface="Noto Sans SC"/>
              </a:rPr>
              <a:t>内置智能负载均衡，自动分发请求，保障高可用与高并发。</a:t>
            </a:r>
            <a:endParaRPr lang="en-US" sz="1100"/>
          </a:p>
        </p:txBody>
      </p:sp>
      <p:sp>
        <p:nvSpPr>
          <p:cNvPr name="AutoShape 20" id="20"/>
          <p:cNvSpPr/>
          <p:nvPr/>
        </p:nvSpPr>
        <p:spPr>
          <a:xfrm rot="0" flipH="false" flipV="false">
            <a:off x="8953500" y="2667000"/>
            <a:ext cx="2476500" cy="1270000"/>
          </a:xfrm>
          <a:prstGeom prst="roundRect">
            <a:avLst>
              <a:gd name="adj" fmla="val 10000"/>
            </a:avLst>
          </a:prstGeom>
          <a:solidFill>
            <a:srgbClr val="00BFFF">
              <a:alpha val="10000"/>
            </a:srgbClr>
          </a:solidFill>
          <a:ln w="12700" cmpd="sng" cap="flat">
            <a:solidFill>
              <a:srgbClr val="00BFFF">
                <a:alpha val="20000"/>
              </a:srgbClr>
            </a:solidFill>
            <a:prstDash val="solid"/>
            <a:round/>
          </a:ln>
        </p:spPr>
        <p:txBody>
          <a:bodyPr anchor="ctr" rtlCol="false" vert="horz" wrap="square" lIns="63500" rIns="63500" tIns="63500" bIns="63500"/>
          <a:lstStyle/>
          <a:p>
            <a:pPr algn="ctr">
              <a:defRPr/>
            </a:pPr>
            <a:endParaRPr/>
          </a:p>
        </p:txBody>
      </p:sp>
      <p:pic>
        <p:nvPicPr>
          <p:cNvPr name="Picture 21" id="21"/>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9144000" y="2857500"/>
            <a:ext cx="304800" cy="304800"/>
          </a:xfrm>
          <a:prstGeom prst="rect">
            <a:avLst/>
          </a:prstGeom>
        </p:spPr>
      </p:pic>
      <p:sp>
        <p:nvSpPr>
          <p:cNvPr name="AutoShape 22" id="22"/>
          <p:cNvSpPr/>
          <p:nvPr/>
        </p:nvSpPr>
        <p:spPr>
          <a:xfrm rot="0" flipH="false" flipV="false">
            <a:off x="9525000" y="2819400"/>
            <a:ext cx="1778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监控告警</a:t>
            </a:r>
            <a:endParaRPr lang="en-US" sz="1100"/>
          </a:p>
        </p:txBody>
      </p:sp>
      <p:sp>
        <p:nvSpPr>
          <p:cNvPr name="AutoShape 23" id="23"/>
          <p:cNvSpPr/>
          <p:nvPr/>
        </p:nvSpPr>
        <p:spPr>
          <a:xfrm rot="0" flipH="false" flipV="false">
            <a:off x="9080500" y="3238500"/>
            <a:ext cx="22225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FFFFFF">
                    <a:alpha val="70196"/>
                  </a:srgbClr>
                </a:solidFill>
                <a:latin typeface="Noto Sans SC"/>
                <a:ea typeface="Noto Sans SC"/>
                <a:cs typeface="Noto Sans SC"/>
                <a:sym typeface="Noto Sans SC"/>
              </a:rPr>
              <a:t>实时监控系统状态，多维度指标分析，异常情况秒级告警。</a:t>
            </a:r>
            <a:endParaRPr lang="en-US" sz="1100"/>
          </a:p>
        </p:txBody>
      </p:sp>
      <p:sp>
        <p:nvSpPr>
          <p:cNvPr name="AutoShape 24" id="24"/>
          <p:cNvSpPr/>
          <p:nvPr/>
        </p:nvSpPr>
        <p:spPr>
          <a:xfrm rot="0" flipH="false" flipV="false">
            <a:off x="762000" y="4191000"/>
            <a:ext cx="2540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E6E6FA"/>
                </a:solidFill>
                <a:latin typeface="Noto Sans SC"/>
                <a:ea typeface="Noto Sans SC"/>
                <a:cs typeface="Noto Sans SC"/>
                <a:sym typeface="Noto Sans SC"/>
              </a:rPr>
              <a:t>平台优势</a:t>
            </a:r>
            <a:endParaRPr lang="en-US" sz="1100"/>
          </a:p>
        </p:txBody>
      </p:sp>
      <p:sp>
        <p:nvSpPr>
          <p:cNvPr name="AutoShape 25" id="25"/>
          <p:cNvSpPr/>
          <p:nvPr/>
        </p:nvSpPr>
        <p:spPr>
          <a:xfrm rot="0" flipH="false" flipV="false">
            <a:off x="762000" y="4635500"/>
            <a:ext cx="2476500" cy="1016000"/>
          </a:xfrm>
          <a:prstGeom prst="roundRect">
            <a:avLst>
              <a:gd name="adj" fmla="val 12500"/>
            </a:avLst>
          </a:prstGeom>
          <a:solidFill>
            <a:srgbClr val="FFFFFF">
              <a:alpha val="5000"/>
            </a:srgbClr>
          </a:solidFill>
          <a:ln w="12700" cmpd="sng" cap="flat">
            <a:solidFill>
              <a:srgbClr val="FFFFFF">
                <a:alpha val="10000"/>
              </a:srgbClr>
            </a:solidFill>
            <a:prstDash val="solid"/>
            <a:round/>
          </a:ln>
        </p:spPr>
        <p:txBody>
          <a:bodyPr anchor="ctr" rtlCol="false" vert="horz" wrap="square" lIns="63500" rIns="63500" tIns="63500" bIns="63500"/>
          <a:lstStyle/>
          <a:p>
            <a:pPr algn="ctr">
              <a:defRPr/>
            </a:pPr>
            <a:endParaRPr/>
          </a:p>
        </p:txBody>
      </p:sp>
      <p:pic>
        <p:nvPicPr>
          <p:cNvPr name="Picture 26" id="26"/>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952500" y="4826000"/>
            <a:ext cx="254000" cy="254000"/>
          </a:xfrm>
          <a:prstGeom prst="rect">
            <a:avLst/>
          </a:prstGeom>
        </p:spPr>
      </p:pic>
      <p:sp>
        <p:nvSpPr>
          <p:cNvPr name="AutoShape 27" id="27"/>
          <p:cNvSpPr/>
          <p:nvPr/>
        </p:nvSpPr>
        <p:spPr>
          <a:xfrm rot="0" flipH="false" flipV="false">
            <a:off x="1270000" y="4800600"/>
            <a:ext cx="1778000" cy="2794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500">
                <a:solidFill>
                  <a:srgbClr val="FFFFFF"/>
                </a:solidFill>
                <a:latin typeface="Noto Sans SC"/>
                <a:ea typeface="Noto Sans SC"/>
                <a:cs typeface="Noto Sans SC"/>
                <a:sym typeface="Noto Sans SC"/>
              </a:rPr>
              <a:t>简单易用</a:t>
            </a:r>
            <a:endParaRPr lang="en-US" sz="1100"/>
          </a:p>
        </p:txBody>
      </p:sp>
      <p:sp>
        <p:nvSpPr>
          <p:cNvPr name="AutoShape 28" id="28"/>
          <p:cNvSpPr/>
          <p:nvPr/>
        </p:nvSpPr>
        <p:spPr>
          <a:xfrm rot="0" flipH="false" flipV="false">
            <a:off x="889000" y="5207000"/>
            <a:ext cx="2222500" cy="25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FFFFFF">
                    <a:alpha val="70196"/>
                  </a:srgbClr>
                </a:solidFill>
                <a:latin typeface="Noto Sans SC"/>
                <a:ea typeface="Noto Sans SC"/>
                <a:cs typeface="Noto Sans SC"/>
                <a:sym typeface="Noto Sans SC"/>
              </a:rPr>
              <a:t>直观Web界面，开发者友好，操作简单易上手</a:t>
            </a:r>
            <a:endParaRPr lang="en-US" sz="1100"/>
          </a:p>
        </p:txBody>
      </p:sp>
      <p:sp>
        <p:nvSpPr>
          <p:cNvPr name="AutoShape 29" id="29"/>
          <p:cNvSpPr/>
          <p:nvPr/>
        </p:nvSpPr>
        <p:spPr>
          <a:xfrm rot="0" flipH="false" flipV="false">
            <a:off x="3492500" y="4635500"/>
            <a:ext cx="2476500" cy="1016000"/>
          </a:xfrm>
          <a:prstGeom prst="roundRect">
            <a:avLst>
              <a:gd name="adj" fmla="val 12500"/>
            </a:avLst>
          </a:prstGeom>
          <a:solidFill>
            <a:srgbClr val="FFFFFF">
              <a:alpha val="5000"/>
            </a:srgbClr>
          </a:solidFill>
          <a:ln w="12700" cmpd="sng" cap="flat">
            <a:solidFill>
              <a:srgbClr val="FFFFFF">
                <a:alpha val="10000"/>
              </a:srgbClr>
            </a:solidFill>
            <a:prstDash val="solid"/>
            <a:round/>
          </a:ln>
        </p:spPr>
        <p:txBody>
          <a:bodyPr anchor="ctr" rtlCol="false" vert="horz" wrap="square" lIns="63500" rIns="63500" tIns="63500" bIns="63500"/>
          <a:lstStyle/>
          <a:p>
            <a:pPr algn="ctr">
              <a:defRPr/>
            </a:pPr>
            <a:endParaRPr/>
          </a:p>
        </p:txBody>
      </p:sp>
      <p:pic>
        <p:nvPicPr>
          <p:cNvPr name="Picture 30" id="30"/>
          <p:cNvPicPr>
            <a:picLocks noChangeAspect="true"/>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0" flipH="false" flipV="false">
            <a:off x="3683000" y="4826000"/>
            <a:ext cx="254000" cy="254000"/>
          </a:xfrm>
          <a:prstGeom prst="rect">
            <a:avLst/>
          </a:prstGeom>
        </p:spPr>
      </p:pic>
      <p:sp>
        <p:nvSpPr>
          <p:cNvPr name="AutoShape 31" id="31"/>
          <p:cNvSpPr/>
          <p:nvPr/>
        </p:nvSpPr>
        <p:spPr>
          <a:xfrm rot="0" flipH="false" flipV="false">
            <a:off x="4000500" y="4800600"/>
            <a:ext cx="1778000" cy="2794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500">
                <a:solidFill>
                  <a:srgbClr val="FFFFFF"/>
                </a:solidFill>
                <a:latin typeface="Noto Sans SC"/>
                <a:ea typeface="Noto Sans SC"/>
                <a:cs typeface="Noto Sans SC"/>
                <a:sym typeface="Noto Sans SC"/>
              </a:rPr>
              <a:t>轻量级</a:t>
            </a:r>
            <a:endParaRPr lang="en-US" sz="1100"/>
          </a:p>
        </p:txBody>
      </p:sp>
      <p:sp>
        <p:nvSpPr>
          <p:cNvPr name="AutoShape 32" id="32"/>
          <p:cNvSpPr/>
          <p:nvPr/>
        </p:nvSpPr>
        <p:spPr>
          <a:xfrm rot="0" flipH="false" flipV="false">
            <a:off x="3619500" y="5207000"/>
            <a:ext cx="2222500" cy="25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FFFFFF">
                    <a:alpha val="70196"/>
                  </a:srgbClr>
                </a:solidFill>
                <a:latin typeface="Noto Sans SC"/>
                <a:ea typeface="Noto Sans SC"/>
                <a:cs typeface="Noto Sans SC"/>
                <a:sym typeface="Noto Sans SC"/>
              </a:rPr>
              <a:t>轻量架构，成本效益高，部署维护成本低</a:t>
            </a:r>
            <a:endParaRPr lang="en-US" sz="1100"/>
          </a:p>
        </p:txBody>
      </p:sp>
      <p:sp>
        <p:nvSpPr>
          <p:cNvPr name="AutoShape 33" id="33"/>
          <p:cNvSpPr/>
          <p:nvPr/>
        </p:nvSpPr>
        <p:spPr>
          <a:xfrm rot="0" flipH="false" flipV="false">
            <a:off x="6223000" y="4635500"/>
            <a:ext cx="2476500" cy="1016000"/>
          </a:xfrm>
          <a:prstGeom prst="roundRect">
            <a:avLst>
              <a:gd name="adj" fmla="val 12500"/>
            </a:avLst>
          </a:prstGeom>
          <a:solidFill>
            <a:srgbClr val="FFFFFF">
              <a:alpha val="5000"/>
            </a:srgbClr>
          </a:solidFill>
          <a:ln w="12700" cmpd="sng" cap="flat">
            <a:solidFill>
              <a:srgbClr val="FFFFFF">
                <a:alpha val="10000"/>
              </a:srgbClr>
            </a:solidFill>
            <a:prstDash val="solid"/>
            <a:round/>
          </a:ln>
        </p:spPr>
        <p:txBody>
          <a:bodyPr anchor="ctr" rtlCol="false" vert="horz" wrap="square" lIns="63500" rIns="63500" tIns="63500" bIns="63500"/>
          <a:lstStyle/>
          <a:p>
            <a:pPr algn="ctr">
              <a:defRPr/>
            </a:pPr>
            <a:endParaRPr/>
          </a:p>
        </p:txBody>
      </p:sp>
      <p:pic>
        <p:nvPicPr>
          <p:cNvPr name="Picture 34" id="34"/>
          <p:cNvPicPr>
            <a:picLocks noChangeAspect="true"/>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rot="0" flipH="false" flipV="false">
            <a:off x="6413500" y="4826000"/>
            <a:ext cx="254000" cy="254000"/>
          </a:xfrm>
          <a:prstGeom prst="rect">
            <a:avLst/>
          </a:prstGeom>
        </p:spPr>
      </p:pic>
      <p:sp>
        <p:nvSpPr>
          <p:cNvPr name="AutoShape 35" id="35"/>
          <p:cNvSpPr/>
          <p:nvPr/>
        </p:nvSpPr>
        <p:spPr>
          <a:xfrm rot="0" flipH="false" flipV="false">
            <a:off x="6731000" y="4800600"/>
            <a:ext cx="1778000" cy="2794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500">
                <a:solidFill>
                  <a:srgbClr val="FFFFFF"/>
                </a:solidFill>
                <a:latin typeface="Noto Sans SC"/>
                <a:ea typeface="Noto Sans SC"/>
                <a:cs typeface="Noto Sans SC"/>
                <a:sym typeface="Noto Sans SC"/>
              </a:rPr>
              <a:t>功能强大</a:t>
            </a:r>
            <a:endParaRPr lang="en-US" sz="1100"/>
          </a:p>
        </p:txBody>
      </p:sp>
      <p:sp>
        <p:nvSpPr>
          <p:cNvPr name="AutoShape 36" id="36"/>
          <p:cNvSpPr/>
          <p:nvPr/>
        </p:nvSpPr>
        <p:spPr>
          <a:xfrm rot="0" flipH="false" flipV="false">
            <a:off x="6350000" y="5207000"/>
            <a:ext cx="2222500" cy="25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FFFFFF">
                    <a:alpha val="70196"/>
                  </a:srgbClr>
                </a:solidFill>
                <a:latin typeface="Noto Sans SC"/>
                <a:ea typeface="Noto Sans SC"/>
                <a:cs typeface="Noto Sans SC"/>
                <a:sym typeface="Noto Sans SC"/>
              </a:rPr>
              <a:t>集成部署、发现、监控等功能</a:t>
            </a:r>
            <a:endParaRPr lang="en-US" sz="1100"/>
          </a:p>
        </p:txBody>
      </p:sp>
      <p:sp>
        <p:nvSpPr>
          <p:cNvPr name="AutoShape 37" id="37"/>
          <p:cNvSpPr/>
          <p:nvPr/>
        </p:nvSpPr>
        <p:spPr>
          <a:xfrm rot="0" flipH="false" flipV="false">
            <a:off x="8953500" y="4635500"/>
            <a:ext cx="2476500" cy="1016000"/>
          </a:xfrm>
          <a:prstGeom prst="roundRect">
            <a:avLst>
              <a:gd name="adj" fmla="val 12500"/>
            </a:avLst>
          </a:prstGeom>
          <a:solidFill>
            <a:srgbClr val="FFFFFF">
              <a:alpha val="5000"/>
            </a:srgbClr>
          </a:solidFill>
          <a:ln w="12700" cmpd="sng" cap="flat">
            <a:solidFill>
              <a:srgbClr val="FFFFFF">
                <a:alpha val="10000"/>
              </a:srgbClr>
            </a:solidFill>
            <a:prstDash val="solid"/>
            <a:round/>
          </a:ln>
        </p:spPr>
        <p:txBody>
          <a:bodyPr anchor="ctr" rtlCol="false" vert="horz" wrap="square" lIns="63500" rIns="63500" tIns="63500" bIns="63500"/>
          <a:lstStyle/>
          <a:p>
            <a:pPr algn="ctr">
              <a:defRPr/>
            </a:pPr>
            <a:endParaRPr/>
          </a:p>
        </p:txBody>
      </p:sp>
      <p:pic>
        <p:nvPicPr>
          <p:cNvPr name="Picture 38" id="38"/>
          <p:cNvPicPr>
            <a:picLocks noChangeAspect="true"/>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rot="0" flipH="false" flipV="false">
            <a:off x="9144000" y="4826000"/>
            <a:ext cx="254000" cy="254000"/>
          </a:xfrm>
          <a:prstGeom prst="rect">
            <a:avLst/>
          </a:prstGeom>
        </p:spPr>
      </p:pic>
      <p:sp>
        <p:nvSpPr>
          <p:cNvPr name="AutoShape 39" id="39"/>
          <p:cNvSpPr/>
          <p:nvPr/>
        </p:nvSpPr>
        <p:spPr>
          <a:xfrm rot="0" flipH="false" flipV="false">
            <a:off x="9461500" y="4800600"/>
            <a:ext cx="1778000" cy="2794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500">
                <a:solidFill>
                  <a:srgbClr val="FFFFFF"/>
                </a:solidFill>
                <a:latin typeface="Noto Sans SC"/>
                <a:ea typeface="Noto Sans SC"/>
                <a:cs typeface="Noto Sans SC"/>
                <a:sym typeface="Noto Sans SC"/>
              </a:rPr>
              <a:t>开源免费</a:t>
            </a:r>
            <a:endParaRPr lang="en-US" sz="1100"/>
          </a:p>
        </p:txBody>
      </p:sp>
      <p:sp>
        <p:nvSpPr>
          <p:cNvPr name="AutoShape 40" id="40"/>
          <p:cNvSpPr/>
          <p:nvPr/>
        </p:nvSpPr>
        <p:spPr>
          <a:xfrm rot="0" flipH="false" flipV="false">
            <a:off x="9080500" y="5207000"/>
            <a:ext cx="2222500" cy="25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FFFFFF">
                    <a:alpha val="70196"/>
                  </a:srgbClr>
                </a:solidFill>
                <a:latin typeface="Noto Sans SC"/>
                <a:ea typeface="Noto Sans SC"/>
                <a:cs typeface="Noto Sans SC"/>
                <a:sym typeface="Noto Sans SC"/>
              </a:rPr>
              <a:t>基于开源技术，完全免费使用</a:t>
            </a:r>
            <a:endParaRPr lang="en-US" sz="1100"/>
          </a:p>
        </p:txBody>
      </p:sp>
      <p:sp>
        <p:nvSpPr>
          <p:cNvPr name="AutoShape 41" id="41"/>
          <p:cNvSpPr/>
          <p:nvPr/>
        </p:nvSpPr>
        <p:spPr>
          <a:xfrm rot="0" flipH="false" flipV="false">
            <a:off x="762000" y="5969000"/>
            <a:ext cx="10668000" cy="508000"/>
          </a:xfrm>
          <a:prstGeom prst="roundRect">
            <a:avLst>
              <a:gd name="adj" fmla="val 25000"/>
            </a:avLst>
          </a:prstGeom>
          <a:solidFill>
            <a:srgbClr val="00BFFF">
              <a:alpha val="20000"/>
            </a:srgbClr>
          </a:solidFill>
          <a:ln w="12700" cmpd="sng" cap="flat">
            <a:solidFill>
              <a:srgbClr val="00BFFF">
                <a:alpha val="50000"/>
              </a:srgbClr>
            </a:solidFill>
            <a:prstDash val="solid"/>
            <a:round/>
          </a:ln>
        </p:spPr>
        <p:txBody>
          <a:bodyPr anchor="ctr" rtlCol="false" vert="horz" wrap="square" lIns="63500" rIns="63500" tIns="63500" bIns="63500"/>
          <a:lstStyle/>
          <a:p>
            <a:pPr algn="ctr">
              <a:defRPr/>
            </a:pPr>
            <a:endParaRPr/>
          </a:p>
        </p:txBody>
      </p:sp>
      <p:pic>
        <p:nvPicPr>
          <p:cNvPr name="Picture 42" id="42"/>
          <p:cNvPicPr>
            <a:picLocks noChangeAspect="true"/>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rot="0" flipH="false" flipV="false">
            <a:off x="952500" y="6108700"/>
            <a:ext cx="228600" cy="228600"/>
          </a:xfrm>
          <a:prstGeom prst="rect">
            <a:avLst/>
          </a:prstGeom>
        </p:spPr>
      </p:pic>
      <p:sp>
        <p:nvSpPr>
          <p:cNvPr name="AutoShape 43" id="43"/>
          <p:cNvSpPr/>
          <p:nvPr/>
        </p:nvSpPr>
        <p:spPr>
          <a:xfrm rot="0" flipH="false" flipV="false">
            <a:off x="1270000" y="6070600"/>
            <a:ext cx="9906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FFFFFF"/>
                </a:solidFill>
                <a:latin typeface="Noto Sans SC"/>
                <a:ea typeface="Noto Sans SC"/>
                <a:cs typeface="Noto Sans SC"/>
                <a:sym typeface="Noto Sans SC"/>
              </a:rPr>
              <a:t>行动指令：</a:t>
            </a:r>
            <a:r>
              <a:rPr lang="en-US" b="false" i="false" strike="noStrike" u="none" sz="1400">
                <a:solidFill>
                  <a:srgbClr val="FFFFFF">
                    <a:alpha val="90196"/>
                  </a:srgbClr>
                </a:solidFill>
                <a:latin typeface="Noto Sans SC"/>
                <a:ea typeface="Noto Sans SC"/>
                <a:cs typeface="Noto Sans SC"/>
                <a:sym typeface="Noto Sans SC"/>
              </a:rPr>
              <a:t>请大家了解Zebra部署平台的基本概念和核心功能，为后续的实践操作做好准备。</a:t>
            </a:r>
            <a:endParaRPr lang="en-US" sz="1100"/>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0A192F">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192F">
              <a:alpha val="9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Zeabur环境搭建（一）：注册与登录</a:t>
            </a:r>
            <a:endParaRPr lang="en-US" sz="1100"/>
          </a:p>
        </p:txBody>
      </p:sp>
      <p:sp>
        <p:nvSpPr>
          <p:cNvPr name="AutoShape 5" id="5"/>
          <p:cNvSpPr/>
          <p:nvPr/>
        </p:nvSpPr>
        <p:spPr>
          <a:xfrm rot="0" flipH="false" flipV="false">
            <a:off x="762000" y="1397000"/>
            <a:ext cx="3378200" cy="2794000"/>
          </a:xfrm>
          <a:prstGeom prst="roundRect">
            <a:avLst>
              <a:gd name="adj" fmla="val 4545"/>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1587500"/>
            <a:ext cx="406400" cy="406400"/>
          </a:xfrm>
          <a:prstGeom prst="rect">
            <a:avLst/>
          </a:prstGeom>
        </p:spPr>
      </p:pic>
      <p:sp>
        <p:nvSpPr>
          <p:cNvPr name="AutoShape 7" id="7"/>
          <p:cNvSpPr/>
          <p:nvPr/>
        </p:nvSpPr>
        <p:spPr>
          <a:xfrm rot="0" flipH="false" flipV="false">
            <a:off x="1524000" y="1587500"/>
            <a:ext cx="254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1. 注册与登录</a:t>
            </a:r>
            <a:endParaRPr lang="en-US" sz="1100"/>
          </a:p>
        </p:txBody>
      </p:sp>
      <p:sp>
        <p:nvSpPr>
          <p:cNvPr name="AutoShape 8" id="8"/>
          <p:cNvSpPr/>
          <p:nvPr/>
        </p:nvSpPr>
        <p:spPr>
          <a:xfrm rot="0" flipH="false" flipV="false">
            <a:off x="889000" y="2032000"/>
            <a:ext cx="3124200" cy="1905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1400">
                <a:solidFill>
                  <a:srgbClr val="E6E6FA"/>
                </a:solidFill>
                <a:latin typeface="Noto Sans SC"/>
                <a:ea typeface="Noto Sans SC"/>
                <a:cs typeface="Noto Sans SC"/>
                <a:sym typeface="Noto Sans SC"/>
              </a:rPr>
              <a:t>访问官网：</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pPr>
            <a:r>
              <a:rPr lang="en-US" b="false" i="false" strike="noStrike" u="none" sz="1200">
                <a:solidFill>
                  <a:srgbClr val="FFB6C1"/>
                </a:solidFill>
                <a:highlight>
                  <a:srgbClr val="000000">
                    <a:alpha val="0"/>
                  </a:srgbClr>
                </a:highlight>
                <a:latin typeface="Noto Sans SC"/>
                <a:ea typeface="Noto Sans SC"/>
                <a:cs typeface="Noto Sans SC"/>
                <a:sym typeface="Noto Sans SC"/>
              </a:rPr>
              <a:t>https://zeabur.com/</a:t>
            </a:r>
            <a:r>
              <a:rPr lang="en-US" b="false" i="false" strike="noStrike" u="none" sz="1600">
                <a:solidFill>
                  <a:srgbClr val="1F2329"/>
                </a:solidFill>
                <a:latin typeface="Noto Sans SC"/>
                <a:ea typeface="Noto Sans SC"/>
                <a:cs typeface="Noto Sans SC"/>
                <a:sym typeface="Noto Sans SC"/>
              </a:rPr>
              <a:t/>
            </a:r>
          </a:p>
          <a:p>
            <a:pPr algn="l" indent="0">
              <a:lnSpc>
                <a:spcPct val="108333"/>
              </a:lnSpc>
            </a:pPr>
            <a:r>
              <a:rPr lang="en-US" b="true" i="false" strike="noStrike" u="none" sz="1400">
                <a:solidFill>
                  <a:srgbClr val="E6E6FA"/>
                </a:solidFill>
                <a:latin typeface="Noto Sans SC"/>
                <a:ea typeface="Noto Sans SC"/>
                <a:cs typeface="Noto Sans SC"/>
                <a:sym typeface="Noto Sans SC"/>
              </a:rPr>
              <a:t>注册方式：</a:t>
            </a:r>
            <a:r>
              <a:rPr lang="en-US" b="false" i="false" strike="noStrike" u="none" sz="1600">
                <a:solidFill>
                  <a:srgbClr val="1F2329"/>
                </a:solidFill>
                <a:latin typeface="Noto Sans SC"/>
                <a:ea typeface="Noto Sans SC"/>
                <a:cs typeface="Noto Sans SC"/>
                <a:sym typeface="Noto Sans SC"/>
              </a:rPr>
              <a:t/>
            </a:r>
          </a:p>
          <a:p>
            <a:pPr algn="l" indent="0">
              <a:lnSpc>
                <a:spcPct val="108333"/>
              </a:lnSpc>
            </a:pPr>
            <a:r>
              <a:rPr lang="en-US" b="false" i="false" strike="noStrike" u="none" sz="1200">
                <a:solidFill>
                  <a:srgbClr val="FFFFFF"/>
                </a:solidFill>
                <a:latin typeface="Noto Sans SC"/>
                <a:ea typeface="Noto Sans SC"/>
                <a:cs typeface="Noto Sans SC"/>
                <a:sym typeface="Noto Sans SC"/>
              </a:rPr>
              <a:t>使用GitHub账号或邮箱进行注册和登录。</a:t>
            </a:r>
          </a:p>
        </p:txBody>
      </p:sp>
      <p:sp>
        <p:nvSpPr>
          <p:cNvPr name="AutoShape 9" id="9"/>
          <p:cNvSpPr/>
          <p:nvPr/>
        </p:nvSpPr>
        <p:spPr>
          <a:xfrm rot="0" flipH="false" flipV="false">
            <a:off x="4406900" y="1397000"/>
            <a:ext cx="3378200" cy="2794000"/>
          </a:xfrm>
          <a:prstGeom prst="roundRect">
            <a:avLst>
              <a:gd name="adj" fmla="val 4545"/>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660900" y="1587500"/>
            <a:ext cx="406400" cy="406400"/>
          </a:xfrm>
          <a:prstGeom prst="rect">
            <a:avLst/>
          </a:prstGeom>
        </p:spPr>
      </p:pic>
      <p:sp>
        <p:nvSpPr>
          <p:cNvPr name="AutoShape 11" id="11"/>
          <p:cNvSpPr/>
          <p:nvPr/>
        </p:nvSpPr>
        <p:spPr>
          <a:xfrm rot="0" flipH="false" flipV="false">
            <a:off x="5168900" y="1587500"/>
            <a:ext cx="254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2. 账户验证</a:t>
            </a:r>
            <a:endParaRPr lang="en-US" sz="1100"/>
          </a:p>
        </p:txBody>
      </p:sp>
      <p:sp>
        <p:nvSpPr>
          <p:cNvPr name="AutoShape 12" id="12"/>
          <p:cNvSpPr/>
          <p:nvPr/>
        </p:nvSpPr>
        <p:spPr>
          <a:xfrm rot="0" flipH="false" flipV="false">
            <a:off x="4533900" y="2032000"/>
            <a:ext cx="3124200" cy="1905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1400">
                <a:solidFill>
                  <a:srgbClr val="E6E6FA"/>
                </a:solidFill>
                <a:latin typeface="Noto Sans SC"/>
                <a:ea typeface="Noto Sans SC"/>
                <a:cs typeface="Noto Sans SC"/>
                <a:sym typeface="Noto Sans SC"/>
              </a:rPr>
              <a:t>验证方式：</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pPr>
            <a:r>
              <a:rPr lang="en-US" b="false" i="false" strike="noStrike" u="none" sz="1200">
                <a:solidFill>
                  <a:srgbClr val="FFFFFF"/>
                </a:solidFill>
                <a:latin typeface="Noto Sans SC"/>
                <a:ea typeface="Noto Sans SC"/>
                <a:cs typeface="Noto Sans SC"/>
                <a:sym typeface="Noto Sans SC"/>
              </a:rPr>
              <a:t>首次使用需要进行账户验证，可以通过手机号、预存费用或绑定信用卡完成。</a:t>
            </a:r>
          </a:p>
        </p:txBody>
      </p:sp>
      <p:sp>
        <p:nvSpPr>
          <p:cNvPr name="AutoShape 13" id="13"/>
          <p:cNvSpPr/>
          <p:nvPr/>
        </p:nvSpPr>
        <p:spPr>
          <a:xfrm rot="0" flipH="false" flipV="false">
            <a:off x="8051800" y="1397000"/>
            <a:ext cx="3378200" cy="2794000"/>
          </a:xfrm>
          <a:prstGeom prst="roundRect">
            <a:avLst>
              <a:gd name="adj" fmla="val 4545"/>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305800" y="1587500"/>
            <a:ext cx="406400" cy="406400"/>
          </a:xfrm>
          <a:prstGeom prst="rect">
            <a:avLst/>
          </a:prstGeom>
        </p:spPr>
      </p:pic>
      <p:sp>
        <p:nvSpPr>
          <p:cNvPr name="AutoShape 15" id="15"/>
          <p:cNvSpPr/>
          <p:nvPr/>
        </p:nvSpPr>
        <p:spPr>
          <a:xfrm rot="0" flipH="false" flipV="false">
            <a:off x="8813800" y="1587500"/>
            <a:ext cx="254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3. 创建项目</a:t>
            </a:r>
            <a:endParaRPr lang="en-US" sz="1100"/>
          </a:p>
        </p:txBody>
      </p:sp>
      <p:sp>
        <p:nvSpPr>
          <p:cNvPr name="AutoShape 16" id="16"/>
          <p:cNvSpPr/>
          <p:nvPr/>
        </p:nvSpPr>
        <p:spPr>
          <a:xfrm rot="0" flipH="false" flipV="false">
            <a:off x="8178800" y="2032000"/>
            <a:ext cx="3124200" cy="1905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1400">
                <a:solidFill>
                  <a:srgbClr val="E6E6FA"/>
                </a:solidFill>
                <a:latin typeface="Noto Sans SC"/>
                <a:ea typeface="Noto Sans SC"/>
                <a:cs typeface="Noto Sans SC"/>
                <a:sym typeface="Noto Sans SC"/>
              </a:rPr>
              <a:t>创建步骤：</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pPr>
            <a:r>
              <a:rPr lang="en-US" b="false" i="false" strike="noStrike" u="none" sz="1200">
                <a:solidFill>
                  <a:srgbClr val="FFFFFF"/>
                </a:solidFill>
                <a:latin typeface="Noto Sans SC"/>
                <a:ea typeface="Noto Sans SC"/>
                <a:cs typeface="Noto Sans SC"/>
                <a:sym typeface="Noto Sans SC"/>
              </a:rPr>
              <a:t>登录后，点击“Create Project”创建一个新的项目，用于管理所有相关服务。</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0F172A">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1428">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508000"/>
            <a:ext cx="110617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Zeabur环境搭建（二）：部署Zeabur平台</a:t>
            </a:r>
            <a:endParaRPr lang="en-US" sz="1100"/>
          </a:p>
        </p:txBody>
      </p:sp>
      <p:sp>
        <p:nvSpPr>
          <p:cNvPr name="AutoShape 5" id="5"/>
          <p:cNvSpPr/>
          <p:nvPr/>
        </p:nvSpPr>
        <p:spPr>
          <a:xfrm rot="0" flipH="false" flipV="false">
            <a:off x="762000" y="1397000"/>
            <a:ext cx="10668000" cy="3048000"/>
          </a:xfrm>
          <a:prstGeom prst="roundRect">
            <a:avLst>
              <a:gd name="adj" fmla="val 4166"/>
            </a:avLst>
          </a:prstGeom>
          <a:solidFill>
            <a:srgbClr val="1E293B">
              <a:alpha val="60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1651000"/>
            <a:ext cx="406400" cy="406400"/>
          </a:xfrm>
          <a:prstGeom prst="rect">
            <a:avLst/>
          </a:prstGeom>
        </p:spPr>
      </p:pic>
      <p:sp>
        <p:nvSpPr>
          <p:cNvPr name="AutoShape 7" id="7"/>
          <p:cNvSpPr/>
          <p:nvPr/>
        </p:nvSpPr>
        <p:spPr>
          <a:xfrm rot="0" flipH="false" flipV="false">
            <a:off x="1524000" y="1651000"/>
            <a:ext cx="889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1. 选择部署方式</a:t>
            </a:r>
            <a:endParaRPr lang="en-US" sz="1100"/>
          </a:p>
        </p:txBody>
      </p:sp>
      <p:sp>
        <p:nvSpPr>
          <p:cNvPr name="AutoShape 8" id="8"/>
          <p:cNvSpPr/>
          <p:nvPr/>
        </p:nvSpPr>
        <p:spPr>
          <a:xfrm rot="0" flipH="false" flipV="false">
            <a:off x="1524000" y="2159000"/>
            <a:ext cx="9652000" cy="190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600">
                <a:solidFill>
                  <a:srgbClr val="E2E8F0"/>
                </a:solidFill>
                <a:latin typeface="Noto Sans SC"/>
                <a:ea typeface="Noto Sans SC"/>
                <a:cs typeface="Noto Sans SC"/>
                <a:sym typeface="Noto Sans SC"/>
              </a:rPr>
              <a:t>在项目中，点击“Deploy New Service”，可以选择多种部署方式：</a:t>
            </a:r>
            <a:r>
              <a:rPr lang="en-US" b="false" i="false" strike="noStrike" u="none" sz="1600">
                <a:solidFill>
                  <a:srgbClr val="E2E8F0"/>
                </a:solidFill>
                <a:latin typeface="Noto Sans SC"/>
                <a:ea typeface="Noto Sans SC"/>
                <a:cs typeface="Noto Sans SC"/>
                <a:sym typeface="Noto Sans SC"/>
              </a:rPr>
              <a:t/>
            </a:r>
            <a:endParaRPr lang="en-US" sz="1100"/>
          </a:p>
          <a:p>
            <a:pPr algn="l" indent="0">
              <a:lnSpc>
                <a:spcPct val="125000"/>
              </a:lnSpc>
            </a:pPr>
            <a:r>
              <a:rPr lang="en-US" b="false" i="false" strike="noStrike" u="none" sz="1600">
                <a:solidFill>
                  <a:srgbClr val="E2E8F0"/>
                </a:solidFill>
                <a:latin typeface="Noto Sans SC"/>
                <a:ea typeface="Noto Sans SC"/>
                <a:cs typeface="Noto Sans SC"/>
                <a:sym typeface="Noto Sans SC"/>
              </a:rPr>
              <a:t>• GitHub：直接从GitHub仓库部署代码。</a:t>
            </a:r>
            <a:r>
              <a:rPr lang="en-US" b="false" i="false" strike="noStrike" u="none" sz="1600">
                <a:solidFill>
                  <a:srgbClr val="E2E8F0"/>
                </a:solidFill>
                <a:latin typeface="Noto Sans SC"/>
                <a:ea typeface="Noto Sans SC"/>
                <a:cs typeface="Noto Sans SC"/>
                <a:sym typeface="Noto Sans SC"/>
              </a:rPr>
              <a:t/>
            </a:r>
          </a:p>
          <a:p>
            <a:pPr algn="l" indent="0">
              <a:lnSpc>
                <a:spcPct val="125000"/>
              </a:lnSpc>
            </a:pPr>
            <a:r>
              <a:rPr lang="en-US" b="false" i="false" strike="noStrike" u="none" sz="1600">
                <a:solidFill>
                  <a:srgbClr val="E2E8F0"/>
                </a:solidFill>
                <a:latin typeface="Noto Sans SC"/>
                <a:ea typeface="Noto Sans SC"/>
                <a:cs typeface="Noto Sans SC"/>
                <a:sym typeface="Noto Sans SC"/>
              </a:rPr>
              <a:t>• Template：从模板市场一键部署热门开源项目。</a:t>
            </a:r>
            <a:r>
              <a:rPr lang="en-US" b="false" i="false" strike="noStrike" u="none" sz="1600">
                <a:solidFill>
                  <a:srgbClr val="E2E8F0"/>
                </a:solidFill>
                <a:latin typeface="Noto Sans SC"/>
                <a:ea typeface="Noto Sans SC"/>
                <a:cs typeface="Noto Sans SC"/>
                <a:sym typeface="Noto Sans SC"/>
              </a:rPr>
              <a:t/>
            </a:r>
          </a:p>
          <a:p>
            <a:pPr algn="l" indent="0">
              <a:lnSpc>
                <a:spcPct val="125000"/>
              </a:lnSpc>
            </a:pPr>
            <a:r>
              <a:rPr lang="en-US" b="false" i="false" strike="noStrike" u="none" sz="1600">
                <a:solidFill>
                  <a:srgbClr val="E2E8F0"/>
                </a:solidFill>
                <a:latin typeface="Noto Sans SC"/>
                <a:ea typeface="Noto Sans SC"/>
                <a:cs typeface="Noto Sans SC"/>
                <a:sym typeface="Noto Sans SC"/>
              </a:rPr>
              <a:t>• Local Project：上传本地代码进行部署。</a:t>
            </a:r>
            <a:r>
              <a:rPr lang="en-US" b="false" i="false" strike="noStrike" u="none" sz="1600">
                <a:solidFill>
                  <a:srgbClr val="E2E8F0"/>
                </a:solidFill>
                <a:latin typeface="Noto Sans SC"/>
                <a:ea typeface="Noto Sans SC"/>
                <a:cs typeface="Noto Sans SC"/>
                <a:sym typeface="Noto Sans SC"/>
              </a:rPr>
              <a:t/>
            </a:r>
          </a:p>
          <a:p>
            <a:pPr algn="l" indent="0">
              <a:lnSpc>
                <a:spcPct val="125000"/>
              </a:lnSpc>
            </a:pPr>
            <a:r>
              <a:rPr lang="en-US" b="false" i="false" strike="noStrike" u="none" sz="1600">
                <a:solidFill>
                  <a:srgbClr val="E2E8F0"/>
                </a:solidFill>
                <a:latin typeface="Noto Sans SC"/>
                <a:ea typeface="Noto Sans SC"/>
                <a:cs typeface="Noto Sans SC"/>
                <a:sym typeface="Noto Sans SC"/>
              </a:rPr>
              <a:t>• Docker Image：使用Docker镜像进行部署。</a:t>
            </a:r>
          </a:p>
        </p:txBody>
      </p:sp>
      <p:sp>
        <p:nvSpPr>
          <p:cNvPr name="AutoShape 9" id="9"/>
          <p:cNvSpPr/>
          <p:nvPr/>
        </p:nvSpPr>
        <p:spPr>
          <a:xfrm rot="0" flipH="false" flipV="false">
            <a:off x="762000" y="4572000"/>
            <a:ext cx="10668000" cy="1270000"/>
          </a:xfrm>
          <a:prstGeom prst="roundRect">
            <a:avLst>
              <a:gd name="adj" fmla="val 10000"/>
            </a:avLst>
          </a:prstGeom>
          <a:solidFill>
            <a:srgbClr val="1E293B">
              <a:alpha val="60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1016000" y="4826000"/>
            <a:ext cx="406400" cy="406400"/>
          </a:xfrm>
          <a:prstGeom prst="rect">
            <a:avLst/>
          </a:prstGeom>
        </p:spPr>
      </p:pic>
      <p:sp>
        <p:nvSpPr>
          <p:cNvPr name="AutoShape 11" id="11"/>
          <p:cNvSpPr/>
          <p:nvPr/>
        </p:nvSpPr>
        <p:spPr>
          <a:xfrm rot="0" flipH="false" flipV="false">
            <a:off x="1524000" y="4826000"/>
            <a:ext cx="889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2. 配置与访问</a:t>
            </a:r>
            <a:endParaRPr lang="en-US" sz="1100"/>
          </a:p>
        </p:txBody>
      </p:sp>
      <p:sp>
        <p:nvSpPr>
          <p:cNvPr name="AutoShape 12" id="12"/>
          <p:cNvSpPr/>
          <p:nvPr/>
        </p:nvSpPr>
        <p:spPr>
          <a:xfrm rot="0" flipH="false" flipV="false">
            <a:off x="1524000" y="5334000"/>
            <a:ext cx="9652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600">
                <a:solidFill>
                  <a:srgbClr val="E2E8F0"/>
                </a:solidFill>
                <a:latin typeface="Noto Sans SC"/>
                <a:ea typeface="Noto Sans SC"/>
                <a:cs typeface="Noto Sans SC"/>
                <a:sym typeface="Noto Sans SC"/>
              </a:rPr>
              <a:t>完成配置后点击“Deploy”。部署成功后，Zeabur会自动分配一个域名，通过该域名即可访问。</a:t>
            </a:r>
            <a:endParaRPr lang="en-US" sz="1100"/>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0A192F">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192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508000"/>
            <a:ext cx="8051800" cy="5842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使用Zeabur部署SafeWalk应用</a:t>
            </a:r>
            <a:endParaRPr lang="en-US" sz="1100"/>
          </a:p>
        </p:txBody>
      </p:sp>
      <p:sp>
        <p:nvSpPr>
          <p:cNvPr name="AutoShape 5" id="5"/>
          <p:cNvSpPr/>
          <p:nvPr/>
        </p:nvSpPr>
        <p:spPr>
          <a:xfrm rot="0" flipH="false" flipV="false">
            <a:off x="762000" y="1397000"/>
            <a:ext cx="10541000" cy="1397000"/>
          </a:xfrm>
          <a:prstGeom prst="roundRect">
            <a:avLst>
              <a:gd name="adj" fmla="val 9090"/>
            </a:avLst>
          </a:prstGeom>
          <a:solidFill>
            <a:srgbClr val="FFFFFF">
              <a:alpha val="8000"/>
            </a:srgbClr>
          </a:solidFill>
          <a:ln w="12700" cmpd="sng" cap="flat">
            <a:solidFill>
              <a:srgbClr val="00BFFF">
                <a:alpha val="30000"/>
              </a:srgbClr>
            </a:solidFill>
            <a:prstDash val="solid"/>
            <a:round/>
          </a:ln>
        </p:spPr>
        <p:txBody>
          <a:bodyPr anchor="ctr" rtlCol="false" anchorCtr="false" vert="horz" wrap="square" lIns="0" rIns="0" tIns="0" bIns="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1587500"/>
            <a:ext cx="406400" cy="406400"/>
          </a:xfrm>
          <a:prstGeom prst="rect">
            <a:avLst/>
          </a:prstGeom>
        </p:spPr>
      </p:pic>
      <p:sp>
        <p:nvSpPr>
          <p:cNvPr name="AutoShape 7" id="7"/>
          <p:cNvSpPr/>
          <p:nvPr/>
        </p:nvSpPr>
        <p:spPr>
          <a:xfrm rot="0" flipH="false" flipV="false">
            <a:off x="1524000" y="1549400"/>
            <a:ext cx="9271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1. 准备工作</a:t>
            </a:r>
            <a:endParaRPr lang="en-US" sz="1100"/>
          </a:p>
        </p:txBody>
      </p:sp>
      <p:sp>
        <p:nvSpPr>
          <p:cNvPr name="AutoShape 8" id="8"/>
          <p:cNvSpPr/>
          <p:nvPr/>
        </p:nvSpPr>
        <p:spPr>
          <a:xfrm rot="0" flipH="false" flipV="false">
            <a:off x="1524000" y="1930400"/>
            <a:ext cx="9271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400">
                <a:solidFill>
                  <a:srgbClr val="FFFFFF">
                    <a:alpha val="80000"/>
                  </a:srgbClr>
                </a:solidFill>
                <a:latin typeface="Noto Sans SC"/>
                <a:ea typeface="Noto Sans SC"/>
                <a:cs typeface="Noto Sans SC"/>
                <a:sym typeface="Noto Sans SC"/>
              </a:rPr>
              <a:t>将SafeWalk的代码推送到GitHub仓库，确保代码结构规范，包含必要的构建文件（如requirements.txt或package.json）。</a:t>
            </a:r>
            <a:endParaRPr lang="en-US" sz="1100"/>
          </a:p>
        </p:txBody>
      </p:sp>
      <p:sp>
        <p:nvSpPr>
          <p:cNvPr name="AutoShape 9" id="9"/>
          <p:cNvSpPr/>
          <p:nvPr/>
        </p:nvSpPr>
        <p:spPr>
          <a:xfrm rot="0" flipH="false" flipV="false">
            <a:off x="762000" y="3048000"/>
            <a:ext cx="10541000" cy="2286000"/>
          </a:xfrm>
          <a:prstGeom prst="roundRect">
            <a:avLst>
              <a:gd name="adj" fmla="val 5555"/>
            </a:avLst>
          </a:prstGeom>
          <a:solidFill>
            <a:srgbClr val="FFFFFF">
              <a:alpha val="8000"/>
            </a:srgbClr>
          </a:solidFill>
          <a:ln w="12700" cmpd="sng" cap="flat">
            <a:solidFill>
              <a:srgbClr val="00BFFF">
                <a:alpha val="30000"/>
              </a:srgbClr>
            </a:solidFill>
            <a:prstDash val="solid"/>
            <a:round/>
          </a:ln>
        </p:spPr>
        <p:txBody>
          <a:bodyPr anchor="ctr" rtlCol="false" anchorCtr="false" vert="horz" wrap="square" lIns="0" rIns="0" tIns="0" bIns="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1016000" y="3238500"/>
            <a:ext cx="406400" cy="406400"/>
          </a:xfrm>
          <a:prstGeom prst="rect">
            <a:avLst/>
          </a:prstGeom>
        </p:spPr>
      </p:pic>
      <p:sp>
        <p:nvSpPr>
          <p:cNvPr name="AutoShape 11" id="11"/>
          <p:cNvSpPr/>
          <p:nvPr/>
        </p:nvSpPr>
        <p:spPr>
          <a:xfrm rot="0" flipH="false" flipV="false">
            <a:off x="1524000" y="3200400"/>
            <a:ext cx="9271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2. 在Zeabur控制台部署</a:t>
            </a:r>
            <a:endParaRPr lang="en-US" sz="1100"/>
          </a:p>
        </p:txBody>
      </p:sp>
      <p:sp>
        <p:nvSpPr>
          <p:cNvPr name="AutoShape 12" id="12"/>
          <p:cNvSpPr/>
          <p:nvPr/>
        </p:nvSpPr>
        <p:spPr>
          <a:xfrm rot="0" flipH="false" flipV="false">
            <a:off x="1524000" y="3581400"/>
            <a:ext cx="9271000" cy="1524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400">
                <a:solidFill>
                  <a:srgbClr val="FFFFFF">
                    <a:alpha val="80000"/>
                  </a:srgbClr>
                </a:solidFill>
                <a:latin typeface="Noto Sans SC"/>
                <a:ea typeface="Noto Sans SC"/>
                <a:cs typeface="Noto Sans SC"/>
                <a:sym typeface="Noto Sans SC"/>
              </a:rPr>
              <a:t>进入项目，点击“Deploy New Service” -&gt; “GitHub”。选择SafeWalk的GitHub仓库和要部署的分支。Zeabur会自动分析代码，识别框架并推荐构建配置。配置必要的环境变量（如数据库连接信息、API密钥等）。点击“Deploy”，等待部署完成。</a:t>
            </a:r>
            <a:endParaRPr lang="en-US" sz="1100"/>
          </a:p>
        </p:txBody>
      </p:sp>
      <p:sp>
        <p:nvSpPr>
          <p:cNvPr name="AutoShape 13" id="13"/>
          <p:cNvSpPr/>
          <p:nvPr/>
        </p:nvSpPr>
        <p:spPr>
          <a:xfrm rot="0" flipH="false" flipV="false">
            <a:off x="762000" y="5461000"/>
            <a:ext cx="10541000" cy="1397000"/>
          </a:xfrm>
          <a:prstGeom prst="roundRect">
            <a:avLst>
              <a:gd name="adj" fmla="val 9090"/>
            </a:avLst>
          </a:prstGeom>
          <a:solidFill>
            <a:srgbClr val="00BFFF">
              <a:alpha val="15000"/>
            </a:srgbClr>
          </a:solidFill>
          <a:ln w="12700" cmpd="sng" cap="flat">
            <a:solidFill>
              <a:srgbClr val="00BFFF">
                <a:alpha val="50000"/>
              </a:srgbClr>
            </a:solidFill>
            <a:prstDash val="solid"/>
            <a:round/>
          </a:ln>
        </p:spPr>
        <p:txBody>
          <a:bodyPr anchor="ctr" rtlCol="false" anchorCtr="false" vert="horz" wrap="square" lIns="0" rIns="0" tIns="0" bIns="0"/>
          <a:lstStyle/>
          <a:p>
            <a:pPr algn="ctr">
              <a:defRPr/>
            </a:pPr>
            <a:endParaRPr/>
          </a:p>
        </p:txBody>
      </p:sp>
      <p:pic>
        <p:nvPicPr>
          <p:cNvPr name="Picture 14" id="14"/>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016000" y="5651500"/>
            <a:ext cx="406400" cy="406400"/>
          </a:xfrm>
          <a:prstGeom prst="rect">
            <a:avLst/>
          </a:prstGeom>
        </p:spPr>
      </p:pic>
      <p:sp>
        <p:nvSpPr>
          <p:cNvPr name="AutoShape 15" id="15"/>
          <p:cNvSpPr/>
          <p:nvPr/>
        </p:nvSpPr>
        <p:spPr>
          <a:xfrm rot="0" flipH="false" flipV="false">
            <a:off x="1524000" y="5613400"/>
            <a:ext cx="9271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3. 访问应用</a:t>
            </a:r>
            <a:endParaRPr lang="en-US" sz="1100"/>
          </a:p>
        </p:txBody>
      </p:sp>
      <p:sp>
        <p:nvSpPr>
          <p:cNvPr name="AutoShape 16" id="16"/>
          <p:cNvSpPr/>
          <p:nvPr/>
        </p:nvSpPr>
        <p:spPr>
          <a:xfrm rot="0" flipH="false" flipV="false">
            <a:off x="1524000" y="5994400"/>
            <a:ext cx="9271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400">
                <a:solidFill>
                  <a:srgbClr val="FFFFFF">
                    <a:alpha val="80000"/>
                  </a:srgbClr>
                </a:solidFill>
                <a:latin typeface="Noto Sans SC"/>
                <a:ea typeface="Noto Sans SC"/>
                <a:cs typeface="Noto Sans SC"/>
                <a:sym typeface="Noto Sans SC"/>
              </a:rPr>
              <a:t>部署成功后，在服务详情页获取Zeabur分配的域名，即可访问SafeWalk应用，开始测试使用。</a:t>
            </a:r>
            <a:endParaRPr lang="en-US" sz="1100"/>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0A192F">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B162C">
              <a:alpha val="85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5791200" y="1651000"/>
            <a:ext cx="609600" cy="609600"/>
          </a:xfrm>
          <a:prstGeom prst="rect">
            <a:avLst/>
          </a:prstGeom>
          <a:effectLst>
            <a:outerShdw dir="2700000" dist="0" blurRad="127000" algn="tl" rotWithShape="false">
              <a:srgbClr val="00BFFF">
                <a:alpha val="50000"/>
              </a:srgbClr>
            </a:outerShdw>
          </a:effectLst>
        </p:spPr>
      </p:pic>
      <p:sp>
        <p:nvSpPr>
          <p:cNvPr name="AutoShape 5" id="5"/>
          <p:cNvSpPr/>
          <p:nvPr/>
        </p:nvSpPr>
        <p:spPr>
          <a:xfrm rot="0" flipH="false" flipV="false">
            <a:off x="2070100" y="2413000"/>
            <a:ext cx="8051800" cy="635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true" i="false" strike="noStrike" u="none" sz="3200">
                <a:solidFill>
                  <a:srgbClr val="FFFFFF"/>
                </a:solidFill>
                <a:latin typeface="Noto Sans SC"/>
                <a:ea typeface="Noto Sans SC"/>
                <a:cs typeface="Noto Sans SC"/>
                <a:sym typeface="Noto Sans SC"/>
              </a:rPr>
              <a:t>模块四：前后端联调策略与问题排查</a:t>
            </a:r>
            <a:endParaRPr lang="en-US" sz="1100"/>
          </a:p>
        </p:txBody>
      </p:sp>
      <p:sp>
        <p:nvSpPr>
          <p:cNvPr name="AutoShape 6" id="6"/>
          <p:cNvSpPr/>
          <p:nvPr/>
        </p:nvSpPr>
        <p:spPr>
          <a:xfrm rot="0" flipH="false" flipV="false">
            <a:off x="5715000" y="3175000"/>
            <a:ext cx="762000" cy="50800"/>
          </a:xfrm>
          <a:prstGeom prst="roundRect">
            <a:avLst>
              <a:gd name="adj" fmla="val 0"/>
            </a:avLst>
          </a:prstGeom>
          <a:solidFill>
            <a:srgbClr val="00BFF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1016000" y="3429000"/>
            <a:ext cx="10160000" cy="381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false" i="false" strike="noStrike" u="none" sz="1800">
                <a:solidFill>
                  <a:srgbClr val="E6E6FA"/>
                </a:solidFill>
                <a:latin typeface="Noto Sans SC"/>
                <a:ea typeface="Noto Sans SC"/>
                <a:cs typeface="Noto Sans SC"/>
                <a:sym typeface="Noto Sans SC"/>
              </a:rPr>
              <a:t>确保前后端协同工作，高效解决问题</a:t>
            </a:r>
            <a:endParaRPr lang="en-US" sz="1100"/>
          </a:p>
        </p:txBody>
      </p:sp>
      <p:sp>
        <p:nvSpPr>
          <p:cNvPr name="AutoShape 8" id="8"/>
          <p:cNvSpPr/>
          <p:nvPr/>
        </p:nvSpPr>
        <p:spPr>
          <a:xfrm rot="0" flipH="false" flipV="false">
            <a:off x="5334000" y="4191000"/>
            <a:ext cx="1524000" cy="406400"/>
          </a:xfrm>
          <a:prstGeom prst="roundRect">
            <a:avLst>
              <a:gd name="adj" fmla="val 50000"/>
            </a:avLst>
          </a:prstGeom>
          <a:solidFill>
            <a:srgbClr val="00BFFF">
              <a:alpha val="15000"/>
            </a:srgbClr>
          </a:solidFill>
          <a:ln w="12700" cmpd="sng" cap="flat">
            <a:solidFill>
              <a:srgbClr val="00BFFF">
                <a:alpha val="100000"/>
              </a:srgbClr>
            </a:solidFill>
            <a:prstDash val="solid"/>
            <a:round/>
          </a:ln>
        </p:spPr>
        <p:txBody>
          <a:bodyPr anchor="ctr" rtlCol="false" anchorCtr="false" vert="horz" wrap="square" lIns="0" rIns="0" tIns="0" bIns="0"/>
          <a:lstStyle/>
          <a:p>
            <a:pPr algn="ctr" indent="0">
              <a:lnSpc>
                <a:spcPct val="125000"/>
              </a:lnSpc>
              <a:defRPr/>
            </a:pPr>
            <a:r>
              <a:rPr lang="en-US" b="false" i="false" strike="noStrike" u="none" sz="1400">
                <a:solidFill>
                  <a:srgbClr val="00BFFF"/>
                </a:solidFill>
                <a:latin typeface="Noto Sans SC"/>
                <a:ea typeface="Noto Sans SC"/>
                <a:cs typeface="Noto Sans SC"/>
                <a:sym typeface="Noto Sans SC"/>
              </a:rPr>
              <a:t>实战技巧</a:t>
            </a:r>
            <a:endParaRPr lang="en-US" sz="1100"/>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0A192F">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192F">
              <a:alpha val="9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508000"/>
            <a:ext cx="110744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前后端联调策略（一）：接口文档与Mock测试</a:t>
            </a:r>
            <a:endParaRPr lang="en-US" sz="1100"/>
          </a:p>
        </p:txBody>
      </p:sp>
      <p:sp>
        <p:nvSpPr>
          <p:cNvPr name="AutoShape 5" id="5"/>
          <p:cNvSpPr/>
          <p:nvPr/>
        </p:nvSpPr>
        <p:spPr>
          <a:xfrm rot="0" flipH="false" flipV="false">
            <a:off x="762000" y="1397000"/>
            <a:ext cx="5143500" cy="2921000"/>
          </a:xfrm>
          <a:prstGeom prst="roundRect">
            <a:avLst>
              <a:gd name="adj" fmla="val 4347"/>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1587500"/>
            <a:ext cx="406400" cy="406400"/>
          </a:xfrm>
          <a:prstGeom prst="rect">
            <a:avLst/>
          </a:prstGeom>
        </p:spPr>
      </p:pic>
      <p:sp>
        <p:nvSpPr>
          <p:cNvPr name="AutoShape 7" id="7"/>
          <p:cNvSpPr/>
          <p:nvPr/>
        </p:nvSpPr>
        <p:spPr>
          <a:xfrm rot="0" flipH="false" flipV="false">
            <a:off x="1524000" y="15494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接口文档：沟通的桥梁</a:t>
            </a:r>
            <a:endParaRPr lang="en-US" sz="1100"/>
          </a:p>
        </p:txBody>
      </p:sp>
      <p:sp>
        <p:nvSpPr>
          <p:cNvPr name="AutoShape 8" id="8"/>
          <p:cNvSpPr/>
          <p:nvPr/>
        </p:nvSpPr>
        <p:spPr>
          <a:xfrm rot="0" flipH="false" flipV="false">
            <a:off x="952500" y="2032000"/>
            <a:ext cx="4762500" cy="2032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1400">
                <a:solidFill>
                  <a:srgbClr val="00BFFF"/>
                </a:solidFill>
                <a:latin typeface="Noto Sans SC"/>
                <a:ea typeface="Noto Sans SC"/>
                <a:cs typeface="Noto Sans SC"/>
                <a:sym typeface="Noto Sans SC"/>
              </a:rPr>
              <a:t>重要性：</a:t>
            </a:r>
            <a:r>
              <a:rPr lang="en-US" b="false" i="false" strike="noStrike" u="none" sz="1400">
                <a:solidFill>
                  <a:srgbClr val="DCDCDC"/>
                </a:solidFill>
                <a:latin typeface="Noto Sans SC"/>
                <a:ea typeface="Noto Sans SC"/>
                <a:cs typeface="Noto Sans SC"/>
                <a:sym typeface="Noto Sans SC"/>
              </a:rPr>
              <a:t>确保前后端对接口理解一致，减少沟通成本。</a:t>
            </a:r>
            <a:r>
              <a:rPr lang="en-US" b="false" i="false" strike="noStrike" u="none" sz="1400">
                <a:solidFill>
                  <a:srgbClr val="1F2329"/>
                </a:solidFill>
                <a:latin typeface="Noto Sans SC"/>
                <a:ea typeface="Noto Sans SC"/>
                <a:cs typeface="Noto Sans SC"/>
                <a:sym typeface="Noto Sans SC"/>
              </a:rPr>
              <a:t/>
            </a:r>
            <a:endParaRPr lang="en-US" sz="1100"/>
          </a:p>
          <a:p>
            <a:pPr algn="l" indent="0">
              <a:lnSpc>
                <a:spcPct val="108333"/>
              </a:lnSpc>
            </a:pPr>
            <a:r>
              <a:rPr lang="en-US" b="true" i="false" strike="noStrike" u="none" sz="1400">
                <a:solidFill>
                  <a:srgbClr val="00BFFF"/>
                </a:solidFill>
                <a:latin typeface="Noto Sans SC"/>
                <a:ea typeface="Noto Sans SC"/>
                <a:cs typeface="Noto Sans SC"/>
                <a:sym typeface="Noto Sans SC"/>
              </a:rPr>
              <a:t>工具选择：</a:t>
            </a:r>
            <a:r>
              <a:rPr lang="en-US" b="false" i="false" strike="noStrike" u="none" sz="1400">
                <a:solidFill>
                  <a:srgbClr val="DCDCDC"/>
                </a:solidFill>
                <a:latin typeface="Noto Sans SC"/>
                <a:ea typeface="Noto Sans SC"/>
                <a:cs typeface="Noto Sans SC"/>
                <a:sym typeface="Noto Sans SC"/>
              </a:rPr>
              <a:t>Swagger、Postman、RAP等自动化工具。</a:t>
            </a:r>
            <a:r>
              <a:rPr lang="en-US" b="false" i="false" strike="noStrike" u="none" sz="1400">
                <a:solidFill>
                  <a:srgbClr val="1F2329"/>
                </a:solidFill>
                <a:latin typeface="Noto Sans SC"/>
                <a:ea typeface="Noto Sans SC"/>
                <a:cs typeface="Noto Sans SC"/>
                <a:sym typeface="Noto Sans SC"/>
              </a:rPr>
              <a:t/>
            </a:r>
          </a:p>
          <a:p>
            <a:pPr algn="l" indent="0">
              <a:lnSpc>
                <a:spcPct val="108333"/>
              </a:lnSpc>
            </a:pPr>
            <a:r>
              <a:rPr lang="en-US" b="true" i="false" strike="noStrike" u="none" sz="1400">
                <a:solidFill>
                  <a:srgbClr val="00BFFF"/>
                </a:solidFill>
                <a:latin typeface="Noto Sans SC"/>
                <a:ea typeface="Noto Sans SC"/>
                <a:cs typeface="Noto Sans SC"/>
                <a:sym typeface="Noto Sans SC"/>
              </a:rPr>
              <a:t>内容要求：</a:t>
            </a:r>
            <a:r>
              <a:rPr lang="en-US" b="false" i="false" strike="noStrike" u="none" sz="1400">
                <a:solidFill>
                  <a:srgbClr val="DCDCDC"/>
                </a:solidFill>
                <a:latin typeface="Noto Sans SC"/>
                <a:ea typeface="Noto Sans SC"/>
                <a:cs typeface="Noto Sans SC"/>
                <a:sym typeface="Noto Sans SC"/>
              </a:rPr>
              <a:t>包含URL、请求方法、参数、响应格式及错误码。</a:t>
            </a:r>
          </a:p>
        </p:txBody>
      </p:sp>
      <p:sp>
        <p:nvSpPr>
          <p:cNvPr name="AutoShape 9" id="9"/>
          <p:cNvSpPr/>
          <p:nvPr/>
        </p:nvSpPr>
        <p:spPr>
          <a:xfrm rot="0" flipH="false" flipV="false">
            <a:off x="6286500" y="1397000"/>
            <a:ext cx="5143500" cy="2921000"/>
          </a:xfrm>
          <a:prstGeom prst="roundRect">
            <a:avLst>
              <a:gd name="adj" fmla="val 4347"/>
            </a:avLst>
          </a:prstGeom>
          <a:solidFill>
            <a:srgbClr val="FFFFFF">
              <a:alpha val="5000"/>
            </a:srgbClr>
          </a:solidFill>
          <a:ln w="12700" cmpd="sng" cap="flat">
            <a:solidFill>
              <a:srgbClr val="E6E6FA">
                <a:alpha val="3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540500" y="1587500"/>
            <a:ext cx="406400" cy="406400"/>
          </a:xfrm>
          <a:prstGeom prst="rect">
            <a:avLst/>
          </a:prstGeom>
        </p:spPr>
      </p:pic>
      <p:sp>
        <p:nvSpPr>
          <p:cNvPr name="AutoShape 11" id="11"/>
          <p:cNvSpPr/>
          <p:nvPr/>
        </p:nvSpPr>
        <p:spPr>
          <a:xfrm rot="0" flipH="false" flipV="false">
            <a:off x="7048500" y="15494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Mock测试：并行开发的关键</a:t>
            </a:r>
            <a:endParaRPr lang="en-US" sz="1100"/>
          </a:p>
        </p:txBody>
      </p:sp>
      <p:sp>
        <p:nvSpPr>
          <p:cNvPr name="AutoShape 12" id="12"/>
          <p:cNvSpPr/>
          <p:nvPr/>
        </p:nvSpPr>
        <p:spPr>
          <a:xfrm rot="0" flipH="false" flipV="false">
            <a:off x="6477000" y="2032000"/>
            <a:ext cx="4762500" cy="2032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1400">
                <a:solidFill>
                  <a:srgbClr val="E6E6FA"/>
                </a:solidFill>
                <a:latin typeface="Noto Sans SC"/>
                <a:ea typeface="Noto Sans SC"/>
                <a:cs typeface="Noto Sans SC"/>
                <a:sym typeface="Noto Sans SC"/>
              </a:rPr>
              <a:t>重要性：</a:t>
            </a:r>
            <a:r>
              <a:rPr lang="en-US" b="false" i="false" strike="noStrike" u="none" sz="1400">
                <a:solidFill>
                  <a:srgbClr val="DCDCDC"/>
                </a:solidFill>
                <a:latin typeface="Noto Sans SC"/>
                <a:ea typeface="Noto Sans SC"/>
                <a:cs typeface="Noto Sans SC"/>
                <a:sym typeface="Noto Sans SC"/>
              </a:rPr>
              <a:t>后端未完成时，前端可独立开发，提升效率。</a:t>
            </a:r>
            <a:r>
              <a:rPr lang="en-US" b="false" i="false" strike="noStrike" u="none" sz="1400">
                <a:solidFill>
                  <a:srgbClr val="1F2329"/>
                </a:solidFill>
                <a:latin typeface="Noto Sans SC"/>
                <a:ea typeface="Noto Sans SC"/>
                <a:cs typeface="Noto Sans SC"/>
                <a:sym typeface="Noto Sans SC"/>
              </a:rPr>
              <a:t/>
            </a:r>
            <a:endParaRPr lang="en-US" sz="1100"/>
          </a:p>
          <a:p>
            <a:pPr algn="l" indent="0">
              <a:lnSpc>
                <a:spcPct val="108333"/>
              </a:lnSpc>
            </a:pPr>
            <a:r>
              <a:rPr lang="en-US" b="true" i="false" strike="noStrike" u="none" sz="1400">
                <a:solidFill>
                  <a:srgbClr val="E6E6FA"/>
                </a:solidFill>
                <a:latin typeface="Noto Sans SC"/>
                <a:ea typeface="Noto Sans SC"/>
                <a:cs typeface="Noto Sans SC"/>
                <a:sym typeface="Noto Sans SC"/>
              </a:rPr>
              <a:t>工具选择：</a:t>
            </a:r>
            <a:r>
              <a:rPr lang="en-US" b="false" i="false" strike="noStrike" u="none" sz="1400">
                <a:solidFill>
                  <a:srgbClr val="DCDCDC"/>
                </a:solidFill>
                <a:latin typeface="Noto Sans SC"/>
                <a:ea typeface="Noto Sans SC"/>
                <a:cs typeface="Noto Sans SC"/>
                <a:sym typeface="Noto Sans SC"/>
              </a:rPr>
              <a:t>Mock.js、Easy Mock、Mock Service Worker。</a:t>
            </a:r>
            <a:r>
              <a:rPr lang="en-US" b="false" i="false" strike="noStrike" u="none" sz="1400">
                <a:solidFill>
                  <a:srgbClr val="1F2329"/>
                </a:solidFill>
                <a:latin typeface="Noto Sans SC"/>
                <a:ea typeface="Noto Sans SC"/>
                <a:cs typeface="Noto Sans SC"/>
                <a:sym typeface="Noto Sans SC"/>
              </a:rPr>
              <a:t/>
            </a:r>
          </a:p>
          <a:p>
            <a:pPr algn="l" indent="0">
              <a:lnSpc>
                <a:spcPct val="108333"/>
              </a:lnSpc>
            </a:pPr>
            <a:r>
              <a:rPr lang="en-US" b="true" i="false" strike="noStrike" u="none" sz="1400">
                <a:solidFill>
                  <a:srgbClr val="E6E6FA"/>
                </a:solidFill>
                <a:latin typeface="Noto Sans SC"/>
                <a:ea typeface="Noto Sans SC"/>
                <a:cs typeface="Noto Sans SC"/>
                <a:sym typeface="Noto Sans SC"/>
              </a:rPr>
              <a:t>实现思路：</a:t>
            </a:r>
            <a:r>
              <a:rPr lang="en-US" b="false" i="false" strike="noStrike" u="none" sz="1400">
                <a:solidFill>
                  <a:srgbClr val="DCDCDC"/>
                </a:solidFill>
                <a:latin typeface="Noto Sans SC"/>
                <a:ea typeface="Noto Sans SC"/>
                <a:cs typeface="Noto Sans SC"/>
                <a:sym typeface="Noto Sans SC"/>
              </a:rPr>
              <a:t>依据文档编写Mock数据，模拟真实接口返回。</a:t>
            </a:r>
          </a:p>
        </p:txBody>
      </p:sp>
      <p:sp>
        <p:nvSpPr>
          <p:cNvPr name="AutoShape 13" id="13"/>
          <p:cNvSpPr/>
          <p:nvPr/>
        </p:nvSpPr>
        <p:spPr>
          <a:xfrm rot="0" flipH="false" flipV="false">
            <a:off x="762000" y="4572000"/>
            <a:ext cx="10668000" cy="1016000"/>
          </a:xfrm>
          <a:prstGeom prst="roundRect">
            <a:avLst>
              <a:gd name="adj" fmla="val 12500"/>
            </a:avLst>
          </a:prstGeom>
          <a:solidFill>
            <a:srgbClr val="FFB6C1">
              <a:alpha val="15000"/>
            </a:srgbClr>
          </a:solidFill>
          <a:ln w="12700" cmpd="sng" cap="flat">
            <a:solidFill>
              <a:srgbClr val="FFB6C1">
                <a:alpha val="50000"/>
              </a:srgbClr>
            </a:solid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016000" y="4876800"/>
            <a:ext cx="406400" cy="406400"/>
          </a:xfrm>
          <a:prstGeom prst="rect">
            <a:avLst/>
          </a:prstGeom>
        </p:spPr>
      </p:pic>
      <p:sp>
        <p:nvSpPr>
          <p:cNvPr name="AutoShape 15" id="15"/>
          <p:cNvSpPr/>
          <p:nvPr/>
        </p:nvSpPr>
        <p:spPr>
          <a:xfrm rot="0" flipH="false" flipV="false">
            <a:off x="1524000" y="4699000"/>
            <a:ext cx="9652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B6C1"/>
                </a:solidFill>
                <a:latin typeface="Noto Sans SC"/>
                <a:ea typeface="Noto Sans SC"/>
                <a:cs typeface="Noto Sans SC"/>
                <a:sym typeface="Noto Sans SC"/>
              </a:rPr>
              <a:t>学生行动指令：</a:t>
            </a:r>
            <a:r>
              <a:rPr lang="en-US" b="false" i="false" strike="noStrike" u="none" sz="1600">
                <a:solidFill>
                  <a:srgbClr val="FFFFFF"/>
                </a:solidFill>
                <a:latin typeface="Noto Sans SC"/>
                <a:ea typeface="Noto Sans SC"/>
                <a:cs typeface="Noto Sans SC"/>
                <a:sym typeface="Noto Sans SC"/>
              </a:rPr>
              <a:t>请大家为自己的项目编写详细的接口文档，并使用Mock工具进行前端的独立开发和测试，确保开发流程顺畅。</a:t>
            </a:r>
            <a:endParaRPr lang="en-US" sz="1100"/>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0A192F">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192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508000"/>
            <a:ext cx="85471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前后端联调策略（二）：联调环境搭建</a:t>
            </a:r>
            <a:endParaRPr lang="en-US" sz="1100"/>
          </a:p>
        </p:txBody>
      </p:sp>
      <p:sp>
        <p:nvSpPr>
          <p:cNvPr name="AutoShape 5" id="5"/>
          <p:cNvSpPr/>
          <p:nvPr/>
        </p:nvSpPr>
        <p:spPr>
          <a:xfrm rot="0" flipH="false" flipV="false">
            <a:off x="762000" y="1397000"/>
            <a:ext cx="3302000" cy="2540000"/>
          </a:xfrm>
          <a:prstGeom prst="roundRect">
            <a:avLst>
              <a:gd name="adj" fmla="val 5000"/>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1651000"/>
            <a:ext cx="406400" cy="406400"/>
          </a:xfrm>
          <a:prstGeom prst="rect">
            <a:avLst/>
          </a:prstGeom>
        </p:spPr>
      </p:pic>
      <p:sp>
        <p:nvSpPr>
          <p:cNvPr name="AutoShape 7" id="7"/>
          <p:cNvSpPr/>
          <p:nvPr/>
        </p:nvSpPr>
        <p:spPr>
          <a:xfrm rot="0" flipH="false" flipV="false">
            <a:off x="1524000" y="1625600"/>
            <a:ext cx="228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开发环境</a:t>
            </a:r>
            <a:endParaRPr lang="en-US" sz="1100"/>
          </a:p>
        </p:txBody>
      </p:sp>
      <p:sp>
        <p:nvSpPr>
          <p:cNvPr name="AutoShape 8" id="8"/>
          <p:cNvSpPr/>
          <p:nvPr/>
        </p:nvSpPr>
        <p:spPr>
          <a:xfrm rot="0" flipH="false" flipV="false">
            <a:off x="1016000" y="2159000"/>
            <a:ext cx="2794000" cy="1524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1400">
                <a:solidFill>
                  <a:srgbClr val="DCDCDC"/>
                </a:solidFill>
                <a:latin typeface="Noto Sans SC"/>
                <a:ea typeface="Noto Sans SC"/>
                <a:cs typeface="Noto Sans SC"/>
                <a:sym typeface="Noto Sans SC"/>
              </a:rPr>
              <a:t>前端：</a:t>
            </a:r>
            <a:r>
              <a:rPr lang="en-US" b="false" i="false" strike="noStrike" u="none" sz="1400">
                <a:solidFill>
                  <a:srgbClr val="C8C8C8"/>
                </a:solidFill>
                <a:latin typeface="Noto Sans SC"/>
                <a:ea typeface="Noto Sans SC"/>
                <a:cs typeface="Noto Sans SC"/>
                <a:sym typeface="Noto Sans SC"/>
              </a:rPr>
              <a:t>本地运行开发服务器(如Webpack)</a:t>
            </a:r>
            <a:r>
              <a:rPr lang="en-US" b="false" i="false" strike="noStrike" u="none" sz="1400">
                <a:solidFill>
                  <a:srgbClr val="1F2329"/>
                </a:solidFill>
                <a:latin typeface="Noto Sans SC"/>
                <a:ea typeface="Noto Sans SC"/>
                <a:cs typeface="Noto Sans SC"/>
                <a:sym typeface="Noto Sans SC"/>
              </a:rPr>
              <a:t/>
            </a:r>
            <a:endParaRPr lang="en-US" sz="1100"/>
          </a:p>
          <a:p>
            <a:pPr algn="l" indent="0">
              <a:lnSpc>
                <a:spcPct val="108333"/>
              </a:lnSpc>
            </a:pPr>
            <a:r>
              <a:rPr lang="en-US" b="true" i="false" strike="noStrike" u="none" sz="1400">
                <a:solidFill>
                  <a:srgbClr val="DCDCDC"/>
                </a:solidFill>
                <a:latin typeface="Noto Sans SC"/>
                <a:ea typeface="Noto Sans SC"/>
                <a:cs typeface="Noto Sans SC"/>
                <a:sym typeface="Noto Sans SC"/>
              </a:rPr>
              <a:t>后端：</a:t>
            </a:r>
            <a:r>
              <a:rPr lang="en-US" b="false" i="false" strike="noStrike" u="none" sz="1400">
                <a:solidFill>
                  <a:srgbClr val="C8C8C8"/>
                </a:solidFill>
                <a:latin typeface="Noto Sans SC"/>
                <a:ea typeface="Noto Sans SC"/>
                <a:cs typeface="Noto Sans SC"/>
                <a:sym typeface="Noto Sans SC"/>
              </a:rPr>
              <a:t>本地或开发服务器运行服务</a:t>
            </a:r>
            <a:r>
              <a:rPr lang="en-US" b="false" i="false" strike="noStrike" u="none" sz="1400">
                <a:solidFill>
                  <a:srgbClr val="1F2329"/>
                </a:solidFill>
                <a:latin typeface="Noto Sans SC"/>
                <a:ea typeface="Noto Sans SC"/>
                <a:cs typeface="Noto Sans SC"/>
                <a:sym typeface="Noto Sans SC"/>
              </a:rPr>
              <a:t/>
            </a:r>
          </a:p>
          <a:p>
            <a:pPr algn="l" indent="0">
              <a:lnSpc>
                <a:spcPct val="108333"/>
              </a:lnSpc>
            </a:pPr>
            <a:r>
              <a:rPr lang="en-US" b="true" i="false" strike="noStrike" u="none" sz="1400">
                <a:solidFill>
                  <a:srgbClr val="DCDCDC"/>
                </a:solidFill>
                <a:latin typeface="Noto Sans SC"/>
                <a:ea typeface="Noto Sans SC"/>
                <a:cs typeface="Noto Sans SC"/>
                <a:sym typeface="Noto Sans SC"/>
              </a:rPr>
              <a:t>通信：</a:t>
            </a:r>
            <a:r>
              <a:rPr lang="en-US" b="false" i="false" strike="noStrike" u="none" sz="1400">
                <a:solidFill>
                  <a:srgbClr val="C8C8C8"/>
                </a:solidFill>
                <a:latin typeface="Noto Sans SC"/>
                <a:ea typeface="Noto Sans SC"/>
                <a:cs typeface="Noto Sans SC"/>
                <a:sym typeface="Noto Sans SC"/>
              </a:rPr>
              <a:t>前端通过API地址访问后端</a:t>
            </a:r>
          </a:p>
        </p:txBody>
      </p:sp>
      <p:sp>
        <p:nvSpPr>
          <p:cNvPr name="AutoShape 9" id="9"/>
          <p:cNvSpPr/>
          <p:nvPr/>
        </p:nvSpPr>
        <p:spPr>
          <a:xfrm rot="0" flipH="false" flipV="false">
            <a:off x="4445000" y="1397000"/>
            <a:ext cx="3302000" cy="2540000"/>
          </a:xfrm>
          <a:prstGeom prst="roundRect">
            <a:avLst>
              <a:gd name="adj" fmla="val 5000"/>
            </a:avLst>
          </a:prstGeom>
          <a:solidFill>
            <a:srgbClr val="FFFFFF">
              <a:alpha val="8000"/>
            </a:srgbClr>
          </a:solidFill>
          <a:ln w="12700" cmpd="sng" cap="flat">
            <a:solidFill>
              <a:srgbClr val="E6E6FA">
                <a:alpha val="3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699000" y="1651000"/>
            <a:ext cx="406400" cy="406400"/>
          </a:xfrm>
          <a:prstGeom prst="rect">
            <a:avLst/>
          </a:prstGeom>
        </p:spPr>
      </p:pic>
      <p:sp>
        <p:nvSpPr>
          <p:cNvPr name="AutoShape 11" id="11"/>
          <p:cNvSpPr/>
          <p:nvPr/>
        </p:nvSpPr>
        <p:spPr>
          <a:xfrm rot="0" flipH="false" flipV="false">
            <a:off x="5207000" y="1625600"/>
            <a:ext cx="228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测试环境</a:t>
            </a:r>
            <a:endParaRPr lang="en-US" sz="1100"/>
          </a:p>
        </p:txBody>
      </p:sp>
      <p:sp>
        <p:nvSpPr>
          <p:cNvPr name="AutoShape 12" id="12"/>
          <p:cNvSpPr/>
          <p:nvPr/>
        </p:nvSpPr>
        <p:spPr>
          <a:xfrm rot="0" flipH="false" flipV="false">
            <a:off x="4699000" y="2159000"/>
            <a:ext cx="2794000" cy="1524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1400">
                <a:solidFill>
                  <a:srgbClr val="DCDCDC"/>
                </a:solidFill>
                <a:latin typeface="Noto Sans SC"/>
                <a:ea typeface="Noto Sans SC"/>
                <a:cs typeface="Noto Sans SC"/>
                <a:sym typeface="Noto Sans SC"/>
              </a:rPr>
              <a:t>目的：</a:t>
            </a:r>
            <a:r>
              <a:rPr lang="en-US" b="false" i="false" strike="noStrike" u="none" sz="1400">
                <a:solidFill>
                  <a:srgbClr val="C8C8C8"/>
                </a:solidFill>
                <a:latin typeface="Noto Sans SC"/>
                <a:ea typeface="Noto Sans SC"/>
                <a:cs typeface="Noto Sans SC"/>
                <a:sym typeface="Noto Sans SC"/>
              </a:rPr>
              <a:t>提供稳定独立的联调与集成测试环境</a:t>
            </a:r>
            <a:r>
              <a:rPr lang="en-US" b="false" i="false" strike="noStrike" u="none" sz="1400">
                <a:solidFill>
                  <a:srgbClr val="1F2329"/>
                </a:solidFill>
                <a:latin typeface="Noto Sans SC"/>
                <a:ea typeface="Noto Sans SC"/>
                <a:cs typeface="Noto Sans SC"/>
                <a:sym typeface="Noto Sans SC"/>
              </a:rPr>
              <a:t/>
            </a:r>
            <a:endParaRPr lang="en-US" sz="1100"/>
          </a:p>
          <a:p>
            <a:pPr algn="l" indent="0">
              <a:lnSpc>
                <a:spcPct val="108333"/>
              </a:lnSpc>
            </a:pPr>
            <a:r>
              <a:rPr lang="en-US" b="true" i="false" strike="noStrike" u="none" sz="1400">
                <a:solidFill>
                  <a:srgbClr val="DCDCDC"/>
                </a:solidFill>
                <a:latin typeface="Noto Sans SC"/>
                <a:ea typeface="Noto Sans SC"/>
                <a:cs typeface="Noto Sans SC"/>
                <a:sym typeface="Noto Sans SC"/>
              </a:rPr>
              <a:t>配置：</a:t>
            </a:r>
            <a:r>
              <a:rPr lang="en-US" b="false" i="false" strike="noStrike" u="none" sz="1400">
                <a:solidFill>
                  <a:srgbClr val="C8C8C8"/>
                </a:solidFill>
                <a:latin typeface="Noto Sans SC"/>
                <a:ea typeface="Noto Sans SC"/>
                <a:cs typeface="Noto Sans SC"/>
                <a:sym typeface="Noto Sans SC"/>
              </a:rPr>
              <a:t>部署至专用服务器，保持与生产一致</a:t>
            </a:r>
            <a:r>
              <a:rPr lang="en-US" b="false" i="false" strike="noStrike" u="none" sz="1400">
                <a:solidFill>
                  <a:srgbClr val="1F2329"/>
                </a:solidFill>
                <a:latin typeface="Noto Sans SC"/>
                <a:ea typeface="Noto Sans SC"/>
                <a:cs typeface="Noto Sans SC"/>
                <a:sym typeface="Noto Sans SC"/>
              </a:rPr>
              <a:t/>
            </a:r>
          </a:p>
          <a:p>
            <a:pPr algn="l" indent="0">
              <a:lnSpc>
                <a:spcPct val="108333"/>
              </a:lnSpc>
            </a:pPr>
            <a:r>
              <a:rPr lang="en-US" b="true" i="false" strike="noStrike" u="none" sz="1400">
                <a:solidFill>
                  <a:srgbClr val="DCDCDC"/>
                </a:solidFill>
                <a:latin typeface="Noto Sans SC"/>
                <a:ea typeface="Noto Sans SC"/>
                <a:cs typeface="Noto Sans SC"/>
                <a:sym typeface="Noto Sans SC"/>
              </a:rPr>
              <a:t>数据：</a:t>
            </a:r>
            <a:r>
              <a:rPr lang="en-US" b="false" i="false" strike="noStrike" u="none" sz="1400">
                <a:solidFill>
                  <a:srgbClr val="C8C8C8"/>
                </a:solidFill>
                <a:latin typeface="Noto Sans SC"/>
                <a:ea typeface="Noto Sans SC"/>
                <a:cs typeface="Noto Sans SC"/>
                <a:sym typeface="Noto Sans SC"/>
              </a:rPr>
              <a:t>准备专用测试数据，确保有效性</a:t>
            </a:r>
          </a:p>
        </p:txBody>
      </p:sp>
      <p:sp>
        <p:nvSpPr>
          <p:cNvPr name="AutoShape 13" id="13"/>
          <p:cNvSpPr/>
          <p:nvPr/>
        </p:nvSpPr>
        <p:spPr>
          <a:xfrm rot="0" flipH="false" flipV="false">
            <a:off x="8128000" y="1397000"/>
            <a:ext cx="3302000" cy="2540000"/>
          </a:xfrm>
          <a:prstGeom prst="roundRect">
            <a:avLst>
              <a:gd name="adj" fmla="val 5000"/>
            </a:avLst>
          </a:prstGeom>
          <a:solidFill>
            <a:srgbClr val="FFFFFF">
              <a:alpha val="8000"/>
            </a:srgbClr>
          </a:solidFill>
          <a:ln w="12700" cmpd="sng" cap="flat">
            <a:solidFill>
              <a:srgbClr val="FFB6C1">
                <a:alpha val="30000"/>
              </a:srgbClr>
            </a:solid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382000" y="1651000"/>
            <a:ext cx="406400" cy="406400"/>
          </a:xfrm>
          <a:prstGeom prst="rect">
            <a:avLst/>
          </a:prstGeom>
        </p:spPr>
      </p:pic>
      <p:sp>
        <p:nvSpPr>
          <p:cNvPr name="AutoShape 15" id="15"/>
          <p:cNvSpPr/>
          <p:nvPr/>
        </p:nvSpPr>
        <p:spPr>
          <a:xfrm rot="0" flipH="false" flipV="false">
            <a:off x="8890000" y="1625600"/>
            <a:ext cx="228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环境配置管理</a:t>
            </a:r>
            <a:endParaRPr lang="en-US" sz="1100"/>
          </a:p>
        </p:txBody>
      </p:sp>
      <p:sp>
        <p:nvSpPr>
          <p:cNvPr name="AutoShape 16" id="16"/>
          <p:cNvSpPr/>
          <p:nvPr/>
        </p:nvSpPr>
        <p:spPr>
          <a:xfrm rot="0" flipH="false" flipV="false">
            <a:off x="8382000" y="2159000"/>
            <a:ext cx="2794000" cy="1524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1400">
                <a:solidFill>
                  <a:srgbClr val="DCDCDC"/>
                </a:solidFill>
                <a:latin typeface="Noto Sans SC"/>
                <a:ea typeface="Noto Sans SC"/>
                <a:cs typeface="Noto Sans SC"/>
                <a:sym typeface="Noto Sans SC"/>
              </a:rPr>
              <a:t>变量管理：</a:t>
            </a:r>
            <a:r>
              <a:rPr lang="en-US" b="false" i="false" strike="noStrike" u="none" sz="1400">
                <a:solidFill>
                  <a:srgbClr val="C8C8C8"/>
                </a:solidFill>
                <a:latin typeface="Noto Sans SC"/>
                <a:ea typeface="Noto Sans SC"/>
                <a:cs typeface="Noto Sans SC"/>
                <a:sym typeface="Noto Sans SC"/>
              </a:rPr>
              <a:t>使用环境变量区分开发、测试、生产配置</a:t>
            </a:r>
            <a:r>
              <a:rPr lang="en-US" b="false" i="false" strike="noStrike" u="none" sz="1400">
                <a:solidFill>
                  <a:srgbClr val="1F2329"/>
                </a:solidFill>
                <a:latin typeface="Noto Sans SC"/>
                <a:ea typeface="Noto Sans SC"/>
                <a:cs typeface="Noto Sans SC"/>
                <a:sym typeface="Noto Sans SC"/>
              </a:rPr>
              <a:t/>
            </a:r>
            <a:endParaRPr lang="en-US" sz="1100"/>
          </a:p>
          <a:p>
            <a:pPr algn="l" indent="0">
              <a:lnSpc>
                <a:spcPct val="108333"/>
              </a:lnSpc>
            </a:pPr>
            <a:r>
              <a:rPr lang="en-US" b="true" i="false" strike="noStrike" u="none" sz="1400">
                <a:solidFill>
                  <a:srgbClr val="DCDCDC"/>
                </a:solidFill>
                <a:latin typeface="Noto Sans SC"/>
                <a:ea typeface="Noto Sans SC"/>
                <a:cs typeface="Noto Sans SC"/>
                <a:sym typeface="Noto Sans SC"/>
              </a:rPr>
              <a:t>一致性：</a:t>
            </a:r>
            <a:r>
              <a:rPr lang="en-US" b="false" i="false" strike="noStrike" u="none" sz="1400">
                <a:solidFill>
                  <a:srgbClr val="C8C8C8"/>
                </a:solidFill>
                <a:latin typeface="Noto Sans SC"/>
                <a:ea typeface="Noto Sans SC"/>
                <a:cs typeface="Noto Sans SC"/>
                <a:sym typeface="Noto Sans SC"/>
              </a:rPr>
              <a:t>确保前后端配置一致，避免环境差异问题</a:t>
            </a:r>
          </a:p>
        </p:txBody>
      </p:sp>
      <p:sp>
        <p:nvSpPr>
          <p:cNvPr name="AutoShape 17" id="17"/>
          <p:cNvSpPr/>
          <p:nvPr/>
        </p:nvSpPr>
        <p:spPr>
          <a:xfrm rot="0" flipH="false" flipV="false">
            <a:off x="762000" y="4318000"/>
            <a:ext cx="10668000" cy="762000"/>
          </a:xfrm>
          <a:prstGeom prst="roundRect">
            <a:avLst>
              <a:gd name="adj" fmla="val 16666"/>
            </a:avLst>
          </a:prstGeom>
          <a:solidFill>
            <a:srgbClr val="00BFFF">
              <a:alpha val="15000"/>
            </a:srgbClr>
          </a:solidFill>
          <a:ln w="12700" cmpd="sng" cap="flat">
            <a:solidFill>
              <a:srgbClr val="00BFFF">
                <a:alpha val="100000"/>
              </a:srgbClr>
            </a:solid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1016000" y="4546600"/>
            <a:ext cx="304800" cy="304800"/>
          </a:xfrm>
          <a:prstGeom prst="rect">
            <a:avLst/>
          </a:prstGeom>
        </p:spPr>
      </p:pic>
      <p:sp>
        <p:nvSpPr>
          <p:cNvPr name="AutoShape 19" id="19"/>
          <p:cNvSpPr/>
          <p:nvPr/>
        </p:nvSpPr>
        <p:spPr>
          <a:xfrm rot="0" flipH="false" flipV="false">
            <a:off x="1397000" y="4445000"/>
            <a:ext cx="9906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行动指令：</a:t>
            </a:r>
            <a:r>
              <a:rPr lang="en-US" b="false" i="false" strike="noStrike" u="none" sz="1600">
                <a:solidFill>
                  <a:srgbClr val="DCDCDC"/>
                </a:solidFill>
                <a:latin typeface="Noto Sans SC"/>
                <a:ea typeface="Noto Sans SC"/>
                <a:cs typeface="Noto Sans SC"/>
                <a:sym typeface="Noto Sans SC"/>
              </a:rPr>
              <a:t>请大家搭建自己项目的前后端联调环境，包括开发环境和测试环境，并确保配置的一致性。</a:t>
            </a:r>
            <a:endParaRPr lang="en-US" sz="1100"/>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0A192F">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192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常见联调问题与排查方法（一）：网络问题</a:t>
            </a:r>
            <a:endParaRPr lang="en-US" sz="1100"/>
          </a:p>
        </p:txBody>
      </p:sp>
      <p:sp>
        <p:nvSpPr>
          <p:cNvPr name="AutoShape 5" id="5"/>
          <p:cNvSpPr/>
          <p:nvPr/>
        </p:nvSpPr>
        <p:spPr>
          <a:xfrm rot="0" flipH="false" flipV="false">
            <a:off x="762000" y="1397000"/>
            <a:ext cx="10668000" cy="889000"/>
          </a:xfrm>
          <a:prstGeom prst="roundRect">
            <a:avLst>
              <a:gd name="adj" fmla="val 14285"/>
            </a:avLst>
          </a:prstGeom>
          <a:solidFill>
            <a:srgbClr val="00BFFF">
              <a:alpha val="10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1638300"/>
            <a:ext cx="406400" cy="406400"/>
          </a:xfrm>
          <a:prstGeom prst="rect">
            <a:avLst/>
          </a:prstGeom>
        </p:spPr>
      </p:pic>
      <p:sp>
        <p:nvSpPr>
          <p:cNvPr name="AutoShape 7" id="7"/>
          <p:cNvSpPr/>
          <p:nvPr/>
        </p:nvSpPr>
        <p:spPr>
          <a:xfrm rot="0" flipH="false" flipV="false">
            <a:off x="1524000" y="1524000"/>
            <a:ext cx="9652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B6C1"/>
                </a:solidFill>
                <a:latin typeface="Noto Sans SC"/>
                <a:ea typeface="Noto Sans SC"/>
                <a:cs typeface="Noto Sans SC"/>
                <a:sym typeface="Noto Sans SC"/>
              </a:rPr>
              <a:t>问题现象：</a:t>
            </a:r>
            <a:r>
              <a:rPr lang="en-US" b="false" i="false" strike="noStrike" u="none" sz="1600">
                <a:solidFill>
                  <a:srgbClr val="FFFFFF"/>
                </a:solidFill>
                <a:latin typeface="Noto Sans SC"/>
                <a:ea typeface="Noto Sans SC"/>
                <a:cs typeface="Noto Sans SC"/>
                <a:sym typeface="Noto Sans SC"/>
              </a:rPr>
              <a:t>前端无法访问后端接口，或请求超时、返回错误码（如404、500）。</a:t>
            </a:r>
            <a:endParaRPr lang="en-US" sz="1100"/>
          </a:p>
        </p:txBody>
      </p:sp>
      <p:sp>
        <p:nvSpPr>
          <p:cNvPr name="AutoShape 8" id="8"/>
          <p:cNvSpPr/>
          <p:nvPr/>
        </p:nvSpPr>
        <p:spPr>
          <a:xfrm rot="0" flipH="false" flipV="false">
            <a:off x="762000" y="2540000"/>
            <a:ext cx="1066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E6E6FA"/>
                </a:solidFill>
                <a:latin typeface="Noto Sans SC"/>
                <a:ea typeface="Noto Sans SC"/>
                <a:cs typeface="Noto Sans SC"/>
                <a:sym typeface="Noto Sans SC"/>
              </a:rPr>
              <a:t>排查方法五步法</a:t>
            </a:r>
            <a:endParaRPr lang="en-US" sz="1100"/>
          </a:p>
        </p:txBody>
      </p:sp>
      <p:sp>
        <p:nvSpPr>
          <p:cNvPr name="AutoShape 9" id="9"/>
          <p:cNvSpPr/>
          <p:nvPr/>
        </p:nvSpPr>
        <p:spPr>
          <a:xfrm rot="0" flipH="false" flipV="false">
            <a:off x="762000" y="3048000"/>
            <a:ext cx="3378200" cy="1270000"/>
          </a:xfrm>
          <a:prstGeom prst="roundRect">
            <a:avLst>
              <a:gd name="adj" fmla="val 10000"/>
            </a:avLst>
          </a:prstGeom>
          <a:solidFill>
            <a:srgbClr val="FFFFFF">
              <a:alpha val="5000"/>
            </a:srgbClr>
          </a:solidFill>
          <a:ln w="12700" cmpd="sng" cap="flat">
            <a:solidFill>
              <a:srgbClr val="FFFFFF">
                <a:alpha val="1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952500" y="3238500"/>
            <a:ext cx="355600" cy="355600"/>
          </a:xfrm>
          <a:prstGeom prst="rect">
            <a:avLst/>
          </a:prstGeom>
        </p:spPr>
      </p:pic>
      <p:sp>
        <p:nvSpPr>
          <p:cNvPr name="AutoShape 11" id="11"/>
          <p:cNvSpPr/>
          <p:nvPr/>
        </p:nvSpPr>
        <p:spPr>
          <a:xfrm rot="0" flipH="false" flipV="false">
            <a:off x="1397000" y="3200400"/>
            <a:ext cx="2667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1. 检查网络连接</a:t>
            </a:r>
            <a:endParaRPr lang="en-US" sz="1100"/>
          </a:p>
        </p:txBody>
      </p:sp>
      <p:sp>
        <p:nvSpPr>
          <p:cNvPr name="AutoShape 12" id="12"/>
          <p:cNvSpPr/>
          <p:nvPr/>
        </p:nvSpPr>
        <p:spPr>
          <a:xfrm rot="0" flipH="false" flipV="false">
            <a:off x="952500" y="3619500"/>
            <a:ext cx="29972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FFFFFF">
                    <a:alpha val="70196"/>
                  </a:srgbClr>
                </a:solidFill>
                <a:latin typeface="Noto Sans SC"/>
                <a:ea typeface="Noto Sans SC"/>
                <a:cs typeface="Noto Sans SC"/>
                <a:sym typeface="Noto Sans SC"/>
              </a:rPr>
              <a:t>确保前端和后端服务所在的设备网络连接正常，无物理断连。</a:t>
            </a:r>
            <a:endParaRPr lang="en-US" sz="1100"/>
          </a:p>
        </p:txBody>
      </p:sp>
      <p:sp>
        <p:nvSpPr>
          <p:cNvPr name="AutoShape 13" id="13"/>
          <p:cNvSpPr/>
          <p:nvPr/>
        </p:nvSpPr>
        <p:spPr>
          <a:xfrm rot="0" flipH="false" flipV="false">
            <a:off x="4394200" y="3048000"/>
            <a:ext cx="3378200" cy="1270000"/>
          </a:xfrm>
          <a:prstGeom prst="roundRect">
            <a:avLst>
              <a:gd name="adj" fmla="val 10000"/>
            </a:avLst>
          </a:prstGeom>
          <a:solidFill>
            <a:srgbClr val="FFFFFF">
              <a:alpha val="5000"/>
            </a:srgbClr>
          </a:solidFill>
          <a:ln w="12700" cmpd="sng" cap="flat">
            <a:solidFill>
              <a:srgbClr val="FFFFFF">
                <a:alpha val="10000"/>
              </a:srgbClr>
            </a:solid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4584700" y="3238500"/>
            <a:ext cx="355600" cy="355600"/>
          </a:xfrm>
          <a:prstGeom prst="rect">
            <a:avLst/>
          </a:prstGeom>
        </p:spPr>
      </p:pic>
      <p:sp>
        <p:nvSpPr>
          <p:cNvPr name="AutoShape 15" id="15"/>
          <p:cNvSpPr/>
          <p:nvPr/>
        </p:nvSpPr>
        <p:spPr>
          <a:xfrm rot="0" flipH="false" flipV="false">
            <a:off x="5029200" y="3200400"/>
            <a:ext cx="2667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2. 检查API地址</a:t>
            </a:r>
            <a:endParaRPr lang="en-US" sz="1100"/>
          </a:p>
        </p:txBody>
      </p:sp>
      <p:sp>
        <p:nvSpPr>
          <p:cNvPr name="AutoShape 16" id="16"/>
          <p:cNvSpPr/>
          <p:nvPr/>
        </p:nvSpPr>
        <p:spPr>
          <a:xfrm rot="0" flipH="false" flipV="false">
            <a:off x="4584700" y="3619500"/>
            <a:ext cx="29972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FFFFFF">
                    <a:alpha val="70196"/>
                  </a:srgbClr>
                </a:solidFill>
                <a:latin typeface="Noto Sans SC"/>
                <a:ea typeface="Noto Sans SC"/>
                <a:cs typeface="Noto Sans SC"/>
                <a:sym typeface="Noto Sans SC"/>
              </a:rPr>
              <a:t>确认前端请求的域名、端口、路径是否正确，无拼写错误。</a:t>
            </a:r>
            <a:endParaRPr lang="en-US" sz="1100"/>
          </a:p>
        </p:txBody>
      </p:sp>
      <p:sp>
        <p:nvSpPr>
          <p:cNvPr name="AutoShape 17" id="17"/>
          <p:cNvSpPr/>
          <p:nvPr/>
        </p:nvSpPr>
        <p:spPr>
          <a:xfrm rot="0" flipH="false" flipV="false">
            <a:off x="8026400" y="3048000"/>
            <a:ext cx="3378200" cy="1270000"/>
          </a:xfrm>
          <a:prstGeom prst="roundRect">
            <a:avLst>
              <a:gd name="adj" fmla="val 10000"/>
            </a:avLst>
          </a:prstGeom>
          <a:solidFill>
            <a:srgbClr val="FFFFFF">
              <a:alpha val="5000"/>
            </a:srgbClr>
          </a:solidFill>
          <a:ln w="12700" cmpd="sng" cap="flat">
            <a:solidFill>
              <a:srgbClr val="FFFFFF">
                <a:alpha val="10000"/>
              </a:srgbClr>
            </a:solid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8216900" y="3238500"/>
            <a:ext cx="355600" cy="355600"/>
          </a:xfrm>
          <a:prstGeom prst="rect">
            <a:avLst/>
          </a:prstGeom>
        </p:spPr>
      </p:pic>
      <p:sp>
        <p:nvSpPr>
          <p:cNvPr name="AutoShape 19" id="19"/>
          <p:cNvSpPr/>
          <p:nvPr/>
        </p:nvSpPr>
        <p:spPr>
          <a:xfrm rot="0" flipH="false" flipV="false">
            <a:off x="8661400" y="3200400"/>
            <a:ext cx="2667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3. 测试接口可用性</a:t>
            </a:r>
            <a:endParaRPr lang="en-US" sz="1100"/>
          </a:p>
        </p:txBody>
      </p:sp>
      <p:sp>
        <p:nvSpPr>
          <p:cNvPr name="AutoShape 20" id="20"/>
          <p:cNvSpPr/>
          <p:nvPr/>
        </p:nvSpPr>
        <p:spPr>
          <a:xfrm rot="0" flipH="false" flipV="false">
            <a:off x="8216900" y="3619500"/>
            <a:ext cx="29972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FFFFFF">
                    <a:alpha val="70196"/>
                  </a:srgbClr>
                </a:solidFill>
                <a:latin typeface="Noto Sans SC"/>
                <a:ea typeface="Noto Sans SC"/>
                <a:cs typeface="Noto Sans SC"/>
                <a:sym typeface="Noto Sans SC"/>
              </a:rPr>
              <a:t>使用curl、Postman等工具绕过前端直接测试后端接口是否可用。</a:t>
            </a:r>
            <a:endParaRPr lang="en-US" sz="1100"/>
          </a:p>
        </p:txBody>
      </p:sp>
      <p:sp>
        <p:nvSpPr>
          <p:cNvPr name="AutoShape 21" id="21"/>
          <p:cNvSpPr/>
          <p:nvPr/>
        </p:nvSpPr>
        <p:spPr>
          <a:xfrm rot="0" flipH="false" flipV="false">
            <a:off x="762000" y="4508500"/>
            <a:ext cx="3378200" cy="1270000"/>
          </a:xfrm>
          <a:prstGeom prst="roundRect">
            <a:avLst>
              <a:gd name="adj" fmla="val 10000"/>
            </a:avLst>
          </a:prstGeom>
          <a:solidFill>
            <a:srgbClr val="FFFFFF">
              <a:alpha val="5000"/>
            </a:srgbClr>
          </a:solidFill>
          <a:ln w="12700" cmpd="sng" cap="flat">
            <a:solidFill>
              <a:srgbClr val="FFFFFF">
                <a:alpha val="10000"/>
              </a:srgbClr>
            </a:solidFill>
            <a:prstDash val="solid"/>
            <a:round/>
          </a:ln>
        </p:spPr>
        <p:txBody>
          <a:bodyPr anchor="ctr" rtlCol="false" vert="horz" wrap="square" lIns="63500" rIns="63500" tIns="63500" bIns="63500"/>
          <a:lstStyle/>
          <a:p>
            <a:pPr algn="ctr">
              <a:defRPr/>
            </a:pPr>
            <a:endParaRPr/>
          </a:p>
        </p:txBody>
      </p:sp>
      <p:pic>
        <p:nvPicPr>
          <p:cNvPr name="Picture 22" id="22"/>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952500" y="4699000"/>
            <a:ext cx="355600" cy="355600"/>
          </a:xfrm>
          <a:prstGeom prst="rect">
            <a:avLst/>
          </a:prstGeom>
        </p:spPr>
      </p:pic>
      <p:sp>
        <p:nvSpPr>
          <p:cNvPr name="AutoShape 23" id="23"/>
          <p:cNvSpPr/>
          <p:nvPr/>
        </p:nvSpPr>
        <p:spPr>
          <a:xfrm rot="0" flipH="false" flipV="false">
            <a:off x="1397000" y="4660900"/>
            <a:ext cx="2667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4. 检查服务器防火墙</a:t>
            </a:r>
            <a:endParaRPr lang="en-US" sz="1100"/>
          </a:p>
        </p:txBody>
      </p:sp>
      <p:sp>
        <p:nvSpPr>
          <p:cNvPr name="AutoShape 24" id="24"/>
          <p:cNvSpPr/>
          <p:nvPr/>
        </p:nvSpPr>
        <p:spPr>
          <a:xfrm rot="0" flipH="false" flipV="false">
            <a:off x="952500" y="5080000"/>
            <a:ext cx="29972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FFFFFF">
                    <a:alpha val="70196"/>
                  </a:srgbClr>
                </a:solidFill>
                <a:latin typeface="Noto Sans SC"/>
                <a:ea typeface="Noto Sans SC"/>
                <a:cs typeface="Noto Sans SC"/>
                <a:sym typeface="Noto Sans SC"/>
              </a:rPr>
              <a:t>确保服务器的防火墙策略已开放后端服务监听的端口。</a:t>
            </a:r>
            <a:endParaRPr lang="en-US" sz="1100"/>
          </a:p>
        </p:txBody>
      </p:sp>
      <p:sp>
        <p:nvSpPr>
          <p:cNvPr name="AutoShape 25" id="25"/>
          <p:cNvSpPr/>
          <p:nvPr/>
        </p:nvSpPr>
        <p:spPr>
          <a:xfrm rot="0" flipH="false" flipV="false">
            <a:off x="4394200" y="4508500"/>
            <a:ext cx="3378200" cy="1270000"/>
          </a:xfrm>
          <a:prstGeom prst="roundRect">
            <a:avLst>
              <a:gd name="adj" fmla="val 10000"/>
            </a:avLst>
          </a:prstGeom>
          <a:solidFill>
            <a:srgbClr val="FFFFFF">
              <a:alpha val="5000"/>
            </a:srgbClr>
          </a:solidFill>
          <a:ln w="12700" cmpd="sng" cap="flat">
            <a:solidFill>
              <a:srgbClr val="FFFFFF">
                <a:alpha val="10000"/>
              </a:srgbClr>
            </a:solidFill>
            <a:prstDash val="solid"/>
            <a:round/>
          </a:ln>
        </p:spPr>
        <p:txBody>
          <a:bodyPr anchor="ctr" rtlCol="false" vert="horz" wrap="square" lIns="63500" rIns="63500" tIns="63500" bIns="63500"/>
          <a:lstStyle/>
          <a:p>
            <a:pPr algn="ctr">
              <a:defRPr/>
            </a:pPr>
            <a:endParaRPr/>
          </a:p>
        </p:txBody>
      </p:sp>
      <p:pic>
        <p:nvPicPr>
          <p:cNvPr name="Picture 26" id="26"/>
          <p:cNvPicPr>
            <a:picLocks noChangeAspect="true"/>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0" flipH="false" flipV="false">
            <a:off x="4584700" y="4699000"/>
            <a:ext cx="355600" cy="355600"/>
          </a:xfrm>
          <a:prstGeom prst="rect">
            <a:avLst/>
          </a:prstGeom>
        </p:spPr>
      </p:pic>
      <p:sp>
        <p:nvSpPr>
          <p:cNvPr name="AutoShape 27" id="27"/>
          <p:cNvSpPr/>
          <p:nvPr/>
        </p:nvSpPr>
        <p:spPr>
          <a:xfrm rot="0" flipH="false" flipV="false">
            <a:off x="5029200" y="4660900"/>
            <a:ext cx="2667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5. 查看日志</a:t>
            </a:r>
            <a:endParaRPr lang="en-US" sz="1100"/>
          </a:p>
        </p:txBody>
      </p:sp>
      <p:sp>
        <p:nvSpPr>
          <p:cNvPr name="AutoShape 28" id="28"/>
          <p:cNvSpPr/>
          <p:nvPr/>
        </p:nvSpPr>
        <p:spPr>
          <a:xfrm rot="0" flipH="false" flipV="false">
            <a:off x="4584700" y="5080000"/>
            <a:ext cx="29972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FFFFFF">
                    <a:alpha val="70196"/>
                  </a:srgbClr>
                </a:solidFill>
                <a:latin typeface="Noto Sans SC"/>
                <a:ea typeface="Noto Sans SC"/>
                <a:cs typeface="Noto Sans SC"/>
                <a:sym typeface="Noto Sans SC"/>
              </a:rPr>
              <a:t>查看前端控制台和后端服务器日志，寻找具体的错误堆栈信息。</a:t>
            </a:r>
            <a:endParaRPr lang="en-US" sz="1100"/>
          </a:p>
        </p:txBody>
      </p:sp>
      <p:sp>
        <p:nvSpPr>
          <p:cNvPr name="AutoShape 29" id="29"/>
          <p:cNvSpPr/>
          <p:nvPr/>
        </p:nvSpPr>
        <p:spPr>
          <a:xfrm rot="0" flipH="false" flipV="false">
            <a:off x="8026400" y="4508500"/>
            <a:ext cx="3378200" cy="1270000"/>
          </a:xfrm>
          <a:prstGeom prst="roundRect">
            <a:avLst>
              <a:gd name="adj" fmla="val 10000"/>
            </a:avLst>
          </a:prstGeom>
          <a:solidFill>
            <a:srgbClr val="E6E6FA">
              <a:alpha val="15000"/>
            </a:srgbClr>
          </a:solidFill>
          <a:ln w="12700" cmpd="sng" cap="flat">
            <a:solidFill>
              <a:srgbClr val="E6E6FA">
                <a:alpha val="30000"/>
              </a:srgbClr>
            </a:solidFill>
            <a:prstDash val="solid"/>
            <a:round/>
          </a:ln>
        </p:spPr>
        <p:txBody>
          <a:bodyPr anchor="ctr" rtlCol="false" vert="horz" wrap="square" lIns="63500" rIns="63500" tIns="63500" bIns="63500"/>
          <a:lstStyle/>
          <a:p>
            <a:pPr algn="ctr">
              <a:defRPr/>
            </a:pPr>
            <a:endParaRPr/>
          </a:p>
        </p:txBody>
      </p:sp>
      <p:pic>
        <p:nvPicPr>
          <p:cNvPr name="Picture 30" id="30"/>
          <p:cNvPicPr>
            <a:picLocks noChangeAspect="true"/>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rot="0" flipH="false" flipV="false">
            <a:off x="8216900" y="4699000"/>
            <a:ext cx="355600" cy="355600"/>
          </a:xfrm>
          <a:prstGeom prst="rect">
            <a:avLst/>
          </a:prstGeom>
        </p:spPr>
      </p:pic>
      <p:sp>
        <p:nvSpPr>
          <p:cNvPr name="AutoShape 31" id="31"/>
          <p:cNvSpPr/>
          <p:nvPr/>
        </p:nvSpPr>
        <p:spPr>
          <a:xfrm rot="0" flipH="false" flipV="false">
            <a:off x="8661400" y="4660900"/>
            <a:ext cx="2667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E6E6FA"/>
                </a:solidFill>
                <a:latin typeface="Noto Sans SC"/>
                <a:ea typeface="Noto Sans SC"/>
                <a:cs typeface="Noto Sans SC"/>
                <a:sym typeface="Noto Sans SC"/>
              </a:rPr>
              <a:t>行动指令</a:t>
            </a:r>
            <a:endParaRPr lang="en-US" sz="1100"/>
          </a:p>
        </p:txBody>
      </p:sp>
      <p:sp>
        <p:nvSpPr>
          <p:cNvPr name="AutoShape 32" id="32"/>
          <p:cNvSpPr/>
          <p:nvPr/>
        </p:nvSpPr>
        <p:spPr>
          <a:xfrm rot="0" flipH="false" flipV="false">
            <a:off x="8216900" y="5080000"/>
            <a:ext cx="29972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FFFFFF">
                    <a:alpha val="90196"/>
                  </a:srgbClr>
                </a:solidFill>
                <a:latin typeface="Noto Sans SC"/>
                <a:ea typeface="Noto Sans SC"/>
                <a:cs typeface="Noto Sans SC"/>
                <a:sym typeface="Noto Sans SC"/>
              </a:rPr>
              <a:t>学习网络问题排查方法，遇到类似问题时能快速定位解决。</a:t>
            </a:r>
            <a:endParaRPr lang="en-US" sz="1100"/>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000000">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1428">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508000"/>
            <a:ext cx="105664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常见联调问题与排查方法（二）：数据格式问题</a:t>
            </a:r>
            <a:endParaRPr lang="en-US" sz="1100"/>
          </a:p>
        </p:txBody>
      </p:sp>
      <p:sp>
        <p:nvSpPr>
          <p:cNvPr name="AutoShape 5" id="5"/>
          <p:cNvSpPr/>
          <p:nvPr/>
        </p:nvSpPr>
        <p:spPr>
          <a:xfrm rot="0" flipH="false" flipV="false">
            <a:off x="762000" y="1397000"/>
            <a:ext cx="10668000" cy="889000"/>
          </a:xfrm>
          <a:prstGeom prst="roundRect">
            <a:avLst>
              <a:gd name="adj" fmla="val 14285"/>
            </a:avLst>
          </a:prstGeom>
          <a:solidFill>
            <a:srgbClr val="FFB6C1">
              <a:alpha val="15000"/>
            </a:srgbClr>
          </a:solidFill>
          <a:ln w="12700" cmpd="sng" cap="flat">
            <a:solidFill>
              <a:srgbClr val="FFB6C1">
                <a:alpha val="5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1638300"/>
            <a:ext cx="406400" cy="406400"/>
          </a:xfrm>
          <a:prstGeom prst="rect">
            <a:avLst/>
          </a:prstGeom>
        </p:spPr>
      </p:pic>
      <p:sp>
        <p:nvSpPr>
          <p:cNvPr name="AutoShape 7" id="7"/>
          <p:cNvSpPr/>
          <p:nvPr/>
        </p:nvSpPr>
        <p:spPr>
          <a:xfrm rot="0" flipH="false" flipV="false">
            <a:off x="1524000" y="1524000"/>
            <a:ext cx="9652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B6C1"/>
                </a:solidFill>
                <a:latin typeface="Noto Sans SC"/>
                <a:ea typeface="Noto Sans SC"/>
                <a:cs typeface="Noto Sans SC"/>
                <a:sym typeface="Noto Sans SC"/>
              </a:rPr>
              <a:t>问题现象：</a:t>
            </a:r>
            <a:r>
              <a:rPr lang="en-US" b="false" i="false" strike="noStrike" u="none" sz="1600">
                <a:solidFill>
                  <a:srgbClr val="FFFFFF"/>
                </a:solidFill>
                <a:latin typeface="Noto Sans SC"/>
                <a:ea typeface="Noto Sans SC"/>
                <a:cs typeface="Noto Sans SC"/>
                <a:sym typeface="Noto Sans SC"/>
              </a:rPr>
              <a:t>前端接收到的数据格式不正确，导致解析失败，或显示的数据与预期不符。</a:t>
            </a:r>
            <a:endParaRPr lang="en-US" sz="1100"/>
          </a:p>
        </p:txBody>
      </p:sp>
      <p:sp>
        <p:nvSpPr>
          <p:cNvPr name="AutoShape 8" id="8"/>
          <p:cNvSpPr/>
          <p:nvPr/>
        </p:nvSpPr>
        <p:spPr>
          <a:xfrm rot="0" flipH="false" flipV="false">
            <a:off x="762000" y="2476500"/>
            <a:ext cx="1066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00BFFF"/>
                </a:solidFill>
                <a:latin typeface="Noto Sans SC"/>
                <a:ea typeface="Noto Sans SC"/>
                <a:cs typeface="Noto Sans SC"/>
                <a:sym typeface="Noto Sans SC"/>
              </a:rPr>
              <a:t>排查方法</a:t>
            </a:r>
            <a:endParaRPr lang="en-US" sz="1100"/>
          </a:p>
        </p:txBody>
      </p:sp>
      <p:sp>
        <p:nvSpPr>
          <p:cNvPr name="AutoShape 9" id="9"/>
          <p:cNvSpPr/>
          <p:nvPr/>
        </p:nvSpPr>
        <p:spPr>
          <a:xfrm rot="0" flipH="false" flipV="false">
            <a:off x="762000" y="2984500"/>
            <a:ext cx="5207000" cy="1143000"/>
          </a:xfrm>
          <a:prstGeom prst="roundRect">
            <a:avLst>
              <a:gd name="adj" fmla="val 11111"/>
            </a:avLst>
          </a:prstGeom>
          <a:solidFill>
            <a:srgbClr val="E6E6FA">
              <a:alpha val="10000"/>
            </a:srgbClr>
          </a:solidFill>
          <a:ln w="12700" cmpd="sng" cap="flat">
            <a:solidFill>
              <a:srgbClr val="E6E6FA">
                <a:alpha val="3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1016000" y="3327400"/>
            <a:ext cx="457200" cy="457200"/>
          </a:xfrm>
          <a:prstGeom prst="rect">
            <a:avLst/>
          </a:prstGeom>
        </p:spPr>
      </p:pic>
      <p:sp>
        <p:nvSpPr>
          <p:cNvPr name="AutoShape 11" id="11"/>
          <p:cNvSpPr/>
          <p:nvPr/>
        </p:nvSpPr>
        <p:spPr>
          <a:xfrm rot="0" flipH="false" flipV="false">
            <a:off x="1587500" y="3111500"/>
            <a:ext cx="4191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00BFFF"/>
                </a:solidFill>
                <a:latin typeface="Noto Sans SC"/>
                <a:ea typeface="Noto Sans SC"/>
                <a:cs typeface="Noto Sans SC"/>
                <a:sym typeface="Noto Sans SC"/>
              </a:rPr>
              <a:t>检查接口文档</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300">
                <a:solidFill>
                  <a:srgbClr val="DCDCDC"/>
                </a:solidFill>
                <a:latin typeface="Noto Sans SC"/>
                <a:ea typeface="Noto Sans SC"/>
                <a:cs typeface="Noto Sans SC"/>
                <a:sym typeface="Noto Sans SC"/>
              </a:rPr>
              <a:t>确认后端返回的JSON格式、字段名称及数据类型是否符合约定。</a:t>
            </a:r>
          </a:p>
        </p:txBody>
      </p:sp>
      <p:sp>
        <p:nvSpPr>
          <p:cNvPr name="AutoShape 12" id="12"/>
          <p:cNvSpPr/>
          <p:nvPr/>
        </p:nvSpPr>
        <p:spPr>
          <a:xfrm rot="0" flipH="false" flipV="false">
            <a:off x="6223000" y="2984500"/>
            <a:ext cx="5207000" cy="1143000"/>
          </a:xfrm>
          <a:prstGeom prst="roundRect">
            <a:avLst>
              <a:gd name="adj" fmla="val 11111"/>
            </a:avLst>
          </a:prstGeom>
          <a:solidFill>
            <a:srgbClr val="E6E6FA">
              <a:alpha val="10000"/>
            </a:srgbClr>
          </a:solidFill>
          <a:ln w="12700" cmpd="sng" cap="flat">
            <a:solidFill>
              <a:srgbClr val="E6E6FA">
                <a:alpha val="30000"/>
              </a:srgbClr>
            </a:solid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6477000" y="3327400"/>
            <a:ext cx="457200" cy="457200"/>
          </a:xfrm>
          <a:prstGeom prst="rect">
            <a:avLst/>
          </a:prstGeom>
        </p:spPr>
      </p:pic>
      <p:sp>
        <p:nvSpPr>
          <p:cNvPr name="AutoShape 14" id="14"/>
          <p:cNvSpPr/>
          <p:nvPr/>
        </p:nvSpPr>
        <p:spPr>
          <a:xfrm rot="0" flipH="false" flipV="false">
            <a:off x="7048500" y="3111500"/>
            <a:ext cx="4191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00BFFF"/>
                </a:solidFill>
                <a:latin typeface="Noto Sans SC"/>
                <a:ea typeface="Noto Sans SC"/>
                <a:cs typeface="Noto Sans SC"/>
                <a:sym typeface="Noto Sans SC"/>
              </a:rPr>
              <a:t>检查前端解析逻辑</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300">
                <a:solidFill>
                  <a:srgbClr val="DCDCDC"/>
                </a:solidFill>
                <a:latin typeface="Noto Sans SC"/>
                <a:ea typeface="Noto Sans SC"/>
                <a:cs typeface="Noto Sans SC"/>
                <a:sym typeface="Noto Sans SC"/>
              </a:rPr>
              <a:t>确认前端代码是否能正确处理后端返回的数据结构，无逻辑错误。</a:t>
            </a:r>
          </a:p>
        </p:txBody>
      </p:sp>
      <p:sp>
        <p:nvSpPr>
          <p:cNvPr name="AutoShape 15" id="15"/>
          <p:cNvSpPr/>
          <p:nvPr/>
        </p:nvSpPr>
        <p:spPr>
          <a:xfrm rot="0" flipH="false" flipV="false">
            <a:off x="762000" y="4254500"/>
            <a:ext cx="5207000" cy="1143000"/>
          </a:xfrm>
          <a:prstGeom prst="roundRect">
            <a:avLst>
              <a:gd name="adj" fmla="val 11111"/>
            </a:avLst>
          </a:prstGeom>
          <a:solidFill>
            <a:srgbClr val="E6E6FA">
              <a:alpha val="10000"/>
            </a:srgbClr>
          </a:solidFill>
          <a:ln w="12700" cmpd="sng" cap="flat">
            <a:solidFill>
              <a:srgbClr val="E6E6FA">
                <a:alpha val="30000"/>
              </a:srgbClr>
            </a:solid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1016000" y="4597400"/>
            <a:ext cx="457200" cy="457200"/>
          </a:xfrm>
          <a:prstGeom prst="rect">
            <a:avLst/>
          </a:prstGeom>
        </p:spPr>
      </p:pic>
      <p:sp>
        <p:nvSpPr>
          <p:cNvPr name="AutoShape 17" id="17"/>
          <p:cNvSpPr/>
          <p:nvPr/>
        </p:nvSpPr>
        <p:spPr>
          <a:xfrm rot="0" flipH="false" flipV="false">
            <a:off x="1587500" y="4381500"/>
            <a:ext cx="4191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00BFFF"/>
                </a:solidFill>
                <a:latin typeface="Noto Sans SC"/>
                <a:ea typeface="Noto Sans SC"/>
                <a:cs typeface="Noto Sans SC"/>
                <a:sym typeface="Noto Sans SC"/>
              </a:rPr>
              <a:t>抓包分析</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300">
                <a:solidFill>
                  <a:srgbClr val="DCDCDC"/>
                </a:solidFill>
                <a:latin typeface="Noto Sans SC"/>
                <a:ea typeface="Noto Sans SC"/>
                <a:cs typeface="Noto Sans SC"/>
                <a:sym typeface="Noto Sans SC"/>
              </a:rPr>
              <a:t>使用浏览器Network面板或Charles查看请求/响应的详细信息。</a:t>
            </a:r>
          </a:p>
        </p:txBody>
      </p:sp>
      <p:sp>
        <p:nvSpPr>
          <p:cNvPr name="AutoShape 18" id="18"/>
          <p:cNvSpPr/>
          <p:nvPr/>
        </p:nvSpPr>
        <p:spPr>
          <a:xfrm rot="0" flipH="false" flipV="false">
            <a:off x="6223000" y="4254500"/>
            <a:ext cx="5207000" cy="1143000"/>
          </a:xfrm>
          <a:prstGeom prst="roundRect">
            <a:avLst>
              <a:gd name="adj" fmla="val 11111"/>
            </a:avLst>
          </a:prstGeom>
          <a:solidFill>
            <a:srgbClr val="E6E6FA">
              <a:alpha val="10000"/>
            </a:srgbClr>
          </a:solidFill>
          <a:ln w="12700" cmpd="sng" cap="flat">
            <a:solidFill>
              <a:srgbClr val="E6E6FA">
                <a:alpha val="30000"/>
              </a:srgbClr>
            </a:solidFill>
            <a:prstDash val="solid"/>
            <a:round/>
          </a:ln>
        </p:spPr>
        <p:txBody>
          <a:bodyPr anchor="ctr" rtlCol="false" vert="horz" wrap="square" lIns="63500" rIns="63500" tIns="63500" bIns="63500"/>
          <a:lstStyle/>
          <a:p>
            <a:pPr algn="ctr">
              <a:defRPr/>
            </a:pPr>
            <a:endParaRPr/>
          </a:p>
        </p:txBody>
      </p:sp>
      <p:pic>
        <p:nvPicPr>
          <p:cNvPr name="Picture 19" id="19"/>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6477000" y="4597400"/>
            <a:ext cx="457200" cy="457200"/>
          </a:xfrm>
          <a:prstGeom prst="rect">
            <a:avLst/>
          </a:prstGeom>
        </p:spPr>
      </p:pic>
      <p:sp>
        <p:nvSpPr>
          <p:cNvPr name="AutoShape 20" id="20"/>
          <p:cNvSpPr/>
          <p:nvPr/>
        </p:nvSpPr>
        <p:spPr>
          <a:xfrm rot="0" flipH="false" flipV="false">
            <a:off x="7048500" y="4381500"/>
            <a:ext cx="4191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00BFFF"/>
                </a:solidFill>
                <a:latin typeface="Noto Sans SC"/>
                <a:ea typeface="Noto Sans SC"/>
                <a:cs typeface="Noto Sans SC"/>
                <a:sym typeface="Noto Sans SC"/>
              </a:rPr>
              <a:t>数据类型转换</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300">
                <a:solidFill>
                  <a:srgbClr val="DCDCDC"/>
                </a:solidFill>
                <a:latin typeface="Noto Sans SC"/>
                <a:ea typeface="Noto Sans SC"/>
                <a:cs typeface="Noto Sans SC"/>
                <a:sym typeface="Noto Sans SC"/>
              </a:rPr>
              <a:t>确保前后端数据类型（如数字/字符串）处理一致，避免不匹配。</a:t>
            </a:r>
          </a:p>
        </p:txBody>
      </p:sp>
      <p:sp>
        <p:nvSpPr>
          <p:cNvPr name="AutoShape 21" id="21"/>
          <p:cNvSpPr/>
          <p:nvPr/>
        </p:nvSpPr>
        <p:spPr>
          <a:xfrm rot="0" flipH="false" flipV="false">
            <a:off x="762000" y="5588000"/>
            <a:ext cx="10668000" cy="635000"/>
          </a:xfrm>
          <a:prstGeom prst="roundRect">
            <a:avLst>
              <a:gd name="adj" fmla="val 20000"/>
            </a:avLst>
          </a:prstGeom>
          <a:solidFill>
            <a:srgbClr val="00BFFF">
              <a:alpha val="15000"/>
            </a:srgbClr>
          </a:solidFill>
          <a:ln w="12700" cmpd="sng" cap="flat">
            <a:solidFill>
              <a:srgbClr val="00BFFF">
                <a:alpha val="50000"/>
              </a:srgbClr>
            </a:solidFill>
            <a:prstDash val="solid"/>
            <a:round/>
          </a:ln>
        </p:spPr>
        <p:txBody>
          <a:bodyPr anchor="ctr" rtlCol="false" vert="horz" wrap="square" lIns="63500" rIns="63500" tIns="63500" bIns="63500"/>
          <a:lstStyle/>
          <a:p>
            <a:pPr algn="ctr">
              <a:defRPr/>
            </a:pPr>
            <a:endParaRPr/>
          </a:p>
        </p:txBody>
      </p:sp>
      <p:pic>
        <p:nvPicPr>
          <p:cNvPr name="Picture 22" id="22"/>
          <p:cNvPicPr>
            <a:picLocks noChangeAspect="true"/>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0" flipH="false" flipV="false">
            <a:off x="1016000" y="5753100"/>
            <a:ext cx="304800" cy="304800"/>
          </a:xfrm>
          <a:prstGeom prst="rect">
            <a:avLst/>
          </a:prstGeom>
        </p:spPr>
      </p:pic>
      <p:sp>
        <p:nvSpPr>
          <p:cNvPr name="AutoShape 23" id="23"/>
          <p:cNvSpPr/>
          <p:nvPr/>
        </p:nvSpPr>
        <p:spPr>
          <a:xfrm rot="0" flipH="false" flipV="false">
            <a:off x="1460500" y="5715000"/>
            <a:ext cx="965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500">
                <a:solidFill>
                  <a:srgbClr val="FFFFFF"/>
                </a:solidFill>
                <a:latin typeface="Noto Sans SC"/>
                <a:ea typeface="Noto Sans SC"/>
                <a:cs typeface="Noto Sans SC"/>
                <a:sym typeface="Noto Sans SC"/>
              </a:rPr>
              <a:t>行动指令：</a:t>
            </a:r>
            <a:r>
              <a:rPr lang="en-US" b="false" i="false" strike="noStrike" u="none" sz="1500">
                <a:solidFill>
                  <a:srgbClr val="DCDCDC"/>
                </a:solidFill>
                <a:latin typeface="Noto Sans SC"/>
                <a:ea typeface="Noto Sans SC"/>
                <a:cs typeface="Noto Sans SC"/>
                <a:sym typeface="Noto Sans SC"/>
              </a:rPr>
              <a:t>请大家学习数据格式问题的排查方法，并在遇到类似问题时能够快速定位和解决。</a:t>
            </a:r>
            <a:endParaRPr lang="en-US" sz="1100"/>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0A192F">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B162C">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0" y="0"/>
            <a:ext cx="12192000" cy="50800"/>
          </a:xfrm>
          <a:prstGeom prst="roundRect">
            <a:avLst>
              <a:gd name="adj" fmla="val 0"/>
            </a:avLst>
          </a:prstGeom>
          <a:gradFill rotWithShape="true">
            <a:gsLst>
              <a:gs pos="0">
                <a:srgbClr val="00BFFF">
                  <a:alpha val="100000"/>
                </a:srgbClr>
              </a:gs>
              <a:gs pos="100000">
                <a:srgbClr val="E6E6FA">
                  <a:alpha val="100000"/>
                </a:srgbClr>
              </a:gs>
            </a:gsLst>
            <a:lin ang="0"/>
          </a:gradFill>
          <a:ln w="25400" cmpd="sng" cap="flat">
            <a:no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5791200" y="1524000"/>
            <a:ext cx="609600" cy="609600"/>
          </a:xfrm>
          <a:prstGeom prst="rect">
            <a:avLst/>
          </a:prstGeom>
          <a:effectLst>
            <a:outerShdw dir="2700000" dist="0" blurRad="127000" algn="tl" rotWithShape="false">
              <a:srgbClr val="00BFFF">
                <a:alpha val="50000"/>
              </a:srgbClr>
            </a:outerShdw>
          </a:effectLst>
        </p:spPr>
      </p:pic>
      <p:sp>
        <p:nvSpPr>
          <p:cNvPr name="AutoShape 6" id="6"/>
          <p:cNvSpPr/>
          <p:nvPr/>
        </p:nvSpPr>
        <p:spPr>
          <a:xfrm rot="0" flipH="false" flipV="false">
            <a:off x="508000" y="2286000"/>
            <a:ext cx="11176000" cy="635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true" i="false" strike="noStrike" u="none" sz="3200">
                <a:solidFill>
                  <a:srgbClr val="FFFFFF"/>
                </a:solidFill>
                <a:latin typeface="Noto Sans SC"/>
                <a:ea typeface="Noto Sans SC"/>
                <a:cs typeface="Noto Sans SC"/>
                <a:sym typeface="Noto Sans SC"/>
              </a:rPr>
              <a:t>模块五：项目性能优化与用户体验提升</a:t>
            </a:r>
            <a:endParaRPr lang="en-US" sz="1100"/>
          </a:p>
        </p:txBody>
      </p:sp>
      <p:cxnSp>
        <p:nvCxnSpPr>
          <p:cNvPr name="Connector 7" id="7"/>
          <p:cNvCxnSpPr/>
          <p:nvPr/>
        </p:nvCxnSpPr>
        <p:spPr>
          <a:xfrm rot="-17188" flipH="false" flipV="false">
            <a:off x="4826016" y="3105150"/>
            <a:ext cx="2540000" cy="12700"/>
          </a:xfrm>
          <a:prstGeom prst="straightConnector1">
            <a:avLst/>
          </a:prstGeom>
          <a:solidFill>
            <a:srgbClr val="DEE0E3">
              <a:alpha val="100000"/>
            </a:srgbClr>
          </a:solidFill>
          <a:ln w="12700" cmpd="sng" cap="flat">
            <a:solidFill>
              <a:srgbClr val="FFB6C1">
                <a:alpha val="60000"/>
              </a:srgbClr>
            </a:solidFill>
            <a:prstDash val="solid"/>
            <a:round/>
            <a:headEnd type="none" w="med" len="med"/>
            <a:tailEnd type="none" w="med" len="med"/>
          </a:ln>
        </p:spPr>
      </p:cxnSp>
      <p:sp>
        <p:nvSpPr>
          <p:cNvPr name="AutoShape 8" id="8"/>
          <p:cNvSpPr/>
          <p:nvPr/>
        </p:nvSpPr>
        <p:spPr>
          <a:xfrm rot="0" flipH="false" flipV="false">
            <a:off x="1016000" y="3302000"/>
            <a:ext cx="10160000" cy="508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false" i="false" strike="noStrike" u="none" sz="2000">
                <a:solidFill>
                  <a:srgbClr val="FFB6C1"/>
                </a:solidFill>
                <a:latin typeface="Noto Sans SC"/>
                <a:ea typeface="Noto Sans SC"/>
                <a:cs typeface="Noto Sans SC"/>
                <a:sym typeface="Noto Sans SC"/>
              </a:rPr>
              <a:t>打造流畅、高效的用户体验</a:t>
            </a:r>
            <a:endParaRPr lang="en-US" sz="1100"/>
          </a:p>
        </p:txBody>
      </p:sp>
      <p:sp>
        <p:nvSpPr>
          <p:cNvPr name="AutoShape 9" id="9"/>
          <p:cNvSpPr/>
          <p:nvPr/>
        </p:nvSpPr>
        <p:spPr>
          <a:xfrm rot="0" flipH="false" flipV="false">
            <a:off x="6057900" y="6096000"/>
            <a:ext cx="76200" cy="76200"/>
          </a:xfrm>
          <a:prstGeom prst="roundRect">
            <a:avLst>
              <a:gd name="adj" fmla="val 0"/>
            </a:avLst>
          </a:prstGeom>
          <a:solidFill>
            <a:srgbClr val="00BFF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5842000" y="6096000"/>
            <a:ext cx="76200" cy="76200"/>
          </a:xfrm>
          <a:prstGeom prst="roundRect">
            <a:avLst>
              <a:gd name="adj" fmla="val 0"/>
            </a:avLst>
          </a:prstGeom>
          <a:solidFill>
            <a:srgbClr val="00BFFF">
              <a:alpha val="5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6273800" y="6096000"/>
            <a:ext cx="76200" cy="76200"/>
          </a:xfrm>
          <a:prstGeom prst="roundRect">
            <a:avLst>
              <a:gd name="adj" fmla="val 0"/>
            </a:avLst>
          </a:prstGeom>
          <a:solidFill>
            <a:srgbClr val="00BFFF">
              <a:alpha val="50000"/>
            </a:srgbClr>
          </a:solidFill>
          <a:ln w="25400" cmpd="sng" cap="flat">
            <a:noFill/>
            <a:prstDash val="solid"/>
            <a:round/>
          </a:ln>
        </p:spPr>
        <p:txBody>
          <a:bodyPr anchor="ctr" rtlCol="false" vert="horz" wrap="square" lIns="63500" rIns="63500" tIns="63500" bIns="63500"/>
          <a:lstStyle/>
          <a:p>
            <a:pPr algn="ctr">
              <a:defRPr/>
            </a:pPr>
            <a:endParaRP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0A192F">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192F">
              <a:alpha val="9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508000"/>
            <a:ext cx="4025900" cy="5842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前端性能优化策略</a:t>
            </a:r>
            <a:endParaRPr lang="en-US" sz="1100"/>
          </a:p>
        </p:txBody>
      </p:sp>
      <p:sp>
        <p:nvSpPr>
          <p:cNvPr name="AutoShape 5" id="5"/>
          <p:cNvSpPr/>
          <p:nvPr/>
        </p:nvSpPr>
        <p:spPr>
          <a:xfrm rot="0" flipH="false" flipV="false">
            <a:off x="762000" y="1397000"/>
            <a:ext cx="5080000" cy="1524000"/>
          </a:xfrm>
          <a:prstGeom prst="roundRect">
            <a:avLst>
              <a:gd name="adj" fmla="val 8333"/>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1587500"/>
            <a:ext cx="406400" cy="406400"/>
          </a:xfrm>
          <a:prstGeom prst="rect">
            <a:avLst/>
          </a:prstGeom>
        </p:spPr>
      </p:pic>
      <p:sp>
        <p:nvSpPr>
          <p:cNvPr name="AutoShape 7" id="7"/>
          <p:cNvSpPr/>
          <p:nvPr/>
        </p:nvSpPr>
        <p:spPr>
          <a:xfrm rot="0" flipH="false" flipV="false">
            <a:off x="1524000" y="1549400"/>
            <a:ext cx="4191000" cy="355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图片优化</a:t>
            </a:r>
            <a:endParaRPr lang="en-US" sz="1100"/>
          </a:p>
        </p:txBody>
      </p:sp>
      <p:sp>
        <p:nvSpPr>
          <p:cNvPr name="AutoShape 8" id="8"/>
          <p:cNvSpPr/>
          <p:nvPr/>
        </p:nvSpPr>
        <p:spPr>
          <a:xfrm rot="0" flipH="false" flipV="false">
            <a:off x="1524000" y="1930400"/>
            <a:ext cx="4191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300">
                <a:solidFill>
                  <a:srgbClr val="FFFFFF">
                    <a:alpha val="80000"/>
                  </a:srgbClr>
                </a:solidFill>
                <a:latin typeface="Noto Sans SC"/>
                <a:ea typeface="Noto Sans SC"/>
                <a:cs typeface="Noto Sans SC"/>
                <a:sym typeface="Noto Sans SC"/>
              </a:rPr>
              <a:t>• 采用WebP/AVIF格式，配合压缩减小体积</a:t>
            </a:r>
            <a:r>
              <a:rPr lang="en-US" b="false" i="false" strike="noStrike" u="none" sz="1300">
                <a:solidFill>
                  <a:srgbClr val="FFFFFF">
                    <a:alpha val="80000"/>
                  </a:srgbClr>
                </a:solidFill>
                <a:latin typeface="Noto Sans SC"/>
                <a:ea typeface="Noto Sans SC"/>
                <a:cs typeface="Noto Sans SC"/>
                <a:sym typeface="Noto Sans SC"/>
              </a:rPr>
              <a:t/>
            </a:r>
            <a:endParaRPr lang="en-US" sz="1100"/>
          </a:p>
          <a:p>
            <a:pPr algn="l" indent="0">
              <a:lnSpc>
                <a:spcPct val="100000"/>
              </a:lnSpc>
            </a:pPr>
            <a:r>
              <a:rPr lang="en-US" b="false" i="false" strike="noStrike" u="none" sz="1300">
                <a:solidFill>
                  <a:srgbClr val="FFFFFF">
                    <a:alpha val="80000"/>
                  </a:srgbClr>
                </a:solidFill>
                <a:latin typeface="Noto Sans SC"/>
                <a:ea typeface="Noto Sans SC"/>
                <a:cs typeface="Noto Sans SC"/>
                <a:sym typeface="Noto Sans SC"/>
              </a:rPr>
              <a:t>• 实施懒加载，仅加载视口内图片</a:t>
            </a:r>
          </a:p>
        </p:txBody>
      </p:sp>
      <p:sp>
        <p:nvSpPr>
          <p:cNvPr name="AutoShape 9" id="9"/>
          <p:cNvSpPr/>
          <p:nvPr/>
        </p:nvSpPr>
        <p:spPr>
          <a:xfrm rot="0" flipH="false" flipV="false">
            <a:off x="6350000" y="1397000"/>
            <a:ext cx="5080000" cy="1524000"/>
          </a:xfrm>
          <a:prstGeom prst="roundRect">
            <a:avLst>
              <a:gd name="adj" fmla="val 8333"/>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604000" y="1587500"/>
            <a:ext cx="406400" cy="406400"/>
          </a:xfrm>
          <a:prstGeom prst="rect">
            <a:avLst/>
          </a:prstGeom>
        </p:spPr>
      </p:pic>
      <p:sp>
        <p:nvSpPr>
          <p:cNvPr name="AutoShape 11" id="11"/>
          <p:cNvSpPr/>
          <p:nvPr/>
        </p:nvSpPr>
        <p:spPr>
          <a:xfrm rot="0" flipH="false" flipV="false">
            <a:off x="7112000" y="1549400"/>
            <a:ext cx="4191000" cy="355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代码优化</a:t>
            </a:r>
            <a:endParaRPr lang="en-US" sz="1100"/>
          </a:p>
        </p:txBody>
      </p:sp>
      <p:sp>
        <p:nvSpPr>
          <p:cNvPr name="AutoShape 12" id="12"/>
          <p:cNvSpPr/>
          <p:nvPr/>
        </p:nvSpPr>
        <p:spPr>
          <a:xfrm rot="0" flipH="false" flipV="false">
            <a:off x="7112000" y="1930400"/>
            <a:ext cx="4191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300">
                <a:solidFill>
                  <a:srgbClr val="FFFFFF">
                    <a:alpha val="80000"/>
                  </a:srgbClr>
                </a:solidFill>
                <a:latin typeface="Noto Sans SC"/>
                <a:ea typeface="Noto Sans SC"/>
                <a:cs typeface="Noto Sans SC"/>
                <a:sym typeface="Noto Sans SC"/>
              </a:rPr>
              <a:t>• 压缩JS/CSS代码，合并文件减少请求</a:t>
            </a:r>
            <a:r>
              <a:rPr lang="en-US" b="false" i="false" strike="noStrike" u="none" sz="1300">
                <a:solidFill>
                  <a:srgbClr val="FFFFFF">
                    <a:alpha val="80000"/>
                  </a:srgbClr>
                </a:solidFill>
                <a:latin typeface="Noto Sans SC"/>
                <a:ea typeface="Noto Sans SC"/>
                <a:cs typeface="Noto Sans SC"/>
                <a:sym typeface="Noto Sans SC"/>
              </a:rPr>
              <a:t/>
            </a:r>
            <a:endParaRPr lang="en-US" sz="1100"/>
          </a:p>
          <a:p>
            <a:pPr algn="l" indent="0">
              <a:lnSpc>
                <a:spcPct val="100000"/>
              </a:lnSpc>
            </a:pPr>
            <a:r>
              <a:rPr lang="en-US" b="false" i="false" strike="noStrike" u="none" sz="1300">
                <a:solidFill>
                  <a:srgbClr val="FFFFFF">
                    <a:alpha val="80000"/>
                  </a:srgbClr>
                </a:solidFill>
                <a:latin typeface="Noto Sans SC"/>
                <a:ea typeface="Noto Sans SC"/>
                <a:cs typeface="Noto Sans SC"/>
                <a:sym typeface="Noto Sans SC"/>
              </a:rPr>
              <a:t>• 利用CDN加速静态资源加载</a:t>
            </a:r>
          </a:p>
        </p:txBody>
      </p:sp>
      <p:sp>
        <p:nvSpPr>
          <p:cNvPr name="AutoShape 13" id="13"/>
          <p:cNvSpPr/>
          <p:nvPr/>
        </p:nvSpPr>
        <p:spPr>
          <a:xfrm rot="0" flipH="false" flipV="false">
            <a:off x="762000" y="3111500"/>
            <a:ext cx="5080000" cy="1524000"/>
          </a:xfrm>
          <a:prstGeom prst="roundRect">
            <a:avLst>
              <a:gd name="adj" fmla="val 8333"/>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016000" y="3302000"/>
            <a:ext cx="406400" cy="406400"/>
          </a:xfrm>
          <a:prstGeom prst="rect">
            <a:avLst/>
          </a:prstGeom>
        </p:spPr>
      </p:pic>
      <p:sp>
        <p:nvSpPr>
          <p:cNvPr name="AutoShape 15" id="15"/>
          <p:cNvSpPr/>
          <p:nvPr/>
        </p:nvSpPr>
        <p:spPr>
          <a:xfrm rot="0" flipH="false" flipV="false">
            <a:off x="1524000" y="3263900"/>
            <a:ext cx="4191000" cy="355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渲染优化</a:t>
            </a:r>
            <a:endParaRPr lang="en-US" sz="1100"/>
          </a:p>
        </p:txBody>
      </p:sp>
      <p:sp>
        <p:nvSpPr>
          <p:cNvPr name="AutoShape 16" id="16"/>
          <p:cNvSpPr/>
          <p:nvPr/>
        </p:nvSpPr>
        <p:spPr>
          <a:xfrm rot="0" flipH="false" flipV="false">
            <a:off x="1524000" y="3644900"/>
            <a:ext cx="4191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300">
                <a:solidFill>
                  <a:srgbClr val="FFFFFF">
                    <a:alpha val="80000"/>
                  </a:srgbClr>
                </a:solidFill>
                <a:latin typeface="Noto Sans SC"/>
                <a:ea typeface="Noto Sans SC"/>
                <a:cs typeface="Noto Sans SC"/>
                <a:sym typeface="Noto Sans SC"/>
              </a:rPr>
              <a:t>• 减少DOM操作，避免重排重绘</a:t>
            </a:r>
            <a:r>
              <a:rPr lang="en-US" b="false" i="false" strike="noStrike" u="none" sz="1300">
                <a:solidFill>
                  <a:srgbClr val="FFFFFF">
                    <a:alpha val="80000"/>
                  </a:srgbClr>
                </a:solidFill>
                <a:latin typeface="Noto Sans SC"/>
                <a:ea typeface="Noto Sans SC"/>
                <a:cs typeface="Noto Sans SC"/>
                <a:sym typeface="Noto Sans SC"/>
              </a:rPr>
              <a:t/>
            </a:r>
            <a:endParaRPr lang="en-US" sz="1100"/>
          </a:p>
          <a:p>
            <a:pPr algn="l" indent="0">
              <a:lnSpc>
                <a:spcPct val="100000"/>
              </a:lnSpc>
            </a:pPr>
            <a:r>
              <a:rPr lang="en-US" b="false" i="false" strike="noStrike" u="none" sz="1300">
                <a:solidFill>
                  <a:srgbClr val="FFFFFF">
                    <a:alpha val="80000"/>
                  </a:srgbClr>
                </a:solidFill>
                <a:latin typeface="Noto Sans SC"/>
                <a:ea typeface="Noto Sans SC"/>
                <a:cs typeface="Noto Sans SC"/>
                <a:sym typeface="Noto Sans SC"/>
              </a:rPr>
              <a:t>• 使用虚拟列表优化长列表渲染性能</a:t>
            </a:r>
          </a:p>
        </p:txBody>
      </p:sp>
      <p:sp>
        <p:nvSpPr>
          <p:cNvPr name="AutoShape 17" id="17"/>
          <p:cNvSpPr/>
          <p:nvPr/>
        </p:nvSpPr>
        <p:spPr>
          <a:xfrm rot="0" flipH="false" flipV="false">
            <a:off x="6350000" y="3111500"/>
            <a:ext cx="5080000" cy="1524000"/>
          </a:xfrm>
          <a:prstGeom prst="roundRect">
            <a:avLst>
              <a:gd name="adj" fmla="val 8333"/>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6604000" y="3302000"/>
            <a:ext cx="406400" cy="406400"/>
          </a:xfrm>
          <a:prstGeom prst="rect">
            <a:avLst/>
          </a:prstGeom>
        </p:spPr>
      </p:pic>
      <p:sp>
        <p:nvSpPr>
          <p:cNvPr name="AutoShape 19" id="19"/>
          <p:cNvSpPr/>
          <p:nvPr/>
        </p:nvSpPr>
        <p:spPr>
          <a:xfrm rot="0" flipH="false" flipV="false">
            <a:off x="7112000" y="3263900"/>
            <a:ext cx="4191000" cy="355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缓存策略</a:t>
            </a:r>
            <a:endParaRPr lang="en-US" sz="1100"/>
          </a:p>
        </p:txBody>
      </p:sp>
      <p:sp>
        <p:nvSpPr>
          <p:cNvPr name="AutoShape 20" id="20"/>
          <p:cNvSpPr/>
          <p:nvPr/>
        </p:nvSpPr>
        <p:spPr>
          <a:xfrm rot="0" flipH="false" flipV="false">
            <a:off x="7112000" y="3644900"/>
            <a:ext cx="4191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300">
                <a:solidFill>
                  <a:srgbClr val="FFFFFF">
                    <a:alpha val="80000"/>
                  </a:srgbClr>
                </a:solidFill>
                <a:latin typeface="Noto Sans SC"/>
                <a:ea typeface="Noto Sans SC"/>
                <a:cs typeface="Noto Sans SC"/>
                <a:sym typeface="Noto Sans SC"/>
              </a:rPr>
              <a:t>• 设置合理浏览器缓存，减少重复加载</a:t>
            </a:r>
            <a:r>
              <a:rPr lang="en-US" b="false" i="false" strike="noStrike" u="none" sz="1300">
                <a:solidFill>
                  <a:srgbClr val="FFFFFF">
                    <a:alpha val="80000"/>
                  </a:srgbClr>
                </a:solidFill>
                <a:latin typeface="Noto Sans SC"/>
                <a:ea typeface="Noto Sans SC"/>
                <a:cs typeface="Noto Sans SC"/>
                <a:sym typeface="Noto Sans SC"/>
              </a:rPr>
              <a:t/>
            </a:r>
            <a:endParaRPr lang="en-US" sz="1100"/>
          </a:p>
          <a:p>
            <a:pPr algn="l" indent="0">
              <a:lnSpc>
                <a:spcPct val="100000"/>
              </a:lnSpc>
            </a:pPr>
            <a:r>
              <a:rPr lang="en-US" b="false" i="false" strike="noStrike" u="none" sz="1300">
                <a:solidFill>
                  <a:srgbClr val="FFFFFF">
                    <a:alpha val="80000"/>
                  </a:srgbClr>
                </a:solidFill>
                <a:latin typeface="Noto Sans SC"/>
                <a:ea typeface="Noto Sans SC"/>
                <a:cs typeface="Noto Sans SC"/>
                <a:sym typeface="Noto Sans SC"/>
              </a:rPr>
              <a:t>• 使用Service Worker实现离线访问与预缓存</a:t>
            </a:r>
          </a:p>
        </p:txBody>
      </p:sp>
      <p:sp>
        <p:nvSpPr>
          <p:cNvPr name="AutoShape 21" id="21"/>
          <p:cNvSpPr/>
          <p:nvPr/>
        </p:nvSpPr>
        <p:spPr>
          <a:xfrm rot="0" flipH="false" flipV="false">
            <a:off x="762000" y="4953000"/>
            <a:ext cx="10668000" cy="762000"/>
          </a:xfrm>
          <a:prstGeom prst="roundRect">
            <a:avLst>
              <a:gd name="adj" fmla="val 16666"/>
            </a:avLst>
          </a:prstGeom>
          <a:solidFill>
            <a:srgbClr val="00BFFF">
              <a:alpha val="15000"/>
            </a:srgbClr>
          </a:solidFill>
          <a:ln w="12700" cmpd="sng" cap="flat">
            <a:solidFill>
              <a:srgbClr val="00BFFF">
                <a:alpha val="50000"/>
              </a:srgbClr>
            </a:solidFill>
            <a:prstDash val="solid"/>
            <a:round/>
          </a:ln>
        </p:spPr>
        <p:txBody>
          <a:bodyPr anchor="ctr" rtlCol="false" vert="horz" wrap="square" lIns="63500" rIns="63500" tIns="63500" bIns="63500"/>
          <a:lstStyle/>
          <a:p>
            <a:pPr algn="ctr">
              <a:defRPr/>
            </a:pPr>
            <a:endParaRPr/>
          </a:p>
        </p:txBody>
      </p:sp>
      <p:pic>
        <p:nvPicPr>
          <p:cNvPr name="Picture 22" id="22"/>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1016000" y="5181600"/>
            <a:ext cx="304800" cy="304800"/>
          </a:xfrm>
          <a:prstGeom prst="rect">
            <a:avLst/>
          </a:prstGeom>
        </p:spPr>
      </p:pic>
      <p:sp>
        <p:nvSpPr>
          <p:cNvPr name="AutoShape 23" id="23"/>
          <p:cNvSpPr/>
          <p:nvPr/>
        </p:nvSpPr>
        <p:spPr>
          <a:xfrm rot="0" flipH="false" flipV="false">
            <a:off x="1460500" y="5080000"/>
            <a:ext cx="9652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行动指令：</a:t>
            </a:r>
            <a:r>
              <a:rPr lang="en-US" b="false" i="false" strike="noStrike" u="none" sz="1600">
                <a:solidFill>
                  <a:srgbClr val="FFFFFF">
                    <a:alpha val="90196"/>
                  </a:srgbClr>
                </a:solidFill>
                <a:latin typeface="Noto Sans SC"/>
                <a:ea typeface="Noto Sans SC"/>
                <a:cs typeface="Noto Sans SC"/>
                <a:sym typeface="Noto Sans SC"/>
              </a:rPr>
              <a:t>请大家对自己项目的前端进行性能优化，重点关注加载速度和交互体验的提升。</a:t>
            </a:r>
            <a:endParaRPr lang="en-US" sz="1100"/>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0F172A">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1428">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508000"/>
            <a:ext cx="45212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后端性能优化策略</a:t>
            </a:r>
            <a:endParaRPr lang="en-US" sz="1100"/>
          </a:p>
        </p:txBody>
      </p:sp>
      <p:sp>
        <p:nvSpPr>
          <p:cNvPr name="AutoShape 5" id="5"/>
          <p:cNvSpPr/>
          <p:nvPr/>
        </p:nvSpPr>
        <p:spPr>
          <a:xfrm rot="0" flipH="false" flipV="false">
            <a:off x="762000" y="1397000"/>
            <a:ext cx="5080000" cy="1397000"/>
          </a:xfrm>
          <a:prstGeom prst="roundRect">
            <a:avLst>
              <a:gd name="adj" fmla="val 9090"/>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1587500"/>
            <a:ext cx="406400" cy="406400"/>
          </a:xfrm>
          <a:prstGeom prst="rect">
            <a:avLst/>
          </a:prstGeom>
        </p:spPr>
      </p:pic>
      <p:sp>
        <p:nvSpPr>
          <p:cNvPr name="AutoShape 7" id="7"/>
          <p:cNvSpPr/>
          <p:nvPr/>
        </p:nvSpPr>
        <p:spPr>
          <a:xfrm rot="0" flipH="false" flipV="false">
            <a:off x="1524000" y="1549400"/>
            <a:ext cx="4191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数据库优化</a:t>
            </a:r>
            <a:endParaRPr lang="en-US" sz="1100"/>
          </a:p>
        </p:txBody>
      </p:sp>
      <p:sp>
        <p:nvSpPr>
          <p:cNvPr name="AutoShape 8" id="8"/>
          <p:cNvSpPr/>
          <p:nvPr/>
        </p:nvSpPr>
        <p:spPr>
          <a:xfrm rot="0" flipH="false" flipV="false">
            <a:off x="1524000" y="1930400"/>
            <a:ext cx="4191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300">
                <a:solidFill>
                  <a:srgbClr val="FFFFFF">
                    <a:alpha val="80000"/>
                  </a:srgbClr>
                </a:solidFill>
                <a:latin typeface="Noto Sans SC"/>
                <a:ea typeface="Noto Sans SC"/>
                <a:cs typeface="Noto Sans SC"/>
                <a:sym typeface="Noto Sans SC"/>
              </a:rPr>
              <a:t>优化SQL避免全表扫描，建立索引加速检索；使用连接池减少连接开销。</a:t>
            </a:r>
            <a:endParaRPr lang="en-US" sz="1100"/>
          </a:p>
        </p:txBody>
      </p:sp>
      <p:sp>
        <p:nvSpPr>
          <p:cNvPr name="AutoShape 9" id="9"/>
          <p:cNvSpPr/>
          <p:nvPr/>
        </p:nvSpPr>
        <p:spPr>
          <a:xfrm rot="0" flipH="false" flipV="false">
            <a:off x="6350000" y="1397000"/>
            <a:ext cx="5080000" cy="1397000"/>
          </a:xfrm>
          <a:prstGeom prst="roundRect">
            <a:avLst>
              <a:gd name="adj" fmla="val 9090"/>
            </a:avLst>
          </a:prstGeom>
          <a:solidFill>
            <a:srgbClr val="FFFFFF">
              <a:alpha val="8000"/>
            </a:srgbClr>
          </a:solidFill>
          <a:ln w="12700" cmpd="sng" cap="flat">
            <a:solidFill>
              <a:srgbClr val="FFB6C1">
                <a:alpha val="3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604000" y="1587500"/>
            <a:ext cx="406400" cy="406400"/>
          </a:xfrm>
          <a:prstGeom prst="rect">
            <a:avLst/>
          </a:prstGeom>
        </p:spPr>
      </p:pic>
      <p:sp>
        <p:nvSpPr>
          <p:cNvPr name="AutoShape 11" id="11"/>
          <p:cNvSpPr/>
          <p:nvPr/>
        </p:nvSpPr>
        <p:spPr>
          <a:xfrm rot="0" flipH="false" flipV="false">
            <a:off x="7112000" y="1549400"/>
            <a:ext cx="4191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缓存优化</a:t>
            </a:r>
            <a:endParaRPr lang="en-US" sz="1100"/>
          </a:p>
        </p:txBody>
      </p:sp>
      <p:sp>
        <p:nvSpPr>
          <p:cNvPr name="AutoShape 12" id="12"/>
          <p:cNvSpPr/>
          <p:nvPr/>
        </p:nvSpPr>
        <p:spPr>
          <a:xfrm rot="0" flipH="false" flipV="false">
            <a:off x="7112000" y="1930400"/>
            <a:ext cx="4191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300">
                <a:solidFill>
                  <a:srgbClr val="FFFFFF">
                    <a:alpha val="80000"/>
                  </a:srgbClr>
                </a:solidFill>
                <a:latin typeface="Noto Sans SC"/>
                <a:ea typeface="Noto Sans SC"/>
                <a:cs typeface="Noto Sans SC"/>
                <a:sym typeface="Noto Sans SC"/>
              </a:rPr>
              <a:t>利用Redis缓存热点数据，减少DB访问；设置合理过期策略保证一致性。</a:t>
            </a:r>
            <a:endParaRPr lang="en-US" sz="1100"/>
          </a:p>
        </p:txBody>
      </p:sp>
      <p:sp>
        <p:nvSpPr>
          <p:cNvPr name="AutoShape 13" id="13"/>
          <p:cNvSpPr/>
          <p:nvPr/>
        </p:nvSpPr>
        <p:spPr>
          <a:xfrm rot="0" flipH="false" flipV="false">
            <a:off x="762000" y="3048000"/>
            <a:ext cx="5080000" cy="1397000"/>
          </a:xfrm>
          <a:prstGeom prst="roundRect">
            <a:avLst>
              <a:gd name="adj" fmla="val 9090"/>
            </a:avLst>
          </a:prstGeom>
          <a:solidFill>
            <a:srgbClr val="FFFFFF">
              <a:alpha val="8000"/>
            </a:srgbClr>
          </a:solidFill>
          <a:ln w="12700" cmpd="sng" cap="flat">
            <a:solidFill>
              <a:srgbClr val="E6E6FA">
                <a:alpha val="30000"/>
              </a:srgbClr>
            </a:solid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016000" y="3238500"/>
            <a:ext cx="406400" cy="406400"/>
          </a:xfrm>
          <a:prstGeom prst="rect">
            <a:avLst/>
          </a:prstGeom>
        </p:spPr>
      </p:pic>
      <p:sp>
        <p:nvSpPr>
          <p:cNvPr name="AutoShape 15" id="15"/>
          <p:cNvSpPr/>
          <p:nvPr/>
        </p:nvSpPr>
        <p:spPr>
          <a:xfrm rot="0" flipH="false" flipV="false">
            <a:off x="1524000" y="3200400"/>
            <a:ext cx="4191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异步处理</a:t>
            </a:r>
            <a:endParaRPr lang="en-US" sz="1100"/>
          </a:p>
        </p:txBody>
      </p:sp>
      <p:sp>
        <p:nvSpPr>
          <p:cNvPr name="AutoShape 16" id="16"/>
          <p:cNvSpPr/>
          <p:nvPr/>
        </p:nvSpPr>
        <p:spPr>
          <a:xfrm rot="0" flipH="false" flipV="false">
            <a:off x="1524000" y="3581400"/>
            <a:ext cx="4191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300">
                <a:solidFill>
                  <a:srgbClr val="FFFFFF">
                    <a:alpha val="80000"/>
                  </a:srgbClr>
                </a:solidFill>
                <a:latin typeface="Noto Sans SC"/>
                <a:ea typeface="Noto Sans SC"/>
                <a:cs typeface="Noto Sans SC"/>
                <a:sym typeface="Noto Sans SC"/>
              </a:rPr>
              <a:t>耗时操作（邮件/报表）异步化，避免阻塞主线程；使用MQ分发任务。</a:t>
            </a:r>
            <a:endParaRPr lang="en-US" sz="1100"/>
          </a:p>
        </p:txBody>
      </p:sp>
      <p:sp>
        <p:nvSpPr>
          <p:cNvPr name="AutoShape 17" id="17"/>
          <p:cNvSpPr/>
          <p:nvPr/>
        </p:nvSpPr>
        <p:spPr>
          <a:xfrm rot="0" flipH="false" flipV="false">
            <a:off x="6350000" y="3048000"/>
            <a:ext cx="5080000" cy="1397000"/>
          </a:xfrm>
          <a:prstGeom prst="roundRect">
            <a:avLst>
              <a:gd name="adj" fmla="val 9090"/>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6604000" y="3238500"/>
            <a:ext cx="406400" cy="406400"/>
          </a:xfrm>
          <a:prstGeom prst="rect">
            <a:avLst/>
          </a:prstGeom>
        </p:spPr>
      </p:pic>
      <p:sp>
        <p:nvSpPr>
          <p:cNvPr name="AutoShape 19" id="19"/>
          <p:cNvSpPr/>
          <p:nvPr/>
        </p:nvSpPr>
        <p:spPr>
          <a:xfrm rot="0" flipH="false" flipV="false">
            <a:off x="7112000" y="3200400"/>
            <a:ext cx="4191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负载均衡</a:t>
            </a:r>
            <a:endParaRPr lang="en-US" sz="1100"/>
          </a:p>
        </p:txBody>
      </p:sp>
      <p:sp>
        <p:nvSpPr>
          <p:cNvPr name="AutoShape 20" id="20"/>
          <p:cNvSpPr/>
          <p:nvPr/>
        </p:nvSpPr>
        <p:spPr>
          <a:xfrm rot="0" flipH="false" flipV="false">
            <a:off x="7112000" y="3581400"/>
            <a:ext cx="4191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300">
                <a:solidFill>
                  <a:srgbClr val="FFFFFF">
                    <a:alpha val="80000"/>
                  </a:srgbClr>
                </a:solidFill>
                <a:latin typeface="Noto Sans SC"/>
                <a:ea typeface="Noto Sans SC"/>
                <a:cs typeface="Noto Sans SC"/>
                <a:sym typeface="Noto Sans SC"/>
              </a:rPr>
              <a:t>使用Nginx/HAProxy分发请求到多实例，提升并发处理能力与可用性。</a:t>
            </a:r>
            <a:endParaRPr lang="en-US" sz="1100"/>
          </a:p>
        </p:txBody>
      </p:sp>
      <p:sp>
        <p:nvSpPr>
          <p:cNvPr name="AutoShape 21" id="21"/>
          <p:cNvSpPr/>
          <p:nvPr/>
        </p:nvSpPr>
        <p:spPr>
          <a:xfrm rot="0" flipH="false" flipV="false">
            <a:off x="762000" y="4826000"/>
            <a:ext cx="10668000" cy="762000"/>
          </a:xfrm>
          <a:prstGeom prst="roundRect">
            <a:avLst>
              <a:gd name="adj" fmla="val 16666"/>
            </a:avLst>
          </a:prstGeom>
          <a:solidFill>
            <a:srgbClr val="00BFFF">
              <a:alpha val="15000"/>
            </a:srgbClr>
          </a:solidFill>
          <a:ln w="12700" cmpd="sng" cap="flat">
            <a:solidFill>
              <a:srgbClr val="00BFFF">
                <a:alpha val="50000"/>
              </a:srgbClr>
            </a:solidFill>
            <a:prstDash val="solid"/>
            <a:round/>
          </a:ln>
        </p:spPr>
        <p:txBody>
          <a:bodyPr anchor="ctr" rtlCol="false" vert="horz" wrap="square" lIns="63500" rIns="63500" tIns="63500" bIns="63500"/>
          <a:lstStyle/>
          <a:p>
            <a:pPr algn="ctr">
              <a:defRPr/>
            </a:pPr>
            <a:endParaRPr/>
          </a:p>
        </p:txBody>
      </p:sp>
      <p:pic>
        <p:nvPicPr>
          <p:cNvPr name="Picture 22" id="22"/>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1016000" y="5054600"/>
            <a:ext cx="304800" cy="304800"/>
          </a:xfrm>
          <a:prstGeom prst="rect">
            <a:avLst/>
          </a:prstGeom>
        </p:spPr>
      </p:pic>
      <p:sp>
        <p:nvSpPr>
          <p:cNvPr name="AutoShape 23" id="23"/>
          <p:cNvSpPr/>
          <p:nvPr/>
        </p:nvSpPr>
        <p:spPr>
          <a:xfrm rot="0" flipH="false" flipV="false">
            <a:off x="1397000" y="5016500"/>
            <a:ext cx="990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行动指令：请大家对自己项目的后端进行性能优化，提升系统的响应速度和并发处理能力。</a:t>
            </a:r>
            <a:endParaRPr lang="en-US" sz="1100"/>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0A1428">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1428">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508000"/>
            <a:ext cx="40259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用户体验提升策略</a:t>
            </a:r>
            <a:endParaRPr lang="en-US" sz="1100"/>
          </a:p>
        </p:txBody>
      </p:sp>
      <p:sp>
        <p:nvSpPr>
          <p:cNvPr name="AutoShape 5" id="5"/>
          <p:cNvSpPr/>
          <p:nvPr/>
        </p:nvSpPr>
        <p:spPr>
          <a:xfrm rot="0" flipH="false" flipV="false">
            <a:off x="762000" y="1397000"/>
            <a:ext cx="5080000" cy="1270000"/>
          </a:xfrm>
          <a:prstGeom prst="roundRect">
            <a:avLst>
              <a:gd name="adj" fmla="val 10000"/>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952500" y="1587500"/>
            <a:ext cx="406400" cy="406400"/>
          </a:xfrm>
          <a:prstGeom prst="rect">
            <a:avLst/>
          </a:prstGeom>
        </p:spPr>
      </p:pic>
      <p:sp>
        <p:nvSpPr>
          <p:cNvPr name="AutoShape 7" id="7"/>
          <p:cNvSpPr/>
          <p:nvPr/>
        </p:nvSpPr>
        <p:spPr>
          <a:xfrm rot="0" flipH="false" flipV="false">
            <a:off x="1460500" y="1549400"/>
            <a:ext cx="431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界面设计优化</a:t>
            </a:r>
            <a:endParaRPr lang="en-US" sz="1100"/>
          </a:p>
        </p:txBody>
      </p:sp>
      <p:sp>
        <p:nvSpPr>
          <p:cNvPr name="AutoShape 8" id="8"/>
          <p:cNvSpPr/>
          <p:nvPr/>
        </p:nvSpPr>
        <p:spPr>
          <a:xfrm rot="0" flipH="false" flipV="false">
            <a:off x="1460500" y="1930400"/>
            <a:ext cx="431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300">
                <a:solidFill>
                  <a:srgbClr val="DCDCDC"/>
                </a:solidFill>
                <a:latin typeface="Noto Sans SC"/>
                <a:ea typeface="Noto Sans SC"/>
                <a:cs typeface="Noto Sans SC"/>
                <a:sym typeface="Noto Sans SC"/>
              </a:rPr>
              <a:t>遵循简洁美观原则，统一视觉风格，确保布局清晰，提升品牌辨识度。</a:t>
            </a:r>
            <a:endParaRPr lang="en-US" sz="1100"/>
          </a:p>
        </p:txBody>
      </p:sp>
      <p:sp>
        <p:nvSpPr>
          <p:cNvPr name="AutoShape 9" id="9"/>
          <p:cNvSpPr/>
          <p:nvPr/>
        </p:nvSpPr>
        <p:spPr>
          <a:xfrm rot="0" flipH="false" flipV="false">
            <a:off x="6223000" y="1397000"/>
            <a:ext cx="5080000" cy="1270000"/>
          </a:xfrm>
          <a:prstGeom prst="roundRect">
            <a:avLst>
              <a:gd name="adj" fmla="val 10000"/>
            </a:avLst>
          </a:prstGeom>
          <a:solidFill>
            <a:srgbClr val="FFFFFF">
              <a:alpha val="5000"/>
            </a:srgbClr>
          </a:solidFill>
          <a:ln w="12700" cmpd="sng" cap="flat">
            <a:solidFill>
              <a:srgbClr val="FFB6C1">
                <a:alpha val="3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413500" y="1587500"/>
            <a:ext cx="406400" cy="406400"/>
          </a:xfrm>
          <a:prstGeom prst="rect">
            <a:avLst/>
          </a:prstGeom>
        </p:spPr>
      </p:pic>
      <p:sp>
        <p:nvSpPr>
          <p:cNvPr name="AutoShape 11" id="11"/>
          <p:cNvSpPr/>
          <p:nvPr/>
        </p:nvSpPr>
        <p:spPr>
          <a:xfrm rot="0" flipH="false" flipV="false">
            <a:off x="6921500" y="1549400"/>
            <a:ext cx="431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交互设计优化</a:t>
            </a:r>
            <a:endParaRPr lang="en-US" sz="1100"/>
          </a:p>
        </p:txBody>
      </p:sp>
      <p:sp>
        <p:nvSpPr>
          <p:cNvPr name="AutoShape 12" id="12"/>
          <p:cNvSpPr/>
          <p:nvPr/>
        </p:nvSpPr>
        <p:spPr>
          <a:xfrm rot="0" flipH="false" flipV="false">
            <a:off x="6921500" y="1930400"/>
            <a:ext cx="431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300">
                <a:solidFill>
                  <a:srgbClr val="DCDCDC"/>
                </a:solidFill>
                <a:latin typeface="Noto Sans SC"/>
                <a:ea typeface="Noto Sans SC"/>
                <a:cs typeface="Noto Sans SC"/>
                <a:sym typeface="Noto Sans SC"/>
              </a:rPr>
              <a:t>提供清晰操作反馈，简化流程减少步骤，支持手势操作提升便捷性。</a:t>
            </a:r>
            <a:endParaRPr lang="en-US" sz="1100"/>
          </a:p>
        </p:txBody>
      </p:sp>
      <p:sp>
        <p:nvSpPr>
          <p:cNvPr name="AutoShape 13" id="13"/>
          <p:cNvSpPr/>
          <p:nvPr/>
        </p:nvSpPr>
        <p:spPr>
          <a:xfrm rot="0" flipH="false" flipV="false">
            <a:off x="762000" y="2794000"/>
            <a:ext cx="5080000" cy="1270000"/>
          </a:xfrm>
          <a:prstGeom prst="roundRect">
            <a:avLst>
              <a:gd name="adj" fmla="val 10000"/>
            </a:avLst>
          </a:prstGeom>
          <a:solidFill>
            <a:srgbClr val="FFFFFF">
              <a:alpha val="5000"/>
            </a:srgbClr>
          </a:solidFill>
          <a:ln w="12700" cmpd="sng" cap="flat">
            <a:solidFill>
              <a:srgbClr val="E6E6FA">
                <a:alpha val="30000"/>
              </a:srgbClr>
            </a:solid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952500" y="2984500"/>
            <a:ext cx="406400" cy="406400"/>
          </a:xfrm>
          <a:prstGeom prst="rect">
            <a:avLst/>
          </a:prstGeom>
        </p:spPr>
      </p:pic>
      <p:sp>
        <p:nvSpPr>
          <p:cNvPr name="AutoShape 15" id="15"/>
          <p:cNvSpPr/>
          <p:nvPr/>
        </p:nvSpPr>
        <p:spPr>
          <a:xfrm rot="0" flipH="false" flipV="false">
            <a:off x="1460500" y="2946400"/>
            <a:ext cx="431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个性化推荐</a:t>
            </a:r>
            <a:endParaRPr lang="en-US" sz="1100"/>
          </a:p>
        </p:txBody>
      </p:sp>
      <p:sp>
        <p:nvSpPr>
          <p:cNvPr name="AutoShape 16" id="16"/>
          <p:cNvSpPr/>
          <p:nvPr/>
        </p:nvSpPr>
        <p:spPr>
          <a:xfrm rot="0" flipH="false" flipV="false">
            <a:off x="1460500" y="3327400"/>
            <a:ext cx="431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300">
                <a:solidFill>
                  <a:srgbClr val="DCDCDC"/>
                </a:solidFill>
                <a:latin typeface="Noto Sans SC"/>
                <a:ea typeface="Noto Sans SC"/>
                <a:cs typeface="Noto Sans SC"/>
                <a:sym typeface="Noto Sans SC"/>
              </a:rPr>
              <a:t>基于用户行为偏好提供定制化内容，让用户感受到被关注和重视。</a:t>
            </a:r>
            <a:endParaRPr lang="en-US" sz="1100"/>
          </a:p>
        </p:txBody>
      </p:sp>
      <p:sp>
        <p:nvSpPr>
          <p:cNvPr name="AutoShape 17" id="17"/>
          <p:cNvSpPr/>
          <p:nvPr/>
        </p:nvSpPr>
        <p:spPr>
          <a:xfrm rot="0" flipH="false" flipV="false">
            <a:off x="6223000" y="2794000"/>
            <a:ext cx="5080000" cy="1270000"/>
          </a:xfrm>
          <a:prstGeom prst="roundRect">
            <a:avLst>
              <a:gd name="adj" fmla="val 10000"/>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6413500" y="2984500"/>
            <a:ext cx="406400" cy="406400"/>
          </a:xfrm>
          <a:prstGeom prst="rect">
            <a:avLst/>
          </a:prstGeom>
        </p:spPr>
      </p:pic>
      <p:sp>
        <p:nvSpPr>
          <p:cNvPr name="AutoShape 19" id="19"/>
          <p:cNvSpPr/>
          <p:nvPr/>
        </p:nvSpPr>
        <p:spPr>
          <a:xfrm rot="0" flipH="false" flipV="false">
            <a:off x="6921500" y="2946400"/>
            <a:ext cx="431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无障碍设计</a:t>
            </a:r>
            <a:endParaRPr lang="en-US" sz="1100"/>
          </a:p>
        </p:txBody>
      </p:sp>
      <p:sp>
        <p:nvSpPr>
          <p:cNvPr name="AutoShape 20" id="20"/>
          <p:cNvSpPr/>
          <p:nvPr/>
        </p:nvSpPr>
        <p:spPr>
          <a:xfrm rot="0" flipH="false" flipV="false">
            <a:off x="6921500" y="3327400"/>
            <a:ext cx="431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300">
                <a:solidFill>
                  <a:srgbClr val="DCDCDC"/>
                </a:solidFill>
                <a:latin typeface="Noto Sans SC"/>
                <a:ea typeface="Noto Sans SC"/>
                <a:cs typeface="Noto Sans SC"/>
                <a:sym typeface="Noto Sans SC"/>
              </a:rPr>
              <a:t>支持屏幕阅读器与键盘导航，确保足够的文字对比度，覆盖更多用户群体。</a:t>
            </a:r>
            <a:endParaRPr lang="en-US" sz="1100"/>
          </a:p>
        </p:txBody>
      </p:sp>
      <p:sp>
        <p:nvSpPr>
          <p:cNvPr name="AutoShape 21" id="21"/>
          <p:cNvSpPr/>
          <p:nvPr/>
        </p:nvSpPr>
        <p:spPr>
          <a:xfrm rot="0" flipH="false" flipV="false">
            <a:off x="762000" y="4318000"/>
            <a:ext cx="10541000" cy="1016000"/>
          </a:xfrm>
          <a:prstGeom prst="roundRect">
            <a:avLst>
              <a:gd name="adj" fmla="val 12500"/>
            </a:avLst>
          </a:prstGeom>
          <a:solidFill>
            <a:srgbClr val="00BFFF">
              <a:alpha val="10000"/>
            </a:srgbClr>
          </a:solidFill>
          <a:ln w="12700" cmpd="sng" cap="flat">
            <a:solidFill>
              <a:srgbClr val="00BFFF">
                <a:alpha val="50000"/>
              </a:srgbClr>
            </a:solidFill>
            <a:prstDash val="solid"/>
            <a:round/>
          </a:ln>
        </p:spPr>
        <p:txBody>
          <a:bodyPr anchor="ctr" rtlCol="false" vert="horz" wrap="square" lIns="63500" rIns="63500" tIns="63500" bIns="63500"/>
          <a:lstStyle/>
          <a:p>
            <a:pPr algn="ctr">
              <a:defRPr/>
            </a:pPr>
            <a:endParaRPr/>
          </a:p>
        </p:txBody>
      </p:sp>
      <p:pic>
        <p:nvPicPr>
          <p:cNvPr name="Picture 22" id="22"/>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1016000" y="4648200"/>
            <a:ext cx="355600" cy="355600"/>
          </a:xfrm>
          <a:prstGeom prst="rect">
            <a:avLst/>
          </a:prstGeom>
        </p:spPr>
      </p:pic>
      <p:sp>
        <p:nvSpPr>
          <p:cNvPr name="AutoShape 23" id="23"/>
          <p:cNvSpPr/>
          <p:nvPr/>
        </p:nvSpPr>
        <p:spPr>
          <a:xfrm rot="0" flipH="false" flipV="false">
            <a:off x="1524000" y="4445000"/>
            <a:ext cx="9525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00BFFF"/>
                </a:solidFill>
                <a:latin typeface="Noto Sans SC"/>
                <a:ea typeface="Noto Sans SC"/>
                <a:cs typeface="Noto Sans SC"/>
                <a:sym typeface="Noto Sans SC"/>
              </a:rPr>
              <a:t>学生行动指令：</a:t>
            </a:r>
            <a:r>
              <a:rPr lang="en-US" b="false" i="false" strike="noStrike" u="none" sz="1600">
                <a:solidFill>
                  <a:srgbClr val="FFFFFF"/>
                </a:solidFill>
                <a:latin typeface="Noto Sans SC"/>
                <a:ea typeface="Noto Sans SC"/>
                <a:cs typeface="Noto Sans SC"/>
                <a:sym typeface="Noto Sans SC"/>
              </a:rPr>
              <a:t>请大家思考如何提升自己项目的用户体验，从界面设计、交互设计、个性化推荐和无障碍设计等多个方面入手，制定具体的优化方案。</a:t>
            </a:r>
            <a:endParaRPr lang="en-US" sz="1100"/>
          </a:p>
        </p:txBody>
      </p:sp>
      <p:sp>
        <p:nvSpPr>
          <p:cNvPr name="AutoShape 24" id="24"/>
          <p:cNvSpPr/>
          <p:nvPr/>
        </p:nvSpPr>
        <p:spPr>
          <a:xfrm rot="0" flipH="false" flipV="false">
            <a:off x="762000" y="6096000"/>
            <a:ext cx="10541000" cy="254000"/>
          </a:xfrm>
          <a:prstGeom prst="rect">
            <a:avLst/>
          </a:prstGeom>
          <a:noFill/>
          <a:ln w="12700" cmpd="sng" cap="flat">
            <a:noFill/>
            <a:prstDash val="solid"/>
            <a:round/>
          </a:ln>
        </p:spPr>
        <p:txBody>
          <a:bodyPr anchor="ctr" rtlCol="false" anchorCtr="false" vert="horz" wrap="square" lIns="0" rIns="0" tIns="0" bIns="0"/>
          <a:lstStyle/>
          <a:p>
            <a:pPr algn="r" indent="0">
              <a:lnSpc>
                <a:spcPct val="125000"/>
              </a:lnSpc>
              <a:defRPr/>
            </a:pPr>
            <a:r>
              <a:rPr lang="en-US" b="false" i="false" strike="noStrike" u="none" sz="1200">
                <a:solidFill>
                  <a:srgbClr val="FFFFFF">
                    <a:alpha val="40000"/>
                  </a:srgbClr>
                </a:solidFill>
                <a:latin typeface="Noto Sans SC"/>
                <a:ea typeface="Noto Sans SC"/>
                <a:cs typeface="Noto Sans SC"/>
                <a:sym typeface="Noto Sans SC"/>
              </a:rPr>
              <a:t>资源来源：用户体验设计规范与最佳实践指南</a:t>
            </a:r>
            <a:endParaRPr lang="en-US" sz="1100"/>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0A192F">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192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508000"/>
            <a:ext cx="35306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性能测试与监控</a:t>
            </a:r>
            <a:endParaRPr lang="en-US" sz="1100"/>
          </a:p>
        </p:txBody>
      </p:sp>
      <p:sp>
        <p:nvSpPr>
          <p:cNvPr name="AutoShape 5" id="5"/>
          <p:cNvSpPr/>
          <p:nvPr/>
        </p:nvSpPr>
        <p:spPr>
          <a:xfrm rot="0" flipH="false" flipV="false">
            <a:off x="762000" y="1524000"/>
            <a:ext cx="3302000" cy="2921000"/>
          </a:xfrm>
          <a:prstGeom prst="roundRect">
            <a:avLst>
              <a:gd name="adj" fmla="val 4347"/>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1778000"/>
            <a:ext cx="406400" cy="406400"/>
          </a:xfrm>
          <a:prstGeom prst="rect">
            <a:avLst/>
          </a:prstGeom>
        </p:spPr>
      </p:pic>
      <p:sp>
        <p:nvSpPr>
          <p:cNvPr name="AutoShape 7" id="7"/>
          <p:cNvSpPr/>
          <p:nvPr/>
        </p:nvSpPr>
        <p:spPr>
          <a:xfrm rot="0" flipH="false" flipV="false">
            <a:off x="1524000" y="1778000"/>
            <a:ext cx="2413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性能测试</a:t>
            </a:r>
            <a:endParaRPr lang="en-US" sz="1100"/>
          </a:p>
        </p:txBody>
      </p:sp>
      <p:sp>
        <p:nvSpPr>
          <p:cNvPr name="AutoShape 8" id="8"/>
          <p:cNvSpPr/>
          <p:nvPr/>
        </p:nvSpPr>
        <p:spPr>
          <a:xfrm rot="0" flipH="false" flipV="false">
            <a:off x="1016000" y="2286000"/>
            <a:ext cx="2794000" cy="1905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1400">
                <a:solidFill>
                  <a:srgbClr val="E6E6FA"/>
                </a:solidFill>
                <a:latin typeface="Noto Sans SC"/>
                <a:ea typeface="Noto Sans SC"/>
                <a:cs typeface="Noto Sans SC"/>
                <a:sym typeface="Noto Sans SC"/>
              </a:rPr>
              <a:t>工具选择：</a:t>
            </a:r>
            <a:r>
              <a:rPr lang="en-US" b="false" i="false" strike="noStrike" u="none" sz="1400">
                <a:solidFill>
                  <a:srgbClr val="DCDCDC"/>
                </a:solidFill>
                <a:latin typeface="Noto Sans SC"/>
                <a:ea typeface="Noto Sans SC"/>
                <a:cs typeface="Noto Sans SC"/>
                <a:sym typeface="Noto Sans SC"/>
              </a:rPr>
              <a:t>JMeter、LoadRunner、Gatling等。</a:t>
            </a:r>
            <a:r>
              <a:rPr lang="en-US" b="false" i="false" strike="noStrike" u="none" sz="1400">
                <a:solidFill>
                  <a:srgbClr val="1F2329"/>
                </a:solidFill>
                <a:latin typeface="Noto Sans SC"/>
                <a:ea typeface="Noto Sans SC"/>
                <a:cs typeface="Noto Sans SC"/>
                <a:sym typeface="Noto Sans SC"/>
              </a:rPr>
              <a:t/>
            </a:r>
            <a:endParaRPr lang="en-US" sz="1100"/>
          </a:p>
          <a:p>
            <a:pPr algn="l" indent="0">
              <a:lnSpc>
                <a:spcPct val="108333"/>
              </a:lnSpc>
            </a:pPr>
            <a:r>
              <a:rPr lang="en-US" b="true" i="false" strike="noStrike" u="none" sz="1400">
                <a:solidFill>
                  <a:srgbClr val="E6E6FA"/>
                </a:solidFill>
                <a:latin typeface="Noto Sans SC"/>
                <a:ea typeface="Noto Sans SC"/>
                <a:cs typeface="Noto Sans SC"/>
                <a:sym typeface="Noto Sans SC"/>
              </a:rPr>
              <a:t>测试内容：</a:t>
            </a:r>
            <a:r>
              <a:rPr lang="en-US" b="false" i="false" strike="noStrike" u="none" sz="1400">
                <a:solidFill>
                  <a:srgbClr val="DCDCDC"/>
                </a:solidFill>
                <a:latin typeface="Noto Sans SC"/>
                <a:ea typeface="Noto Sans SC"/>
                <a:cs typeface="Noto Sans SC"/>
                <a:sym typeface="Noto Sans SC"/>
              </a:rPr>
              <a:t>响应时间、吞吐量、并发数、资源使用率。</a:t>
            </a:r>
            <a:r>
              <a:rPr lang="en-US" b="false" i="false" strike="noStrike" u="none" sz="1400">
                <a:solidFill>
                  <a:srgbClr val="1F2329"/>
                </a:solidFill>
                <a:latin typeface="Noto Sans SC"/>
                <a:ea typeface="Noto Sans SC"/>
                <a:cs typeface="Noto Sans SC"/>
                <a:sym typeface="Noto Sans SC"/>
              </a:rPr>
              <a:t/>
            </a:r>
          </a:p>
          <a:p>
            <a:pPr algn="l" indent="0">
              <a:lnSpc>
                <a:spcPct val="108333"/>
              </a:lnSpc>
            </a:pPr>
            <a:r>
              <a:rPr lang="en-US" b="true" i="false" strike="noStrike" u="none" sz="1400">
                <a:solidFill>
                  <a:srgbClr val="E6E6FA"/>
                </a:solidFill>
                <a:latin typeface="Noto Sans SC"/>
                <a:ea typeface="Noto Sans SC"/>
                <a:cs typeface="Noto Sans SC"/>
                <a:sym typeface="Noto Sans SC"/>
              </a:rPr>
              <a:t>测试目的：</a:t>
            </a:r>
            <a:r>
              <a:rPr lang="en-US" b="false" i="false" strike="noStrike" u="none" sz="1400">
                <a:solidFill>
                  <a:srgbClr val="DCDCDC"/>
                </a:solidFill>
                <a:latin typeface="Noto Sans SC"/>
                <a:ea typeface="Noto Sans SC"/>
                <a:cs typeface="Noto Sans SC"/>
                <a:sym typeface="Noto Sans SC"/>
              </a:rPr>
              <a:t>评估极限，定位瓶颈，辅助优化。</a:t>
            </a:r>
          </a:p>
        </p:txBody>
      </p:sp>
      <p:sp>
        <p:nvSpPr>
          <p:cNvPr name="AutoShape 9" id="9"/>
          <p:cNvSpPr/>
          <p:nvPr/>
        </p:nvSpPr>
        <p:spPr>
          <a:xfrm rot="0" flipH="false" flipV="false">
            <a:off x="4445000" y="1524000"/>
            <a:ext cx="3302000" cy="2921000"/>
          </a:xfrm>
          <a:prstGeom prst="roundRect">
            <a:avLst>
              <a:gd name="adj" fmla="val 4347"/>
            </a:avLst>
          </a:prstGeom>
          <a:solidFill>
            <a:srgbClr val="FFFFFF">
              <a:alpha val="8000"/>
            </a:srgbClr>
          </a:solidFill>
          <a:ln w="12700" cmpd="sng" cap="flat">
            <a:solidFill>
              <a:srgbClr val="FFB6C1">
                <a:alpha val="3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699000" y="1778000"/>
            <a:ext cx="406400" cy="406400"/>
          </a:xfrm>
          <a:prstGeom prst="rect">
            <a:avLst/>
          </a:prstGeom>
        </p:spPr>
      </p:pic>
      <p:sp>
        <p:nvSpPr>
          <p:cNvPr name="AutoShape 11" id="11"/>
          <p:cNvSpPr/>
          <p:nvPr/>
        </p:nvSpPr>
        <p:spPr>
          <a:xfrm rot="0" flipH="false" flipV="false">
            <a:off x="5207000" y="1778000"/>
            <a:ext cx="2413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监控工具</a:t>
            </a:r>
            <a:endParaRPr lang="en-US" sz="1100"/>
          </a:p>
        </p:txBody>
      </p:sp>
      <p:sp>
        <p:nvSpPr>
          <p:cNvPr name="AutoShape 12" id="12"/>
          <p:cNvSpPr/>
          <p:nvPr/>
        </p:nvSpPr>
        <p:spPr>
          <a:xfrm rot="0" flipH="false" flipV="false">
            <a:off x="4699000" y="2286000"/>
            <a:ext cx="2794000" cy="1905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1400">
                <a:solidFill>
                  <a:srgbClr val="E6E6FA"/>
                </a:solidFill>
                <a:latin typeface="Noto Sans SC"/>
                <a:ea typeface="Noto Sans SC"/>
                <a:cs typeface="Noto Sans SC"/>
                <a:sym typeface="Noto Sans SC"/>
              </a:rPr>
              <a:t>工具选择：</a:t>
            </a:r>
            <a:r>
              <a:rPr lang="en-US" b="false" i="false" strike="noStrike" u="none" sz="1400">
                <a:solidFill>
                  <a:srgbClr val="DCDCDC"/>
                </a:solidFill>
                <a:latin typeface="Noto Sans SC"/>
                <a:ea typeface="Noto Sans SC"/>
                <a:cs typeface="Noto Sans SC"/>
                <a:sym typeface="Noto Sans SC"/>
              </a:rPr>
              <a:t>Prometheus、Grafana、ELK Stack。</a:t>
            </a:r>
            <a:r>
              <a:rPr lang="en-US" b="false" i="false" strike="noStrike" u="none" sz="1400">
                <a:solidFill>
                  <a:srgbClr val="1F2329"/>
                </a:solidFill>
                <a:latin typeface="Noto Sans SC"/>
                <a:ea typeface="Noto Sans SC"/>
                <a:cs typeface="Noto Sans SC"/>
                <a:sym typeface="Noto Sans SC"/>
              </a:rPr>
              <a:t/>
            </a:r>
            <a:endParaRPr lang="en-US" sz="1100"/>
          </a:p>
          <a:p>
            <a:pPr algn="l" indent="0">
              <a:lnSpc>
                <a:spcPct val="108333"/>
              </a:lnSpc>
            </a:pPr>
            <a:r>
              <a:rPr lang="en-US" b="true" i="false" strike="noStrike" u="none" sz="1400">
                <a:solidFill>
                  <a:srgbClr val="E6E6FA"/>
                </a:solidFill>
                <a:latin typeface="Noto Sans SC"/>
                <a:ea typeface="Noto Sans SC"/>
                <a:cs typeface="Noto Sans SC"/>
                <a:sym typeface="Noto Sans SC"/>
              </a:rPr>
              <a:t>监控内容：</a:t>
            </a:r>
            <a:r>
              <a:rPr lang="en-US" b="false" i="false" strike="noStrike" u="none" sz="1400">
                <a:solidFill>
                  <a:srgbClr val="DCDCDC"/>
                </a:solidFill>
                <a:latin typeface="Noto Sans SC"/>
                <a:ea typeface="Noto Sans SC"/>
                <a:cs typeface="Noto Sans SC"/>
                <a:sym typeface="Noto Sans SC"/>
              </a:rPr>
              <a:t>CPU、内存、磁盘/网络IO、错误率。</a:t>
            </a:r>
            <a:r>
              <a:rPr lang="en-US" b="false" i="false" strike="noStrike" u="none" sz="1400">
                <a:solidFill>
                  <a:srgbClr val="1F2329"/>
                </a:solidFill>
                <a:latin typeface="Noto Sans SC"/>
                <a:ea typeface="Noto Sans SC"/>
                <a:cs typeface="Noto Sans SC"/>
                <a:sym typeface="Noto Sans SC"/>
              </a:rPr>
              <a:t/>
            </a:r>
          </a:p>
          <a:p>
            <a:pPr algn="l" indent="0">
              <a:lnSpc>
                <a:spcPct val="108333"/>
              </a:lnSpc>
            </a:pPr>
            <a:r>
              <a:rPr lang="en-US" b="true" i="false" strike="noStrike" u="none" sz="1400">
                <a:solidFill>
                  <a:srgbClr val="E6E6FA"/>
                </a:solidFill>
                <a:latin typeface="Noto Sans SC"/>
                <a:ea typeface="Noto Sans SC"/>
                <a:cs typeface="Noto Sans SC"/>
                <a:sym typeface="Noto Sans SC"/>
              </a:rPr>
              <a:t>监控目的：</a:t>
            </a:r>
            <a:r>
              <a:rPr lang="en-US" b="false" i="false" strike="noStrike" u="none" sz="1400">
                <a:solidFill>
                  <a:srgbClr val="DCDCDC"/>
                </a:solidFill>
                <a:latin typeface="Noto Sans SC"/>
                <a:ea typeface="Noto Sans SC"/>
                <a:cs typeface="Noto Sans SC"/>
                <a:sym typeface="Noto Sans SC"/>
              </a:rPr>
              <a:t>实时掌握状态，及时发现异常。</a:t>
            </a:r>
          </a:p>
        </p:txBody>
      </p:sp>
      <p:sp>
        <p:nvSpPr>
          <p:cNvPr name="AutoShape 13" id="13"/>
          <p:cNvSpPr/>
          <p:nvPr/>
        </p:nvSpPr>
        <p:spPr>
          <a:xfrm rot="0" flipH="false" flipV="false">
            <a:off x="8128000" y="1524000"/>
            <a:ext cx="3302000" cy="2921000"/>
          </a:xfrm>
          <a:prstGeom prst="roundRect">
            <a:avLst>
              <a:gd name="adj" fmla="val 4347"/>
            </a:avLst>
          </a:prstGeom>
          <a:solidFill>
            <a:srgbClr val="FFFFFF">
              <a:alpha val="8000"/>
            </a:srgbClr>
          </a:solidFill>
          <a:ln w="12700" cmpd="sng" cap="flat">
            <a:solidFill>
              <a:srgbClr val="E6E6FA">
                <a:alpha val="30000"/>
              </a:srgbClr>
            </a:solid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382000" y="1778000"/>
            <a:ext cx="406400" cy="406400"/>
          </a:xfrm>
          <a:prstGeom prst="rect">
            <a:avLst/>
          </a:prstGeom>
        </p:spPr>
      </p:pic>
      <p:sp>
        <p:nvSpPr>
          <p:cNvPr name="AutoShape 15" id="15"/>
          <p:cNvSpPr/>
          <p:nvPr/>
        </p:nvSpPr>
        <p:spPr>
          <a:xfrm rot="0" flipH="false" flipV="false">
            <a:off x="8890000" y="1778000"/>
            <a:ext cx="2413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告警机制</a:t>
            </a:r>
            <a:endParaRPr lang="en-US" sz="1100"/>
          </a:p>
        </p:txBody>
      </p:sp>
      <p:sp>
        <p:nvSpPr>
          <p:cNvPr name="AutoShape 16" id="16"/>
          <p:cNvSpPr/>
          <p:nvPr/>
        </p:nvSpPr>
        <p:spPr>
          <a:xfrm rot="0" flipH="false" flipV="false">
            <a:off x="8382000" y="2286000"/>
            <a:ext cx="2794000" cy="1905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1400">
                <a:solidFill>
                  <a:srgbClr val="E6E6FA"/>
                </a:solidFill>
                <a:latin typeface="Noto Sans SC"/>
                <a:ea typeface="Noto Sans SC"/>
                <a:cs typeface="Noto Sans SC"/>
                <a:sym typeface="Noto Sans SC"/>
              </a:rPr>
              <a:t>阈值设置：</a:t>
            </a:r>
            <a:r>
              <a:rPr lang="en-US" b="false" i="false" strike="noStrike" u="none" sz="1400">
                <a:solidFill>
                  <a:srgbClr val="DCDCDC"/>
                </a:solidFill>
                <a:latin typeface="Noto Sans SC"/>
                <a:ea typeface="Noto Sans SC"/>
                <a:cs typeface="Noto Sans SC"/>
                <a:sym typeface="Noto Sans SC"/>
              </a:rPr>
              <a:t>设定合理指标阈值，触发自动告警。</a:t>
            </a:r>
            <a:r>
              <a:rPr lang="en-US" b="false" i="false" strike="noStrike" u="none" sz="1400">
                <a:solidFill>
                  <a:srgbClr val="1F2329"/>
                </a:solidFill>
                <a:latin typeface="Noto Sans SC"/>
                <a:ea typeface="Noto Sans SC"/>
                <a:cs typeface="Noto Sans SC"/>
                <a:sym typeface="Noto Sans SC"/>
              </a:rPr>
              <a:t/>
            </a:r>
            <a:endParaRPr lang="en-US" sz="1100"/>
          </a:p>
          <a:p>
            <a:pPr algn="l" indent="0">
              <a:lnSpc>
                <a:spcPct val="108333"/>
              </a:lnSpc>
            </a:pPr>
            <a:r>
              <a:rPr lang="en-US" b="true" i="false" strike="noStrike" u="none" sz="1400">
                <a:solidFill>
                  <a:srgbClr val="E6E6FA"/>
                </a:solidFill>
                <a:latin typeface="Noto Sans SC"/>
                <a:ea typeface="Noto Sans SC"/>
                <a:cs typeface="Noto Sans SC"/>
                <a:sym typeface="Noto Sans SC"/>
              </a:rPr>
              <a:t>通知方式：</a:t>
            </a:r>
            <a:r>
              <a:rPr lang="en-US" b="false" i="false" strike="noStrike" u="none" sz="1400">
                <a:solidFill>
                  <a:srgbClr val="DCDCDC"/>
                </a:solidFill>
                <a:latin typeface="Noto Sans SC"/>
                <a:ea typeface="Noto Sans SC"/>
                <a:cs typeface="Noto Sans SC"/>
                <a:sym typeface="Noto Sans SC"/>
              </a:rPr>
              <a:t>邮件、短信、钉钉等多渠道触达。</a:t>
            </a:r>
            <a:r>
              <a:rPr lang="en-US" b="false" i="false" strike="noStrike" u="none" sz="1400">
                <a:solidFill>
                  <a:srgbClr val="1F2329"/>
                </a:solidFill>
                <a:latin typeface="Noto Sans SC"/>
                <a:ea typeface="Noto Sans SC"/>
                <a:cs typeface="Noto Sans SC"/>
                <a:sym typeface="Noto Sans SC"/>
              </a:rPr>
              <a:t/>
            </a:r>
          </a:p>
          <a:p>
            <a:pPr algn="l" indent="0">
              <a:lnSpc>
                <a:spcPct val="108333"/>
              </a:lnSpc>
            </a:pPr>
            <a:r>
              <a:rPr lang="en-US" b="true" i="false" strike="noStrike" u="none" sz="1400">
                <a:solidFill>
                  <a:srgbClr val="E6E6FA"/>
                </a:solidFill>
                <a:latin typeface="Noto Sans SC"/>
                <a:ea typeface="Noto Sans SC"/>
                <a:cs typeface="Noto Sans SC"/>
                <a:sym typeface="Noto Sans SC"/>
              </a:rPr>
              <a:t>响应机制：</a:t>
            </a:r>
            <a:r>
              <a:rPr lang="en-US" b="false" i="false" strike="noStrike" u="none" sz="1400">
                <a:solidFill>
                  <a:srgbClr val="DCDCDC"/>
                </a:solidFill>
                <a:latin typeface="Noto Sans SC"/>
                <a:ea typeface="Noto Sans SC"/>
                <a:cs typeface="Noto Sans SC"/>
                <a:sym typeface="Noto Sans SC"/>
              </a:rPr>
              <a:t>确保运维人员快速响应处理问题。</a:t>
            </a:r>
          </a:p>
        </p:txBody>
      </p:sp>
      <p:sp>
        <p:nvSpPr>
          <p:cNvPr name="AutoShape 17" id="17"/>
          <p:cNvSpPr/>
          <p:nvPr/>
        </p:nvSpPr>
        <p:spPr>
          <a:xfrm rot="0" flipH="false" flipV="false">
            <a:off x="762000" y="4826000"/>
            <a:ext cx="10668000" cy="762000"/>
          </a:xfrm>
          <a:prstGeom prst="roundRect">
            <a:avLst>
              <a:gd name="adj" fmla="val 16666"/>
            </a:avLst>
          </a:prstGeom>
          <a:solidFill>
            <a:srgbClr val="00BFFF">
              <a:alpha val="15000"/>
            </a:srgbClr>
          </a:solidFill>
          <a:ln w="12700" cmpd="sng" cap="flat">
            <a:solidFill>
              <a:srgbClr val="00BFFF">
                <a:alpha val="100000"/>
              </a:srgbClr>
            </a:solid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1016000" y="5054600"/>
            <a:ext cx="304800" cy="304800"/>
          </a:xfrm>
          <a:prstGeom prst="rect">
            <a:avLst/>
          </a:prstGeom>
        </p:spPr>
      </p:pic>
      <p:sp>
        <p:nvSpPr>
          <p:cNvPr name="AutoShape 19" id="19"/>
          <p:cNvSpPr/>
          <p:nvPr/>
        </p:nvSpPr>
        <p:spPr>
          <a:xfrm rot="0" flipH="false" flipV="false">
            <a:off x="1460500" y="5016500"/>
            <a:ext cx="914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行动指令：</a:t>
            </a:r>
            <a:r>
              <a:rPr lang="en-US" b="false" i="false" strike="noStrike" u="none" sz="1600">
                <a:solidFill>
                  <a:srgbClr val="E6E6FA"/>
                </a:solidFill>
                <a:latin typeface="Noto Sans SC"/>
                <a:ea typeface="Noto Sans SC"/>
                <a:cs typeface="Noto Sans SC"/>
                <a:sym typeface="Noto Sans SC"/>
              </a:rPr>
              <a:t>请大家对自己的项目进行性能测试和监控，确保系统的性能和稳定性。</a:t>
            </a:r>
            <a:endParaRPr lang="en-US" sz="1100"/>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bg>
      <p:bgPr>
        <a:solidFill>
          <a:srgbClr val="0A192F">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192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0" y="0"/>
            <a:ext cx="12192000" cy="50800"/>
          </a:xfrm>
          <a:prstGeom prst="roundRect">
            <a:avLst>
              <a:gd name="adj" fmla="val 0"/>
            </a:avLst>
          </a:prstGeom>
          <a:gradFill rotWithShape="true">
            <a:gsLst>
              <a:gs pos="0">
                <a:srgbClr val="00BFFF">
                  <a:alpha val="0"/>
                </a:srgbClr>
              </a:gs>
              <a:gs pos="50000">
                <a:srgbClr val="00BFFF">
                  <a:alpha val="100000"/>
                </a:srgbClr>
              </a:gs>
              <a:gs pos="100000">
                <a:srgbClr val="00BFFF">
                  <a:alpha val="0"/>
                </a:srgbClr>
              </a:gs>
            </a:gsLst>
            <a:lin ang="0"/>
          </a:gradFill>
          <a:ln w="25400" cmpd="sng" cap="flat">
            <a:no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5791200" y="1778000"/>
            <a:ext cx="609600" cy="609600"/>
          </a:xfrm>
          <a:prstGeom prst="rect">
            <a:avLst/>
          </a:prstGeom>
          <a:effectLst>
            <a:outerShdw dir="2700000" dist="0" blurRad="127000" algn="tl" rotWithShape="false">
              <a:srgbClr val="00BFFF">
                <a:alpha val="50000"/>
              </a:srgbClr>
            </a:outerShdw>
          </a:effectLst>
        </p:spPr>
      </p:pic>
      <p:sp>
        <p:nvSpPr>
          <p:cNvPr name="AutoShape 6" id="6"/>
          <p:cNvSpPr/>
          <p:nvPr/>
        </p:nvSpPr>
        <p:spPr>
          <a:xfrm rot="0" flipH="false" flipV="false">
            <a:off x="508000" y="2540000"/>
            <a:ext cx="11176000" cy="635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true" i="false" strike="noStrike" u="none" sz="3200">
                <a:solidFill>
                  <a:srgbClr val="FFFFFF"/>
                </a:solidFill>
                <a:latin typeface="Noto Sans SC"/>
                <a:ea typeface="Noto Sans SC"/>
                <a:cs typeface="Noto Sans SC"/>
                <a:sym typeface="Noto Sans SC"/>
              </a:rPr>
              <a:t>模块六：项目最终交付与总结展望</a:t>
            </a:r>
            <a:endParaRPr lang="en-US" sz="1100"/>
          </a:p>
        </p:txBody>
      </p:sp>
      <p:sp>
        <p:nvSpPr>
          <p:cNvPr name="AutoShape 7" id="7"/>
          <p:cNvSpPr/>
          <p:nvPr/>
        </p:nvSpPr>
        <p:spPr>
          <a:xfrm rot="0" flipH="false" flipV="false">
            <a:off x="5715000" y="3302000"/>
            <a:ext cx="762000" cy="25400"/>
          </a:xfrm>
          <a:prstGeom prst="roundRect">
            <a:avLst>
              <a:gd name="adj" fmla="val 0"/>
            </a:avLst>
          </a:prstGeom>
          <a:solidFill>
            <a:srgbClr val="FFB6C1">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508000" y="3492500"/>
            <a:ext cx="11176000" cy="381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false" i="false" strike="noStrike" u="none" sz="1800" spc="400">
                <a:solidFill>
                  <a:srgbClr val="E6E6FA"/>
                </a:solidFill>
                <a:latin typeface="Noto Sans SC"/>
                <a:ea typeface="Noto Sans SC"/>
                <a:cs typeface="Noto Sans SC"/>
                <a:sym typeface="Noto Sans SC"/>
              </a:rPr>
              <a:t>回顾历程 · 展望未来</a:t>
            </a:r>
            <a:endParaRPr lang="en-US" sz="1100"/>
          </a:p>
        </p:txBody>
      </p:sp>
      <p:sp>
        <p:nvSpPr>
          <p:cNvPr name="AutoShape 9" id="9"/>
          <p:cNvSpPr/>
          <p:nvPr/>
        </p:nvSpPr>
        <p:spPr>
          <a:xfrm rot="0" flipH="false" flipV="false">
            <a:off x="0" y="6096000"/>
            <a:ext cx="12192000" cy="254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200">
                <a:solidFill>
                  <a:srgbClr val="FFFFFF">
                    <a:alpha val="40000"/>
                  </a:srgbClr>
                </a:solidFill>
                <a:latin typeface="Noto Sans SC"/>
                <a:ea typeface="Noto Sans SC"/>
                <a:cs typeface="Noto Sans SC"/>
                <a:sym typeface="Noto Sans SC"/>
              </a:rPr>
              <a:t>COURSE MODULE 06</a:t>
            </a:r>
            <a:endParaRPr lang="en-US" sz="1100"/>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bg>
      <p:bgPr>
        <a:solidFill>
          <a:srgbClr val="0A192F">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192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508000"/>
            <a:ext cx="40259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项目最终交付清单</a:t>
            </a:r>
            <a:endParaRPr lang="en-US" sz="1100"/>
          </a:p>
        </p:txBody>
      </p:sp>
      <p:sp>
        <p:nvSpPr>
          <p:cNvPr name="AutoShape 5" id="5"/>
          <p:cNvSpPr/>
          <p:nvPr/>
        </p:nvSpPr>
        <p:spPr>
          <a:xfrm rot="0" flipH="false" flipV="false">
            <a:off x="762000" y="1397000"/>
            <a:ext cx="5080000" cy="1143000"/>
          </a:xfrm>
          <a:prstGeom prst="roundRect">
            <a:avLst>
              <a:gd name="adj" fmla="val 11111"/>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1587500"/>
            <a:ext cx="406400" cy="406400"/>
          </a:xfrm>
          <a:prstGeom prst="rect">
            <a:avLst/>
          </a:prstGeom>
        </p:spPr>
      </p:pic>
      <p:sp>
        <p:nvSpPr>
          <p:cNvPr name="AutoShape 7" id="7"/>
          <p:cNvSpPr/>
          <p:nvPr/>
        </p:nvSpPr>
        <p:spPr>
          <a:xfrm rot="0" flipH="false" flipV="false">
            <a:off x="1524000" y="1549400"/>
            <a:ext cx="4064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应用程序</a:t>
            </a:r>
            <a:endParaRPr lang="en-US" sz="1100"/>
          </a:p>
        </p:txBody>
      </p:sp>
      <p:sp>
        <p:nvSpPr>
          <p:cNvPr name="AutoShape 8" id="8"/>
          <p:cNvSpPr/>
          <p:nvPr/>
        </p:nvSpPr>
        <p:spPr>
          <a:xfrm rot="0" flipH="false" flipV="false">
            <a:off x="1524000" y="1905000"/>
            <a:ext cx="4064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300">
                <a:solidFill>
                  <a:srgbClr val="FFFFFF">
                    <a:alpha val="80000"/>
                  </a:srgbClr>
                </a:solidFill>
                <a:latin typeface="Noto Sans SC"/>
                <a:ea typeface="Noto Sans SC"/>
                <a:cs typeface="Noto Sans SC"/>
                <a:sym typeface="Noto Sans SC"/>
              </a:rPr>
              <a:t>可安装的Android APK文件（release版本），确保无调试信息。</a:t>
            </a:r>
            <a:endParaRPr lang="en-US" sz="1100"/>
          </a:p>
        </p:txBody>
      </p:sp>
      <p:sp>
        <p:nvSpPr>
          <p:cNvPr name="AutoShape 9" id="9"/>
          <p:cNvSpPr/>
          <p:nvPr/>
        </p:nvSpPr>
        <p:spPr>
          <a:xfrm rot="0" flipH="false" flipV="false">
            <a:off x="762000" y="2730500"/>
            <a:ext cx="5080000" cy="1143000"/>
          </a:xfrm>
          <a:prstGeom prst="roundRect">
            <a:avLst>
              <a:gd name="adj" fmla="val 11111"/>
            </a:avLst>
          </a:prstGeom>
          <a:solidFill>
            <a:srgbClr val="FFFFFF">
              <a:alpha val="8000"/>
            </a:srgbClr>
          </a:solidFill>
          <a:ln w="12700" cmpd="sng" cap="flat">
            <a:solidFill>
              <a:srgbClr val="FFB6C1">
                <a:alpha val="3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1016000" y="2921000"/>
            <a:ext cx="406400" cy="406400"/>
          </a:xfrm>
          <a:prstGeom prst="rect">
            <a:avLst/>
          </a:prstGeom>
        </p:spPr>
      </p:pic>
      <p:sp>
        <p:nvSpPr>
          <p:cNvPr name="AutoShape 11" id="11"/>
          <p:cNvSpPr/>
          <p:nvPr/>
        </p:nvSpPr>
        <p:spPr>
          <a:xfrm rot="0" flipH="false" flipV="false">
            <a:off x="1524000" y="2882900"/>
            <a:ext cx="4064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源代码</a:t>
            </a:r>
            <a:endParaRPr lang="en-US" sz="1100"/>
          </a:p>
        </p:txBody>
      </p:sp>
      <p:sp>
        <p:nvSpPr>
          <p:cNvPr name="AutoShape 12" id="12"/>
          <p:cNvSpPr/>
          <p:nvPr/>
        </p:nvSpPr>
        <p:spPr>
          <a:xfrm rot="0" flipH="false" flipV="false">
            <a:off x="1524000" y="3238500"/>
            <a:ext cx="4064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300">
                <a:solidFill>
                  <a:srgbClr val="FFFFFF">
                    <a:alpha val="80000"/>
                  </a:srgbClr>
                </a:solidFill>
                <a:latin typeface="Noto Sans SC"/>
                <a:ea typeface="Noto Sans SC"/>
                <a:cs typeface="Noto Sans SC"/>
                <a:sym typeface="Noto Sans SC"/>
              </a:rPr>
              <a:t>完整的前后端源代码，包含详细的注释和说明文档，结构清晰。</a:t>
            </a:r>
            <a:endParaRPr lang="en-US" sz="1100"/>
          </a:p>
        </p:txBody>
      </p:sp>
      <p:sp>
        <p:nvSpPr>
          <p:cNvPr name="AutoShape 13" id="13"/>
          <p:cNvSpPr/>
          <p:nvPr/>
        </p:nvSpPr>
        <p:spPr>
          <a:xfrm rot="0" flipH="false" flipV="false">
            <a:off x="762000" y="4064000"/>
            <a:ext cx="5080000" cy="1143000"/>
          </a:xfrm>
          <a:prstGeom prst="roundRect">
            <a:avLst>
              <a:gd name="adj" fmla="val 11111"/>
            </a:avLst>
          </a:prstGeom>
          <a:solidFill>
            <a:srgbClr val="FFFFFF">
              <a:alpha val="8000"/>
            </a:srgbClr>
          </a:solidFill>
          <a:ln w="12700" cmpd="sng" cap="flat">
            <a:solidFill>
              <a:srgbClr val="E6E6FA">
                <a:alpha val="30000"/>
              </a:srgbClr>
            </a:solid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016000" y="4254500"/>
            <a:ext cx="406400" cy="406400"/>
          </a:xfrm>
          <a:prstGeom prst="rect">
            <a:avLst/>
          </a:prstGeom>
        </p:spPr>
      </p:pic>
      <p:sp>
        <p:nvSpPr>
          <p:cNvPr name="AutoShape 15" id="15"/>
          <p:cNvSpPr/>
          <p:nvPr/>
        </p:nvSpPr>
        <p:spPr>
          <a:xfrm rot="0" flipH="false" flipV="false">
            <a:off x="1524000" y="4216400"/>
            <a:ext cx="4064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技术文档</a:t>
            </a:r>
            <a:endParaRPr lang="en-US" sz="1100"/>
          </a:p>
        </p:txBody>
      </p:sp>
      <p:sp>
        <p:nvSpPr>
          <p:cNvPr name="AutoShape 16" id="16"/>
          <p:cNvSpPr/>
          <p:nvPr/>
        </p:nvSpPr>
        <p:spPr>
          <a:xfrm rot="0" flipH="false" flipV="false">
            <a:off x="1524000" y="4572000"/>
            <a:ext cx="4064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300">
                <a:solidFill>
                  <a:srgbClr val="FFFFFF">
                    <a:alpha val="80000"/>
                  </a:srgbClr>
                </a:solidFill>
                <a:latin typeface="Noto Sans SC"/>
                <a:ea typeface="Noto Sans SC"/>
                <a:cs typeface="Noto Sans SC"/>
                <a:sym typeface="Noto Sans SC"/>
              </a:rPr>
              <a:t>系统架构、API接口说明、数据库设计文档，覆盖技术细节。</a:t>
            </a:r>
            <a:endParaRPr lang="en-US" sz="1100"/>
          </a:p>
        </p:txBody>
      </p:sp>
      <p:sp>
        <p:nvSpPr>
          <p:cNvPr name="AutoShape 17" id="17"/>
          <p:cNvSpPr/>
          <p:nvPr/>
        </p:nvSpPr>
        <p:spPr>
          <a:xfrm rot="0" flipH="false" flipV="false">
            <a:off x="6350000" y="1397000"/>
            <a:ext cx="5080000" cy="1143000"/>
          </a:xfrm>
          <a:prstGeom prst="roundRect">
            <a:avLst>
              <a:gd name="adj" fmla="val 11111"/>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6604000" y="1587500"/>
            <a:ext cx="406400" cy="406400"/>
          </a:xfrm>
          <a:prstGeom prst="rect">
            <a:avLst/>
          </a:prstGeom>
        </p:spPr>
      </p:pic>
      <p:sp>
        <p:nvSpPr>
          <p:cNvPr name="AutoShape 19" id="19"/>
          <p:cNvSpPr/>
          <p:nvPr/>
        </p:nvSpPr>
        <p:spPr>
          <a:xfrm rot="0" flipH="false" flipV="false">
            <a:off x="7112000" y="1549400"/>
            <a:ext cx="4064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用户手册</a:t>
            </a:r>
            <a:endParaRPr lang="en-US" sz="1100"/>
          </a:p>
        </p:txBody>
      </p:sp>
      <p:sp>
        <p:nvSpPr>
          <p:cNvPr name="AutoShape 20" id="20"/>
          <p:cNvSpPr/>
          <p:nvPr/>
        </p:nvSpPr>
        <p:spPr>
          <a:xfrm rot="0" flipH="false" flipV="false">
            <a:off x="7112000" y="1905000"/>
            <a:ext cx="4064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300">
                <a:solidFill>
                  <a:srgbClr val="FFFFFF">
                    <a:alpha val="80000"/>
                  </a:srgbClr>
                </a:solidFill>
                <a:latin typeface="Noto Sans SC"/>
                <a:ea typeface="Noto Sans SC"/>
                <a:cs typeface="Noto Sans SC"/>
                <a:sym typeface="Noto Sans SC"/>
              </a:rPr>
              <a:t>详细的用户使用指南，涵盖安装、注册及各项功能操作流程。</a:t>
            </a:r>
            <a:endParaRPr lang="en-US" sz="1100"/>
          </a:p>
        </p:txBody>
      </p:sp>
      <p:sp>
        <p:nvSpPr>
          <p:cNvPr name="AutoShape 21" id="21"/>
          <p:cNvSpPr/>
          <p:nvPr/>
        </p:nvSpPr>
        <p:spPr>
          <a:xfrm rot="0" flipH="false" flipV="false">
            <a:off x="6350000" y="2730500"/>
            <a:ext cx="5080000" cy="1143000"/>
          </a:xfrm>
          <a:prstGeom prst="roundRect">
            <a:avLst>
              <a:gd name="adj" fmla="val 11111"/>
            </a:avLst>
          </a:prstGeom>
          <a:solidFill>
            <a:srgbClr val="FFFFFF">
              <a:alpha val="8000"/>
            </a:srgbClr>
          </a:solidFill>
          <a:ln w="12700" cmpd="sng" cap="flat">
            <a:solidFill>
              <a:srgbClr val="FFB6C1">
                <a:alpha val="30000"/>
              </a:srgbClr>
            </a:solidFill>
            <a:prstDash val="solid"/>
            <a:round/>
          </a:ln>
        </p:spPr>
        <p:txBody>
          <a:bodyPr anchor="ctr" rtlCol="false" vert="horz" wrap="square" lIns="63500" rIns="63500" tIns="63500" bIns="63500"/>
          <a:lstStyle/>
          <a:p>
            <a:pPr algn="ctr">
              <a:defRPr/>
            </a:pPr>
            <a:endParaRPr/>
          </a:p>
        </p:txBody>
      </p:sp>
      <p:pic>
        <p:nvPicPr>
          <p:cNvPr name="Picture 22" id="22"/>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6604000" y="2921000"/>
            <a:ext cx="406400" cy="406400"/>
          </a:xfrm>
          <a:prstGeom prst="rect">
            <a:avLst/>
          </a:prstGeom>
        </p:spPr>
      </p:pic>
      <p:sp>
        <p:nvSpPr>
          <p:cNvPr name="AutoShape 23" id="23"/>
          <p:cNvSpPr/>
          <p:nvPr/>
        </p:nvSpPr>
        <p:spPr>
          <a:xfrm rot="0" flipH="false" flipV="false">
            <a:off x="7112000" y="2882900"/>
            <a:ext cx="4064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演示材料</a:t>
            </a:r>
            <a:endParaRPr lang="en-US" sz="1100"/>
          </a:p>
        </p:txBody>
      </p:sp>
      <p:sp>
        <p:nvSpPr>
          <p:cNvPr name="AutoShape 24" id="24"/>
          <p:cNvSpPr/>
          <p:nvPr/>
        </p:nvSpPr>
        <p:spPr>
          <a:xfrm rot="0" flipH="false" flipV="false">
            <a:off x="7112000" y="3238500"/>
            <a:ext cx="4064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300">
                <a:solidFill>
                  <a:srgbClr val="FFFFFF">
                    <a:alpha val="80000"/>
                  </a:srgbClr>
                </a:solidFill>
                <a:latin typeface="Noto Sans SC"/>
                <a:ea typeface="Noto Sans SC"/>
                <a:cs typeface="Noto Sans SC"/>
                <a:sym typeface="Noto Sans SC"/>
              </a:rPr>
              <a:t>功能演示视频与答辩PPT，直观展示项目成果与亮点。</a:t>
            </a:r>
            <a:endParaRPr lang="en-US" sz="1100"/>
          </a:p>
        </p:txBody>
      </p:sp>
      <p:sp>
        <p:nvSpPr>
          <p:cNvPr name="AutoShape 25" id="25"/>
          <p:cNvSpPr/>
          <p:nvPr/>
        </p:nvSpPr>
        <p:spPr>
          <a:xfrm rot="0" flipH="false" flipV="false">
            <a:off x="6350000" y="4064000"/>
            <a:ext cx="5080000" cy="1143000"/>
          </a:xfrm>
          <a:prstGeom prst="roundRect">
            <a:avLst>
              <a:gd name="adj" fmla="val 11111"/>
            </a:avLst>
          </a:prstGeom>
          <a:solidFill>
            <a:srgbClr val="FFFFFF">
              <a:alpha val="8000"/>
            </a:srgbClr>
          </a:solidFill>
          <a:ln w="12700" cmpd="sng" cap="flat">
            <a:solidFill>
              <a:srgbClr val="E6E6FA">
                <a:alpha val="30000"/>
              </a:srgbClr>
            </a:solidFill>
            <a:prstDash val="solid"/>
            <a:round/>
          </a:ln>
        </p:spPr>
        <p:txBody>
          <a:bodyPr anchor="ctr" rtlCol="false" vert="horz" wrap="square" lIns="63500" rIns="63500" tIns="63500" bIns="63500"/>
          <a:lstStyle/>
          <a:p>
            <a:pPr algn="ctr">
              <a:defRPr/>
            </a:pPr>
            <a:endParaRPr/>
          </a:p>
        </p:txBody>
      </p:sp>
      <p:pic>
        <p:nvPicPr>
          <p:cNvPr name="Picture 26" id="26"/>
          <p:cNvPicPr>
            <a:picLocks noChangeAspect="true"/>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0" flipH="false" flipV="false">
            <a:off x="6604000" y="4254500"/>
            <a:ext cx="406400" cy="406400"/>
          </a:xfrm>
          <a:prstGeom prst="rect">
            <a:avLst/>
          </a:prstGeom>
        </p:spPr>
      </p:pic>
      <p:sp>
        <p:nvSpPr>
          <p:cNvPr name="AutoShape 27" id="27"/>
          <p:cNvSpPr/>
          <p:nvPr/>
        </p:nvSpPr>
        <p:spPr>
          <a:xfrm rot="0" flipH="false" flipV="false">
            <a:off x="7112000" y="4216400"/>
            <a:ext cx="4064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部署说明</a:t>
            </a:r>
            <a:endParaRPr lang="en-US" sz="1100"/>
          </a:p>
        </p:txBody>
      </p:sp>
      <p:sp>
        <p:nvSpPr>
          <p:cNvPr name="AutoShape 28" id="28"/>
          <p:cNvSpPr/>
          <p:nvPr/>
        </p:nvSpPr>
        <p:spPr>
          <a:xfrm rot="0" flipH="false" flipV="false">
            <a:off x="7112000" y="4572000"/>
            <a:ext cx="4064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300">
                <a:solidFill>
                  <a:srgbClr val="FFFFFF">
                    <a:alpha val="80000"/>
                  </a:srgbClr>
                </a:solidFill>
                <a:latin typeface="Noto Sans SC"/>
                <a:ea typeface="Noto Sans SC"/>
                <a:cs typeface="Noto Sans SC"/>
                <a:sym typeface="Noto Sans SC"/>
              </a:rPr>
              <a:t>详细的环境配置要求与部署步骤，帮助运维人员快速上线。</a:t>
            </a:r>
            <a:endParaRPr lang="en-US" sz="1100"/>
          </a:p>
        </p:txBody>
      </p:sp>
      <p:sp>
        <p:nvSpPr>
          <p:cNvPr name="AutoShape 29" id="29"/>
          <p:cNvSpPr/>
          <p:nvPr/>
        </p:nvSpPr>
        <p:spPr>
          <a:xfrm rot="0" flipH="false" flipV="false">
            <a:off x="762000" y="5461000"/>
            <a:ext cx="10668000" cy="558800"/>
          </a:xfrm>
          <a:prstGeom prst="roundRect">
            <a:avLst>
              <a:gd name="adj" fmla="val 22727"/>
            </a:avLst>
          </a:prstGeom>
          <a:solidFill>
            <a:srgbClr val="00BFFF">
              <a:alpha val="15000"/>
            </a:srgbClr>
          </a:solidFill>
          <a:ln w="12700" cmpd="sng" cap="flat">
            <a:solidFill>
              <a:srgbClr val="00BFFF">
                <a:alpha val="50000"/>
              </a:srgbClr>
            </a:solidFill>
            <a:prstDash val="solid"/>
            <a:round/>
          </a:ln>
        </p:spPr>
        <p:txBody>
          <a:bodyPr anchor="ctr" rtlCol="false" vert="horz" wrap="square" lIns="63500" rIns="63500" tIns="63500" bIns="63500"/>
          <a:lstStyle/>
          <a:p>
            <a:pPr algn="ctr">
              <a:defRPr/>
            </a:pPr>
            <a:endParaRPr/>
          </a:p>
        </p:txBody>
      </p:sp>
      <p:pic>
        <p:nvPicPr>
          <p:cNvPr name="Picture 30" id="30"/>
          <p:cNvPicPr>
            <a:picLocks noChangeAspect="true"/>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rot="0" flipH="false" flipV="false">
            <a:off x="1016000" y="5613400"/>
            <a:ext cx="254000" cy="254000"/>
          </a:xfrm>
          <a:prstGeom prst="rect">
            <a:avLst/>
          </a:prstGeom>
        </p:spPr>
      </p:pic>
      <p:sp>
        <p:nvSpPr>
          <p:cNvPr name="AutoShape 31" id="31"/>
          <p:cNvSpPr/>
          <p:nvPr/>
        </p:nvSpPr>
        <p:spPr>
          <a:xfrm rot="0" flipH="false" flipV="false">
            <a:off x="1397000" y="5588000"/>
            <a:ext cx="9906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FFFFFF"/>
                </a:solidFill>
                <a:latin typeface="Noto Sans SC"/>
                <a:ea typeface="Noto Sans SC"/>
                <a:cs typeface="Noto Sans SC"/>
                <a:sym typeface="Noto Sans SC"/>
              </a:rPr>
              <a:t>行动指令：请大家对照这份清单，准备项目的最终交付物，确保所有成果都已完成并整理好。</a:t>
            </a:r>
            <a:endParaRPr lang="en-US" sz="1100"/>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bg>
      <p:bgPr>
        <a:solidFill>
          <a:srgbClr val="0A192F">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192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508000"/>
            <a:ext cx="3517900" cy="5842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项目总结与反思</a:t>
            </a:r>
            <a:endParaRPr lang="en-US" sz="1100"/>
          </a:p>
        </p:txBody>
      </p:sp>
      <p:sp>
        <p:nvSpPr>
          <p:cNvPr name="AutoShape 5" id="5"/>
          <p:cNvSpPr/>
          <p:nvPr/>
        </p:nvSpPr>
        <p:spPr>
          <a:xfrm rot="0" flipH="false" flipV="false">
            <a:off x="762000" y="1397000"/>
            <a:ext cx="5080000" cy="1397000"/>
          </a:xfrm>
          <a:prstGeom prst="roundRect">
            <a:avLst>
              <a:gd name="adj" fmla="val 9090"/>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1587500"/>
            <a:ext cx="406400" cy="406400"/>
          </a:xfrm>
          <a:prstGeom prst="rect">
            <a:avLst/>
          </a:prstGeom>
        </p:spPr>
      </p:pic>
      <p:sp>
        <p:nvSpPr>
          <p:cNvPr name="AutoShape 7" id="7"/>
          <p:cNvSpPr/>
          <p:nvPr/>
        </p:nvSpPr>
        <p:spPr>
          <a:xfrm rot="0" flipH="false" flipV="false">
            <a:off x="1524000" y="1549400"/>
            <a:ext cx="4064000" cy="355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0BFFF"/>
                </a:solidFill>
                <a:latin typeface="Noto Sans SC"/>
                <a:ea typeface="Noto Sans SC"/>
                <a:cs typeface="Noto Sans SC"/>
                <a:sym typeface="Noto Sans SC"/>
              </a:rPr>
              <a:t>成功经验</a:t>
            </a:r>
            <a:endParaRPr lang="en-US" sz="1100"/>
          </a:p>
        </p:txBody>
      </p:sp>
      <p:sp>
        <p:nvSpPr>
          <p:cNvPr name="AutoShape 8" id="8"/>
          <p:cNvSpPr/>
          <p:nvPr/>
        </p:nvSpPr>
        <p:spPr>
          <a:xfrm rot="0" flipH="false" flipV="false">
            <a:off x="1524000" y="1930400"/>
            <a:ext cx="4064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400">
                <a:solidFill>
                  <a:srgbClr val="FFFFFF">
                    <a:alpha val="90196"/>
                  </a:srgbClr>
                </a:solidFill>
                <a:latin typeface="Noto Sans SC"/>
                <a:ea typeface="Noto Sans SC"/>
                <a:cs typeface="Noto Sans SC"/>
                <a:sym typeface="Noto Sans SC"/>
              </a:rPr>
              <a:t>回顾项目开发过程中的成功做法，如良好的团队协作、清晰的需求分析及有效的技术选型。</a:t>
            </a:r>
            <a:endParaRPr lang="en-US" sz="1100"/>
          </a:p>
        </p:txBody>
      </p:sp>
      <p:sp>
        <p:nvSpPr>
          <p:cNvPr name="AutoShape 9" id="9"/>
          <p:cNvSpPr/>
          <p:nvPr/>
        </p:nvSpPr>
        <p:spPr>
          <a:xfrm rot="0" flipH="false" flipV="false">
            <a:off x="6350000" y="1397000"/>
            <a:ext cx="5080000" cy="1397000"/>
          </a:xfrm>
          <a:prstGeom prst="roundRect">
            <a:avLst>
              <a:gd name="adj" fmla="val 9090"/>
            </a:avLst>
          </a:prstGeom>
          <a:solidFill>
            <a:srgbClr val="FFFFFF">
              <a:alpha val="8000"/>
            </a:srgbClr>
          </a:solidFill>
          <a:ln w="12700" cmpd="sng" cap="flat">
            <a:solidFill>
              <a:srgbClr val="FFB6C1">
                <a:alpha val="3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604000" y="1587500"/>
            <a:ext cx="406400" cy="406400"/>
          </a:xfrm>
          <a:prstGeom prst="rect">
            <a:avLst/>
          </a:prstGeom>
        </p:spPr>
      </p:pic>
      <p:sp>
        <p:nvSpPr>
          <p:cNvPr name="AutoShape 11" id="11"/>
          <p:cNvSpPr/>
          <p:nvPr/>
        </p:nvSpPr>
        <p:spPr>
          <a:xfrm rot="0" flipH="false" flipV="false">
            <a:off x="7112000" y="1549400"/>
            <a:ext cx="4064000" cy="355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B6C1"/>
                </a:solidFill>
                <a:latin typeface="Noto Sans SC"/>
                <a:ea typeface="Noto Sans SC"/>
                <a:cs typeface="Noto Sans SC"/>
                <a:sym typeface="Noto Sans SC"/>
              </a:rPr>
              <a:t>遇到的挑战</a:t>
            </a:r>
            <a:endParaRPr lang="en-US" sz="1100"/>
          </a:p>
        </p:txBody>
      </p:sp>
      <p:sp>
        <p:nvSpPr>
          <p:cNvPr name="AutoShape 12" id="12"/>
          <p:cNvSpPr/>
          <p:nvPr/>
        </p:nvSpPr>
        <p:spPr>
          <a:xfrm rot="0" flipH="false" flipV="false">
            <a:off x="7112000" y="1930400"/>
            <a:ext cx="4064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400">
                <a:solidFill>
                  <a:srgbClr val="FFFFFF">
                    <a:alpha val="90196"/>
                  </a:srgbClr>
                </a:solidFill>
                <a:latin typeface="Noto Sans SC"/>
                <a:ea typeface="Noto Sans SC"/>
                <a:cs typeface="Noto Sans SC"/>
                <a:sym typeface="Noto Sans SC"/>
              </a:rPr>
              <a:t>分析技术难题、时间压力及沟通障碍等挑战，复盘解决问题的思路与具体方案。</a:t>
            </a:r>
            <a:endParaRPr lang="en-US" sz="1100"/>
          </a:p>
        </p:txBody>
      </p:sp>
      <p:sp>
        <p:nvSpPr>
          <p:cNvPr name="AutoShape 13" id="13"/>
          <p:cNvSpPr/>
          <p:nvPr/>
        </p:nvSpPr>
        <p:spPr>
          <a:xfrm rot="0" flipH="false" flipV="false">
            <a:off x="762000" y="3048000"/>
            <a:ext cx="5080000" cy="1397000"/>
          </a:xfrm>
          <a:prstGeom prst="roundRect">
            <a:avLst>
              <a:gd name="adj" fmla="val 9090"/>
            </a:avLst>
          </a:prstGeom>
          <a:solidFill>
            <a:srgbClr val="FFFFFF">
              <a:alpha val="8000"/>
            </a:srgbClr>
          </a:solidFill>
          <a:ln w="12700" cmpd="sng" cap="flat">
            <a:solidFill>
              <a:srgbClr val="E6E6FA">
                <a:alpha val="30000"/>
              </a:srgbClr>
            </a:solid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016000" y="3238500"/>
            <a:ext cx="406400" cy="406400"/>
          </a:xfrm>
          <a:prstGeom prst="rect">
            <a:avLst/>
          </a:prstGeom>
        </p:spPr>
      </p:pic>
      <p:sp>
        <p:nvSpPr>
          <p:cNvPr name="AutoShape 15" id="15"/>
          <p:cNvSpPr/>
          <p:nvPr/>
        </p:nvSpPr>
        <p:spPr>
          <a:xfrm rot="0" flipH="false" flipV="false">
            <a:off x="1524000" y="3200400"/>
            <a:ext cx="4064000" cy="355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E6E6FA"/>
                </a:solidFill>
                <a:latin typeface="Noto Sans SC"/>
                <a:ea typeface="Noto Sans SC"/>
                <a:cs typeface="Noto Sans SC"/>
                <a:sym typeface="Noto Sans SC"/>
              </a:rPr>
              <a:t>不足之处</a:t>
            </a:r>
            <a:endParaRPr lang="en-US" sz="1100"/>
          </a:p>
        </p:txBody>
      </p:sp>
      <p:sp>
        <p:nvSpPr>
          <p:cNvPr name="AutoShape 16" id="16"/>
          <p:cNvSpPr/>
          <p:nvPr/>
        </p:nvSpPr>
        <p:spPr>
          <a:xfrm rot="0" flipH="false" flipV="false">
            <a:off x="1524000" y="3581400"/>
            <a:ext cx="4064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400">
                <a:solidFill>
                  <a:srgbClr val="FFFFFF">
                    <a:alpha val="90196"/>
                  </a:srgbClr>
                </a:solidFill>
                <a:latin typeface="Noto Sans SC"/>
                <a:ea typeface="Noto Sans SC"/>
                <a:cs typeface="Noto Sans SC"/>
                <a:sym typeface="Noto Sans SC"/>
              </a:rPr>
              <a:t>反思代码质量、测试覆盖率及文档完善度等方面的不足，制定改进计划。</a:t>
            </a:r>
            <a:endParaRPr lang="en-US" sz="1100"/>
          </a:p>
        </p:txBody>
      </p:sp>
      <p:sp>
        <p:nvSpPr>
          <p:cNvPr name="AutoShape 17" id="17"/>
          <p:cNvSpPr/>
          <p:nvPr/>
        </p:nvSpPr>
        <p:spPr>
          <a:xfrm rot="0" flipH="false" flipV="false">
            <a:off x="6350000" y="3048000"/>
            <a:ext cx="5080000" cy="1397000"/>
          </a:xfrm>
          <a:prstGeom prst="roundRect">
            <a:avLst>
              <a:gd name="adj" fmla="val 9090"/>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6604000" y="3238500"/>
            <a:ext cx="406400" cy="406400"/>
          </a:xfrm>
          <a:prstGeom prst="rect">
            <a:avLst/>
          </a:prstGeom>
        </p:spPr>
      </p:pic>
      <p:sp>
        <p:nvSpPr>
          <p:cNvPr name="AutoShape 19" id="19"/>
          <p:cNvSpPr/>
          <p:nvPr/>
        </p:nvSpPr>
        <p:spPr>
          <a:xfrm rot="0" flipH="false" flipV="false">
            <a:off x="7112000" y="3200400"/>
            <a:ext cx="4064000" cy="355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0BFFF"/>
                </a:solidFill>
                <a:latin typeface="Noto Sans SC"/>
                <a:ea typeface="Noto Sans SC"/>
                <a:cs typeface="Noto Sans SC"/>
                <a:sym typeface="Noto Sans SC"/>
              </a:rPr>
              <a:t>团队协作</a:t>
            </a:r>
            <a:endParaRPr lang="en-US" sz="1100"/>
          </a:p>
        </p:txBody>
      </p:sp>
      <p:sp>
        <p:nvSpPr>
          <p:cNvPr name="AutoShape 20" id="20"/>
          <p:cNvSpPr/>
          <p:nvPr/>
        </p:nvSpPr>
        <p:spPr>
          <a:xfrm rot="0" flipH="false" flipV="false">
            <a:off x="7112000" y="3581400"/>
            <a:ext cx="4064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400">
                <a:solidFill>
                  <a:srgbClr val="FFFFFF">
                    <a:alpha val="90196"/>
                  </a:srgbClr>
                </a:solidFill>
                <a:latin typeface="Noto Sans SC"/>
                <a:ea typeface="Noto Sans SC"/>
                <a:cs typeface="Noto Sans SC"/>
                <a:sym typeface="Noto Sans SC"/>
              </a:rPr>
              <a:t>总结协作中的经验教训，探讨如何优化沟通机制、明确分工以提升团队效率。</a:t>
            </a:r>
            <a:endParaRPr lang="en-US" sz="1100"/>
          </a:p>
        </p:txBody>
      </p:sp>
      <p:sp>
        <p:nvSpPr>
          <p:cNvPr name="AutoShape 21" id="21"/>
          <p:cNvSpPr/>
          <p:nvPr/>
        </p:nvSpPr>
        <p:spPr>
          <a:xfrm rot="0" flipH="false" flipV="false">
            <a:off x="762000" y="4826000"/>
            <a:ext cx="10668000" cy="889000"/>
          </a:xfrm>
          <a:prstGeom prst="roundRect">
            <a:avLst>
              <a:gd name="adj" fmla="val 14285"/>
            </a:avLst>
          </a:prstGeom>
          <a:solidFill>
            <a:srgbClr val="00BFFF">
              <a:alpha val="15000"/>
            </a:srgbClr>
          </a:solidFill>
          <a:ln w="12700" cmpd="sng" cap="flat">
            <a:solidFill>
              <a:srgbClr val="00BFFF">
                <a:alpha val="50000"/>
              </a:srgbClr>
            </a:solidFill>
            <a:prstDash val="solid"/>
            <a:round/>
          </a:ln>
        </p:spPr>
        <p:txBody>
          <a:bodyPr anchor="ctr" rtlCol="false" vert="horz" wrap="square" lIns="63500" rIns="63500" tIns="63500" bIns="63500"/>
          <a:lstStyle/>
          <a:p>
            <a:pPr algn="ctr">
              <a:defRPr/>
            </a:pPr>
            <a:endParaRPr/>
          </a:p>
        </p:txBody>
      </p:sp>
      <p:pic>
        <p:nvPicPr>
          <p:cNvPr name="Picture 22" id="22"/>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1016000" y="5092700"/>
            <a:ext cx="355600" cy="355600"/>
          </a:xfrm>
          <a:prstGeom prst="rect">
            <a:avLst/>
          </a:prstGeom>
        </p:spPr>
      </p:pic>
      <p:sp>
        <p:nvSpPr>
          <p:cNvPr name="AutoShape 23" id="23"/>
          <p:cNvSpPr/>
          <p:nvPr/>
        </p:nvSpPr>
        <p:spPr>
          <a:xfrm rot="0" flipH="false" flipV="false">
            <a:off x="1524000" y="5016500"/>
            <a:ext cx="9652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行动指令：</a:t>
            </a:r>
            <a:r>
              <a:rPr lang="en-US" b="false" i="false" strike="noStrike" u="none" sz="1600">
                <a:solidFill>
                  <a:srgbClr val="FFFFFF">
                    <a:alpha val="90196"/>
                  </a:srgbClr>
                </a:solidFill>
                <a:latin typeface="Noto Sans SC"/>
                <a:ea typeface="Noto Sans SC"/>
                <a:cs typeface="Noto Sans SC"/>
                <a:sym typeface="Noto Sans SC"/>
              </a:rPr>
              <a:t>请大家组织团队进行一次深入的项目总结与反思会议，分享经验，吸取教训，为未来的项目开发积累经验。</a:t>
            </a:r>
            <a:endParaRPr lang="en-US" sz="1100"/>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bg>
      <p:bgPr>
        <a:solidFill>
          <a:srgbClr val="0A192F">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192F">
              <a:alpha val="9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508000"/>
            <a:ext cx="3022600" cy="5842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项目未来展望</a:t>
            </a:r>
            <a:endParaRPr lang="en-US" sz="1100"/>
          </a:p>
        </p:txBody>
      </p:sp>
      <p:sp>
        <p:nvSpPr>
          <p:cNvPr name="AutoShape 5" id="5"/>
          <p:cNvSpPr/>
          <p:nvPr/>
        </p:nvSpPr>
        <p:spPr>
          <a:xfrm rot="0" flipH="false" flipV="false">
            <a:off x="762000" y="1397000"/>
            <a:ext cx="5080000" cy="1397000"/>
          </a:xfrm>
          <a:prstGeom prst="roundRect">
            <a:avLst>
              <a:gd name="adj" fmla="val 9090"/>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1587500"/>
            <a:ext cx="406400" cy="406400"/>
          </a:xfrm>
          <a:prstGeom prst="rect">
            <a:avLst/>
          </a:prstGeom>
        </p:spPr>
      </p:pic>
      <p:sp>
        <p:nvSpPr>
          <p:cNvPr name="AutoShape 7" id="7"/>
          <p:cNvSpPr/>
          <p:nvPr/>
        </p:nvSpPr>
        <p:spPr>
          <a:xfrm rot="0" flipH="false" flipV="false">
            <a:off x="1524000" y="1549400"/>
            <a:ext cx="4064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功能扩展</a:t>
            </a:r>
            <a:endParaRPr lang="en-US" sz="1100"/>
          </a:p>
        </p:txBody>
      </p:sp>
      <p:sp>
        <p:nvSpPr>
          <p:cNvPr name="AutoShape 8" id="8"/>
          <p:cNvSpPr/>
          <p:nvPr/>
        </p:nvSpPr>
        <p:spPr>
          <a:xfrm rot="0" flipH="false" flipV="false">
            <a:off x="1524000" y="1905000"/>
            <a:ext cx="4064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300">
                <a:solidFill>
                  <a:srgbClr val="FFFFFF">
                    <a:alpha val="80000"/>
                  </a:srgbClr>
                </a:solidFill>
                <a:latin typeface="Noto Sans SC"/>
                <a:ea typeface="Noto Sans SC"/>
                <a:cs typeface="Noto Sans SC"/>
                <a:sym typeface="Noto Sans SC"/>
              </a:rPr>
              <a:t>根据用户反馈和市场需求，持续扩展功能，如增加语音助手、智能推荐及社交分享等。</a:t>
            </a:r>
            <a:endParaRPr lang="en-US" sz="1100"/>
          </a:p>
        </p:txBody>
      </p:sp>
      <p:sp>
        <p:nvSpPr>
          <p:cNvPr name="AutoShape 9" id="9"/>
          <p:cNvSpPr/>
          <p:nvPr/>
        </p:nvSpPr>
        <p:spPr>
          <a:xfrm rot="0" flipH="false" flipV="false">
            <a:off x="6350000" y="1397000"/>
            <a:ext cx="5080000" cy="1397000"/>
          </a:xfrm>
          <a:prstGeom prst="roundRect">
            <a:avLst>
              <a:gd name="adj" fmla="val 9090"/>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604000" y="1587500"/>
            <a:ext cx="406400" cy="406400"/>
          </a:xfrm>
          <a:prstGeom prst="rect">
            <a:avLst/>
          </a:prstGeom>
        </p:spPr>
      </p:pic>
      <p:sp>
        <p:nvSpPr>
          <p:cNvPr name="AutoShape 11" id="11"/>
          <p:cNvSpPr/>
          <p:nvPr/>
        </p:nvSpPr>
        <p:spPr>
          <a:xfrm rot="0" flipH="false" flipV="false">
            <a:off x="7112000" y="1549400"/>
            <a:ext cx="4064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平台扩展</a:t>
            </a:r>
            <a:endParaRPr lang="en-US" sz="1100"/>
          </a:p>
        </p:txBody>
      </p:sp>
      <p:sp>
        <p:nvSpPr>
          <p:cNvPr name="AutoShape 12" id="12"/>
          <p:cNvSpPr/>
          <p:nvPr/>
        </p:nvSpPr>
        <p:spPr>
          <a:xfrm rot="0" flipH="false" flipV="false">
            <a:off x="7112000" y="1905000"/>
            <a:ext cx="4064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300">
                <a:solidFill>
                  <a:srgbClr val="FFFFFF">
                    <a:alpha val="80000"/>
                  </a:srgbClr>
                </a:solidFill>
                <a:latin typeface="Noto Sans SC"/>
                <a:ea typeface="Noto Sans SC"/>
                <a:cs typeface="Noto Sans SC"/>
                <a:sym typeface="Noto Sans SC"/>
              </a:rPr>
              <a:t>覆盖iOS平台用户群体，同时开发Web版本，支持多设备无缝切换使用。</a:t>
            </a:r>
            <a:endParaRPr lang="en-US" sz="1100"/>
          </a:p>
        </p:txBody>
      </p:sp>
      <p:sp>
        <p:nvSpPr>
          <p:cNvPr name="AutoShape 13" id="13"/>
          <p:cNvSpPr/>
          <p:nvPr/>
        </p:nvSpPr>
        <p:spPr>
          <a:xfrm rot="0" flipH="false" flipV="false">
            <a:off x="762000" y="3048000"/>
            <a:ext cx="5080000" cy="1397000"/>
          </a:xfrm>
          <a:prstGeom prst="roundRect">
            <a:avLst>
              <a:gd name="adj" fmla="val 9090"/>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016000" y="3238500"/>
            <a:ext cx="406400" cy="406400"/>
          </a:xfrm>
          <a:prstGeom prst="rect">
            <a:avLst/>
          </a:prstGeom>
        </p:spPr>
      </p:pic>
      <p:sp>
        <p:nvSpPr>
          <p:cNvPr name="AutoShape 15" id="15"/>
          <p:cNvSpPr/>
          <p:nvPr/>
        </p:nvSpPr>
        <p:spPr>
          <a:xfrm rot="0" flipH="false" flipV="false">
            <a:off x="1524000" y="3200400"/>
            <a:ext cx="4064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商业模式探索</a:t>
            </a:r>
            <a:endParaRPr lang="en-US" sz="1100"/>
          </a:p>
        </p:txBody>
      </p:sp>
      <p:sp>
        <p:nvSpPr>
          <p:cNvPr name="AutoShape 16" id="16"/>
          <p:cNvSpPr/>
          <p:nvPr/>
        </p:nvSpPr>
        <p:spPr>
          <a:xfrm rot="0" flipH="false" flipV="false">
            <a:off x="1524000" y="3556000"/>
            <a:ext cx="4064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300">
                <a:solidFill>
                  <a:srgbClr val="FFFFFF">
                    <a:alpha val="80000"/>
                  </a:srgbClr>
                </a:solidFill>
                <a:latin typeface="Noto Sans SC"/>
                <a:ea typeface="Noto Sans SC"/>
                <a:cs typeface="Noto Sans SC"/>
                <a:sym typeface="Noto Sans SC"/>
              </a:rPr>
              <a:t>探索增值服务、企业合作及广告收入等模式，实现项目的可持续发展。</a:t>
            </a:r>
            <a:endParaRPr lang="en-US" sz="1100"/>
          </a:p>
        </p:txBody>
      </p:sp>
      <p:sp>
        <p:nvSpPr>
          <p:cNvPr name="AutoShape 17" id="17"/>
          <p:cNvSpPr/>
          <p:nvPr/>
        </p:nvSpPr>
        <p:spPr>
          <a:xfrm rot="0" flipH="false" flipV="false">
            <a:off x="6350000" y="3048000"/>
            <a:ext cx="5080000" cy="1397000"/>
          </a:xfrm>
          <a:prstGeom prst="roundRect">
            <a:avLst>
              <a:gd name="adj" fmla="val 9090"/>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6604000" y="3238500"/>
            <a:ext cx="406400" cy="406400"/>
          </a:xfrm>
          <a:prstGeom prst="rect">
            <a:avLst/>
          </a:prstGeom>
        </p:spPr>
      </p:pic>
      <p:sp>
        <p:nvSpPr>
          <p:cNvPr name="AutoShape 19" id="19"/>
          <p:cNvSpPr/>
          <p:nvPr/>
        </p:nvSpPr>
        <p:spPr>
          <a:xfrm rot="0" flipH="false" flipV="false">
            <a:off x="7112000" y="3200400"/>
            <a:ext cx="4064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社区建设</a:t>
            </a:r>
            <a:endParaRPr lang="en-US" sz="1100"/>
          </a:p>
        </p:txBody>
      </p:sp>
      <p:sp>
        <p:nvSpPr>
          <p:cNvPr name="AutoShape 20" id="20"/>
          <p:cNvSpPr/>
          <p:nvPr/>
        </p:nvSpPr>
        <p:spPr>
          <a:xfrm rot="0" flipH="false" flipV="false">
            <a:off x="7112000" y="3556000"/>
            <a:ext cx="4064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300">
                <a:solidFill>
                  <a:srgbClr val="FFFFFF">
                    <a:alpha val="80000"/>
                  </a:srgbClr>
                </a:solidFill>
                <a:latin typeface="Noto Sans SC"/>
                <a:ea typeface="Noto Sans SC"/>
                <a:cs typeface="Noto Sans SC"/>
                <a:sym typeface="Noto Sans SC"/>
              </a:rPr>
              <a:t>建立用户社区，收集反馈，促进用户交流互动，共同推动产品持续改进。</a:t>
            </a:r>
            <a:endParaRPr lang="en-US" sz="1100"/>
          </a:p>
        </p:txBody>
      </p:sp>
      <p:sp>
        <p:nvSpPr>
          <p:cNvPr name="AutoShape 21" id="21"/>
          <p:cNvSpPr/>
          <p:nvPr/>
        </p:nvSpPr>
        <p:spPr>
          <a:xfrm rot="0" flipH="false" flipV="false">
            <a:off x="762000" y="4953000"/>
            <a:ext cx="10668000" cy="762000"/>
          </a:xfrm>
          <a:prstGeom prst="roundRect">
            <a:avLst>
              <a:gd name="adj" fmla="val 16666"/>
            </a:avLst>
          </a:prstGeom>
          <a:solidFill>
            <a:srgbClr val="00BFFF">
              <a:alpha val="15000"/>
            </a:srgbClr>
          </a:solidFill>
          <a:ln w="12700" cmpd="sng" cap="flat">
            <a:solidFill>
              <a:srgbClr val="00BFFF">
                <a:alpha val="50000"/>
              </a:srgbClr>
            </a:solidFill>
            <a:prstDash val="dash"/>
            <a:round/>
          </a:ln>
        </p:spPr>
        <p:txBody>
          <a:bodyPr anchor="ctr" rtlCol="false" vert="horz" wrap="square" lIns="63500" rIns="63500" tIns="63500" bIns="63500"/>
          <a:lstStyle/>
          <a:p>
            <a:pPr algn="ctr">
              <a:defRPr/>
            </a:pPr>
            <a:endParaRPr/>
          </a:p>
        </p:txBody>
      </p:sp>
      <p:pic>
        <p:nvPicPr>
          <p:cNvPr name="Picture 22" id="22"/>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1016000" y="5181600"/>
            <a:ext cx="304800" cy="304800"/>
          </a:xfrm>
          <a:prstGeom prst="rect">
            <a:avLst/>
          </a:prstGeom>
        </p:spPr>
      </p:pic>
      <p:sp>
        <p:nvSpPr>
          <p:cNvPr name="AutoShape 23" id="23"/>
          <p:cNvSpPr/>
          <p:nvPr/>
        </p:nvSpPr>
        <p:spPr>
          <a:xfrm rot="0" flipH="false" flipV="false">
            <a:off x="1460500" y="5181600"/>
            <a:ext cx="9652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行动指令：</a:t>
            </a:r>
            <a:r>
              <a:rPr lang="en-US" b="false" i="false" strike="noStrike" u="none" sz="1600">
                <a:solidFill>
                  <a:srgbClr val="FFFFFF">
                    <a:alpha val="90196"/>
                  </a:srgbClr>
                </a:solidFill>
                <a:latin typeface="Noto Sans SC"/>
                <a:ea typeface="Noto Sans SC"/>
                <a:cs typeface="Noto Sans SC"/>
                <a:sym typeface="Noto Sans SC"/>
              </a:rPr>
              <a:t>请大家思考自己项目的未来发展方向，并制定初步的规划。</a:t>
            </a:r>
            <a:endParaRPr lang="en-US" sz="1100"/>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bg>
      <p:bgPr>
        <a:solidFill>
          <a:srgbClr val="0A192F">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192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508000"/>
            <a:ext cx="10668000" cy="508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参加Technovation Girls竞赛准备</a:t>
            </a:r>
            <a:endParaRPr lang="en-US" sz="1100"/>
          </a:p>
        </p:txBody>
      </p:sp>
      <p:sp>
        <p:nvSpPr>
          <p:cNvPr name="AutoShape 5" id="5"/>
          <p:cNvSpPr/>
          <p:nvPr/>
        </p:nvSpPr>
        <p:spPr>
          <a:xfrm rot="0" flipH="false" flipV="false">
            <a:off x="762000" y="1397000"/>
            <a:ext cx="5143500" cy="1651000"/>
          </a:xfrm>
          <a:prstGeom prst="roundRect">
            <a:avLst>
              <a:gd name="adj" fmla="val 7692"/>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952500" y="1587500"/>
            <a:ext cx="406400" cy="406400"/>
          </a:xfrm>
          <a:prstGeom prst="rect">
            <a:avLst/>
          </a:prstGeom>
        </p:spPr>
      </p:pic>
      <p:sp>
        <p:nvSpPr>
          <p:cNvPr name="AutoShape 7" id="7"/>
          <p:cNvSpPr/>
          <p:nvPr/>
        </p:nvSpPr>
        <p:spPr>
          <a:xfrm rot="0" flipH="false" flipV="false">
            <a:off x="1460500" y="1549400"/>
            <a:ext cx="4191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竞赛要求解读</a:t>
            </a:r>
            <a:endParaRPr lang="en-US" sz="1100"/>
          </a:p>
        </p:txBody>
      </p:sp>
      <p:sp>
        <p:nvSpPr>
          <p:cNvPr name="AutoShape 8" id="8"/>
          <p:cNvSpPr/>
          <p:nvPr/>
        </p:nvSpPr>
        <p:spPr>
          <a:xfrm rot="0" flipH="false" flipV="false">
            <a:off x="952500" y="1968500"/>
            <a:ext cx="4762500" cy="889000"/>
          </a:xfrm>
          <a:prstGeom prst="rect">
            <a:avLst/>
          </a:prstGeom>
          <a:noFill/>
          <a:ln w="12700" cmpd="sng" cap="flat">
            <a:noFill/>
            <a:prstDash val="solid"/>
            <a:round/>
          </a:ln>
        </p:spPr>
        <p:txBody>
          <a:bodyPr anchor="ctr" rtlCol="false" anchorCtr="false" vert="horz" wrap="square" lIns="0" rIns="0" tIns="0" bIns="0"/>
          <a:lstStyle/>
          <a:p>
            <a:pPr algn="l" indent="-152400" marL="152400">
              <a:lnSpc>
                <a:spcPct val="125000"/>
              </a:lnSpc>
              <a:buClr>
                <a:srgbClr val="FFFFFF"/>
              </a:buClr>
              <a:buChar char="•"/>
              <a:defRPr/>
            </a:pPr>
            <a:r>
              <a:rPr lang="en-US" b="false" i="false" strike="noStrike" u="none" sz="1200">
                <a:solidFill>
                  <a:srgbClr val="FFFFFF">
                    <a:alpha val="80000"/>
                  </a:srgbClr>
                </a:solidFill>
                <a:latin typeface="Noto Sans SC"/>
                <a:ea typeface="Noto Sans SC"/>
                <a:cs typeface="Noto Sans SC"/>
                <a:sym typeface="Noto Sans SC"/>
              </a:rPr>
              <a:t>仔细阅读官方规则，确保项目符合要求</a:t>
            </a:r>
            <a:r>
              <a:rPr lang="en-US" b="false" i="false" strike="noStrike" u="none" sz="1200">
                <a:solidFill>
                  <a:srgbClr val="FFFFFF">
                    <a:alpha val="80000"/>
                  </a:srgbClr>
                </a:solidFill>
                <a:latin typeface="Noto Sans SC"/>
                <a:ea typeface="Noto Sans SC"/>
                <a:cs typeface="Noto Sans SC"/>
                <a:sym typeface="Noto Sans SC"/>
              </a:rPr>
              <a:t/>
            </a:r>
            <a:endParaRPr lang="en-US" sz="1100"/>
          </a:p>
          <a:p>
            <a:pPr algn="l" indent="-152400" marL="152400">
              <a:lnSpc>
                <a:spcPct val="125000"/>
              </a:lnSpc>
              <a:buClr>
                <a:srgbClr val="FFFFFF"/>
              </a:buClr>
              <a:buChar char="•"/>
            </a:pPr>
            <a:r>
              <a:rPr lang="en-US" b="false" i="false" strike="noStrike" u="none" sz="1200">
                <a:solidFill>
                  <a:srgbClr val="FFFFFF">
                    <a:alpha val="80000"/>
                  </a:srgbClr>
                </a:solidFill>
                <a:latin typeface="Noto Sans SC"/>
                <a:ea typeface="Noto Sans SC"/>
                <a:cs typeface="Noto Sans SC"/>
                <a:sym typeface="Noto Sans SC"/>
              </a:rPr>
              <a:t>重点关注创新性、社会价值、技术实现和商业潜力</a:t>
            </a:r>
          </a:p>
        </p:txBody>
      </p:sp>
      <p:sp>
        <p:nvSpPr>
          <p:cNvPr name="AutoShape 9" id="9"/>
          <p:cNvSpPr/>
          <p:nvPr/>
        </p:nvSpPr>
        <p:spPr>
          <a:xfrm rot="0" flipH="false" flipV="false">
            <a:off x="6286500" y="1397000"/>
            <a:ext cx="5143500" cy="1651000"/>
          </a:xfrm>
          <a:prstGeom prst="roundRect">
            <a:avLst>
              <a:gd name="adj" fmla="val 7692"/>
            </a:avLst>
          </a:prstGeom>
          <a:solidFill>
            <a:srgbClr val="FFFFFF">
              <a:alpha val="5000"/>
            </a:srgbClr>
          </a:solidFill>
          <a:ln w="12700" cmpd="sng" cap="flat">
            <a:solidFill>
              <a:srgbClr val="FFB6C1">
                <a:alpha val="3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477000" y="1587500"/>
            <a:ext cx="406400" cy="406400"/>
          </a:xfrm>
          <a:prstGeom prst="rect">
            <a:avLst/>
          </a:prstGeom>
        </p:spPr>
      </p:pic>
      <p:sp>
        <p:nvSpPr>
          <p:cNvPr name="AutoShape 11" id="11"/>
          <p:cNvSpPr/>
          <p:nvPr/>
        </p:nvSpPr>
        <p:spPr>
          <a:xfrm rot="0" flipH="false" flipV="false">
            <a:off x="6985000" y="1549400"/>
            <a:ext cx="4191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演示材料准备</a:t>
            </a:r>
            <a:endParaRPr lang="en-US" sz="1100"/>
          </a:p>
        </p:txBody>
      </p:sp>
      <p:sp>
        <p:nvSpPr>
          <p:cNvPr name="AutoShape 12" id="12"/>
          <p:cNvSpPr/>
          <p:nvPr/>
        </p:nvSpPr>
        <p:spPr>
          <a:xfrm rot="0" flipH="false" flipV="false">
            <a:off x="6477000" y="1968500"/>
            <a:ext cx="4762500" cy="889000"/>
          </a:xfrm>
          <a:prstGeom prst="rect">
            <a:avLst/>
          </a:prstGeom>
          <a:noFill/>
          <a:ln w="12700" cmpd="sng" cap="flat">
            <a:noFill/>
            <a:prstDash val="solid"/>
            <a:round/>
          </a:ln>
        </p:spPr>
        <p:txBody>
          <a:bodyPr anchor="ctr" rtlCol="false" anchorCtr="false" vert="horz" wrap="square" lIns="0" rIns="0" tIns="0" bIns="0"/>
          <a:lstStyle/>
          <a:p>
            <a:pPr algn="l" indent="-152400" marL="152400">
              <a:lnSpc>
                <a:spcPct val="125000"/>
              </a:lnSpc>
              <a:buClr>
                <a:srgbClr val="FFFFFF"/>
              </a:buClr>
              <a:buChar char="•"/>
              <a:defRPr/>
            </a:pPr>
            <a:r>
              <a:rPr lang="en-US" b="false" i="false" strike="noStrike" u="none" sz="1200">
                <a:solidFill>
                  <a:srgbClr val="FFFFFF">
                    <a:alpha val="80000"/>
                  </a:srgbClr>
                </a:solidFill>
                <a:latin typeface="Noto Sans SC"/>
                <a:ea typeface="Noto Sans SC"/>
                <a:cs typeface="Noto Sans SC"/>
                <a:sym typeface="Noto Sans SC"/>
              </a:rPr>
              <a:t>PPT：突出核心功能、创新点与团队优势</a:t>
            </a:r>
            <a:r>
              <a:rPr lang="en-US" b="false" i="false" strike="noStrike" u="none" sz="1200">
                <a:solidFill>
                  <a:srgbClr val="FFFFFF">
                    <a:alpha val="80000"/>
                  </a:srgbClr>
                </a:solidFill>
                <a:latin typeface="Noto Sans SC"/>
                <a:ea typeface="Noto Sans SC"/>
                <a:cs typeface="Noto Sans SC"/>
                <a:sym typeface="Noto Sans SC"/>
              </a:rPr>
              <a:t/>
            </a:r>
            <a:endParaRPr lang="en-US" sz="1100"/>
          </a:p>
          <a:p>
            <a:pPr algn="l" indent="-152400" marL="152400">
              <a:lnSpc>
                <a:spcPct val="125000"/>
              </a:lnSpc>
              <a:buClr>
                <a:srgbClr val="FFFFFF"/>
              </a:buClr>
              <a:buChar char="•"/>
            </a:pPr>
            <a:r>
              <a:rPr lang="en-US" b="false" i="false" strike="noStrike" u="none" sz="1200">
                <a:solidFill>
                  <a:srgbClr val="FFFFFF">
                    <a:alpha val="80000"/>
                  </a:srgbClr>
                </a:solidFill>
                <a:latin typeface="Noto Sans SC"/>
                <a:ea typeface="Noto Sans SC"/>
                <a:cs typeface="Noto Sans SC"/>
                <a:sym typeface="Noto Sans SC"/>
              </a:rPr>
              <a:t>视频与海报：展示使用流程及线下视觉效果</a:t>
            </a:r>
          </a:p>
        </p:txBody>
      </p:sp>
      <p:sp>
        <p:nvSpPr>
          <p:cNvPr name="AutoShape 13" id="13"/>
          <p:cNvSpPr/>
          <p:nvPr/>
        </p:nvSpPr>
        <p:spPr>
          <a:xfrm rot="0" flipH="false" flipV="false">
            <a:off x="762000" y="3238500"/>
            <a:ext cx="5143500" cy="1651000"/>
          </a:xfrm>
          <a:prstGeom prst="roundRect">
            <a:avLst>
              <a:gd name="adj" fmla="val 7692"/>
            </a:avLst>
          </a:prstGeom>
          <a:solidFill>
            <a:srgbClr val="FFFFFF">
              <a:alpha val="5000"/>
            </a:srgbClr>
          </a:solidFill>
          <a:ln w="12700" cmpd="sng" cap="flat">
            <a:solidFill>
              <a:srgbClr val="E6E6FA">
                <a:alpha val="30000"/>
              </a:srgbClr>
            </a:solid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952500" y="3429000"/>
            <a:ext cx="406400" cy="406400"/>
          </a:xfrm>
          <a:prstGeom prst="rect">
            <a:avLst/>
          </a:prstGeom>
        </p:spPr>
      </p:pic>
      <p:sp>
        <p:nvSpPr>
          <p:cNvPr name="AutoShape 15" id="15"/>
          <p:cNvSpPr/>
          <p:nvPr/>
        </p:nvSpPr>
        <p:spPr>
          <a:xfrm rot="0" flipH="false" flipV="false">
            <a:off x="1460500" y="3390900"/>
            <a:ext cx="4191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团队分工</a:t>
            </a:r>
            <a:endParaRPr lang="en-US" sz="1100"/>
          </a:p>
        </p:txBody>
      </p:sp>
      <p:sp>
        <p:nvSpPr>
          <p:cNvPr name="AutoShape 16" id="16"/>
          <p:cNvSpPr/>
          <p:nvPr/>
        </p:nvSpPr>
        <p:spPr>
          <a:xfrm rot="0" flipH="false" flipV="false">
            <a:off x="952500" y="3810000"/>
            <a:ext cx="4762500" cy="889000"/>
          </a:xfrm>
          <a:prstGeom prst="rect">
            <a:avLst/>
          </a:prstGeom>
          <a:noFill/>
          <a:ln w="12700" cmpd="sng" cap="flat">
            <a:noFill/>
            <a:prstDash val="solid"/>
            <a:round/>
          </a:ln>
        </p:spPr>
        <p:txBody>
          <a:bodyPr anchor="ctr" rtlCol="false" anchorCtr="false" vert="horz" wrap="square" lIns="0" rIns="0" tIns="0" bIns="0"/>
          <a:lstStyle/>
          <a:p>
            <a:pPr algn="l" indent="-152400" marL="152400">
              <a:lnSpc>
                <a:spcPct val="125000"/>
              </a:lnSpc>
              <a:buClr>
                <a:srgbClr val="FFFFFF"/>
              </a:buClr>
              <a:buChar char="•"/>
              <a:defRPr/>
            </a:pPr>
            <a:r>
              <a:rPr lang="en-US" b="false" i="false" strike="noStrike" u="none" sz="1200">
                <a:solidFill>
                  <a:srgbClr val="FFFFFF">
                    <a:alpha val="80000"/>
                  </a:srgbClr>
                </a:solidFill>
                <a:latin typeface="Noto Sans SC"/>
                <a:ea typeface="Noto Sans SC"/>
                <a:cs typeface="Noto Sans SC"/>
                <a:sym typeface="Noto Sans SC"/>
              </a:rPr>
              <a:t>明确项目经理、技术、产品、演讲者等职责</a:t>
            </a:r>
            <a:r>
              <a:rPr lang="en-US" b="false" i="false" strike="noStrike" u="none" sz="1200">
                <a:solidFill>
                  <a:srgbClr val="FFFFFF">
                    <a:alpha val="80000"/>
                  </a:srgbClr>
                </a:solidFill>
                <a:latin typeface="Noto Sans SC"/>
                <a:ea typeface="Noto Sans SC"/>
                <a:cs typeface="Noto Sans SC"/>
                <a:sym typeface="Noto Sans SC"/>
              </a:rPr>
              <a:t/>
            </a:r>
            <a:endParaRPr lang="en-US" sz="1100"/>
          </a:p>
          <a:p>
            <a:pPr algn="l" indent="-152400" marL="152400">
              <a:lnSpc>
                <a:spcPct val="125000"/>
              </a:lnSpc>
              <a:buClr>
                <a:srgbClr val="FFFFFF"/>
              </a:buClr>
              <a:buChar char="•"/>
            </a:pPr>
            <a:r>
              <a:rPr lang="en-US" b="false" i="false" strike="noStrike" u="none" sz="1200">
                <a:solidFill>
                  <a:srgbClr val="FFFFFF">
                    <a:alpha val="80000"/>
                  </a:srgbClr>
                </a:solidFill>
                <a:latin typeface="Noto Sans SC"/>
                <a:ea typeface="Noto Sans SC"/>
                <a:cs typeface="Noto Sans SC"/>
                <a:sym typeface="Noto Sans SC"/>
              </a:rPr>
              <a:t>确保每位成员清楚自身任务与协作流程</a:t>
            </a:r>
          </a:p>
        </p:txBody>
      </p:sp>
      <p:sp>
        <p:nvSpPr>
          <p:cNvPr name="AutoShape 17" id="17"/>
          <p:cNvSpPr/>
          <p:nvPr/>
        </p:nvSpPr>
        <p:spPr>
          <a:xfrm rot="0" flipH="false" flipV="false">
            <a:off x="6286500" y="3238500"/>
            <a:ext cx="5143500" cy="1651000"/>
          </a:xfrm>
          <a:prstGeom prst="roundRect">
            <a:avLst>
              <a:gd name="adj" fmla="val 7692"/>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6477000" y="3429000"/>
            <a:ext cx="406400" cy="406400"/>
          </a:xfrm>
          <a:prstGeom prst="rect">
            <a:avLst/>
          </a:prstGeom>
        </p:spPr>
      </p:pic>
      <p:sp>
        <p:nvSpPr>
          <p:cNvPr name="AutoShape 19" id="19"/>
          <p:cNvSpPr/>
          <p:nvPr/>
        </p:nvSpPr>
        <p:spPr>
          <a:xfrm rot="0" flipH="false" flipV="false">
            <a:off x="6985000" y="3390900"/>
            <a:ext cx="4191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模拟答辩</a:t>
            </a:r>
            <a:endParaRPr lang="en-US" sz="1100"/>
          </a:p>
        </p:txBody>
      </p:sp>
      <p:sp>
        <p:nvSpPr>
          <p:cNvPr name="AutoShape 20" id="20"/>
          <p:cNvSpPr/>
          <p:nvPr/>
        </p:nvSpPr>
        <p:spPr>
          <a:xfrm rot="0" flipH="false" flipV="false">
            <a:off x="6477000" y="3810000"/>
            <a:ext cx="4762500" cy="889000"/>
          </a:xfrm>
          <a:prstGeom prst="rect">
            <a:avLst/>
          </a:prstGeom>
          <a:noFill/>
          <a:ln w="12700" cmpd="sng" cap="flat">
            <a:noFill/>
            <a:prstDash val="solid"/>
            <a:round/>
          </a:ln>
        </p:spPr>
        <p:txBody>
          <a:bodyPr anchor="ctr" rtlCol="false" anchorCtr="false" vert="horz" wrap="square" lIns="0" rIns="0" tIns="0" bIns="0"/>
          <a:lstStyle/>
          <a:p>
            <a:pPr algn="l" indent="-152400" marL="152400">
              <a:lnSpc>
                <a:spcPct val="125000"/>
              </a:lnSpc>
              <a:buClr>
                <a:srgbClr val="FFFFFF"/>
              </a:buClr>
              <a:buChar char="•"/>
              <a:defRPr/>
            </a:pPr>
            <a:r>
              <a:rPr lang="en-US" b="false" i="false" strike="noStrike" u="none" sz="1200">
                <a:solidFill>
                  <a:srgbClr val="FFFFFF">
                    <a:alpha val="80000"/>
                  </a:srgbClr>
                </a:solidFill>
                <a:latin typeface="Noto Sans SC"/>
                <a:ea typeface="Noto Sans SC"/>
                <a:cs typeface="Noto Sans SC"/>
                <a:sym typeface="Noto Sans SC"/>
              </a:rPr>
              <a:t>多次模拟演练，熟悉流程并练习演讲技巧</a:t>
            </a:r>
            <a:r>
              <a:rPr lang="en-US" b="false" i="false" strike="noStrike" u="none" sz="1200">
                <a:solidFill>
                  <a:srgbClr val="FFFFFF">
                    <a:alpha val="80000"/>
                  </a:srgbClr>
                </a:solidFill>
                <a:latin typeface="Noto Sans SC"/>
                <a:ea typeface="Noto Sans SC"/>
                <a:cs typeface="Noto Sans SC"/>
                <a:sym typeface="Noto Sans SC"/>
              </a:rPr>
              <a:t/>
            </a:r>
            <a:endParaRPr lang="en-US" sz="1100"/>
          </a:p>
          <a:p>
            <a:pPr algn="l" indent="-152400" marL="152400">
              <a:lnSpc>
                <a:spcPct val="125000"/>
              </a:lnSpc>
              <a:buClr>
                <a:srgbClr val="FFFFFF"/>
              </a:buClr>
              <a:buChar char="•"/>
            </a:pPr>
            <a:r>
              <a:rPr lang="en-US" b="false" i="false" strike="noStrike" u="none" sz="1200">
                <a:solidFill>
                  <a:srgbClr val="FFFFFF">
                    <a:alpha val="80000"/>
                  </a:srgbClr>
                </a:solidFill>
                <a:latin typeface="Noto Sans SC"/>
                <a:ea typeface="Noto Sans SC"/>
                <a:cs typeface="Noto Sans SC"/>
                <a:sym typeface="Noto Sans SC"/>
              </a:rPr>
              <a:t>预判评委问题，提前准备回答思路</a:t>
            </a:r>
          </a:p>
        </p:txBody>
      </p:sp>
      <p:sp>
        <p:nvSpPr>
          <p:cNvPr name="AutoShape 21" id="21"/>
          <p:cNvSpPr/>
          <p:nvPr/>
        </p:nvSpPr>
        <p:spPr>
          <a:xfrm rot="0" flipH="false" flipV="false">
            <a:off x="762000" y="5207000"/>
            <a:ext cx="10668000" cy="762000"/>
          </a:xfrm>
          <a:prstGeom prst="roundRect">
            <a:avLst>
              <a:gd name="adj" fmla="val 16666"/>
            </a:avLst>
          </a:prstGeom>
          <a:solidFill>
            <a:srgbClr val="00BFFF">
              <a:alpha val="15000"/>
            </a:srgbClr>
          </a:solidFill>
          <a:ln w="12700" cmpd="sng" cap="flat">
            <a:solidFill>
              <a:srgbClr val="00BFFF">
                <a:alpha val="100000"/>
              </a:srgbClr>
            </a:solidFill>
            <a:prstDash val="solid"/>
            <a:round/>
          </a:ln>
        </p:spPr>
        <p:txBody>
          <a:bodyPr anchor="ctr" rtlCol="false" vert="horz" wrap="square" lIns="63500" rIns="63500" tIns="63500" bIns="63500"/>
          <a:lstStyle/>
          <a:p>
            <a:pPr algn="ctr">
              <a:defRPr/>
            </a:pPr>
            <a:endParaRPr/>
          </a:p>
        </p:txBody>
      </p:sp>
      <p:pic>
        <p:nvPicPr>
          <p:cNvPr name="Picture 22" id="22"/>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1016000" y="5435600"/>
            <a:ext cx="304800" cy="304800"/>
          </a:xfrm>
          <a:prstGeom prst="rect">
            <a:avLst/>
          </a:prstGeom>
        </p:spPr>
      </p:pic>
      <p:sp>
        <p:nvSpPr>
          <p:cNvPr name="AutoShape 23" id="23"/>
          <p:cNvSpPr/>
          <p:nvPr/>
        </p:nvSpPr>
        <p:spPr>
          <a:xfrm rot="0" flipH="false" flipV="false">
            <a:off x="1460500" y="5359400"/>
            <a:ext cx="9779000" cy="4572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行动指令：请大家立即着手准备竞赛相关材料，全力以赴争取优异成绩！</a:t>
            </a:r>
            <a:endParaRPr lang="en-US" sz="1100"/>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bg>
      <p:bgPr>
        <a:solidFill>
          <a:srgbClr val="000000">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192F">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0" y="0"/>
            <a:ext cx="12192000" cy="50800"/>
          </a:xfrm>
          <a:prstGeom prst="roundRect">
            <a:avLst>
              <a:gd name="adj" fmla="val 0"/>
            </a:avLst>
          </a:prstGeom>
          <a:solidFill>
            <a:srgbClr val="00BFF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5689600" y="1524000"/>
            <a:ext cx="812800" cy="812800"/>
          </a:xfrm>
          <a:prstGeom prst="rect">
            <a:avLst/>
          </a:prstGeom>
          <a:effectLst>
            <a:outerShdw dir="2700000" dist="0" blurRad="127000" algn="tl" rotWithShape="false">
              <a:srgbClr val="00BFFF">
                <a:alpha val="50000"/>
              </a:srgbClr>
            </a:outerShdw>
          </a:effectLst>
        </p:spPr>
      </p:pic>
      <p:sp>
        <p:nvSpPr>
          <p:cNvPr name="AutoShape 6" id="6"/>
          <p:cNvSpPr/>
          <p:nvPr/>
        </p:nvSpPr>
        <p:spPr>
          <a:xfrm rot="0" flipH="false" flipV="false">
            <a:off x="4191000" y="2540000"/>
            <a:ext cx="3810000" cy="1016000"/>
          </a:xfrm>
          <a:prstGeom prst="rect">
            <a:avLst/>
          </a:prstGeom>
          <a:noFill/>
          <a:ln w="12700" cmpd="sng" cap="flat">
            <a:noFill/>
            <a:prstDash val="solid"/>
            <a:round/>
          </a:ln>
          <a:effectLst>
            <a:outerShdw dir="2700000" dist="50800" blurRad="101600" algn="tl" rotWithShape="false">
              <a:srgbClr val="00BFFF">
                <a:alpha val="60000"/>
              </a:srgbClr>
            </a:outerShdw>
          </a:effectLst>
        </p:spPr>
        <p:txBody>
          <a:bodyPr anchor="ctr" rtlCol="false" anchorCtr="false" vert="horz" wrap="none" lIns="0" rIns="0" tIns="0" bIns="0"/>
          <a:lstStyle/>
          <a:p>
            <a:pPr algn="ctr" indent="0">
              <a:lnSpc>
                <a:spcPct val="125000"/>
              </a:lnSpc>
              <a:defRPr/>
            </a:pPr>
            <a:r>
              <a:rPr lang="en-US" b="false" i="false" strike="noStrike" u="none" sz="6000">
                <a:solidFill>
                  <a:srgbClr val="FFFFFF"/>
                </a:solidFill>
                <a:latin typeface="Arial Black"/>
                <a:ea typeface="Arial Black"/>
                <a:cs typeface="Arial Black"/>
                <a:sym typeface="Arial Black"/>
              </a:rPr>
              <a:t>Q&amp;A</a:t>
            </a:r>
            <a:endParaRPr lang="en-US" sz="1100"/>
          </a:p>
        </p:txBody>
      </p:sp>
      <p:sp>
        <p:nvSpPr>
          <p:cNvPr name="AutoShape 7" id="7"/>
          <p:cNvSpPr/>
          <p:nvPr/>
        </p:nvSpPr>
        <p:spPr>
          <a:xfrm rot="0" flipH="false" flipV="false">
            <a:off x="3556000" y="3683000"/>
            <a:ext cx="5080000" cy="508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false" i="false" strike="noStrike" u="none" sz="2400" spc="400">
                <a:solidFill>
                  <a:srgbClr val="E6E6FA"/>
                </a:solidFill>
                <a:latin typeface="Noto Sans SC"/>
                <a:ea typeface="Noto Sans SC"/>
                <a:cs typeface="Noto Sans SC"/>
                <a:sym typeface="Noto Sans SC"/>
              </a:rPr>
              <a:t>有问必答 · 交流互动</a:t>
            </a:r>
            <a:endParaRPr lang="en-US" sz="1100"/>
          </a:p>
        </p:txBody>
      </p:sp>
      <p:sp>
        <p:nvSpPr>
          <p:cNvPr name="AutoShape 8" id="8"/>
          <p:cNvSpPr/>
          <p:nvPr/>
        </p:nvSpPr>
        <p:spPr>
          <a:xfrm rot="0" flipH="false" flipV="false">
            <a:off x="5715000" y="4445000"/>
            <a:ext cx="762000" cy="50800"/>
          </a:xfrm>
          <a:prstGeom prst="roundRect">
            <a:avLst>
              <a:gd name="adj" fmla="val 0"/>
            </a:avLst>
          </a:prstGeom>
          <a:solidFill>
            <a:srgbClr val="FFB6C1">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2286000" y="5080000"/>
            <a:ext cx="7620000" cy="381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false" i="false" strike="noStrike" u="none" sz="1400">
                <a:solidFill>
                  <a:srgbClr val="C8C8C8">
                    <a:alpha val="80000"/>
                  </a:srgbClr>
                </a:solidFill>
                <a:latin typeface="Noto Sans SC"/>
                <a:ea typeface="Noto Sans SC"/>
                <a:cs typeface="Noto Sans SC"/>
                <a:sym typeface="Noto Sans SC"/>
              </a:rPr>
              <a:t>欢迎提出您的疑问，我们将为您详细解答</a:t>
            </a:r>
            <a:endParaRPr lang="en-US" sz="1100"/>
          </a:p>
        </p:txBody>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bg>
      <p:bgPr>
        <a:solidFill>
          <a:srgbClr val="000000">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192F">
              <a:alpha val="7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5689600" y="1270000"/>
            <a:ext cx="812800" cy="812800"/>
          </a:xfrm>
          <a:prstGeom prst="rect">
            <a:avLst/>
          </a:prstGeom>
          <a:effectLst>
            <a:outerShdw dir="2700000" dist="0" blurRad="127000" algn="tl" rotWithShape="false">
              <a:srgbClr val="00BFFF">
                <a:alpha val="50000"/>
              </a:srgbClr>
            </a:outerShdw>
          </a:effectLst>
        </p:spPr>
      </p:pic>
      <p:sp>
        <p:nvSpPr>
          <p:cNvPr name="AutoShape 5" id="5"/>
          <p:cNvSpPr/>
          <p:nvPr/>
        </p:nvSpPr>
        <p:spPr>
          <a:xfrm rot="0" flipH="false" flipV="false">
            <a:off x="0" y="2286000"/>
            <a:ext cx="12192000" cy="762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true" i="false" strike="noStrike" u="none" sz="4800">
                <a:solidFill>
                  <a:srgbClr val="FFFFFF"/>
                </a:solidFill>
                <a:latin typeface="Noto Sans SC"/>
                <a:ea typeface="Noto Sans SC"/>
                <a:cs typeface="Noto Sans SC"/>
                <a:sym typeface="Noto Sans SC"/>
              </a:rPr>
              <a:t>感谢聆听</a:t>
            </a:r>
            <a:endParaRPr lang="en-US" sz="1100"/>
          </a:p>
        </p:txBody>
      </p:sp>
      <p:sp>
        <p:nvSpPr>
          <p:cNvPr name="AutoShape 6" id="6"/>
          <p:cNvSpPr/>
          <p:nvPr/>
        </p:nvSpPr>
        <p:spPr>
          <a:xfrm rot="0" flipH="false" flipV="false">
            <a:off x="5715000" y="3175000"/>
            <a:ext cx="762000" cy="50800"/>
          </a:xfrm>
          <a:prstGeom prst="roundRect">
            <a:avLst>
              <a:gd name="adj" fmla="val 0"/>
            </a:avLst>
          </a:prstGeom>
          <a:solidFill>
            <a:srgbClr val="00BFFF">
              <a:alpha val="100000"/>
            </a:srgbClr>
          </a:solidFill>
          <a:ln w="25400" cmpd="sng" cap="flat">
            <a:noFill/>
            <a:prstDash val="solid"/>
            <a:round/>
          </a:ln>
          <a:effectLst>
            <a:outerShdw dir="2700000" dist="0" blurRad="63500" algn="tl" rotWithShape="false">
              <a:srgbClr val="00BFFF">
                <a:alpha val="80000"/>
              </a:srgbClr>
            </a:outerShdw>
          </a:effectLst>
        </p:spPr>
        <p:txBody>
          <a:bodyPr anchor="ctr" rtlCol="false" vert="horz" wrap="square" lIns="63500" rIns="63500" tIns="63500" bIns="63500"/>
          <a:lstStyle/>
          <a:p>
            <a:pPr algn="ctr">
              <a:defRPr/>
            </a:pPr>
            <a:endParaRPr/>
          </a:p>
        </p:txBody>
      </p:sp>
      <p:sp>
        <p:nvSpPr>
          <p:cNvPr name="AutoShape 7" id="7"/>
          <p:cNvSpPr/>
          <p:nvPr/>
        </p:nvSpPr>
        <p:spPr>
          <a:xfrm rot="0" flipH="false" flipV="false">
            <a:off x="0" y="3429000"/>
            <a:ext cx="12192000" cy="508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false" i="false" strike="noStrike" u="none" sz="2400">
                <a:solidFill>
                  <a:srgbClr val="E6E6FA"/>
                </a:solidFill>
                <a:latin typeface="Noto Sans SC"/>
                <a:ea typeface="Noto Sans SC"/>
                <a:cs typeface="Noto Sans SC"/>
                <a:sym typeface="Noto Sans SC"/>
              </a:rPr>
              <a:t>恭喜大家完成 SafeWalk 项目的开发！</a:t>
            </a:r>
            <a:endParaRPr lang="en-US" sz="1100"/>
          </a:p>
        </p:txBody>
      </p:sp>
      <p:sp>
        <p:nvSpPr>
          <p:cNvPr name="AutoShape 8" id="8"/>
          <p:cNvSpPr/>
          <p:nvPr/>
        </p:nvSpPr>
        <p:spPr>
          <a:xfrm rot="0" flipH="false" flipV="false">
            <a:off x="1016000" y="4318000"/>
            <a:ext cx="10160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600">
                <a:solidFill>
                  <a:srgbClr val="C8C8C8"/>
                </a:solidFill>
                <a:latin typeface="Noto Sans SC"/>
                <a:ea typeface="Noto Sans SC"/>
                <a:cs typeface="Noto Sans SC"/>
                <a:sym typeface="Noto Sans SC"/>
              </a:rPr>
              <a:t>保持对技术的热情，不断学习创新，未来开发更多优秀产品！</a:t>
            </a:r>
            <a:endParaRPr lang="en-US" sz="1100"/>
          </a:p>
        </p:txBody>
      </p:sp>
      <p:pic>
        <p:nvPicPr>
          <p:cNvPr name="Picture 9" id="9"/>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5892800" y="5334000"/>
            <a:ext cx="406400" cy="406400"/>
          </a:xfrm>
          <a:prstGeom prst="rect">
            <a:avLst/>
          </a:prstGeom>
        </p:spPr>
      </p:pic>
      <p:pic>
        <p:nvPicPr>
          <p:cNvPr name="Picture 10" id="10"/>
          <p:cNvPicPr>
            <a:picLocks noChangeAspect="true"/>
          </p:cNvPicPr>
          <p:nvPr/>
        </p:nvPicPr>
        <p:blipFill>
          <a:blip r:embed="rId8"/>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